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2"/>
  </p:notesMasterIdLst>
  <p:sldIdLst>
    <p:sldId id="410" r:id="rId2"/>
    <p:sldId id="414" r:id="rId3"/>
    <p:sldId id="441" r:id="rId4"/>
    <p:sldId id="416" r:id="rId5"/>
    <p:sldId id="450" r:id="rId6"/>
    <p:sldId id="451" r:id="rId7"/>
    <p:sldId id="415" r:id="rId8"/>
    <p:sldId id="412" r:id="rId9"/>
    <p:sldId id="449" r:id="rId10"/>
    <p:sldId id="453" r:id="rId11"/>
    <p:sldId id="454" r:id="rId12"/>
    <p:sldId id="455" r:id="rId13"/>
    <p:sldId id="456" r:id="rId14"/>
    <p:sldId id="452" r:id="rId15"/>
    <p:sldId id="418" r:id="rId16"/>
    <p:sldId id="436" r:id="rId17"/>
    <p:sldId id="442" r:id="rId18"/>
    <p:sldId id="438" r:id="rId19"/>
    <p:sldId id="437" r:id="rId20"/>
    <p:sldId id="439" r:id="rId21"/>
    <p:sldId id="440" r:id="rId22"/>
    <p:sldId id="443" r:id="rId23"/>
    <p:sldId id="445" r:id="rId24"/>
    <p:sldId id="446" r:id="rId25"/>
    <p:sldId id="447" r:id="rId26"/>
    <p:sldId id="448" r:id="rId27"/>
    <p:sldId id="444" r:id="rId28"/>
    <p:sldId id="417" r:id="rId29"/>
    <p:sldId id="419" r:id="rId30"/>
    <p:sldId id="435" r:id="rId31"/>
    <p:sldId id="420" r:id="rId32"/>
    <p:sldId id="421" r:id="rId33"/>
    <p:sldId id="422" r:id="rId34"/>
    <p:sldId id="423" r:id="rId35"/>
    <p:sldId id="424" r:id="rId36"/>
    <p:sldId id="430" r:id="rId37"/>
    <p:sldId id="459" r:id="rId38"/>
    <p:sldId id="426" r:id="rId39"/>
    <p:sldId id="460" r:id="rId40"/>
    <p:sldId id="428" r:id="rId41"/>
    <p:sldId id="429" r:id="rId42"/>
    <p:sldId id="434" r:id="rId43"/>
    <p:sldId id="458" r:id="rId44"/>
    <p:sldId id="431" r:id="rId45"/>
    <p:sldId id="432" r:id="rId46"/>
    <p:sldId id="461" r:id="rId47"/>
    <p:sldId id="462" r:id="rId48"/>
    <p:sldId id="433" r:id="rId49"/>
    <p:sldId id="425" r:id="rId50"/>
    <p:sldId id="264" r:id="rId51"/>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elevancy" id="{4CB5FFEC-2AB6-43F3-B395-8A6B0A484094}">
          <p14:sldIdLst>
            <p14:sldId id="410"/>
            <p14:sldId id="414"/>
          </p14:sldIdLst>
        </p14:section>
        <p14:section name="Transactional data structures" id="{21B61034-9E2E-4A95-B74A-35A598705463}">
          <p14:sldIdLst>
            <p14:sldId id="441"/>
            <p14:sldId id="416"/>
            <p14:sldId id="450"/>
            <p14:sldId id="451"/>
            <p14:sldId id="415"/>
            <p14:sldId id="412"/>
          </p14:sldIdLst>
        </p14:section>
        <p14:section name="Hints/annotation-based optimizations" id="{37B6AA1B-B8CC-445A-A983-E4DCDA0DD904}">
          <p14:sldIdLst>
            <p14:sldId id="449"/>
            <p14:sldId id="453"/>
            <p14:sldId id="454"/>
            <p14:sldId id="455"/>
            <p14:sldId id="456"/>
          </p14:sldIdLst>
        </p14:section>
        <p14:section name="Optimizations around critical sections" id="{D9AE0A34-E652-4AD3-959F-87B12CE79373}">
          <p14:sldIdLst>
            <p14:sldId id="452"/>
            <p14:sldId id="418"/>
            <p14:sldId id="436"/>
          </p14:sldIdLst>
        </p14:section>
        <p14:section name="Propagation of relaxation" id="{0085DD12-86C8-490C-A22B-9FAE7CBE5306}">
          <p14:sldIdLst>
            <p14:sldId id="442"/>
            <p14:sldId id="438"/>
            <p14:sldId id="437"/>
            <p14:sldId id="439"/>
            <p14:sldId id="440"/>
          </p14:sldIdLst>
        </p14:section>
        <p14:section name="Concurrency pattern optimization" id="{00FFB092-F06D-4A73-A895-A369A9AF5159}">
          <p14:sldIdLst>
            <p14:sldId id="443"/>
            <p14:sldId id="445"/>
            <p14:sldId id="446"/>
            <p14:sldId id="447"/>
            <p14:sldId id="448"/>
          </p14:sldIdLst>
        </p14:section>
        <p14:section name="SMR" id="{548768CC-18F3-4EF0-93EF-C6BA35E66BFF}">
          <p14:sldIdLst>
            <p14:sldId id="444"/>
            <p14:sldId id="417"/>
            <p14:sldId id="419"/>
            <p14:sldId id="435"/>
            <p14:sldId id="420"/>
            <p14:sldId id="421"/>
            <p14:sldId id="422"/>
            <p14:sldId id="423"/>
            <p14:sldId id="424"/>
            <p14:sldId id="430"/>
          </p14:sldIdLst>
        </p14:section>
        <p14:section name="Linearization points" id="{7A693B7C-42E5-4E64-B6DA-CA72D6427169}">
          <p14:sldIdLst>
            <p14:sldId id="459"/>
            <p14:sldId id="426"/>
            <p14:sldId id="460"/>
            <p14:sldId id="428"/>
            <p14:sldId id="429"/>
            <p14:sldId id="434"/>
          </p14:sldIdLst>
        </p14:section>
        <p14:section name="Verification" id="{2CCFE6B2-EA4B-418F-97A9-5FD4102C1FFA}">
          <p14:sldIdLst>
            <p14:sldId id="458"/>
            <p14:sldId id="431"/>
            <p14:sldId id="432"/>
          </p14:sldIdLst>
        </p14:section>
        <p14:section name="User cases" id="{D9601E9D-8322-4BDC-B08A-F3EDC420E9A3}">
          <p14:sldIdLst>
            <p14:sldId id="461"/>
            <p14:sldId id="462"/>
          </p14:sldIdLst>
        </p14:section>
        <p14:section name="Finalization" id="{53BFB543-07B4-46B2-BF26-08AB50FECF46}">
          <p14:sldIdLst>
            <p14:sldId id="433"/>
            <p14:sldId id="425"/>
            <p14:sldId id="26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a:srgbClr val="1F1F1F"/>
    <a:srgbClr val="6600FF"/>
    <a:srgbClr val="FFCCCC"/>
    <a:srgbClr val="003300"/>
    <a:srgbClr val="6600CC"/>
    <a:srgbClr val="EEEE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15FB8E-9E63-4F59-9033-B2FB2FC5E82A}" v="1634" dt="2025-12-09T09:38:14.782"/>
  </p1510:revLst>
</p1510:revInfo>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ksei Paznikov" userId="e102f1a3-550d-4646-9829-bc744d09ff30" providerId="ADAL" clId="{6BDC6C36-11CE-5EAB-AEE2-C66950020AA4}"/>
    <pc:docChg chg="undo custSel addSld modSld sldOrd">
      <pc:chgData name="Aleksei Paznikov" userId="e102f1a3-550d-4646-9829-bc744d09ff30" providerId="ADAL" clId="{6BDC6C36-11CE-5EAB-AEE2-C66950020AA4}" dt="2025-12-04T09:03:28.106" v="184"/>
      <pc:docMkLst>
        <pc:docMk/>
      </pc:docMkLst>
      <pc:sldChg chg="addSp delSp modSp mod ord">
        <pc:chgData name="Aleksei Paznikov" userId="e102f1a3-550d-4646-9829-bc744d09ff30" providerId="ADAL" clId="{6BDC6C36-11CE-5EAB-AEE2-C66950020AA4}" dt="2025-12-04T08:49:41.624" v="85"/>
        <pc:sldMkLst>
          <pc:docMk/>
          <pc:sldMk cId="1792285446" sldId="418"/>
        </pc:sldMkLst>
        <pc:spChg chg="add mod">
          <ac:chgData name="Aleksei Paznikov" userId="e102f1a3-550d-4646-9829-bc744d09ff30" providerId="ADAL" clId="{6BDC6C36-11CE-5EAB-AEE2-C66950020AA4}" dt="2025-12-04T08:48:52.303" v="82" actId="1076"/>
          <ac:spMkLst>
            <pc:docMk/>
            <pc:sldMk cId="1792285446" sldId="418"/>
            <ac:spMk id="2" creationId="{40BDCB83-669E-74D1-A01C-4CA8FAAB4995}"/>
          </ac:spMkLst>
        </pc:spChg>
        <pc:spChg chg="add mod">
          <ac:chgData name="Aleksei Paznikov" userId="e102f1a3-550d-4646-9829-bc744d09ff30" providerId="ADAL" clId="{6BDC6C36-11CE-5EAB-AEE2-C66950020AA4}" dt="2025-12-04T08:48:52.303" v="82" actId="1076"/>
          <ac:spMkLst>
            <pc:docMk/>
            <pc:sldMk cId="1792285446" sldId="418"/>
            <ac:spMk id="3" creationId="{839296F0-63A2-6EDA-7183-279F3C8409F1}"/>
          </ac:spMkLst>
        </pc:spChg>
        <pc:spChg chg="add mod">
          <ac:chgData name="Aleksei Paznikov" userId="e102f1a3-550d-4646-9829-bc744d09ff30" providerId="ADAL" clId="{6BDC6C36-11CE-5EAB-AEE2-C66950020AA4}" dt="2025-12-04T08:48:52.303" v="82" actId="1076"/>
          <ac:spMkLst>
            <pc:docMk/>
            <pc:sldMk cId="1792285446" sldId="418"/>
            <ac:spMk id="4" creationId="{20CF86ED-ADDE-B195-D1B6-82465D67AB46}"/>
          </ac:spMkLst>
        </pc:spChg>
        <pc:spChg chg="add mod">
          <ac:chgData name="Aleksei Paznikov" userId="e102f1a3-550d-4646-9829-bc744d09ff30" providerId="ADAL" clId="{6BDC6C36-11CE-5EAB-AEE2-C66950020AA4}" dt="2025-12-04T08:48:52.303" v="82" actId="1076"/>
          <ac:spMkLst>
            <pc:docMk/>
            <pc:sldMk cId="1792285446" sldId="418"/>
            <ac:spMk id="5" creationId="{9A445C90-0E13-004D-F025-3B3DEA7844C6}"/>
          </ac:spMkLst>
        </pc:spChg>
        <pc:spChg chg="add mod">
          <ac:chgData name="Aleksei Paznikov" userId="e102f1a3-550d-4646-9829-bc744d09ff30" providerId="ADAL" clId="{6BDC6C36-11CE-5EAB-AEE2-C66950020AA4}" dt="2025-12-04T08:48:43.899" v="81" actId="1035"/>
          <ac:spMkLst>
            <pc:docMk/>
            <pc:sldMk cId="1792285446" sldId="418"/>
            <ac:spMk id="6" creationId="{AEC64EC8-4998-F7EC-0E04-D03B3D87D62B}"/>
          </ac:spMkLst>
        </pc:spChg>
        <pc:spChg chg="del">
          <ac:chgData name="Aleksei Paznikov" userId="e102f1a3-550d-4646-9829-bc744d09ff30" providerId="ADAL" clId="{6BDC6C36-11CE-5EAB-AEE2-C66950020AA4}" dt="2025-12-04T08:35:52.117" v="2" actId="21"/>
          <ac:spMkLst>
            <pc:docMk/>
            <pc:sldMk cId="1792285446" sldId="418"/>
            <ac:spMk id="8" creationId="{0BC6A403-C8D4-1C64-BD70-BD784E101F6B}"/>
          </ac:spMkLst>
        </pc:spChg>
        <pc:spChg chg="add mod">
          <ac:chgData name="Aleksei Paznikov" userId="e102f1a3-550d-4646-9829-bc744d09ff30" providerId="ADAL" clId="{6BDC6C36-11CE-5EAB-AEE2-C66950020AA4}" dt="2025-12-04T08:49:03.392" v="84" actId="255"/>
          <ac:spMkLst>
            <pc:docMk/>
            <pc:sldMk cId="1792285446" sldId="418"/>
            <ac:spMk id="10" creationId="{B95D0129-6FB8-343A-1FB4-8327EAC60D32}"/>
          </ac:spMkLst>
        </pc:spChg>
        <pc:spChg chg="del">
          <ac:chgData name="Aleksei Paznikov" userId="e102f1a3-550d-4646-9829-bc744d09ff30" providerId="ADAL" clId="{6BDC6C36-11CE-5EAB-AEE2-C66950020AA4}" dt="2025-12-04T08:35:52.117" v="2" actId="21"/>
          <ac:spMkLst>
            <pc:docMk/>
            <pc:sldMk cId="1792285446" sldId="418"/>
            <ac:spMk id="12" creationId="{2D0E0AC0-8667-5EC3-F4E2-970ACEF6F914}"/>
          </ac:spMkLst>
        </pc:spChg>
        <pc:spChg chg="mod">
          <ac:chgData name="Aleksei Paznikov" userId="e102f1a3-550d-4646-9829-bc744d09ff30" providerId="ADAL" clId="{6BDC6C36-11CE-5EAB-AEE2-C66950020AA4}" dt="2025-12-04T08:49:41.624" v="85"/>
          <ac:spMkLst>
            <pc:docMk/>
            <pc:sldMk cId="1792285446" sldId="418"/>
            <ac:spMk id="16" creationId="{3698552E-3C0C-0A5E-5CF9-49172A91FABE}"/>
          </ac:spMkLst>
        </pc:spChg>
      </pc:sldChg>
      <pc:sldChg chg="add">
        <pc:chgData name="Aleksei Paznikov" userId="e102f1a3-550d-4646-9829-bc744d09ff30" providerId="ADAL" clId="{6BDC6C36-11CE-5EAB-AEE2-C66950020AA4}" dt="2025-12-04T08:35:41.983" v="0"/>
        <pc:sldMkLst>
          <pc:docMk/>
          <pc:sldMk cId="1458214245" sldId="435"/>
        </pc:sldMkLst>
      </pc:sldChg>
      <pc:sldChg chg="addSp delSp modSp add mod">
        <pc:chgData name="Aleksei Paznikov" userId="e102f1a3-550d-4646-9829-bc744d09ff30" providerId="ADAL" clId="{6BDC6C36-11CE-5EAB-AEE2-C66950020AA4}" dt="2025-12-04T09:03:28.106" v="184"/>
        <pc:sldMkLst>
          <pc:docMk/>
          <pc:sldMk cId="660572056" sldId="436"/>
        </pc:sldMkLst>
        <pc:spChg chg="mod">
          <ac:chgData name="Aleksei Paznikov" userId="e102f1a3-550d-4646-9829-bc744d09ff30" providerId="ADAL" clId="{6BDC6C36-11CE-5EAB-AEE2-C66950020AA4}" dt="2025-12-04T09:03:21.866" v="182" actId="1076"/>
          <ac:spMkLst>
            <pc:docMk/>
            <pc:sldMk cId="660572056" sldId="436"/>
            <ac:spMk id="2" creationId="{92D033A2-96C6-61F1-EAF1-BD6EFBA241F1}"/>
          </ac:spMkLst>
        </pc:spChg>
        <pc:spChg chg="mod">
          <ac:chgData name="Aleksei Paznikov" userId="e102f1a3-550d-4646-9829-bc744d09ff30" providerId="ADAL" clId="{6BDC6C36-11CE-5EAB-AEE2-C66950020AA4}" dt="2025-12-04T09:01:00.275" v="178"/>
          <ac:spMkLst>
            <pc:docMk/>
            <pc:sldMk cId="660572056" sldId="436"/>
            <ac:spMk id="3" creationId="{8C179ED8-DCC7-EF55-EB61-99DFE6DDBF7F}"/>
          </ac:spMkLst>
        </pc:spChg>
        <pc:spChg chg="del mod">
          <ac:chgData name="Aleksei Paznikov" userId="e102f1a3-550d-4646-9829-bc744d09ff30" providerId="ADAL" clId="{6BDC6C36-11CE-5EAB-AEE2-C66950020AA4}" dt="2025-12-04T08:59:07.954" v="89" actId="21"/>
          <ac:spMkLst>
            <pc:docMk/>
            <pc:sldMk cId="660572056" sldId="436"/>
            <ac:spMk id="4" creationId="{45089DE3-C29C-255F-5172-3751C68D45E4}"/>
          </ac:spMkLst>
        </pc:spChg>
        <pc:spChg chg="mod">
          <ac:chgData name="Aleksei Paznikov" userId="e102f1a3-550d-4646-9829-bc744d09ff30" providerId="ADAL" clId="{6BDC6C36-11CE-5EAB-AEE2-C66950020AA4}" dt="2025-12-04T09:03:28.106" v="184"/>
          <ac:spMkLst>
            <pc:docMk/>
            <pc:sldMk cId="660572056" sldId="436"/>
            <ac:spMk id="5" creationId="{9E3E70DC-141D-1F64-7963-18C4A0475FAC}"/>
          </ac:spMkLst>
        </pc:spChg>
        <pc:spChg chg="mod">
          <ac:chgData name="Aleksei Paznikov" userId="e102f1a3-550d-4646-9829-bc744d09ff30" providerId="ADAL" clId="{6BDC6C36-11CE-5EAB-AEE2-C66950020AA4}" dt="2025-12-04T09:00:35.207" v="175" actId="113"/>
          <ac:spMkLst>
            <pc:docMk/>
            <pc:sldMk cId="660572056" sldId="436"/>
            <ac:spMk id="6" creationId="{C8036192-4846-F454-7C88-84D083609C29}"/>
          </ac:spMkLst>
        </pc:spChg>
        <pc:spChg chg="add mod">
          <ac:chgData name="Aleksei Paznikov" userId="e102f1a3-550d-4646-9829-bc744d09ff30" providerId="ADAL" clId="{6BDC6C36-11CE-5EAB-AEE2-C66950020AA4}" dt="2025-12-04T09:01:14.204" v="179"/>
          <ac:spMkLst>
            <pc:docMk/>
            <pc:sldMk cId="660572056" sldId="436"/>
            <ac:spMk id="8" creationId="{F8B43E76-24DF-CF04-F1FE-A30CFBE11EB5}"/>
          </ac:spMkLst>
        </pc:spChg>
        <pc:spChg chg="del">
          <ac:chgData name="Aleksei Paznikov" userId="e102f1a3-550d-4646-9829-bc744d09ff30" providerId="ADAL" clId="{6BDC6C36-11CE-5EAB-AEE2-C66950020AA4}" dt="2025-12-04T08:59:07.954" v="89" actId="21"/>
          <ac:spMkLst>
            <pc:docMk/>
            <pc:sldMk cId="660572056" sldId="436"/>
            <ac:spMk id="10" creationId="{872061FA-8FFA-CE2E-CD6C-825A81077822}"/>
          </ac:spMkLst>
        </pc:spChg>
        <pc:spChg chg="mod">
          <ac:chgData name="Aleksei Paznikov" userId="e102f1a3-550d-4646-9829-bc744d09ff30" providerId="ADAL" clId="{6BDC6C36-11CE-5EAB-AEE2-C66950020AA4}" dt="2025-12-04T08:59:38.394" v="169" actId="20577"/>
          <ac:spMkLst>
            <pc:docMk/>
            <pc:sldMk cId="660572056" sldId="436"/>
            <ac:spMk id="16" creationId="{5E5C0621-B89C-E0C9-F0A9-CF263CB27CDE}"/>
          </ac:spMkLst>
        </pc:spChg>
      </pc:sldChg>
    </pc:docChg>
  </pc:docChgLst>
  <pc:docChgLst>
    <pc:chgData name="Aleksei Paznikov" userId="e102f1a3-550d-4646-9829-bc744d09ff30" providerId="ADAL" clId="{D4198C5F-4083-451E-A0B5-550FB6E3A9FC}"/>
    <pc:docChg chg="undo custSel addSld delSld modSld sldOrd addSection modSection">
      <pc:chgData name="Aleksei Paznikov" userId="e102f1a3-550d-4646-9829-bc744d09ff30" providerId="ADAL" clId="{D4198C5F-4083-451E-A0B5-550FB6E3A9FC}" dt="2025-12-09T09:38:14.782" v="1640" actId="313"/>
      <pc:docMkLst>
        <pc:docMk/>
      </pc:docMkLst>
      <pc:sldChg chg="del">
        <pc:chgData name="Aleksei Paznikov" userId="e102f1a3-550d-4646-9829-bc744d09ff30" providerId="ADAL" clId="{D4198C5F-4083-451E-A0B5-550FB6E3A9FC}" dt="2025-12-08T08:00:00.917" v="843" actId="47"/>
        <pc:sldMkLst>
          <pc:docMk/>
          <pc:sldMk cId="172122798" sldId="411"/>
        </pc:sldMkLst>
      </pc:sldChg>
      <pc:sldChg chg="addSp delSp modSp mod ord">
        <pc:chgData name="Aleksei Paznikov" userId="e102f1a3-550d-4646-9829-bc744d09ff30" providerId="ADAL" clId="{D4198C5F-4083-451E-A0B5-550FB6E3A9FC}" dt="2025-12-08T07:29:25.126" v="785" actId="1076"/>
        <pc:sldMkLst>
          <pc:docMk/>
          <pc:sldMk cId="4153341335" sldId="416"/>
        </pc:sldMkLst>
        <pc:spChg chg="add mod">
          <ac:chgData name="Aleksei Paznikov" userId="e102f1a3-550d-4646-9829-bc744d09ff30" providerId="ADAL" clId="{D4198C5F-4083-451E-A0B5-550FB6E3A9FC}" dt="2025-12-08T07:24:44.637" v="768"/>
          <ac:spMkLst>
            <pc:docMk/>
            <pc:sldMk cId="4153341335" sldId="416"/>
            <ac:spMk id="2" creationId="{A5A0C1D4-7FC6-D2C5-5A92-CBFED0681065}"/>
          </ac:spMkLst>
        </pc:spChg>
        <pc:spChg chg="mod">
          <ac:chgData name="Aleksei Paznikov" userId="e102f1a3-550d-4646-9829-bc744d09ff30" providerId="ADAL" clId="{D4198C5F-4083-451E-A0B5-550FB6E3A9FC}" dt="2025-12-08T07:29:25.126" v="785" actId="1076"/>
          <ac:spMkLst>
            <pc:docMk/>
            <pc:sldMk cId="4153341335" sldId="416"/>
            <ac:spMk id="4" creationId="{E3B807C0-1A8C-7AD4-83BE-18262C76E462}"/>
          </ac:spMkLst>
        </pc:spChg>
        <pc:spChg chg="del">
          <ac:chgData name="Aleksei Paznikov" userId="e102f1a3-550d-4646-9829-bc744d09ff30" providerId="ADAL" clId="{D4198C5F-4083-451E-A0B5-550FB6E3A9FC}" dt="2025-12-08T07:24:44.280" v="767" actId="478"/>
          <ac:spMkLst>
            <pc:docMk/>
            <pc:sldMk cId="4153341335" sldId="416"/>
            <ac:spMk id="16" creationId="{93275C96-6C63-9830-DCBD-1A04C0FE86F5}"/>
          </ac:spMkLst>
        </pc:spChg>
      </pc:sldChg>
      <pc:sldChg chg="modSp mod">
        <pc:chgData name="Aleksei Paznikov" userId="e102f1a3-550d-4646-9829-bc744d09ff30" providerId="ADAL" clId="{D4198C5F-4083-451E-A0B5-550FB6E3A9FC}" dt="2025-12-05T09:25:16.295" v="18" actId="20577"/>
        <pc:sldMkLst>
          <pc:docMk/>
          <pc:sldMk cId="1792285446" sldId="418"/>
        </pc:sldMkLst>
        <pc:spChg chg="mod">
          <ac:chgData name="Aleksei Paznikov" userId="e102f1a3-550d-4646-9829-bc744d09ff30" providerId="ADAL" clId="{D4198C5F-4083-451E-A0B5-550FB6E3A9FC}" dt="2025-12-05T09:25:01.829" v="13" actId="20577"/>
          <ac:spMkLst>
            <pc:docMk/>
            <pc:sldMk cId="1792285446" sldId="418"/>
            <ac:spMk id="3" creationId="{839296F0-63A2-6EDA-7183-279F3C8409F1}"/>
          </ac:spMkLst>
        </pc:spChg>
        <pc:spChg chg="mod">
          <ac:chgData name="Aleksei Paznikov" userId="e102f1a3-550d-4646-9829-bc744d09ff30" providerId="ADAL" clId="{D4198C5F-4083-451E-A0B5-550FB6E3A9FC}" dt="2025-12-05T09:25:16.295" v="18" actId="20577"/>
          <ac:spMkLst>
            <pc:docMk/>
            <pc:sldMk cId="1792285446" sldId="418"/>
            <ac:spMk id="4" creationId="{20CF86ED-ADDE-B195-D1B6-82465D67AB46}"/>
          </ac:spMkLst>
        </pc:spChg>
      </pc:sldChg>
      <pc:sldChg chg="modSp mod modShow">
        <pc:chgData name="Aleksei Paznikov" userId="e102f1a3-550d-4646-9829-bc744d09ff30" providerId="ADAL" clId="{D4198C5F-4083-451E-A0B5-550FB6E3A9FC}" dt="2025-12-09T09:38:14.782" v="1640" actId="313"/>
        <pc:sldMkLst>
          <pc:docMk/>
          <pc:sldMk cId="3059003178" sldId="425"/>
        </pc:sldMkLst>
        <pc:spChg chg="mod">
          <ac:chgData name="Aleksei Paznikov" userId="e102f1a3-550d-4646-9829-bc744d09ff30" providerId="ADAL" clId="{D4198C5F-4083-451E-A0B5-550FB6E3A9FC}" dt="2025-12-09T09:38:14.782" v="1640" actId="313"/>
          <ac:spMkLst>
            <pc:docMk/>
            <pc:sldMk cId="3059003178" sldId="425"/>
            <ac:spMk id="5" creationId="{B031C2B9-6FB7-38E1-1136-F0C65C777504}"/>
          </ac:spMkLst>
        </pc:spChg>
      </pc:sldChg>
      <pc:sldChg chg="addSp delSp modSp mod">
        <pc:chgData name="Aleksei Paznikov" userId="e102f1a3-550d-4646-9829-bc744d09ff30" providerId="ADAL" clId="{D4198C5F-4083-451E-A0B5-550FB6E3A9FC}" dt="2025-12-09T04:41:41.470" v="1526" actId="255"/>
        <pc:sldMkLst>
          <pc:docMk/>
          <pc:sldMk cId="1012991895" sldId="426"/>
        </pc:sldMkLst>
        <pc:spChg chg="del">
          <ac:chgData name="Aleksei Paznikov" userId="e102f1a3-550d-4646-9829-bc744d09ff30" providerId="ADAL" clId="{D4198C5F-4083-451E-A0B5-550FB6E3A9FC}" dt="2025-12-09T04:35:49.793" v="1451" actId="21"/>
          <ac:spMkLst>
            <pc:docMk/>
            <pc:sldMk cId="1012991895" sldId="426"/>
            <ac:spMk id="2" creationId="{862D6598-3A52-0594-2025-E74E3A93AA74}"/>
          </ac:spMkLst>
        </pc:spChg>
        <pc:spChg chg="del">
          <ac:chgData name="Aleksei Paznikov" userId="e102f1a3-550d-4646-9829-bc744d09ff30" providerId="ADAL" clId="{D4198C5F-4083-451E-A0B5-550FB6E3A9FC}" dt="2025-12-09T04:35:49.793" v="1451" actId="21"/>
          <ac:spMkLst>
            <pc:docMk/>
            <pc:sldMk cId="1012991895" sldId="426"/>
            <ac:spMk id="3" creationId="{6035D204-65D1-AB30-4501-25C916D579F7}"/>
          </ac:spMkLst>
        </pc:spChg>
        <pc:spChg chg="del">
          <ac:chgData name="Aleksei Paznikov" userId="e102f1a3-550d-4646-9829-bc744d09ff30" providerId="ADAL" clId="{D4198C5F-4083-451E-A0B5-550FB6E3A9FC}" dt="2025-12-09T04:35:49.793" v="1451" actId="21"/>
          <ac:spMkLst>
            <pc:docMk/>
            <pc:sldMk cId="1012991895" sldId="426"/>
            <ac:spMk id="4" creationId="{5368D16F-F588-E73C-6A8B-5E8381A8CD5A}"/>
          </ac:spMkLst>
        </pc:spChg>
        <pc:spChg chg="del">
          <ac:chgData name="Aleksei Paznikov" userId="e102f1a3-550d-4646-9829-bc744d09ff30" providerId="ADAL" clId="{D4198C5F-4083-451E-A0B5-550FB6E3A9FC}" dt="2025-12-09T04:35:49.793" v="1451" actId="21"/>
          <ac:spMkLst>
            <pc:docMk/>
            <pc:sldMk cId="1012991895" sldId="426"/>
            <ac:spMk id="6" creationId="{39EDE242-818A-4F28-6171-89D0CDBE3FC2}"/>
          </ac:spMkLst>
        </pc:spChg>
        <pc:spChg chg="add mod">
          <ac:chgData name="Aleksei Paznikov" userId="e102f1a3-550d-4646-9829-bc744d09ff30" providerId="ADAL" clId="{D4198C5F-4083-451E-A0B5-550FB6E3A9FC}" dt="2025-12-09T04:41:41.470" v="1526" actId="255"/>
          <ac:spMkLst>
            <pc:docMk/>
            <pc:sldMk cId="1012991895" sldId="426"/>
            <ac:spMk id="8" creationId="{21B498D1-673C-F98E-D7F9-90676E3D0950}"/>
          </ac:spMkLst>
        </pc:spChg>
        <pc:spChg chg="del">
          <ac:chgData name="Aleksei Paznikov" userId="e102f1a3-550d-4646-9829-bc744d09ff30" providerId="ADAL" clId="{D4198C5F-4083-451E-A0B5-550FB6E3A9FC}" dt="2025-12-09T04:35:49.793" v="1451" actId="21"/>
          <ac:spMkLst>
            <pc:docMk/>
            <pc:sldMk cId="1012991895" sldId="426"/>
            <ac:spMk id="9" creationId="{83A61B3A-9907-181C-BEF0-696EFB34123A}"/>
          </ac:spMkLst>
        </pc:spChg>
        <pc:spChg chg="mod">
          <ac:chgData name="Aleksei Paznikov" userId="e102f1a3-550d-4646-9829-bc744d09ff30" providerId="ADAL" clId="{D4198C5F-4083-451E-A0B5-550FB6E3A9FC}" dt="2025-12-09T04:39:54.143" v="1510" actId="20577"/>
          <ac:spMkLst>
            <pc:docMk/>
            <pc:sldMk cId="1012991895" sldId="426"/>
            <ac:spMk id="16" creationId="{E692B0B6-4120-6300-6853-E5C89F41BC26}"/>
          </ac:spMkLst>
        </pc:spChg>
      </pc:sldChg>
      <pc:sldChg chg="mod modShow">
        <pc:chgData name="Aleksei Paznikov" userId="e102f1a3-550d-4646-9829-bc744d09ff30" providerId="ADAL" clId="{D4198C5F-4083-451E-A0B5-550FB6E3A9FC}" dt="2025-12-09T04:30:58.114" v="1370" actId="729"/>
        <pc:sldMkLst>
          <pc:docMk/>
          <pc:sldMk cId="737373936" sldId="430"/>
        </pc:sldMkLst>
      </pc:sldChg>
      <pc:sldChg chg="mod modShow">
        <pc:chgData name="Aleksei Paznikov" userId="e102f1a3-550d-4646-9829-bc744d09ff30" providerId="ADAL" clId="{D4198C5F-4083-451E-A0B5-550FB6E3A9FC}" dt="2025-12-09T04:29:31.296" v="1365" actId="729"/>
        <pc:sldMkLst>
          <pc:docMk/>
          <pc:sldMk cId="3306206202" sldId="433"/>
        </pc:sldMkLst>
      </pc:sldChg>
      <pc:sldChg chg="modSp mod">
        <pc:chgData name="Aleksei Paznikov" userId="e102f1a3-550d-4646-9829-bc744d09ff30" providerId="ADAL" clId="{D4198C5F-4083-451E-A0B5-550FB6E3A9FC}" dt="2025-12-05T09:24:43.585" v="9" actId="20577"/>
        <pc:sldMkLst>
          <pc:docMk/>
          <pc:sldMk cId="660572056" sldId="436"/>
        </pc:sldMkLst>
        <pc:spChg chg="mod">
          <ac:chgData name="Aleksei Paznikov" userId="e102f1a3-550d-4646-9829-bc744d09ff30" providerId="ADAL" clId="{D4198C5F-4083-451E-A0B5-550FB6E3A9FC}" dt="2025-12-05T09:24:27.393" v="2" actId="20577"/>
          <ac:spMkLst>
            <pc:docMk/>
            <pc:sldMk cId="660572056" sldId="436"/>
            <ac:spMk id="3" creationId="{8C179ED8-DCC7-EF55-EB61-99DFE6DDBF7F}"/>
          </ac:spMkLst>
        </pc:spChg>
        <pc:spChg chg="mod">
          <ac:chgData name="Aleksei Paznikov" userId="e102f1a3-550d-4646-9829-bc744d09ff30" providerId="ADAL" clId="{D4198C5F-4083-451E-A0B5-550FB6E3A9FC}" dt="2025-12-05T09:24:43.585" v="9" actId="20577"/>
          <ac:spMkLst>
            <pc:docMk/>
            <pc:sldMk cId="660572056" sldId="436"/>
            <ac:spMk id="8" creationId="{F8B43E76-24DF-CF04-F1FE-A30CFBE11EB5}"/>
          </ac:spMkLst>
        </pc:spChg>
      </pc:sldChg>
      <pc:sldChg chg="modSp add mod">
        <pc:chgData name="Aleksei Paznikov" userId="e102f1a3-550d-4646-9829-bc744d09ff30" providerId="ADAL" clId="{D4198C5F-4083-451E-A0B5-550FB6E3A9FC}" dt="2025-12-08T04:15:47.950" v="147" actId="1076"/>
        <pc:sldMkLst>
          <pc:docMk/>
          <pc:sldMk cId="886678308" sldId="437"/>
        </pc:sldMkLst>
        <pc:spChg chg="mod">
          <ac:chgData name="Aleksei Paznikov" userId="e102f1a3-550d-4646-9829-bc744d09ff30" providerId="ADAL" clId="{D4198C5F-4083-451E-A0B5-550FB6E3A9FC}" dt="2025-12-08T04:15:47.950" v="147" actId="1076"/>
          <ac:spMkLst>
            <pc:docMk/>
            <pc:sldMk cId="886678308" sldId="437"/>
            <ac:spMk id="2" creationId="{E7ADE3BC-928E-A5F0-8297-FD3DF2714618}"/>
          </ac:spMkLst>
        </pc:spChg>
        <pc:spChg chg="mod">
          <ac:chgData name="Aleksei Paznikov" userId="e102f1a3-550d-4646-9829-bc744d09ff30" providerId="ADAL" clId="{D4198C5F-4083-451E-A0B5-550FB6E3A9FC}" dt="2025-12-08T04:15:47.950" v="147" actId="1076"/>
          <ac:spMkLst>
            <pc:docMk/>
            <pc:sldMk cId="886678308" sldId="437"/>
            <ac:spMk id="3" creationId="{F940ED75-CA39-971A-19C9-89F8787B133C}"/>
          </ac:spMkLst>
        </pc:spChg>
        <pc:spChg chg="mod">
          <ac:chgData name="Aleksei Paznikov" userId="e102f1a3-550d-4646-9829-bc744d09ff30" providerId="ADAL" clId="{D4198C5F-4083-451E-A0B5-550FB6E3A9FC}" dt="2025-12-08T04:15:47.950" v="147" actId="1076"/>
          <ac:spMkLst>
            <pc:docMk/>
            <pc:sldMk cId="886678308" sldId="437"/>
            <ac:spMk id="5" creationId="{97F47B31-7A7B-EA80-8731-856F88D8F069}"/>
          </ac:spMkLst>
        </pc:spChg>
        <pc:spChg chg="mod">
          <ac:chgData name="Aleksei Paznikov" userId="e102f1a3-550d-4646-9829-bc744d09ff30" providerId="ADAL" clId="{D4198C5F-4083-451E-A0B5-550FB6E3A9FC}" dt="2025-12-08T04:13:33.522" v="125" actId="207"/>
          <ac:spMkLst>
            <pc:docMk/>
            <pc:sldMk cId="886678308" sldId="437"/>
            <ac:spMk id="6" creationId="{7D95E934-75BB-9924-4E4D-86FF58ED4906}"/>
          </ac:spMkLst>
        </pc:spChg>
        <pc:spChg chg="mod">
          <ac:chgData name="Aleksei Paznikov" userId="e102f1a3-550d-4646-9829-bc744d09ff30" providerId="ADAL" clId="{D4198C5F-4083-451E-A0B5-550FB6E3A9FC}" dt="2025-12-08T04:15:47.950" v="147" actId="1076"/>
          <ac:spMkLst>
            <pc:docMk/>
            <pc:sldMk cId="886678308" sldId="437"/>
            <ac:spMk id="8" creationId="{A1CBD4B8-4722-B4EB-76DB-1C0DDD174493}"/>
          </ac:spMkLst>
        </pc:spChg>
        <pc:spChg chg="mod">
          <ac:chgData name="Aleksei Paznikov" userId="e102f1a3-550d-4646-9829-bc744d09ff30" providerId="ADAL" clId="{D4198C5F-4083-451E-A0B5-550FB6E3A9FC}" dt="2025-12-08T04:11:21.311" v="114" actId="207"/>
          <ac:spMkLst>
            <pc:docMk/>
            <pc:sldMk cId="886678308" sldId="437"/>
            <ac:spMk id="16" creationId="{27C58FE0-A5F0-F4BF-C4A6-1FFD14AB26CB}"/>
          </ac:spMkLst>
        </pc:spChg>
      </pc:sldChg>
      <pc:sldChg chg="modSp add mod ord">
        <pc:chgData name="Aleksei Paznikov" userId="e102f1a3-550d-4646-9829-bc744d09ff30" providerId="ADAL" clId="{D4198C5F-4083-451E-A0B5-550FB6E3A9FC}" dt="2025-12-08T04:12:39.595" v="119"/>
        <pc:sldMkLst>
          <pc:docMk/>
          <pc:sldMk cId="2875796212" sldId="438"/>
        </pc:sldMkLst>
        <pc:spChg chg="mod">
          <ac:chgData name="Aleksei Paznikov" userId="e102f1a3-550d-4646-9829-bc744d09ff30" providerId="ADAL" clId="{D4198C5F-4083-451E-A0B5-550FB6E3A9FC}" dt="2025-12-08T04:11:33.190" v="117" actId="20577"/>
          <ac:spMkLst>
            <pc:docMk/>
            <pc:sldMk cId="2875796212" sldId="438"/>
            <ac:spMk id="8" creationId="{5D119C61-41D9-7108-CC8C-C34CFCDA7306}"/>
          </ac:spMkLst>
        </pc:spChg>
      </pc:sldChg>
      <pc:sldChg chg="modSp add mod ord">
        <pc:chgData name="Aleksei Paznikov" userId="e102f1a3-550d-4646-9829-bc744d09ff30" providerId="ADAL" clId="{D4198C5F-4083-451E-A0B5-550FB6E3A9FC}" dt="2025-12-08T04:19:14.909" v="184" actId="20577"/>
        <pc:sldMkLst>
          <pc:docMk/>
          <pc:sldMk cId="3403725023" sldId="439"/>
        </pc:sldMkLst>
        <pc:spChg chg="mod">
          <ac:chgData name="Aleksei Paznikov" userId="e102f1a3-550d-4646-9829-bc744d09ff30" providerId="ADAL" clId="{D4198C5F-4083-451E-A0B5-550FB6E3A9FC}" dt="2025-12-08T04:17:34.315" v="177" actId="20577"/>
          <ac:spMkLst>
            <pc:docMk/>
            <pc:sldMk cId="3403725023" sldId="439"/>
            <ac:spMk id="2" creationId="{011DE6E0-57D8-773D-1784-A246E4BC1E5D}"/>
          </ac:spMkLst>
        </pc:spChg>
        <pc:spChg chg="mod">
          <ac:chgData name="Aleksei Paznikov" userId="e102f1a3-550d-4646-9829-bc744d09ff30" providerId="ADAL" clId="{D4198C5F-4083-451E-A0B5-550FB6E3A9FC}" dt="2025-12-08T04:18:39" v="181" actId="1076"/>
          <ac:spMkLst>
            <pc:docMk/>
            <pc:sldMk cId="3403725023" sldId="439"/>
            <ac:spMk id="3" creationId="{15E2CC1B-E485-A9AD-729E-65B1705FB462}"/>
          </ac:spMkLst>
        </pc:spChg>
        <pc:spChg chg="mod">
          <ac:chgData name="Aleksei Paznikov" userId="e102f1a3-550d-4646-9829-bc744d09ff30" providerId="ADAL" clId="{D4198C5F-4083-451E-A0B5-550FB6E3A9FC}" dt="2025-12-08T04:18:33.367" v="180"/>
          <ac:spMkLst>
            <pc:docMk/>
            <pc:sldMk cId="3403725023" sldId="439"/>
            <ac:spMk id="5" creationId="{CDE94C89-CB47-0D87-5780-07BEDB7E6FF8}"/>
          </ac:spMkLst>
        </pc:spChg>
        <pc:spChg chg="mod">
          <ac:chgData name="Aleksei Paznikov" userId="e102f1a3-550d-4646-9829-bc744d09ff30" providerId="ADAL" clId="{D4198C5F-4083-451E-A0B5-550FB6E3A9FC}" dt="2025-12-08T04:17:14.194" v="158" actId="207"/>
          <ac:spMkLst>
            <pc:docMk/>
            <pc:sldMk cId="3403725023" sldId="439"/>
            <ac:spMk id="6" creationId="{4BC8BB5D-B5E2-3850-4D5D-85CFA0889B8A}"/>
          </ac:spMkLst>
        </pc:spChg>
        <pc:spChg chg="mod">
          <ac:chgData name="Aleksei Paznikov" userId="e102f1a3-550d-4646-9829-bc744d09ff30" providerId="ADAL" clId="{D4198C5F-4083-451E-A0B5-550FB6E3A9FC}" dt="2025-12-08T04:19:14.909" v="184" actId="20577"/>
          <ac:spMkLst>
            <pc:docMk/>
            <pc:sldMk cId="3403725023" sldId="439"/>
            <ac:spMk id="8" creationId="{4E66B368-B1A6-3640-C153-9144C6AB799C}"/>
          </ac:spMkLst>
        </pc:spChg>
      </pc:sldChg>
      <pc:sldChg chg="modSp add mod">
        <pc:chgData name="Aleksei Paznikov" userId="e102f1a3-550d-4646-9829-bc744d09ff30" providerId="ADAL" clId="{D4198C5F-4083-451E-A0B5-550FB6E3A9FC}" dt="2025-12-08T04:22:49.015" v="264" actId="20577"/>
        <pc:sldMkLst>
          <pc:docMk/>
          <pc:sldMk cId="4044325547" sldId="440"/>
        </pc:sldMkLst>
        <pc:spChg chg="mod">
          <ac:chgData name="Aleksei Paznikov" userId="e102f1a3-550d-4646-9829-bc744d09ff30" providerId="ADAL" clId="{D4198C5F-4083-451E-A0B5-550FB6E3A9FC}" dt="2025-12-08T04:22:09.689" v="238" actId="1076"/>
          <ac:spMkLst>
            <pc:docMk/>
            <pc:sldMk cId="4044325547" sldId="440"/>
            <ac:spMk id="2" creationId="{90A25DF2-9F39-9FB9-6F24-09436231FF73}"/>
          </ac:spMkLst>
        </pc:spChg>
        <pc:spChg chg="mod">
          <ac:chgData name="Aleksei Paznikov" userId="e102f1a3-550d-4646-9829-bc744d09ff30" providerId="ADAL" clId="{D4198C5F-4083-451E-A0B5-550FB6E3A9FC}" dt="2025-12-08T04:22:09.689" v="238" actId="1076"/>
          <ac:spMkLst>
            <pc:docMk/>
            <pc:sldMk cId="4044325547" sldId="440"/>
            <ac:spMk id="3" creationId="{E1FE098C-5DFC-B233-69B1-F84F439C3A52}"/>
          </ac:spMkLst>
        </pc:spChg>
        <pc:spChg chg="mod">
          <ac:chgData name="Aleksei Paznikov" userId="e102f1a3-550d-4646-9829-bc744d09ff30" providerId="ADAL" clId="{D4198C5F-4083-451E-A0B5-550FB6E3A9FC}" dt="2025-12-08T04:22:09.689" v="238" actId="1076"/>
          <ac:spMkLst>
            <pc:docMk/>
            <pc:sldMk cId="4044325547" sldId="440"/>
            <ac:spMk id="5" creationId="{97F8B492-B042-870A-7514-8E8490C05313}"/>
          </ac:spMkLst>
        </pc:spChg>
        <pc:spChg chg="mod">
          <ac:chgData name="Aleksei Paznikov" userId="e102f1a3-550d-4646-9829-bc744d09ff30" providerId="ADAL" clId="{D4198C5F-4083-451E-A0B5-550FB6E3A9FC}" dt="2025-12-08T04:20:47.925" v="211" actId="207"/>
          <ac:spMkLst>
            <pc:docMk/>
            <pc:sldMk cId="4044325547" sldId="440"/>
            <ac:spMk id="6" creationId="{CBF6D93E-D58D-3B99-5DB4-EBB8B9FD9091}"/>
          </ac:spMkLst>
        </pc:spChg>
        <pc:spChg chg="mod">
          <ac:chgData name="Aleksei Paznikov" userId="e102f1a3-550d-4646-9829-bc744d09ff30" providerId="ADAL" clId="{D4198C5F-4083-451E-A0B5-550FB6E3A9FC}" dt="2025-12-08T04:22:49.015" v="264" actId="20577"/>
          <ac:spMkLst>
            <pc:docMk/>
            <pc:sldMk cId="4044325547" sldId="440"/>
            <ac:spMk id="8" creationId="{E9A19514-6EF6-E413-9FEF-140FD9730692}"/>
          </ac:spMkLst>
        </pc:spChg>
      </pc:sldChg>
      <pc:sldChg chg="add del">
        <pc:chgData name="Aleksei Paznikov" userId="e102f1a3-550d-4646-9829-bc744d09ff30" providerId="ADAL" clId="{D4198C5F-4083-451E-A0B5-550FB6E3A9FC}" dt="2025-12-08T04:41:20.242" v="266" actId="2890"/>
        <pc:sldMkLst>
          <pc:docMk/>
          <pc:sldMk cId="1830724873" sldId="441"/>
        </pc:sldMkLst>
      </pc:sldChg>
      <pc:sldChg chg="addSp delSp modSp new mod ord setBg">
        <pc:chgData name="Aleksei Paznikov" userId="e102f1a3-550d-4646-9829-bc744d09ff30" providerId="ADAL" clId="{D4198C5F-4083-451E-A0B5-550FB6E3A9FC}" dt="2025-12-08T06:47:20.963" v="669"/>
        <pc:sldMkLst>
          <pc:docMk/>
          <pc:sldMk cId="4070907534" sldId="441"/>
        </pc:sldMkLst>
        <pc:spChg chg="del">
          <ac:chgData name="Aleksei Paznikov" userId="e102f1a3-550d-4646-9829-bc744d09ff30" providerId="ADAL" clId="{D4198C5F-4083-451E-A0B5-550FB6E3A9FC}" dt="2025-12-08T04:45:15.013" v="268" actId="21"/>
          <ac:spMkLst>
            <pc:docMk/>
            <pc:sldMk cId="4070907534" sldId="441"/>
            <ac:spMk id="2" creationId="{5E39B0E1-E4DF-49EC-1860-0C970EC9D2E0}"/>
          </ac:spMkLst>
        </pc:spChg>
        <pc:spChg chg="del">
          <ac:chgData name="Aleksei Paznikov" userId="e102f1a3-550d-4646-9829-bc744d09ff30" providerId="ADAL" clId="{D4198C5F-4083-451E-A0B5-550FB6E3A9FC}" dt="2025-12-08T04:45:15.013" v="268" actId="21"/>
          <ac:spMkLst>
            <pc:docMk/>
            <pc:sldMk cId="4070907534" sldId="441"/>
            <ac:spMk id="3" creationId="{7AD5D5D2-4E87-BDBA-DBF5-212746D3DF4C}"/>
          </ac:spMkLst>
        </pc:spChg>
        <pc:spChg chg="add mod">
          <ac:chgData name="Aleksei Paznikov" userId="e102f1a3-550d-4646-9829-bc744d09ff30" providerId="ADAL" clId="{D4198C5F-4083-451E-A0B5-550FB6E3A9FC}" dt="2025-12-08T06:47:20.963" v="669"/>
          <ac:spMkLst>
            <pc:docMk/>
            <pc:sldMk cId="4070907534" sldId="441"/>
            <ac:spMk id="5" creationId="{5E9A4139-7AC5-E18E-32DE-8C35770DE71D}"/>
          </ac:spMkLst>
        </pc:spChg>
      </pc:sldChg>
      <pc:sldChg chg="add del setBg">
        <pc:chgData name="Aleksei Paznikov" userId="e102f1a3-550d-4646-9829-bc744d09ff30" providerId="ADAL" clId="{D4198C5F-4083-451E-A0B5-550FB6E3A9FC}" dt="2025-12-08T04:47:38.934" v="334"/>
        <pc:sldMkLst>
          <pc:docMk/>
          <pc:sldMk cId="3743266532" sldId="442"/>
        </pc:sldMkLst>
      </pc:sldChg>
      <pc:sldChg chg="modSp add mod">
        <pc:chgData name="Aleksei Paznikov" userId="e102f1a3-550d-4646-9829-bc744d09ff30" providerId="ADAL" clId="{D4198C5F-4083-451E-A0B5-550FB6E3A9FC}" dt="2025-12-08T07:57:47.351" v="787" actId="1076"/>
        <pc:sldMkLst>
          <pc:docMk/>
          <pc:sldMk cId="4276120243" sldId="442"/>
        </pc:sldMkLst>
        <pc:spChg chg="mod">
          <ac:chgData name="Aleksei Paznikov" userId="e102f1a3-550d-4646-9829-bc744d09ff30" providerId="ADAL" clId="{D4198C5F-4083-451E-A0B5-550FB6E3A9FC}" dt="2025-12-08T07:57:47.351" v="787" actId="1076"/>
          <ac:spMkLst>
            <pc:docMk/>
            <pc:sldMk cId="4276120243" sldId="442"/>
            <ac:spMk id="5" creationId="{A8CA00AC-1F1C-0309-AC61-5B4297485179}"/>
          </ac:spMkLst>
        </pc:spChg>
      </pc:sldChg>
      <pc:sldChg chg="modSp add mod ord">
        <pc:chgData name="Aleksei Paznikov" userId="e102f1a3-550d-4646-9829-bc744d09ff30" providerId="ADAL" clId="{D4198C5F-4083-451E-A0B5-550FB6E3A9FC}" dt="2025-12-08T07:57:57.968" v="788" actId="1076"/>
        <pc:sldMkLst>
          <pc:docMk/>
          <pc:sldMk cId="2028503841" sldId="443"/>
        </pc:sldMkLst>
        <pc:spChg chg="mod">
          <ac:chgData name="Aleksei Paznikov" userId="e102f1a3-550d-4646-9829-bc744d09ff30" providerId="ADAL" clId="{D4198C5F-4083-451E-A0B5-550FB6E3A9FC}" dt="2025-12-08T07:57:57.968" v="788" actId="1076"/>
          <ac:spMkLst>
            <pc:docMk/>
            <pc:sldMk cId="2028503841" sldId="443"/>
            <ac:spMk id="5" creationId="{AC8C3AA7-11AD-F125-1FB5-398BD9E695DB}"/>
          </ac:spMkLst>
        </pc:spChg>
      </pc:sldChg>
      <pc:sldChg chg="add del setBg">
        <pc:chgData name="Aleksei Paznikov" userId="e102f1a3-550d-4646-9829-bc744d09ff30" providerId="ADAL" clId="{D4198C5F-4083-451E-A0B5-550FB6E3A9FC}" dt="2025-12-08T04:49:24.453" v="377"/>
        <pc:sldMkLst>
          <pc:docMk/>
          <pc:sldMk cId="3224267456" sldId="443"/>
        </pc:sldMkLst>
      </pc:sldChg>
      <pc:sldChg chg="modSp add mod">
        <pc:chgData name="Aleksei Paznikov" userId="e102f1a3-550d-4646-9829-bc744d09ff30" providerId="ADAL" clId="{D4198C5F-4083-451E-A0B5-550FB6E3A9FC}" dt="2025-12-08T07:58:21.423" v="790" actId="1076"/>
        <pc:sldMkLst>
          <pc:docMk/>
          <pc:sldMk cId="4258852978" sldId="444"/>
        </pc:sldMkLst>
        <pc:spChg chg="mod">
          <ac:chgData name="Aleksei Paznikov" userId="e102f1a3-550d-4646-9829-bc744d09ff30" providerId="ADAL" clId="{D4198C5F-4083-451E-A0B5-550FB6E3A9FC}" dt="2025-12-08T07:58:21.423" v="790" actId="1076"/>
          <ac:spMkLst>
            <pc:docMk/>
            <pc:sldMk cId="4258852978" sldId="444"/>
            <ac:spMk id="5" creationId="{E1451ADA-CC7B-6621-CF60-042E0C2FE2BF}"/>
          </ac:spMkLst>
        </pc:spChg>
      </pc:sldChg>
      <pc:sldChg chg="modSp add mod ord">
        <pc:chgData name="Aleksei Paznikov" userId="e102f1a3-550d-4646-9829-bc744d09ff30" providerId="ADAL" clId="{D4198C5F-4083-451E-A0B5-550FB6E3A9FC}" dt="2025-12-08T05:24:21.092" v="663" actId="1076"/>
        <pc:sldMkLst>
          <pc:docMk/>
          <pc:sldMk cId="4072664905" sldId="445"/>
        </pc:sldMkLst>
        <pc:spChg chg="mod">
          <ac:chgData name="Aleksei Paznikov" userId="e102f1a3-550d-4646-9829-bc744d09ff30" providerId="ADAL" clId="{D4198C5F-4083-451E-A0B5-550FB6E3A9FC}" dt="2025-12-08T05:23:42.555" v="658" actId="1076"/>
          <ac:spMkLst>
            <pc:docMk/>
            <pc:sldMk cId="4072664905" sldId="445"/>
            <ac:spMk id="2" creationId="{DA2AFDB5-2776-E95E-A7FF-EB9A0D5D3161}"/>
          </ac:spMkLst>
        </pc:spChg>
        <pc:spChg chg="mod">
          <ac:chgData name="Aleksei Paznikov" userId="e102f1a3-550d-4646-9829-bc744d09ff30" providerId="ADAL" clId="{D4198C5F-4083-451E-A0B5-550FB6E3A9FC}" dt="2025-12-08T05:24:21.092" v="663" actId="1076"/>
          <ac:spMkLst>
            <pc:docMk/>
            <pc:sldMk cId="4072664905" sldId="445"/>
            <ac:spMk id="3" creationId="{58E81109-3F79-2D7C-F2C8-826F147026A2}"/>
          </ac:spMkLst>
        </pc:spChg>
        <pc:spChg chg="mod">
          <ac:chgData name="Aleksei Paznikov" userId="e102f1a3-550d-4646-9829-bc744d09ff30" providerId="ADAL" clId="{D4198C5F-4083-451E-A0B5-550FB6E3A9FC}" dt="2025-12-08T05:23:42.555" v="658" actId="1076"/>
          <ac:spMkLst>
            <pc:docMk/>
            <pc:sldMk cId="4072664905" sldId="445"/>
            <ac:spMk id="5" creationId="{942E8F94-5155-66CD-4247-506CBB92434C}"/>
          </ac:spMkLst>
        </pc:spChg>
        <pc:spChg chg="mod">
          <ac:chgData name="Aleksei Paznikov" userId="e102f1a3-550d-4646-9829-bc744d09ff30" providerId="ADAL" clId="{D4198C5F-4083-451E-A0B5-550FB6E3A9FC}" dt="2025-12-08T05:23:45.203" v="659" actId="1076"/>
          <ac:spMkLst>
            <pc:docMk/>
            <pc:sldMk cId="4072664905" sldId="445"/>
            <ac:spMk id="6" creationId="{AEAB21B7-5385-78D7-076A-350FB9C56D90}"/>
          </ac:spMkLst>
        </pc:spChg>
        <pc:spChg chg="mod">
          <ac:chgData name="Aleksei Paznikov" userId="e102f1a3-550d-4646-9829-bc744d09ff30" providerId="ADAL" clId="{D4198C5F-4083-451E-A0B5-550FB6E3A9FC}" dt="2025-12-08T05:23:42.555" v="658" actId="1076"/>
          <ac:spMkLst>
            <pc:docMk/>
            <pc:sldMk cId="4072664905" sldId="445"/>
            <ac:spMk id="8" creationId="{E3C2B7C5-E5ED-36F9-084A-86D2DB77C4C7}"/>
          </ac:spMkLst>
        </pc:spChg>
        <pc:spChg chg="mod">
          <ac:chgData name="Aleksei Paznikov" userId="e102f1a3-550d-4646-9829-bc744d09ff30" providerId="ADAL" clId="{D4198C5F-4083-451E-A0B5-550FB6E3A9FC}" dt="2025-12-08T05:14:41.164" v="529" actId="207"/>
          <ac:spMkLst>
            <pc:docMk/>
            <pc:sldMk cId="4072664905" sldId="445"/>
            <ac:spMk id="16" creationId="{83291511-C157-27A5-0B1F-836669FE93C4}"/>
          </ac:spMkLst>
        </pc:spChg>
      </pc:sldChg>
      <pc:sldChg chg="modSp add mod">
        <pc:chgData name="Aleksei Paznikov" userId="e102f1a3-550d-4646-9829-bc744d09ff30" providerId="ADAL" clId="{D4198C5F-4083-451E-A0B5-550FB6E3A9FC}" dt="2025-12-08T05:23:12.358" v="654"/>
        <pc:sldMkLst>
          <pc:docMk/>
          <pc:sldMk cId="1259806000" sldId="446"/>
        </pc:sldMkLst>
        <pc:spChg chg="mod">
          <ac:chgData name="Aleksei Paznikov" userId="e102f1a3-550d-4646-9829-bc744d09ff30" providerId="ADAL" clId="{D4198C5F-4083-451E-A0B5-550FB6E3A9FC}" dt="2025-12-08T05:15:38.030" v="553" actId="20577"/>
          <ac:spMkLst>
            <pc:docMk/>
            <pc:sldMk cId="1259806000" sldId="446"/>
            <ac:spMk id="2" creationId="{0A94E2BE-9B07-8141-8AD3-43DDF607F822}"/>
          </ac:spMkLst>
        </pc:spChg>
        <pc:spChg chg="mod">
          <ac:chgData name="Aleksei Paznikov" userId="e102f1a3-550d-4646-9829-bc744d09ff30" providerId="ADAL" clId="{D4198C5F-4083-451E-A0B5-550FB6E3A9FC}" dt="2025-12-08T05:15:52.564" v="554"/>
          <ac:spMkLst>
            <pc:docMk/>
            <pc:sldMk cId="1259806000" sldId="446"/>
            <ac:spMk id="3" creationId="{CB5531DA-58AE-1C3C-3843-D42D9F7D6AD5}"/>
          </ac:spMkLst>
        </pc:spChg>
        <pc:spChg chg="mod">
          <ac:chgData name="Aleksei Paznikov" userId="e102f1a3-550d-4646-9829-bc744d09ff30" providerId="ADAL" clId="{D4198C5F-4083-451E-A0B5-550FB6E3A9FC}" dt="2025-12-08T05:16:33.373" v="570" actId="20577"/>
          <ac:spMkLst>
            <pc:docMk/>
            <pc:sldMk cId="1259806000" sldId="446"/>
            <ac:spMk id="5" creationId="{8E301973-C5F0-7B1A-FEDF-04A72A78CEC5}"/>
          </ac:spMkLst>
        </pc:spChg>
        <pc:spChg chg="mod">
          <ac:chgData name="Aleksei Paznikov" userId="e102f1a3-550d-4646-9829-bc744d09ff30" providerId="ADAL" clId="{D4198C5F-4083-451E-A0B5-550FB6E3A9FC}" dt="2025-12-08T05:23:12.358" v="654"/>
          <ac:spMkLst>
            <pc:docMk/>
            <pc:sldMk cId="1259806000" sldId="446"/>
            <ac:spMk id="6" creationId="{261F57F2-E9FD-F254-04A4-8F35A9C257A4}"/>
          </ac:spMkLst>
        </pc:spChg>
        <pc:spChg chg="mod">
          <ac:chgData name="Aleksei Paznikov" userId="e102f1a3-550d-4646-9829-bc744d09ff30" providerId="ADAL" clId="{D4198C5F-4083-451E-A0B5-550FB6E3A9FC}" dt="2025-12-08T05:16:25.375" v="557" actId="20577"/>
          <ac:spMkLst>
            <pc:docMk/>
            <pc:sldMk cId="1259806000" sldId="446"/>
            <ac:spMk id="8" creationId="{BE8D72E3-ED26-012D-A7D9-37283CD05F1D}"/>
          </ac:spMkLst>
        </pc:spChg>
      </pc:sldChg>
      <pc:sldChg chg="modSp add mod">
        <pc:chgData name="Aleksei Paznikov" userId="e102f1a3-550d-4646-9829-bc744d09ff30" providerId="ADAL" clId="{D4198C5F-4083-451E-A0B5-550FB6E3A9FC}" dt="2025-12-08T05:22:47.487" v="651" actId="1076"/>
        <pc:sldMkLst>
          <pc:docMk/>
          <pc:sldMk cId="2541847582" sldId="447"/>
        </pc:sldMkLst>
        <pc:spChg chg="mod">
          <ac:chgData name="Aleksei Paznikov" userId="e102f1a3-550d-4646-9829-bc744d09ff30" providerId="ADAL" clId="{D4198C5F-4083-451E-A0B5-550FB6E3A9FC}" dt="2025-12-08T05:22:45.173" v="650" actId="1076"/>
          <ac:spMkLst>
            <pc:docMk/>
            <pc:sldMk cId="2541847582" sldId="447"/>
            <ac:spMk id="2" creationId="{6A85BEA1-DA99-AD38-8CEC-0A5FFF7E41BA}"/>
          </ac:spMkLst>
        </pc:spChg>
        <pc:spChg chg="mod">
          <ac:chgData name="Aleksei Paznikov" userId="e102f1a3-550d-4646-9829-bc744d09ff30" providerId="ADAL" clId="{D4198C5F-4083-451E-A0B5-550FB6E3A9FC}" dt="2025-12-08T05:22:45.173" v="650" actId="1076"/>
          <ac:spMkLst>
            <pc:docMk/>
            <pc:sldMk cId="2541847582" sldId="447"/>
            <ac:spMk id="3" creationId="{25FFB1BE-95B5-B8CE-BDB7-63C812299126}"/>
          </ac:spMkLst>
        </pc:spChg>
        <pc:spChg chg="mod">
          <ac:chgData name="Aleksei Paznikov" userId="e102f1a3-550d-4646-9829-bc744d09ff30" providerId="ADAL" clId="{D4198C5F-4083-451E-A0B5-550FB6E3A9FC}" dt="2025-12-08T05:22:45.173" v="650" actId="1076"/>
          <ac:spMkLst>
            <pc:docMk/>
            <pc:sldMk cId="2541847582" sldId="447"/>
            <ac:spMk id="5" creationId="{7DBA25A1-285C-3997-DAF6-995F6620FF32}"/>
          </ac:spMkLst>
        </pc:spChg>
        <pc:spChg chg="mod">
          <ac:chgData name="Aleksei Paznikov" userId="e102f1a3-550d-4646-9829-bc744d09ff30" providerId="ADAL" clId="{D4198C5F-4083-451E-A0B5-550FB6E3A9FC}" dt="2025-12-08T05:22:47.487" v="651" actId="1076"/>
          <ac:spMkLst>
            <pc:docMk/>
            <pc:sldMk cId="2541847582" sldId="447"/>
            <ac:spMk id="6" creationId="{8F19AD52-1B5C-F8A3-3977-CE27E5D67DA5}"/>
          </ac:spMkLst>
        </pc:spChg>
        <pc:spChg chg="mod">
          <ac:chgData name="Aleksei Paznikov" userId="e102f1a3-550d-4646-9829-bc744d09ff30" providerId="ADAL" clId="{D4198C5F-4083-451E-A0B5-550FB6E3A9FC}" dt="2025-12-08T05:22:45.173" v="650" actId="1076"/>
          <ac:spMkLst>
            <pc:docMk/>
            <pc:sldMk cId="2541847582" sldId="447"/>
            <ac:spMk id="8" creationId="{E3A3626C-0502-7C6C-7C29-103BA140D9B0}"/>
          </ac:spMkLst>
        </pc:spChg>
      </pc:sldChg>
      <pc:sldChg chg="modSp add mod">
        <pc:chgData name="Aleksei Paznikov" userId="e102f1a3-550d-4646-9829-bc744d09ff30" providerId="ADAL" clId="{D4198C5F-4083-451E-A0B5-550FB6E3A9FC}" dt="2025-12-08T05:22:05.887" v="646" actId="113"/>
        <pc:sldMkLst>
          <pc:docMk/>
          <pc:sldMk cId="1827220603" sldId="448"/>
        </pc:sldMkLst>
        <pc:spChg chg="mod">
          <ac:chgData name="Aleksei Paznikov" userId="e102f1a3-550d-4646-9829-bc744d09ff30" providerId="ADAL" clId="{D4198C5F-4083-451E-A0B5-550FB6E3A9FC}" dt="2025-12-08T05:21:54.505" v="643" actId="1076"/>
          <ac:spMkLst>
            <pc:docMk/>
            <pc:sldMk cId="1827220603" sldId="448"/>
            <ac:spMk id="2" creationId="{9439F32D-D471-DBCD-8108-A8A47261DC16}"/>
          </ac:spMkLst>
        </pc:spChg>
        <pc:spChg chg="mod">
          <ac:chgData name="Aleksei Paznikov" userId="e102f1a3-550d-4646-9829-bc744d09ff30" providerId="ADAL" clId="{D4198C5F-4083-451E-A0B5-550FB6E3A9FC}" dt="2025-12-08T05:21:54.505" v="643" actId="1076"/>
          <ac:spMkLst>
            <pc:docMk/>
            <pc:sldMk cId="1827220603" sldId="448"/>
            <ac:spMk id="3" creationId="{DF82475F-D945-B02D-22EE-2E0196CC5FAC}"/>
          </ac:spMkLst>
        </pc:spChg>
        <pc:spChg chg="mod">
          <ac:chgData name="Aleksei Paznikov" userId="e102f1a3-550d-4646-9829-bc744d09ff30" providerId="ADAL" clId="{D4198C5F-4083-451E-A0B5-550FB6E3A9FC}" dt="2025-12-08T05:21:54.505" v="643" actId="1076"/>
          <ac:spMkLst>
            <pc:docMk/>
            <pc:sldMk cId="1827220603" sldId="448"/>
            <ac:spMk id="5" creationId="{7208B578-FF29-6821-3A33-91E1EF12D1EC}"/>
          </ac:spMkLst>
        </pc:spChg>
        <pc:spChg chg="mod">
          <ac:chgData name="Aleksei Paznikov" userId="e102f1a3-550d-4646-9829-bc744d09ff30" providerId="ADAL" clId="{D4198C5F-4083-451E-A0B5-550FB6E3A9FC}" dt="2025-12-08T05:22:05.887" v="646" actId="113"/>
          <ac:spMkLst>
            <pc:docMk/>
            <pc:sldMk cId="1827220603" sldId="448"/>
            <ac:spMk id="6" creationId="{7EC19658-0A76-5B72-96AD-22ABAAA87D3A}"/>
          </ac:spMkLst>
        </pc:spChg>
        <pc:spChg chg="mod">
          <ac:chgData name="Aleksei Paznikov" userId="e102f1a3-550d-4646-9829-bc744d09ff30" providerId="ADAL" clId="{D4198C5F-4083-451E-A0B5-550FB6E3A9FC}" dt="2025-12-08T05:21:54.505" v="643" actId="1076"/>
          <ac:spMkLst>
            <pc:docMk/>
            <pc:sldMk cId="1827220603" sldId="448"/>
            <ac:spMk id="8" creationId="{D185EB0C-8AB9-5FCA-42AB-8EFC1FE46D43}"/>
          </ac:spMkLst>
        </pc:spChg>
      </pc:sldChg>
      <pc:sldChg chg="add del setBg">
        <pc:chgData name="Aleksei Paznikov" userId="e102f1a3-550d-4646-9829-bc744d09ff30" providerId="ADAL" clId="{D4198C5F-4083-451E-A0B5-550FB6E3A9FC}" dt="2025-12-08T06:47:01.646" v="665"/>
        <pc:sldMkLst>
          <pc:docMk/>
          <pc:sldMk cId="716551438" sldId="449"/>
        </pc:sldMkLst>
      </pc:sldChg>
      <pc:sldChg chg="modSp add mod">
        <pc:chgData name="Aleksei Paznikov" userId="e102f1a3-550d-4646-9829-bc744d09ff30" providerId="ADAL" clId="{D4198C5F-4083-451E-A0B5-550FB6E3A9FC}" dt="2025-12-08T07:59:35.333" v="842" actId="20577"/>
        <pc:sldMkLst>
          <pc:docMk/>
          <pc:sldMk cId="1011156554" sldId="449"/>
        </pc:sldMkLst>
        <pc:spChg chg="mod">
          <ac:chgData name="Aleksei Paznikov" userId="e102f1a3-550d-4646-9829-bc744d09ff30" providerId="ADAL" clId="{D4198C5F-4083-451E-A0B5-550FB6E3A9FC}" dt="2025-12-08T07:59:35.333" v="842" actId="20577"/>
          <ac:spMkLst>
            <pc:docMk/>
            <pc:sldMk cId="1011156554" sldId="449"/>
            <ac:spMk id="5" creationId="{B18AD303-9FB9-07A1-5AAA-FDDBCD55FF99}"/>
          </ac:spMkLst>
        </pc:spChg>
      </pc:sldChg>
      <pc:sldChg chg="addSp delSp modSp add mod">
        <pc:chgData name="Aleksei Paznikov" userId="e102f1a3-550d-4646-9829-bc744d09ff30" providerId="ADAL" clId="{D4198C5F-4083-451E-A0B5-550FB6E3A9FC}" dt="2025-12-08T07:24:37.472" v="764" actId="207"/>
        <pc:sldMkLst>
          <pc:docMk/>
          <pc:sldMk cId="3489448608" sldId="450"/>
        </pc:sldMkLst>
        <pc:spChg chg="del">
          <ac:chgData name="Aleksei Paznikov" userId="e102f1a3-550d-4646-9829-bc744d09ff30" providerId="ADAL" clId="{D4198C5F-4083-451E-A0B5-550FB6E3A9FC}" dt="2025-12-08T07:10:54.695" v="675" actId="478"/>
          <ac:spMkLst>
            <pc:docMk/>
            <pc:sldMk cId="3489448608" sldId="450"/>
            <ac:spMk id="2" creationId="{285BA6A9-F186-FEE1-30BA-D20D64CDF6C8}"/>
          </ac:spMkLst>
        </pc:spChg>
        <pc:spChg chg="mod">
          <ac:chgData name="Aleksei Paznikov" userId="e102f1a3-550d-4646-9829-bc744d09ff30" providerId="ADAL" clId="{D4198C5F-4083-451E-A0B5-550FB6E3A9FC}" dt="2025-12-08T07:11:34.085" v="685" actId="21"/>
          <ac:spMkLst>
            <pc:docMk/>
            <pc:sldMk cId="3489448608" sldId="450"/>
            <ac:spMk id="3" creationId="{FCF49B17-05EB-086D-287E-50B02979FFC6}"/>
          </ac:spMkLst>
        </pc:spChg>
        <pc:spChg chg="add mod">
          <ac:chgData name="Aleksei Paznikov" userId="e102f1a3-550d-4646-9829-bc744d09ff30" providerId="ADAL" clId="{D4198C5F-4083-451E-A0B5-550FB6E3A9FC}" dt="2025-12-08T07:11:46.795" v="686" actId="1076"/>
          <ac:spMkLst>
            <pc:docMk/>
            <pc:sldMk cId="3489448608" sldId="450"/>
            <ac:spMk id="4" creationId="{166BF9CC-333B-E4B9-0C31-40A7659FF75F}"/>
          </ac:spMkLst>
        </pc:spChg>
        <pc:spChg chg="del">
          <ac:chgData name="Aleksei Paznikov" userId="e102f1a3-550d-4646-9829-bc744d09ff30" providerId="ADAL" clId="{D4198C5F-4083-451E-A0B5-550FB6E3A9FC}" dt="2025-12-08T07:10:54.695" v="675" actId="478"/>
          <ac:spMkLst>
            <pc:docMk/>
            <pc:sldMk cId="3489448608" sldId="450"/>
            <ac:spMk id="5" creationId="{468941CB-C844-C143-0F56-6ACF64746FE8}"/>
          </ac:spMkLst>
        </pc:spChg>
        <pc:spChg chg="mod">
          <ac:chgData name="Aleksei Paznikov" userId="e102f1a3-550d-4646-9829-bc744d09ff30" providerId="ADAL" clId="{D4198C5F-4083-451E-A0B5-550FB6E3A9FC}" dt="2025-12-08T07:10:25.505" v="674" actId="1076"/>
          <ac:spMkLst>
            <pc:docMk/>
            <pc:sldMk cId="3489448608" sldId="450"/>
            <ac:spMk id="6" creationId="{87582ECA-F1D2-CF96-5D9C-0A2446AE2755}"/>
          </ac:spMkLst>
        </pc:spChg>
        <pc:spChg chg="del">
          <ac:chgData name="Aleksei Paznikov" userId="e102f1a3-550d-4646-9829-bc744d09ff30" providerId="ADAL" clId="{D4198C5F-4083-451E-A0B5-550FB6E3A9FC}" dt="2025-12-08T07:11:00.178" v="677" actId="478"/>
          <ac:spMkLst>
            <pc:docMk/>
            <pc:sldMk cId="3489448608" sldId="450"/>
            <ac:spMk id="8" creationId="{27BF1AE3-5215-7DE8-8EBF-C43EB6309DE7}"/>
          </ac:spMkLst>
        </pc:spChg>
        <pc:spChg chg="mod">
          <ac:chgData name="Aleksei Paznikov" userId="e102f1a3-550d-4646-9829-bc744d09ff30" providerId="ADAL" clId="{D4198C5F-4083-451E-A0B5-550FB6E3A9FC}" dt="2025-12-08T07:24:37.472" v="764" actId="207"/>
          <ac:spMkLst>
            <pc:docMk/>
            <pc:sldMk cId="3489448608" sldId="450"/>
            <ac:spMk id="16" creationId="{96818081-F94E-27A4-0876-C0D06FB7D715}"/>
          </ac:spMkLst>
        </pc:spChg>
      </pc:sldChg>
      <pc:sldChg chg="addSp delSp modSp add mod">
        <pc:chgData name="Aleksei Paznikov" userId="e102f1a3-550d-4646-9829-bc744d09ff30" providerId="ADAL" clId="{D4198C5F-4083-451E-A0B5-550FB6E3A9FC}" dt="2025-12-08T07:24:41.601" v="766"/>
        <pc:sldMkLst>
          <pc:docMk/>
          <pc:sldMk cId="1817921835" sldId="451"/>
        </pc:sldMkLst>
        <pc:spChg chg="add mod">
          <ac:chgData name="Aleksei Paznikov" userId="e102f1a3-550d-4646-9829-bc744d09ff30" providerId="ADAL" clId="{D4198C5F-4083-451E-A0B5-550FB6E3A9FC}" dt="2025-12-08T07:24:41.601" v="766"/>
          <ac:spMkLst>
            <pc:docMk/>
            <pc:sldMk cId="1817921835" sldId="451"/>
            <ac:spMk id="2" creationId="{902A60C5-554A-5C71-FF31-20E7D589F33B}"/>
          </ac:spMkLst>
        </pc:spChg>
        <pc:spChg chg="mod">
          <ac:chgData name="Aleksei Paznikov" userId="e102f1a3-550d-4646-9829-bc744d09ff30" providerId="ADAL" clId="{D4198C5F-4083-451E-A0B5-550FB6E3A9FC}" dt="2025-12-08T07:19:50.035" v="704" actId="20577"/>
          <ac:spMkLst>
            <pc:docMk/>
            <pc:sldMk cId="1817921835" sldId="451"/>
            <ac:spMk id="3" creationId="{5E44D826-2F4E-865C-2898-568E9AF5EBDC}"/>
          </ac:spMkLst>
        </pc:spChg>
        <pc:spChg chg="mod">
          <ac:chgData name="Aleksei Paznikov" userId="e102f1a3-550d-4646-9829-bc744d09ff30" providerId="ADAL" clId="{D4198C5F-4083-451E-A0B5-550FB6E3A9FC}" dt="2025-12-08T07:20:29.344" v="713" actId="948"/>
          <ac:spMkLst>
            <pc:docMk/>
            <pc:sldMk cId="1817921835" sldId="451"/>
            <ac:spMk id="4" creationId="{D358D093-8AD5-D422-EFFC-6DB5D8AB753A}"/>
          </ac:spMkLst>
        </pc:spChg>
        <pc:spChg chg="mod">
          <ac:chgData name="Aleksei Paznikov" userId="e102f1a3-550d-4646-9829-bc744d09ff30" providerId="ADAL" clId="{D4198C5F-4083-451E-A0B5-550FB6E3A9FC}" dt="2025-12-08T07:18:00.199" v="696" actId="1076"/>
          <ac:spMkLst>
            <pc:docMk/>
            <pc:sldMk cId="1817921835" sldId="451"/>
            <ac:spMk id="6" creationId="{29746212-14BC-748C-5B54-EBC48D41CF69}"/>
          </ac:spMkLst>
        </pc:spChg>
        <pc:spChg chg="del">
          <ac:chgData name="Aleksei Paznikov" userId="e102f1a3-550d-4646-9829-bc744d09ff30" providerId="ADAL" clId="{D4198C5F-4083-451E-A0B5-550FB6E3A9FC}" dt="2025-12-08T07:24:41.244" v="765" actId="478"/>
          <ac:spMkLst>
            <pc:docMk/>
            <pc:sldMk cId="1817921835" sldId="451"/>
            <ac:spMk id="16" creationId="{DE53F5EA-ACA5-1F8E-1FEE-0AE9985B4AC0}"/>
          </ac:spMkLst>
        </pc:spChg>
      </pc:sldChg>
      <pc:sldChg chg="add del setBg">
        <pc:chgData name="Aleksei Paznikov" userId="e102f1a3-550d-4646-9829-bc744d09ff30" providerId="ADAL" clId="{D4198C5F-4083-451E-A0B5-550FB6E3A9FC}" dt="2025-12-08T07:59:13.451" v="793"/>
        <pc:sldMkLst>
          <pc:docMk/>
          <pc:sldMk cId="3157999839" sldId="452"/>
        </pc:sldMkLst>
      </pc:sldChg>
      <pc:sldChg chg="add">
        <pc:chgData name="Aleksei Paznikov" userId="e102f1a3-550d-4646-9829-bc744d09ff30" providerId="ADAL" clId="{D4198C5F-4083-451E-A0B5-550FB6E3A9FC}" dt="2025-12-08T07:59:15.413" v="794" actId="2890"/>
        <pc:sldMkLst>
          <pc:docMk/>
          <pc:sldMk cId="3366098297" sldId="452"/>
        </pc:sldMkLst>
      </pc:sldChg>
      <pc:sldChg chg="addSp delSp modSp add mod">
        <pc:chgData name="Aleksei Paznikov" userId="e102f1a3-550d-4646-9829-bc744d09ff30" providerId="ADAL" clId="{D4198C5F-4083-451E-A0B5-550FB6E3A9FC}" dt="2025-12-08T10:14:20.022" v="1070" actId="207"/>
        <pc:sldMkLst>
          <pc:docMk/>
          <pc:sldMk cId="1619859722" sldId="453"/>
        </pc:sldMkLst>
        <pc:spChg chg="mod">
          <ac:chgData name="Aleksei Paznikov" userId="e102f1a3-550d-4646-9829-bc744d09ff30" providerId="ADAL" clId="{D4198C5F-4083-451E-A0B5-550FB6E3A9FC}" dt="2025-12-08T10:09:16.116" v="1006" actId="1035"/>
          <ac:spMkLst>
            <pc:docMk/>
            <pc:sldMk cId="1619859722" sldId="453"/>
            <ac:spMk id="2" creationId="{E7054BFC-3E8A-5A8D-C945-DB2F16760C68}"/>
          </ac:spMkLst>
        </pc:spChg>
        <pc:spChg chg="del mod">
          <ac:chgData name="Aleksei Paznikov" userId="e102f1a3-550d-4646-9829-bc744d09ff30" providerId="ADAL" clId="{D4198C5F-4083-451E-A0B5-550FB6E3A9FC}" dt="2025-12-08T10:09:01.287" v="999" actId="478"/>
          <ac:spMkLst>
            <pc:docMk/>
            <pc:sldMk cId="1619859722" sldId="453"/>
            <ac:spMk id="3" creationId="{7FCA45F9-A5BB-039D-3AA7-B7A1E74568FA}"/>
          </ac:spMkLst>
        </pc:spChg>
        <pc:spChg chg="add mod">
          <ac:chgData name="Aleksei Paznikov" userId="e102f1a3-550d-4646-9829-bc744d09ff30" providerId="ADAL" clId="{D4198C5F-4083-451E-A0B5-550FB6E3A9FC}" dt="2025-12-08T10:08:48.738" v="998"/>
          <ac:spMkLst>
            <pc:docMk/>
            <pc:sldMk cId="1619859722" sldId="453"/>
            <ac:spMk id="4" creationId="{48E2FE63-92D9-AE2A-D611-48CABD01C81F}"/>
          </ac:spMkLst>
        </pc:spChg>
        <pc:spChg chg="mod">
          <ac:chgData name="Aleksei Paznikov" userId="e102f1a3-550d-4646-9829-bc744d09ff30" providerId="ADAL" clId="{D4198C5F-4083-451E-A0B5-550FB6E3A9FC}" dt="2025-12-08T10:09:16.116" v="1006" actId="1035"/>
          <ac:spMkLst>
            <pc:docMk/>
            <pc:sldMk cId="1619859722" sldId="453"/>
            <ac:spMk id="5" creationId="{EDCA184A-02E1-A4A7-1759-0AA05C967ED7}"/>
          </ac:spMkLst>
        </pc:spChg>
        <pc:spChg chg="mod">
          <ac:chgData name="Aleksei Paznikov" userId="e102f1a3-550d-4646-9829-bc744d09ff30" providerId="ADAL" clId="{D4198C5F-4083-451E-A0B5-550FB6E3A9FC}" dt="2025-12-08T10:09:16.116" v="1006" actId="1035"/>
          <ac:spMkLst>
            <pc:docMk/>
            <pc:sldMk cId="1619859722" sldId="453"/>
            <ac:spMk id="6" creationId="{DCB18117-4FF9-228D-9A02-6165BB34E1F9}"/>
          </ac:spMkLst>
        </pc:spChg>
        <pc:spChg chg="del mod">
          <ac:chgData name="Aleksei Paznikov" userId="e102f1a3-550d-4646-9829-bc744d09ff30" providerId="ADAL" clId="{D4198C5F-4083-451E-A0B5-550FB6E3A9FC}" dt="2025-12-08T10:09:01.287" v="999" actId="478"/>
          <ac:spMkLst>
            <pc:docMk/>
            <pc:sldMk cId="1619859722" sldId="453"/>
            <ac:spMk id="8" creationId="{6F04E6CE-012C-4AD7-033E-805A72B08081}"/>
          </ac:spMkLst>
        </pc:spChg>
        <pc:spChg chg="add mod">
          <ac:chgData name="Aleksei Paznikov" userId="e102f1a3-550d-4646-9829-bc744d09ff30" providerId="ADAL" clId="{D4198C5F-4083-451E-A0B5-550FB6E3A9FC}" dt="2025-12-08T10:09:16.116" v="1006" actId="1035"/>
          <ac:spMkLst>
            <pc:docMk/>
            <pc:sldMk cId="1619859722" sldId="453"/>
            <ac:spMk id="9" creationId="{CD18D37A-C235-A6BE-A944-8A7411D9570F}"/>
          </ac:spMkLst>
        </pc:spChg>
        <pc:spChg chg="add mod">
          <ac:chgData name="Aleksei Paznikov" userId="e102f1a3-550d-4646-9829-bc744d09ff30" providerId="ADAL" clId="{D4198C5F-4083-451E-A0B5-550FB6E3A9FC}" dt="2025-12-08T10:09:16.116" v="1006" actId="1035"/>
          <ac:spMkLst>
            <pc:docMk/>
            <pc:sldMk cId="1619859722" sldId="453"/>
            <ac:spMk id="10" creationId="{C7BB8848-4CC2-48CE-62FC-CE9381CFB030}"/>
          </ac:spMkLst>
        </pc:spChg>
        <pc:spChg chg="add mod">
          <ac:chgData name="Aleksei Paznikov" userId="e102f1a3-550d-4646-9829-bc744d09ff30" providerId="ADAL" clId="{D4198C5F-4083-451E-A0B5-550FB6E3A9FC}" dt="2025-12-08T10:14:20.022" v="1070" actId="207"/>
          <ac:spMkLst>
            <pc:docMk/>
            <pc:sldMk cId="1619859722" sldId="453"/>
            <ac:spMk id="11" creationId="{240BF65B-4FCC-926C-A57D-BEAB89CF6A5C}"/>
          </ac:spMkLst>
        </pc:spChg>
        <pc:spChg chg="mod">
          <ac:chgData name="Aleksei Paznikov" userId="e102f1a3-550d-4646-9829-bc744d09ff30" providerId="ADAL" clId="{D4198C5F-4083-451E-A0B5-550FB6E3A9FC}" dt="2025-12-08T08:01:26.610" v="889" actId="14100"/>
          <ac:spMkLst>
            <pc:docMk/>
            <pc:sldMk cId="1619859722" sldId="453"/>
            <ac:spMk id="16" creationId="{DECF2BFF-9C41-2110-EAC4-6B705B5C6916}"/>
          </ac:spMkLst>
        </pc:spChg>
      </pc:sldChg>
      <pc:sldChg chg="add del">
        <pc:chgData name="Aleksei Paznikov" userId="e102f1a3-550d-4646-9829-bc744d09ff30" providerId="ADAL" clId="{D4198C5F-4083-451E-A0B5-550FB6E3A9FC}" dt="2025-12-08T08:04:12.239" v="895"/>
        <pc:sldMkLst>
          <pc:docMk/>
          <pc:sldMk cId="50304648" sldId="454"/>
        </pc:sldMkLst>
      </pc:sldChg>
      <pc:sldChg chg="addSp delSp modSp add mod">
        <pc:chgData name="Aleksei Paznikov" userId="e102f1a3-550d-4646-9829-bc744d09ff30" providerId="ADAL" clId="{D4198C5F-4083-451E-A0B5-550FB6E3A9FC}" dt="2025-12-08T10:15:28.824" v="1078" actId="948"/>
        <pc:sldMkLst>
          <pc:docMk/>
          <pc:sldMk cId="3173229172" sldId="454"/>
        </pc:sldMkLst>
        <pc:spChg chg="mod">
          <ac:chgData name="Aleksei Paznikov" userId="e102f1a3-550d-4646-9829-bc744d09ff30" providerId="ADAL" clId="{D4198C5F-4083-451E-A0B5-550FB6E3A9FC}" dt="2025-12-08T10:14:38.985" v="1072" actId="14100"/>
          <ac:spMkLst>
            <pc:docMk/>
            <pc:sldMk cId="3173229172" sldId="454"/>
            <ac:spMk id="2" creationId="{81F521A1-BF5F-870B-5DAA-C679D3F6CF7F}"/>
          </ac:spMkLst>
        </pc:spChg>
        <pc:spChg chg="mod">
          <ac:chgData name="Aleksei Paznikov" userId="e102f1a3-550d-4646-9829-bc744d09ff30" providerId="ADAL" clId="{D4198C5F-4083-451E-A0B5-550FB6E3A9FC}" dt="2025-12-08T10:14:38.985" v="1072" actId="14100"/>
          <ac:spMkLst>
            <pc:docMk/>
            <pc:sldMk cId="3173229172" sldId="454"/>
            <ac:spMk id="3" creationId="{69581DFE-5B2A-0637-52C1-E3494811134C}"/>
          </ac:spMkLst>
        </pc:spChg>
        <pc:spChg chg="mod">
          <ac:chgData name="Aleksei Paznikov" userId="e102f1a3-550d-4646-9829-bc744d09ff30" providerId="ADAL" clId="{D4198C5F-4083-451E-A0B5-550FB6E3A9FC}" dt="2025-12-08T10:14:46.053" v="1073" actId="14100"/>
          <ac:spMkLst>
            <pc:docMk/>
            <pc:sldMk cId="3173229172" sldId="454"/>
            <ac:spMk id="5" creationId="{B40A2FFE-C8EA-57E8-C916-3534489BA6FE}"/>
          </ac:spMkLst>
        </pc:spChg>
        <pc:spChg chg="mod">
          <ac:chgData name="Aleksei Paznikov" userId="e102f1a3-550d-4646-9829-bc744d09ff30" providerId="ADAL" clId="{D4198C5F-4083-451E-A0B5-550FB6E3A9FC}" dt="2025-12-08T10:10:43.884" v="1024" actId="20577"/>
          <ac:spMkLst>
            <pc:docMk/>
            <pc:sldMk cId="3173229172" sldId="454"/>
            <ac:spMk id="6" creationId="{D6A46A29-DBA2-61DF-E28B-9530CDB0A501}"/>
          </ac:spMkLst>
        </pc:spChg>
        <pc:spChg chg="mod">
          <ac:chgData name="Aleksei Paznikov" userId="e102f1a3-550d-4646-9829-bc744d09ff30" providerId="ADAL" clId="{D4198C5F-4083-451E-A0B5-550FB6E3A9FC}" dt="2025-12-08T10:15:28.824" v="1078" actId="948"/>
          <ac:spMkLst>
            <pc:docMk/>
            <pc:sldMk cId="3173229172" sldId="454"/>
            <ac:spMk id="8" creationId="{85045CBB-53B0-E271-59BF-E2A39398BB9F}"/>
          </ac:spMkLst>
        </pc:spChg>
        <pc:spChg chg="add del mod">
          <ac:chgData name="Aleksei Paznikov" userId="e102f1a3-550d-4646-9829-bc744d09ff30" providerId="ADAL" clId="{D4198C5F-4083-451E-A0B5-550FB6E3A9FC}" dt="2025-12-08T08:13:02.355" v="966" actId="21"/>
          <ac:spMkLst>
            <pc:docMk/>
            <pc:sldMk cId="3173229172" sldId="454"/>
            <ac:spMk id="9" creationId="{5FA9DBD0-2C97-09BA-461A-67B66B2E3277}"/>
          </ac:spMkLst>
        </pc:spChg>
        <pc:spChg chg="add mod">
          <ac:chgData name="Aleksei Paznikov" userId="e102f1a3-550d-4646-9829-bc744d09ff30" providerId="ADAL" clId="{D4198C5F-4083-451E-A0B5-550FB6E3A9FC}" dt="2025-12-08T10:15:17.763" v="1077" actId="20577"/>
          <ac:spMkLst>
            <pc:docMk/>
            <pc:sldMk cId="3173229172" sldId="454"/>
            <ac:spMk id="13" creationId="{45DE688A-7C09-4329-4058-53DA6FB4C8FD}"/>
          </ac:spMkLst>
        </pc:spChg>
        <pc:graphicFrameChg chg="add mod">
          <ac:chgData name="Aleksei Paznikov" userId="e102f1a3-550d-4646-9829-bc744d09ff30" providerId="ADAL" clId="{D4198C5F-4083-451E-A0B5-550FB6E3A9FC}" dt="2025-12-08T08:12:40.351" v="963"/>
          <ac:graphicFrameMkLst>
            <pc:docMk/>
            <pc:sldMk cId="3173229172" sldId="454"/>
            <ac:graphicFrameMk id="10" creationId="{5942A801-A1A0-2C42-E47C-10BDBA6A3F31}"/>
          </ac:graphicFrameMkLst>
        </pc:graphicFrameChg>
        <pc:graphicFrameChg chg="add del mod">
          <ac:chgData name="Aleksei Paznikov" userId="e102f1a3-550d-4646-9829-bc744d09ff30" providerId="ADAL" clId="{D4198C5F-4083-451E-A0B5-550FB6E3A9FC}" dt="2025-12-08T08:13:11.796" v="968" actId="21"/>
          <ac:graphicFrameMkLst>
            <pc:docMk/>
            <pc:sldMk cId="3173229172" sldId="454"/>
            <ac:graphicFrameMk id="11" creationId="{6E764310-65B4-E015-0577-D8B665BCFF83}"/>
          </ac:graphicFrameMkLst>
        </pc:graphicFrameChg>
      </pc:sldChg>
      <pc:sldChg chg="addSp modSp add mod">
        <pc:chgData name="Aleksei Paznikov" userId="e102f1a3-550d-4646-9829-bc744d09ff30" providerId="ADAL" clId="{D4198C5F-4083-451E-A0B5-550FB6E3A9FC}" dt="2025-12-09T04:27:27.190" v="1347" actId="20577"/>
        <pc:sldMkLst>
          <pc:docMk/>
          <pc:sldMk cId="158498344" sldId="455"/>
        </pc:sldMkLst>
        <pc:spChg chg="mod">
          <ac:chgData name="Aleksei Paznikov" userId="e102f1a3-550d-4646-9829-bc744d09ff30" providerId="ADAL" clId="{D4198C5F-4083-451E-A0B5-550FB6E3A9FC}" dt="2025-12-09T04:22:24.035" v="1229" actId="1076"/>
          <ac:spMkLst>
            <pc:docMk/>
            <pc:sldMk cId="158498344" sldId="455"/>
            <ac:spMk id="2" creationId="{37378D6E-5A4B-3259-7C19-8DE98DB8E772}"/>
          </ac:spMkLst>
        </pc:spChg>
        <pc:spChg chg="mod">
          <ac:chgData name="Aleksei Paznikov" userId="e102f1a3-550d-4646-9829-bc744d09ff30" providerId="ADAL" clId="{D4198C5F-4083-451E-A0B5-550FB6E3A9FC}" dt="2025-12-09T04:27:01.729" v="1344" actId="948"/>
          <ac:spMkLst>
            <pc:docMk/>
            <pc:sldMk cId="158498344" sldId="455"/>
            <ac:spMk id="3" creationId="{54DF2E46-EFF6-87A0-8EF3-DC072847E000}"/>
          </ac:spMkLst>
        </pc:spChg>
        <pc:spChg chg="add mod">
          <ac:chgData name="Aleksei Paznikov" userId="e102f1a3-550d-4646-9829-bc744d09ff30" providerId="ADAL" clId="{D4198C5F-4083-451E-A0B5-550FB6E3A9FC}" dt="2025-12-09T04:27:14.192" v="1346" actId="1076"/>
          <ac:spMkLst>
            <pc:docMk/>
            <pc:sldMk cId="158498344" sldId="455"/>
            <ac:spMk id="4" creationId="{B4D67C1C-5053-F2FD-B3AE-8054C4D962E7}"/>
          </ac:spMkLst>
        </pc:spChg>
        <pc:spChg chg="mod">
          <ac:chgData name="Aleksei Paznikov" userId="e102f1a3-550d-4646-9829-bc744d09ff30" providerId="ADAL" clId="{D4198C5F-4083-451E-A0B5-550FB6E3A9FC}" dt="2025-12-09T04:26:36.610" v="1339" actId="21"/>
          <ac:spMkLst>
            <pc:docMk/>
            <pc:sldMk cId="158498344" sldId="455"/>
            <ac:spMk id="5" creationId="{3489D8E1-EBCD-971B-3D23-4630F730BFE5}"/>
          </ac:spMkLst>
        </pc:spChg>
        <pc:spChg chg="mod">
          <ac:chgData name="Aleksei Paznikov" userId="e102f1a3-550d-4646-9829-bc744d09ff30" providerId="ADAL" clId="{D4198C5F-4083-451E-A0B5-550FB6E3A9FC}" dt="2025-12-09T04:22:14.499" v="1228" actId="14100"/>
          <ac:spMkLst>
            <pc:docMk/>
            <pc:sldMk cId="158498344" sldId="455"/>
            <ac:spMk id="6" creationId="{F1731984-540A-AD79-31C0-81A4599BD0B8}"/>
          </ac:spMkLst>
        </pc:spChg>
        <pc:spChg chg="mod">
          <ac:chgData name="Aleksei Paznikov" userId="e102f1a3-550d-4646-9829-bc744d09ff30" providerId="ADAL" clId="{D4198C5F-4083-451E-A0B5-550FB6E3A9FC}" dt="2025-12-09T04:27:27.190" v="1347" actId="20577"/>
          <ac:spMkLst>
            <pc:docMk/>
            <pc:sldMk cId="158498344" sldId="455"/>
            <ac:spMk id="8" creationId="{FD742581-4D95-C0EA-F0DD-3A052B571094}"/>
          </ac:spMkLst>
        </pc:spChg>
        <pc:spChg chg="add mod">
          <ac:chgData name="Aleksei Paznikov" userId="e102f1a3-550d-4646-9829-bc744d09ff30" providerId="ADAL" clId="{D4198C5F-4083-451E-A0B5-550FB6E3A9FC}" dt="2025-12-09T04:27:14.192" v="1346" actId="1076"/>
          <ac:spMkLst>
            <pc:docMk/>
            <pc:sldMk cId="158498344" sldId="455"/>
            <ac:spMk id="9" creationId="{4666C05A-0C24-A68F-8FFE-8ECF7B2DBAF9}"/>
          </ac:spMkLst>
        </pc:spChg>
        <pc:spChg chg="add mod">
          <ac:chgData name="Aleksei Paznikov" userId="e102f1a3-550d-4646-9829-bc744d09ff30" providerId="ADAL" clId="{D4198C5F-4083-451E-A0B5-550FB6E3A9FC}" dt="2025-12-09T04:27:08.977" v="1345" actId="1076"/>
          <ac:spMkLst>
            <pc:docMk/>
            <pc:sldMk cId="158498344" sldId="455"/>
            <ac:spMk id="10" creationId="{7E88B9D2-72DF-FACF-969B-1297B403AD50}"/>
          </ac:spMkLst>
        </pc:spChg>
        <pc:spChg chg="add mod">
          <ac:chgData name="Aleksei Paznikov" userId="e102f1a3-550d-4646-9829-bc744d09ff30" providerId="ADAL" clId="{D4198C5F-4083-451E-A0B5-550FB6E3A9FC}" dt="2025-12-09T04:27:08.977" v="1345" actId="1076"/>
          <ac:spMkLst>
            <pc:docMk/>
            <pc:sldMk cId="158498344" sldId="455"/>
            <ac:spMk id="11" creationId="{1120CEF9-A4CA-12CD-FF5C-53D66852DA13}"/>
          </ac:spMkLst>
        </pc:spChg>
        <pc:spChg chg="mod">
          <ac:chgData name="Aleksei Paznikov" userId="e102f1a3-550d-4646-9829-bc744d09ff30" providerId="ADAL" clId="{D4198C5F-4083-451E-A0B5-550FB6E3A9FC}" dt="2025-12-09T04:20:55.667" v="1207" actId="14100"/>
          <ac:spMkLst>
            <pc:docMk/>
            <pc:sldMk cId="158498344" sldId="455"/>
            <ac:spMk id="13" creationId="{262C20D1-43BF-A8FC-4EA3-CF5A96431A09}"/>
          </ac:spMkLst>
        </pc:spChg>
      </pc:sldChg>
      <pc:sldChg chg="add del">
        <pc:chgData name="Aleksei Paznikov" userId="e102f1a3-550d-4646-9829-bc744d09ff30" providerId="ADAL" clId="{D4198C5F-4083-451E-A0B5-550FB6E3A9FC}" dt="2025-12-08T10:13:59.027" v="1069" actId="47"/>
        <pc:sldMkLst>
          <pc:docMk/>
          <pc:sldMk cId="3706762274" sldId="455"/>
        </pc:sldMkLst>
      </pc:sldChg>
      <pc:sldChg chg="modSp add mod">
        <pc:chgData name="Aleksei Paznikov" userId="e102f1a3-550d-4646-9829-bc744d09ff30" providerId="ADAL" clId="{D4198C5F-4083-451E-A0B5-550FB6E3A9FC}" dt="2025-12-09T04:18:07.759" v="1200" actId="20577"/>
        <pc:sldMkLst>
          <pc:docMk/>
          <pc:sldMk cId="1778301840" sldId="456"/>
        </pc:sldMkLst>
        <pc:spChg chg="mod">
          <ac:chgData name="Aleksei Paznikov" userId="e102f1a3-550d-4646-9829-bc744d09ff30" providerId="ADAL" clId="{D4198C5F-4083-451E-A0B5-550FB6E3A9FC}" dt="2025-12-09T04:16:52.073" v="1182"/>
          <ac:spMkLst>
            <pc:docMk/>
            <pc:sldMk cId="1778301840" sldId="456"/>
            <ac:spMk id="2" creationId="{4C453F42-5A96-020A-02FC-DB0A0E791F25}"/>
          </ac:spMkLst>
        </pc:spChg>
        <pc:spChg chg="mod">
          <ac:chgData name="Aleksei Paznikov" userId="e102f1a3-550d-4646-9829-bc744d09ff30" providerId="ADAL" clId="{D4198C5F-4083-451E-A0B5-550FB6E3A9FC}" dt="2025-12-09T04:16:37.096" v="1181" actId="20577"/>
          <ac:spMkLst>
            <pc:docMk/>
            <pc:sldMk cId="1778301840" sldId="456"/>
            <ac:spMk id="3" creationId="{136EB7D3-0DDB-1C3B-0CB6-4AD988A5AB3C}"/>
          </ac:spMkLst>
        </pc:spChg>
        <pc:spChg chg="mod">
          <ac:chgData name="Aleksei Paznikov" userId="e102f1a3-550d-4646-9829-bc744d09ff30" providerId="ADAL" clId="{D4198C5F-4083-451E-A0B5-550FB6E3A9FC}" dt="2025-12-09T04:18:07.759" v="1200" actId="20577"/>
          <ac:spMkLst>
            <pc:docMk/>
            <pc:sldMk cId="1778301840" sldId="456"/>
            <ac:spMk id="5" creationId="{B29DF3F1-7EF1-00DF-17FD-8E94CAF70119}"/>
          </ac:spMkLst>
        </pc:spChg>
        <pc:spChg chg="mod">
          <ac:chgData name="Aleksei Paznikov" userId="e102f1a3-550d-4646-9829-bc744d09ff30" providerId="ADAL" clId="{D4198C5F-4083-451E-A0B5-550FB6E3A9FC}" dt="2025-12-09T04:14:48.062" v="1165"/>
          <ac:spMkLst>
            <pc:docMk/>
            <pc:sldMk cId="1778301840" sldId="456"/>
            <ac:spMk id="6" creationId="{C91FD0B4-9878-8242-D15C-5DD987219350}"/>
          </ac:spMkLst>
        </pc:spChg>
        <pc:spChg chg="mod">
          <ac:chgData name="Aleksei Paznikov" userId="e102f1a3-550d-4646-9829-bc744d09ff30" providerId="ADAL" clId="{D4198C5F-4083-451E-A0B5-550FB6E3A9FC}" dt="2025-12-09T04:17:48.159" v="1186" actId="20577"/>
          <ac:spMkLst>
            <pc:docMk/>
            <pc:sldMk cId="1778301840" sldId="456"/>
            <ac:spMk id="8" creationId="{BBBAAE80-61AA-5DB8-4E22-863B1FAB0329}"/>
          </ac:spMkLst>
        </pc:spChg>
        <pc:spChg chg="mod">
          <ac:chgData name="Aleksei Paznikov" userId="e102f1a3-550d-4646-9829-bc744d09ff30" providerId="ADAL" clId="{D4198C5F-4083-451E-A0B5-550FB6E3A9FC}" dt="2025-12-09T04:15:09.115" v="1173" actId="20577"/>
          <ac:spMkLst>
            <pc:docMk/>
            <pc:sldMk cId="1778301840" sldId="456"/>
            <ac:spMk id="13" creationId="{CBEEB44B-2738-38F3-FEAE-B31AA1AD3E45}"/>
          </ac:spMkLst>
        </pc:spChg>
      </pc:sldChg>
      <pc:sldChg chg="add del setBg">
        <pc:chgData name="Aleksei Paznikov" userId="e102f1a3-550d-4646-9829-bc744d09ff30" providerId="ADAL" clId="{D4198C5F-4083-451E-A0B5-550FB6E3A9FC}" dt="2025-12-09T04:29:15.014" v="1364" actId="47"/>
        <pc:sldMkLst>
          <pc:docMk/>
          <pc:sldMk cId="2920990010" sldId="457"/>
        </pc:sldMkLst>
      </pc:sldChg>
      <pc:sldChg chg="modSp add mod ord">
        <pc:chgData name="Aleksei Paznikov" userId="e102f1a3-550d-4646-9829-bc744d09ff30" providerId="ADAL" clId="{D4198C5F-4083-451E-A0B5-550FB6E3A9FC}" dt="2025-12-09T04:29:12.500" v="1363" actId="20577"/>
        <pc:sldMkLst>
          <pc:docMk/>
          <pc:sldMk cId="2372699920" sldId="458"/>
        </pc:sldMkLst>
        <pc:spChg chg="mod">
          <ac:chgData name="Aleksei Paznikov" userId="e102f1a3-550d-4646-9829-bc744d09ff30" providerId="ADAL" clId="{D4198C5F-4083-451E-A0B5-550FB6E3A9FC}" dt="2025-12-09T04:29:12.500" v="1363" actId="20577"/>
          <ac:spMkLst>
            <pc:docMk/>
            <pc:sldMk cId="2372699920" sldId="458"/>
            <ac:spMk id="5" creationId="{39DD581B-5C64-ED1A-E600-19D5C4621B76}"/>
          </ac:spMkLst>
        </pc:spChg>
      </pc:sldChg>
      <pc:sldChg chg="modSp add mod ord">
        <pc:chgData name="Aleksei Paznikov" userId="e102f1a3-550d-4646-9829-bc744d09ff30" providerId="ADAL" clId="{D4198C5F-4083-451E-A0B5-550FB6E3A9FC}" dt="2025-12-09T04:32:23.772" v="1433" actId="20577"/>
        <pc:sldMkLst>
          <pc:docMk/>
          <pc:sldMk cId="3179780225" sldId="459"/>
        </pc:sldMkLst>
        <pc:spChg chg="mod">
          <ac:chgData name="Aleksei Paznikov" userId="e102f1a3-550d-4646-9829-bc744d09ff30" providerId="ADAL" clId="{D4198C5F-4083-451E-A0B5-550FB6E3A9FC}" dt="2025-12-09T04:32:23.772" v="1433" actId="20577"/>
          <ac:spMkLst>
            <pc:docMk/>
            <pc:sldMk cId="3179780225" sldId="459"/>
            <ac:spMk id="5" creationId="{5DADA0D7-38A3-2134-DAF0-DA0786CEC05E}"/>
          </ac:spMkLst>
        </pc:spChg>
      </pc:sldChg>
      <pc:sldChg chg="add">
        <pc:chgData name="Aleksei Paznikov" userId="e102f1a3-550d-4646-9829-bc744d09ff30" providerId="ADAL" clId="{D4198C5F-4083-451E-A0B5-550FB6E3A9FC}" dt="2025-12-09T04:35:45.662" v="1450"/>
        <pc:sldMkLst>
          <pc:docMk/>
          <pc:sldMk cId="2737943152" sldId="460"/>
        </pc:sldMkLst>
      </pc:sldChg>
      <pc:sldChg chg="modSp add mod ord">
        <pc:chgData name="Aleksei Paznikov" userId="e102f1a3-550d-4646-9829-bc744d09ff30" providerId="ADAL" clId="{D4198C5F-4083-451E-A0B5-550FB6E3A9FC}" dt="2025-12-09T08:27:51.505" v="1541" actId="20577"/>
        <pc:sldMkLst>
          <pc:docMk/>
          <pc:sldMk cId="571223242" sldId="461"/>
        </pc:sldMkLst>
        <pc:spChg chg="mod">
          <ac:chgData name="Aleksei Paznikov" userId="e102f1a3-550d-4646-9829-bc744d09ff30" providerId="ADAL" clId="{D4198C5F-4083-451E-A0B5-550FB6E3A9FC}" dt="2025-12-09T08:27:51.505" v="1541" actId="20577"/>
          <ac:spMkLst>
            <pc:docMk/>
            <pc:sldMk cId="571223242" sldId="461"/>
            <ac:spMk id="5" creationId="{F2123289-2468-C70F-7A10-E4AEFCB2DCC3}"/>
          </ac:spMkLst>
        </pc:spChg>
      </pc:sldChg>
      <pc:sldChg chg="addSp delSp modSp add mod">
        <pc:chgData name="Aleksei Paznikov" userId="e102f1a3-550d-4646-9829-bc744d09ff30" providerId="ADAL" clId="{D4198C5F-4083-451E-A0B5-550FB6E3A9FC}" dt="2025-12-09T09:04:30.110" v="1587" actId="20577"/>
        <pc:sldMkLst>
          <pc:docMk/>
          <pc:sldMk cId="3242889809" sldId="462"/>
        </pc:sldMkLst>
        <pc:spChg chg="add del">
          <ac:chgData name="Aleksei Paznikov" userId="e102f1a3-550d-4646-9829-bc744d09ff30" providerId="ADAL" clId="{D4198C5F-4083-451E-A0B5-550FB6E3A9FC}" dt="2025-12-09T08:32:10.517" v="1545" actId="22"/>
          <ac:spMkLst>
            <pc:docMk/>
            <pc:sldMk cId="3242889809" sldId="462"/>
            <ac:spMk id="3" creationId="{1107289B-5493-301D-7248-4EDBD97B87FD}"/>
          </ac:spMkLst>
        </pc:spChg>
        <pc:spChg chg="add mod">
          <ac:chgData name="Aleksei Paznikov" userId="e102f1a3-550d-4646-9829-bc744d09ff30" providerId="ADAL" clId="{D4198C5F-4083-451E-A0B5-550FB6E3A9FC}" dt="2025-12-09T09:04:30.110" v="1587" actId="20577"/>
          <ac:spMkLst>
            <pc:docMk/>
            <pc:sldMk cId="3242889809" sldId="462"/>
            <ac:spMk id="5" creationId="{A0FB87EF-5E6B-A562-A421-6EC9E0961037}"/>
          </ac:spMkLst>
        </pc:spChg>
        <pc:spChg chg="del">
          <ac:chgData name="Aleksei Paznikov" userId="e102f1a3-550d-4646-9829-bc744d09ff30" providerId="ADAL" clId="{D4198C5F-4083-451E-A0B5-550FB6E3A9FC}" dt="2025-12-09T08:31:18.780" v="1543" actId="21"/>
          <ac:spMkLst>
            <pc:docMk/>
            <pc:sldMk cId="3242889809" sldId="462"/>
            <ac:spMk id="8" creationId="{2A66655A-2070-183A-D9CA-6CB99BBEDC3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6DF045-45B6-4826-BB2C-AF22E9AE3A31}" type="datetimeFigureOut">
              <a:rPr lang="en-SG" smtClean="0"/>
              <a:t>10/12/25</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3F658F-F48A-40B7-9730-926C35574C37}" type="slidenum">
              <a:rPr lang="en-SG" smtClean="0"/>
              <a:t>‹#›</a:t>
            </a:fld>
            <a:endParaRPr lang="en-SG"/>
          </a:p>
        </p:txBody>
      </p:sp>
    </p:spTree>
    <p:extLst>
      <p:ext uri="{BB962C8B-B14F-4D97-AF65-F5344CB8AC3E}">
        <p14:creationId xmlns:p14="http://schemas.microsoft.com/office/powerpoint/2010/main" val="19189732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6C3F658F-F48A-40B7-9730-926C35574C37}" type="slidenum">
              <a:rPr lang="en-SG" smtClean="0"/>
              <a:t>11</a:t>
            </a:fld>
            <a:endParaRPr lang="en-SG"/>
          </a:p>
        </p:txBody>
      </p:sp>
    </p:spTree>
    <p:extLst>
      <p:ext uri="{BB962C8B-B14F-4D97-AF65-F5344CB8AC3E}">
        <p14:creationId xmlns:p14="http://schemas.microsoft.com/office/powerpoint/2010/main" val="40623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58500-7658-389D-E96A-6AFFE2184A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D840EB-9D47-0C74-7E36-6564F65228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120C19-0EA9-3D0B-23D4-9CA8DB0B0656}"/>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6F408F0D-4731-0A3E-16B2-E04B7B847611}"/>
              </a:ext>
            </a:extLst>
          </p:cNvPr>
          <p:cNvSpPr>
            <a:spLocks noGrp="1"/>
          </p:cNvSpPr>
          <p:nvPr>
            <p:ph type="sldNum" sz="quarter" idx="5"/>
          </p:nvPr>
        </p:nvSpPr>
        <p:spPr/>
        <p:txBody>
          <a:bodyPr/>
          <a:lstStyle/>
          <a:p>
            <a:fld id="{6C3F658F-F48A-40B7-9730-926C35574C37}" type="slidenum">
              <a:rPr lang="en-SG" smtClean="0"/>
              <a:t>12</a:t>
            </a:fld>
            <a:endParaRPr lang="en-SG"/>
          </a:p>
        </p:txBody>
      </p:sp>
    </p:spTree>
    <p:extLst>
      <p:ext uri="{BB962C8B-B14F-4D97-AF65-F5344CB8AC3E}">
        <p14:creationId xmlns:p14="http://schemas.microsoft.com/office/powerpoint/2010/main" val="11295015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86E32-672C-F381-09E8-D859C373F0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CD2B3B-13EA-7024-CCF5-0CC5E3F8B8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7FAE7C-EB7D-9966-EC6E-38418A29BD16}"/>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D1A8A550-D251-9A34-4ECF-8C8B483F9A39}"/>
              </a:ext>
            </a:extLst>
          </p:cNvPr>
          <p:cNvSpPr>
            <a:spLocks noGrp="1"/>
          </p:cNvSpPr>
          <p:nvPr>
            <p:ph type="sldNum" sz="quarter" idx="5"/>
          </p:nvPr>
        </p:nvSpPr>
        <p:spPr/>
        <p:txBody>
          <a:bodyPr/>
          <a:lstStyle/>
          <a:p>
            <a:fld id="{6C3F658F-F48A-40B7-9730-926C35574C37}" type="slidenum">
              <a:rPr lang="en-SG" smtClean="0"/>
              <a:t>13</a:t>
            </a:fld>
            <a:endParaRPr lang="en-SG"/>
          </a:p>
        </p:txBody>
      </p:sp>
    </p:spTree>
    <p:extLst>
      <p:ext uri="{BB962C8B-B14F-4D97-AF65-F5344CB8AC3E}">
        <p14:creationId xmlns:p14="http://schemas.microsoft.com/office/powerpoint/2010/main" val="1553798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172E1C7-DD58-EB75-8746-EF159ACD9455}"/>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5E0A9626-B8C8-EF65-1216-0AFCEE965C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BCC2CFB9-51F8-9BAF-31AB-9158C07E45DE}"/>
              </a:ext>
            </a:extLst>
          </p:cNvPr>
          <p:cNvSpPr>
            <a:spLocks noGrp="1"/>
          </p:cNvSpPr>
          <p:nvPr>
            <p:ph type="dt" sz="half" idx="10"/>
          </p:nvPr>
        </p:nvSpPr>
        <p:spPr/>
        <p:txBody>
          <a:bodyPr/>
          <a:lstStyle/>
          <a:p>
            <a:fld id="{E0B57C5C-739E-8E4A-B3FE-98727403806B}" type="datetimeFigureOut">
              <a:rPr lang="ru-RU" smtClean="0"/>
              <a:t>10.12.2025</a:t>
            </a:fld>
            <a:endParaRPr lang="ru-RU"/>
          </a:p>
        </p:txBody>
      </p:sp>
      <p:sp>
        <p:nvSpPr>
          <p:cNvPr id="5" name="Нижний колонтитул 4">
            <a:extLst>
              <a:ext uri="{FF2B5EF4-FFF2-40B4-BE49-F238E27FC236}">
                <a16:creationId xmlns:a16="http://schemas.microsoft.com/office/drawing/2014/main" id="{E2F08B3A-03DD-C00A-0764-B2693093DA5A}"/>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1593BCF6-27A6-2D82-46FF-452E246EA8D0}"/>
              </a:ext>
            </a:extLst>
          </p:cNvPr>
          <p:cNvSpPr>
            <a:spLocks noGrp="1"/>
          </p:cNvSpPr>
          <p:nvPr>
            <p:ph type="sldNum" sz="quarter" idx="12"/>
          </p:nvPr>
        </p:nvSpPr>
        <p:spPr/>
        <p:txBody>
          <a:bodyPr/>
          <a:lstStyle/>
          <a:p>
            <a:fld id="{B1C460CA-2CF8-204A-BD31-5907F7C3CEE7}" type="slidenum">
              <a:rPr lang="ru-RU" smtClean="0"/>
              <a:t>‹#›</a:t>
            </a:fld>
            <a:endParaRPr lang="ru-RU"/>
          </a:p>
        </p:txBody>
      </p:sp>
    </p:spTree>
    <p:extLst>
      <p:ext uri="{BB962C8B-B14F-4D97-AF65-F5344CB8AC3E}">
        <p14:creationId xmlns:p14="http://schemas.microsoft.com/office/powerpoint/2010/main" val="24084801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38927A5-C439-9D9B-BAE0-2E74A7F52C03}"/>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DF8403DA-47C3-A577-2323-1E01B4EB4EA0}"/>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4F9502BA-9803-46C5-3B25-77A27FA934DE}"/>
              </a:ext>
            </a:extLst>
          </p:cNvPr>
          <p:cNvSpPr>
            <a:spLocks noGrp="1"/>
          </p:cNvSpPr>
          <p:nvPr>
            <p:ph type="dt" sz="half" idx="10"/>
          </p:nvPr>
        </p:nvSpPr>
        <p:spPr/>
        <p:txBody>
          <a:bodyPr/>
          <a:lstStyle/>
          <a:p>
            <a:fld id="{E0B57C5C-739E-8E4A-B3FE-98727403806B}" type="datetimeFigureOut">
              <a:rPr lang="ru-RU" smtClean="0"/>
              <a:t>10.12.2025</a:t>
            </a:fld>
            <a:endParaRPr lang="ru-RU"/>
          </a:p>
        </p:txBody>
      </p:sp>
      <p:sp>
        <p:nvSpPr>
          <p:cNvPr id="5" name="Нижний колонтитул 4">
            <a:extLst>
              <a:ext uri="{FF2B5EF4-FFF2-40B4-BE49-F238E27FC236}">
                <a16:creationId xmlns:a16="http://schemas.microsoft.com/office/drawing/2014/main" id="{5D3F1745-BE15-6C58-F2C8-D2E64994E664}"/>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F6C15B08-A697-47A8-64A3-CDEAF87C3EBB}"/>
              </a:ext>
            </a:extLst>
          </p:cNvPr>
          <p:cNvSpPr>
            <a:spLocks noGrp="1"/>
          </p:cNvSpPr>
          <p:nvPr>
            <p:ph type="sldNum" sz="quarter" idx="12"/>
          </p:nvPr>
        </p:nvSpPr>
        <p:spPr/>
        <p:txBody>
          <a:bodyPr/>
          <a:lstStyle/>
          <a:p>
            <a:fld id="{B1C460CA-2CF8-204A-BD31-5907F7C3CEE7}" type="slidenum">
              <a:rPr lang="ru-RU" smtClean="0"/>
              <a:t>‹#›</a:t>
            </a:fld>
            <a:endParaRPr lang="ru-RU"/>
          </a:p>
        </p:txBody>
      </p:sp>
    </p:spTree>
    <p:extLst>
      <p:ext uri="{BB962C8B-B14F-4D97-AF65-F5344CB8AC3E}">
        <p14:creationId xmlns:p14="http://schemas.microsoft.com/office/powerpoint/2010/main" val="12554064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0877F56-DF45-CBA6-D319-D9E010AF2E73}"/>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30F4C9D9-0803-45B7-7851-7600EA5F4C9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38AA99DD-E25D-E733-4129-B25792B07236}"/>
              </a:ext>
            </a:extLst>
          </p:cNvPr>
          <p:cNvSpPr>
            <a:spLocks noGrp="1"/>
          </p:cNvSpPr>
          <p:nvPr>
            <p:ph type="dt" sz="half" idx="10"/>
          </p:nvPr>
        </p:nvSpPr>
        <p:spPr/>
        <p:txBody>
          <a:bodyPr/>
          <a:lstStyle/>
          <a:p>
            <a:fld id="{E0B57C5C-739E-8E4A-B3FE-98727403806B}" type="datetimeFigureOut">
              <a:rPr lang="ru-RU" smtClean="0"/>
              <a:t>10.12.2025</a:t>
            </a:fld>
            <a:endParaRPr lang="ru-RU"/>
          </a:p>
        </p:txBody>
      </p:sp>
      <p:sp>
        <p:nvSpPr>
          <p:cNvPr id="5" name="Нижний колонтитул 4">
            <a:extLst>
              <a:ext uri="{FF2B5EF4-FFF2-40B4-BE49-F238E27FC236}">
                <a16:creationId xmlns:a16="http://schemas.microsoft.com/office/drawing/2014/main" id="{219CB8FA-0A00-7FAF-95E5-503B44CCCD20}"/>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C7D1B0DE-2D2C-E313-60C0-1F4C23EB3DB1}"/>
              </a:ext>
            </a:extLst>
          </p:cNvPr>
          <p:cNvSpPr>
            <a:spLocks noGrp="1"/>
          </p:cNvSpPr>
          <p:nvPr>
            <p:ph type="sldNum" sz="quarter" idx="12"/>
          </p:nvPr>
        </p:nvSpPr>
        <p:spPr/>
        <p:txBody>
          <a:bodyPr/>
          <a:lstStyle/>
          <a:p>
            <a:fld id="{B1C460CA-2CF8-204A-BD31-5907F7C3CEE7}" type="slidenum">
              <a:rPr lang="ru-RU" smtClean="0"/>
              <a:t>‹#›</a:t>
            </a:fld>
            <a:endParaRPr lang="ru-RU"/>
          </a:p>
        </p:txBody>
      </p:sp>
    </p:spTree>
    <p:extLst>
      <p:ext uri="{BB962C8B-B14F-4D97-AF65-F5344CB8AC3E}">
        <p14:creationId xmlns:p14="http://schemas.microsoft.com/office/powerpoint/2010/main" val="37802346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EEC8A5-0D78-A8F3-D8CA-0E99F9422B22}"/>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8D9281F2-4245-7886-236A-87A269A5B7A6}"/>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BF1A31FB-8BAB-B5AD-AB34-0582F80FF17F}"/>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CFB39119-39E8-1D7F-B6C0-9A706CEBC312}"/>
              </a:ext>
            </a:extLst>
          </p:cNvPr>
          <p:cNvSpPr>
            <a:spLocks noGrp="1"/>
          </p:cNvSpPr>
          <p:nvPr>
            <p:ph type="dt" sz="half" idx="10"/>
          </p:nvPr>
        </p:nvSpPr>
        <p:spPr/>
        <p:txBody>
          <a:bodyPr/>
          <a:lstStyle/>
          <a:p>
            <a:fld id="{E0B57C5C-739E-8E4A-B3FE-98727403806B}" type="datetimeFigureOut">
              <a:rPr lang="ru-RU" smtClean="0"/>
              <a:t>10.12.2025</a:t>
            </a:fld>
            <a:endParaRPr lang="ru-RU"/>
          </a:p>
        </p:txBody>
      </p:sp>
      <p:sp>
        <p:nvSpPr>
          <p:cNvPr id="6" name="Нижний колонтитул 5">
            <a:extLst>
              <a:ext uri="{FF2B5EF4-FFF2-40B4-BE49-F238E27FC236}">
                <a16:creationId xmlns:a16="http://schemas.microsoft.com/office/drawing/2014/main" id="{79E95A47-A2AD-6F3E-8B22-4D9C8137C0A5}"/>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4059FA4C-F5A6-724B-FC99-4A3E20901E3C}"/>
              </a:ext>
            </a:extLst>
          </p:cNvPr>
          <p:cNvSpPr>
            <a:spLocks noGrp="1"/>
          </p:cNvSpPr>
          <p:nvPr>
            <p:ph type="sldNum" sz="quarter" idx="12"/>
          </p:nvPr>
        </p:nvSpPr>
        <p:spPr/>
        <p:txBody>
          <a:bodyPr/>
          <a:lstStyle/>
          <a:p>
            <a:fld id="{B1C460CA-2CF8-204A-BD31-5907F7C3CEE7}" type="slidenum">
              <a:rPr lang="ru-RU" smtClean="0"/>
              <a:t>‹#›</a:t>
            </a:fld>
            <a:endParaRPr lang="ru-RU"/>
          </a:p>
        </p:txBody>
      </p:sp>
    </p:spTree>
    <p:extLst>
      <p:ext uri="{BB962C8B-B14F-4D97-AF65-F5344CB8AC3E}">
        <p14:creationId xmlns:p14="http://schemas.microsoft.com/office/powerpoint/2010/main" val="1746400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B6F4C36-340E-4C0C-13C4-AD9B982E0CB5}"/>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71545DB8-5EDB-6237-88D0-2F44131A82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758E3E16-EBBF-E8AC-1A96-765C45CAAC26}"/>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AA8116C9-0E72-89A6-16DF-A281F2F6B3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1259A367-DEDE-307B-D058-70001B9A2CE9}"/>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FC6A6838-A7DE-D5E0-E7E5-8196499767D8}"/>
              </a:ext>
            </a:extLst>
          </p:cNvPr>
          <p:cNvSpPr>
            <a:spLocks noGrp="1"/>
          </p:cNvSpPr>
          <p:nvPr>
            <p:ph type="dt" sz="half" idx="10"/>
          </p:nvPr>
        </p:nvSpPr>
        <p:spPr/>
        <p:txBody>
          <a:bodyPr/>
          <a:lstStyle/>
          <a:p>
            <a:fld id="{E0B57C5C-739E-8E4A-B3FE-98727403806B}" type="datetimeFigureOut">
              <a:rPr lang="ru-RU" smtClean="0"/>
              <a:t>10.12.2025</a:t>
            </a:fld>
            <a:endParaRPr lang="ru-RU"/>
          </a:p>
        </p:txBody>
      </p:sp>
      <p:sp>
        <p:nvSpPr>
          <p:cNvPr id="8" name="Нижний колонтитул 7">
            <a:extLst>
              <a:ext uri="{FF2B5EF4-FFF2-40B4-BE49-F238E27FC236}">
                <a16:creationId xmlns:a16="http://schemas.microsoft.com/office/drawing/2014/main" id="{931E9BD2-4CFE-FBBA-C884-9C195AA3B59F}"/>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08B8C65C-CA14-9A4E-2055-9C6B6DAC02C5}"/>
              </a:ext>
            </a:extLst>
          </p:cNvPr>
          <p:cNvSpPr>
            <a:spLocks noGrp="1"/>
          </p:cNvSpPr>
          <p:nvPr>
            <p:ph type="sldNum" sz="quarter" idx="12"/>
          </p:nvPr>
        </p:nvSpPr>
        <p:spPr/>
        <p:txBody>
          <a:bodyPr/>
          <a:lstStyle/>
          <a:p>
            <a:fld id="{B1C460CA-2CF8-204A-BD31-5907F7C3CEE7}" type="slidenum">
              <a:rPr lang="ru-RU" smtClean="0"/>
              <a:t>‹#›</a:t>
            </a:fld>
            <a:endParaRPr lang="ru-RU"/>
          </a:p>
        </p:txBody>
      </p:sp>
    </p:spTree>
    <p:extLst>
      <p:ext uri="{BB962C8B-B14F-4D97-AF65-F5344CB8AC3E}">
        <p14:creationId xmlns:p14="http://schemas.microsoft.com/office/powerpoint/2010/main" val="3366259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9D26567-E1DE-0DE8-62CC-679497FB1918}"/>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D2BF345E-EB16-0CE7-9C55-AF33EDB5FCCB}"/>
              </a:ext>
            </a:extLst>
          </p:cNvPr>
          <p:cNvSpPr>
            <a:spLocks noGrp="1"/>
          </p:cNvSpPr>
          <p:nvPr>
            <p:ph type="dt" sz="half" idx="10"/>
          </p:nvPr>
        </p:nvSpPr>
        <p:spPr/>
        <p:txBody>
          <a:bodyPr/>
          <a:lstStyle/>
          <a:p>
            <a:fld id="{E0B57C5C-739E-8E4A-B3FE-98727403806B}" type="datetimeFigureOut">
              <a:rPr lang="ru-RU" smtClean="0"/>
              <a:t>10.12.2025</a:t>
            </a:fld>
            <a:endParaRPr lang="ru-RU"/>
          </a:p>
        </p:txBody>
      </p:sp>
      <p:sp>
        <p:nvSpPr>
          <p:cNvPr id="4" name="Нижний колонтитул 3">
            <a:extLst>
              <a:ext uri="{FF2B5EF4-FFF2-40B4-BE49-F238E27FC236}">
                <a16:creationId xmlns:a16="http://schemas.microsoft.com/office/drawing/2014/main" id="{E5B0D25E-A174-9BF1-0C7C-DEFE2C25D74B}"/>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E99E7222-EC05-5E40-6DF3-07CBEBC093DE}"/>
              </a:ext>
            </a:extLst>
          </p:cNvPr>
          <p:cNvSpPr>
            <a:spLocks noGrp="1"/>
          </p:cNvSpPr>
          <p:nvPr>
            <p:ph type="sldNum" sz="quarter" idx="12"/>
          </p:nvPr>
        </p:nvSpPr>
        <p:spPr/>
        <p:txBody>
          <a:bodyPr/>
          <a:lstStyle/>
          <a:p>
            <a:fld id="{B1C460CA-2CF8-204A-BD31-5907F7C3CEE7}" type="slidenum">
              <a:rPr lang="ru-RU" smtClean="0"/>
              <a:t>‹#›</a:t>
            </a:fld>
            <a:endParaRPr lang="ru-RU"/>
          </a:p>
        </p:txBody>
      </p:sp>
    </p:spTree>
    <p:extLst>
      <p:ext uri="{BB962C8B-B14F-4D97-AF65-F5344CB8AC3E}">
        <p14:creationId xmlns:p14="http://schemas.microsoft.com/office/powerpoint/2010/main" val="1404870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F195520A-D39D-63AA-4DF2-CC3FD23DFEA5}"/>
              </a:ext>
            </a:extLst>
          </p:cNvPr>
          <p:cNvSpPr>
            <a:spLocks noGrp="1"/>
          </p:cNvSpPr>
          <p:nvPr>
            <p:ph type="dt" sz="half" idx="10"/>
          </p:nvPr>
        </p:nvSpPr>
        <p:spPr/>
        <p:txBody>
          <a:bodyPr/>
          <a:lstStyle/>
          <a:p>
            <a:fld id="{E0B57C5C-739E-8E4A-B3FE-98727403806B}" type="datetimeFigureOut">
              <a:rPr lang="ru-RU" smtClean="0"/>
              <a:t>10.12.2025</a:t>
            </a:fld>
            <a:endParaRPr lang="ru-RU"/>
          </a:p>
        </p:txBody>
      </p:sp>
      <p:sp>
        <p:nvSpPr>
          <p:cNvPr id="3" name="Нижний колонтитул 2">
            <a:extLst>
              <a:ext uri="{FF2B5EF4-FFF2-40B4-BE49-F238E27FC236}">
                <a16:creationId xmlns:a16="http://schemas.microsoft.com/office/drawing/2014/main" id="{59ABF501-B3C3-932D-1C7A-098303C142F6}"/>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0318555F-5592-6525-BDAF-02627B1FE7A6}"/>
              </a:ext>
            </a:extLst>
          </p:cNvPr>
          <p:cNvSpPr>
            <a:spLocks noGrp="1"/>
          </p:cNvSpPr>
          <p:nvPr>
            <p:ph type="sldNum" sz="quarter" idx="12"/>
          </p:nvPr>
        </p:nvSpPr>
        <p:spPr/>
        <p:txBody>
          <a:bodyPr/>
          <a:lstStyle/>
          <a:p>
            <a:fld id="{B1C460CA-2CF8-204A-BD31-5907F7C3CEE7}" type="slidenum">
              <a:rPr lang="ru-RU" smtClean="0"/>
              <a:t>‹#›</a:t>
            </a:fld>
            <a:endParaRPr lang="ru-RU"/>
          </a:p>
        </p:txBody>
      </p:sp>
    </p:spTree>
    <p:extLst>
      <p:ext uri="{BB962C8B-B14F-4D97-AF65-F5344CB8AC3E}">
        <p14:creationId xmlns:p14="http://schemas.microsoft.com/office/powerpoint/2010/main" val="34460495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CA89365-1F59-7BE5-7C01-03D9CC2A6B3D}"/>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15851488-E458-1E6E-3345-28C4A7678A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029569F8-16A4-C26F-65E4-17833ED548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5F6F8251-FC7D-B14D-B679-35F1B504671A}"/>
              </a:ext>
            </a:extLst>
          </p:cNvPr>
          <p:cNvSpPr>
            <a:spLocks noGrp="1"/>
          </p:cNvSpPr>
          <p:nvPr>
            <p:ph type="dt" sz="half" idx="10"/>
          </p:nvPr>
        </p:nvSpPr>
        <p:spPr/>
        <p:txBody>
          <a:bodyPr/>
          <a:lstStyle/>
          <a:p>
            <a:fld id="{E0B57C5C-739E-8E4A-B3FE-98727403806B}" type="datetimeFigureOut">
              <a:rPr lang="ru-RU" smtClean="0"/>
              <a:t>10.12.2025</a:t>
            </a:fld>
            <a:endParaRPr lang="ru-RU"/>
          </a:p>
        </p:txBody>
      </p:sp>
      <p:sp>
        <p:nvSpPr>
          <p:cNvPr id="6" name="Нижний колонтитул 5">
            <a:extLst>
              <a:ext uri="{FF2B5EF4-FFF2-40B4-BE49-F238E27FC236}">
                <a16:creationId xmlns:a16="http://schemas.microsoft.com/office/drawing/2014/main" id="{D1CDBB73-230D-708B-0981-E068D6B3C3B4}"/>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1E02BB27-FCE8-6260-C653-C06456C6EA9F}"/>
              </a:ext>
            </a:extLst>
          </p:cNvPr>
          <p:cNvSpPr>
            <a:spLocks noGrp="1"/>
          </p:cNvSpPr>
          <p:nvPr>
            <p:ph type="sldNum" sz="quarter" idx="12"/>
          </p:nvPr>
        </p:nvSpPr>
        <p:spPr/>
        <p:txBody>
          <a:bodyPr/>
          <a:lstStyle/>
          <a:p>
            <a:fld id="{B1C460CA-2CF8-204A-BD31-5907F7C3CEE7}" type="slidenum">
              <a:rPr lang="ru-RU" smtClean="0"/>
              <a:t>‹#›</a:t>
            </a:fld>
            <a:endParaRPr lang="ru-RU"/>
          </a:p>
        </p:txBody>
      </p:sp>
    </p:spTree>
    <p:extLst>
      <p:ext uri="{BB962C8B-B14F-4D97-AF65-F5344CB8AC3E}">
        <p14:creationId xmlns:p14="http://schemas.microsoft.com/office/powerpoint/2010/main" val="19017403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E9FFFAD-55DF-6892-A3BC-66F12E6E6539}"/>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B7DC1E2F-2C61-4DC3-4E75-470F851AC67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E80F4561-CE54-6CE4-FE4A-4648ABC7B8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816E95DF-2C54-70A7-3B8E-8330DE560BA6}"/>
              </a:ext>
            </a:extLst>
          </p:cNvPr>
          <p:cNvSpPr>
            <a:spLocks noGrp="1"/>
          </p:cNvSpPr>
          <p:nvPr>
            <p:ph type="dt" sz="half" idx="10"/>
          </p:nvPr>
        </p:nvSpPr>
        <p:spPr/>
        <p:txBody>
          <a:bodyPr/>
          <a:lstStyle/>
          <a:p>
            <a:fld id="{E0B57C5C-739E-8E4A-B3FE-98727403806B}" type="datetimeFigureOut">
              <a:rPr lang="ru-RU" smtClean="0"/>
              <a:t>10.12.2025</a:t>
            </a:fld>
            <a:endParaRPr lang="ru-RU"/>
          </a:p>
        </p:txBody>
      </p:sp>
      <p:sp>
        <p:nvSpPr>
          <p:cNvPr id="6" name="Нижний колонтитул 5">
            <a:extLst>
              <a:ext uri="{FF2B5EF4-FFF2-40B4-BE49-F238E27FC236}">
                <a16:creationId xmlns:a16="http://schemas.microsoft.com/office/drawing/2014/main" id="{ECD2972E-8840-A396-DA34-69CE979CCB3F}"/>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03518322-957D-84E8-CFFA-E8969754C0C0}"/>
              </a:ext>
            </a:extLst>
          </p:cNvPr>
          <p:cNvSpPr>
            <a:spLocks noGrp="1"/>
          </p:cNvSpPr>
          <p:nvPr>
            <p:ph type="sldNum" sz="quarter" idx="12"/>
          </p:nvPr>
        </p:nvSpPr>
        <p:spPr/>
        <p:txBody>
          <a:bodyPr/>
          <a:lstStyle/>
          <a:p>
            <a:fld id="{B1C460CA-2CF8-204A-BD31-5907F7C3CEE7}" type="slidenum">
              <a:rPr lang="ru-RU" smtClean="0"/>
              <a:t>‹#›</a:t>
            </a:fld>
            <a:endParaRPr lang="ru-RU"/>
          </a:p>
        </p:txBody>
      </p:sp>
    </p:spTree>
    <p:extLst>
      <p:ext uri="{BB962C8B-B14F-4D97-AF65-F5344CB8AC3E}">
        <p14:creationId xmlns:p14="http://schemas.microsoft.com/office/powerpoint/2010/main" val="16188855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7F00E46-B250-BBDB-C42E-394097E6CC26}"/>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F016EECA-E1B8-C160-C4F9-C630AC040B2D}"/>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83A4BFA6-B39A-084D-973C-3C6C235F8A80}"/>
              </a:ext>
            </a:extLst>
          </p:cNvPr>
          <p:cNvSpPr>
            <a:spLocks noGrp="1"/>
          </p:cNvSpPr>
          <p:nvPr>
            <p:ph type="dt" sz="half" idx="10"/>
          </p:nvPr>
        </p:nvSpPr>
        <p:spPr/>
        <p:txBody>
          <a:bodyPr/>
          <a:lstStyle/>
          <a:p>
            <a:fld id="{E0B57C5C-739E-8E4A-B3FE-98727403806B}" type="datetimeFigureOut">
              <a:rPr lang="ru-RU" smtClean="0"/>
              <a:t>10.12.2025</a:t>
            </a:fld>
            <a:endParaRPr lang="ru-RU"/>
          </a:p>
        </p:txBody>
      </p:sp>
      <p:sp>
        <p:nvSpPr>
          <p:cNvPr id="5" name="Нижний колонтитул 4">
            <a:extLst>
              <a:ext uri="{FF2B5EF4-FFF2-40B4-BE49-F238E27FC236}">
                <a16:creationId xmlns:a16="http://schemas.microsoft.com/office/drawing/2014/main" id="{F376B581-0F3C-9204-C15A-E34AAD69FDDF}"/>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3CD49B13-4A27-128D-F59F-94CB25DF5424}"/>
              </a:ext>
            </a:extLst>
          </p:cNvPr>
          <p:cNvSpPr>
            <a:spLocks noGrp="1"/>
          </p:cNvSpPr>
          <p:nvPr>
            <p:ph type="sldNum" sz="quarter" idx="12"/>
          </p:nvPr>
        </p:nvSpPr>
        <p:spPr/>
        <p:txBody>
          <a:bodyPr/>
          <a:lstStyle/>
          <a:p>
            <a:fld id="{B1C460CA-2CF8-204A-BD31-5907F7C3CEE7}" type="slidenum">
              <a:rPr lang="ru-RU" smtClean="0"/>
              <a:t>‹#›</a:t>
            </a:fld>
            <a:endParaRPr lang="ru-RU"/>
          </a:p>
        </p:txBody>
      </p:sp>
    </p:spTree>
    <p:extLst>
      <p:ext uri="{BB962C8B-B14F-4D97-AF65-F5344CB8AC3E}">
        <p14:creationId xmlns:p14="http://schemas.microsoft.com/office/powerpoint/2010/main" val="4660344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FE5A50D7-C346-5B8C-AA41-67C50F1300E0}"/>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58B18B6B-05D9-1FD2-F71A-6B0B3B6B55A4}"/>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83A6360E-7E0C-E47C-EF0C-FA9859DAD74A}"/>
              </a:ext>
            </a:extLst>
          </p:cNvPr>
          <p:cNvSpPr>
            <a:spLocks noGrp="1"/>
          </p:cNvSpPr>
          <p:nvPr>
            <p:ph type="dt" sz="half" idx="10"/>
          </p:nvPr>
        </p:nvSpPr>
        <p:spPr/>
        <p:txBody>
          <a:bodyPr/>
          <a:lstStyle/>
          <a:p>
            <a:fld id="{E0B57C5C-739E-8E4A-B3FE-98727403806B}" type="datetimeFigureOut">
              <a:rPr lang="ru-RU" smtClean="0"/>
              <a:t>10.12.2025</a:t>
            </a:fld>
            <a:endParaRPr lang="ru-RU"/>
          </a:p>
        </p:txBody>
      </p:sp>
      <p:sp>
        <p:nvSpPr>
          <p:cNvPr id="5" name="Нижний колонтитул 4">
            <a:extLst>
              <a:ext uri="{FF2B5EF4-FFF2-40B4-BE49-F238E27FC236}">
                <a16:creationId xmlns:a16="http://schemas.microsoft.com/office/drawing/2014/main" id="{D3F95BCB-42EB-0CF7-114E-AEA8172B0C23}"/>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93845D96-407C-BC5C-79FF-586780BFC547}"/>
              </a:ext>
            </a:extLst>
          </p:cNvPr>
          <p:cNvSpPr>
            <a:spLocks noGrp="1"/>
          </p:cNvSpPr>
          <p:nvPr>
            <p:ph type="sldNum" sz="quarter" idx="12"/>
          </p:nvPr>
        </p:nvSpPr>
        <p:spPr/>
        <p:txBody>
          <a:bodyPr/>
          <a:lstStyle/>
          <a:p>
            <a:fld id="{B1C460CA-2CF8-204A-BD31-5907F7C3CEE7}" type="slidenum">
              <a:rPr lang="ru-RU" smtClean="0"/>
              <a:t>‹#›</a:t>
            </a:fld>
            <a:endParaRPr lang="ru-RU"/>
          </a:p>
        </p:txBody>
      </p:sp>
    </p:spTree>
    <p:extLst>
      <p:ext uri="{BB962C8B-B14F-4D97-AF65-F5344CB8AC3E}">
        <p14:creationId xmlns:p14="http://schemas.microsoft.com/office/powerpoint/2010/main" val="5601468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0B6EA41-9EF7-339D-4026-5C07018E50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D597A3DE-9659-D8A7-F6AE-D0AD855618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364ACB73-52FA-E045-9CE5-BFA11B5A56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B57C5C-739E-8E4A-B3FE-98727403806B}" type="datetimeFigureOut">
              <a:rPr lang="ru-RU" smtClean="0"/>
              <a:t>10.12.2025</a:t>
            </a:fld>
            <a:endParaRPr lang="ru-RU"/>
          </a:p>
        </p:txBody>
      </p:sp>
      <p:sp>
        <p:nvSpPr>
          <p:cNvPr id="5" name="Нижний колонтитул 4">
            <a:extLst>
              <a:ext uri="{FF2B5EF4-FFF2-40B4-BE49-F238E27FC236}">
                <a16:creationId xmlns:a16="http://schemas.microsoft.com/office/drawing/2014/main" id="{AEBB58A9-1E9B-A527-DE53-35C018F9F6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A5E7A416-70E1-FAA9-A630-7B065D5A0D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C460CA-2CF8-204A-BD31-5907F7C3CEE7}" type="slidenum">
              <a:rPr lang="ru-RU" smtClean="0"/>
              <a:t>‹#›</a:t>
            </a:fld>
            <a:endParaRPr lang="ru-RU"/>
          </a:p>
        </p:txBody>
      </p:sp>
    </p:spTree>
    <p:extLst>
      <p:ext uri="{BB962C8B-B14F-4D97-AF65-F5344CB8AC3E}">
        <p14:creationId xmlns:p14="http://schemas.microsoft.com/office/powerpoint/2010/main" val="1080957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www.dre.vanderbilt.edu/~schmidt/PDF/work-stealing-dequeue.pdf" TargetMode="External"/><Relationship Id="rId13" Type="http://schemas.openxmlformats.org/officeDocument/2006/relationships/hyperlink" Target="https://deepwiki.com/facebook/SPIRV-Registry/4.2-khr-memory-model" TargetMode="External"/><Relationship Id="rId3" Type="http://schemas.openxmlformats.org/officeDocument/2006/relationships/hyperlink" Target="https://arxiv.org/abs/2508.14899" TargetMode="External"/><Relationship Id="rId7" Type="http://schemas.openxmlformats.org/officeDocument/2006/relationships/hyperlink" Target="https://fzn.fr/readings/ppopp13.pdf" TargetMode="External"/><Relationship Id="rId12" Type="http://schemas.openxmlformats.org/officeDocument/2006/relationships/hyperlink" Target="https://arxiv.org/abs/2010.01709" TargetMode="External"/><Relationship Id="rId17" Type="http://schemas.openxmlformats.org/officeDocument/2006/relationships/hyperlink" Target="https://vkdoc.net/chapters/memory-model" TargetMode="External"/><Relationship Id="rId2" Type="http://schemas.openxmlformats.org/officeDocument/2006/relationships/hyperlink" Target="https://github.com/iree-org/iree" TargetMode="External"/><Relationship Id="rId16" Type="http://schemas.openxmlformats.org/officeDocument/2006/relationships/hyperlink" Target="https://www.cs.otago.ac.nz/cosc440/readings/hazard-pointers.pdf" TargetMode="External"/><Relationship Id="rId1" Type="http://schemas.openxmlformats.org/officeDocument/2006/relationships/slideLayout" Target="../slideLayouts/slideLayout1.xml"/><Relationship Id="rId6" Type="http://schemas.openxmlformats.org/officeDocument/2006/relationships/hyperlink" Target="https://mlsys.org/virtual/2025/papers.html?filter=titles" TargetMode="External"/><Relationship Id="rId11" Type="http://schemas.openxmlformats.org/officeDocument/2006/relationships/hyperlink" Target="https://mfem.org/pdf/workshop25/17_Sathia_Enzyme.pdf" TargetMode="External"/><Relationship Id="rId5" Type="http://schemas.openxmlformats.org/officeDocument/2006/relationships/hyperlink" Target="https://mlir.llvm.org/docs/Dialects/OpenMPDialect/ODS/" TargetMode="External"/><Relationship Id="rId15" Type="http://schemas.openxmlformats.org/officeDocument/2006/relationships/hyperlink" Target="https://web.eecs.umich.edu/~mosharaf/Readings/RaceTrack.pdf" TargetMode="External"/><Relationship Id="rId10" Type="http://schemas.openxmlformats.org/officeDocument/2006/relationships/hyperlink" Target="https://docs.pytorch.org/tutorials/beginner/blitz/data_parallel_tutorial.html" TargetMode="External"/><Relationship Id="rId4" Type="http://schemas.openxmlformats.org/officeDocument/2006/relationships/hyperlink" Target="https://github.com/llvm/llvm-project/blob/main/mlir/docs/Dialects/OpenMPDialect/_index.md" TargetMode="External"/><Relationship Id="rId9" Type="http://schemas.openxmlformats.org/officeDocument/2006/relationships/hyperlink" Target="https://mljourney.com/how-to-speed-up-pytorch-model-training-with-data-parallelism/" TargetMode="External"/><Relationship Id="rId14" Type="http://schemas.openxmlformats.org/officeDocument/2006/relationships/hyperlink" Target="https://homes.cs.washington.edu/~mernst/pubs/deadlock-library-ecoop2005.pdf"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www.academia.edu/73916744/Dynamic_circular_work_stealing_deque" TargetMode="External"/><Relationship Id="rId7" Type="http://schemas.openxmlformats.org/officeDocument/2006/relationships/hyperlink" Target="https://github.com/rigtorp/awesome-lockfree" TargetMode="External"/><Relationship Id="rId2" Type="http://schemas.openxmlformats.org/officeDocument/2006/relationships/hyperlink" Target="https://scispace.com/papers/dynamic-circular-work-stealing-deque-1v8y7jjmvq" TargetMode="External"/><Relationship Id="rId1" Type="http://schemas.openxmlformats.org/officeDocument/2006/relationships/slideLayout" Target="../slideLayouts/slideLayout1.xml"/><Relationship Id="rId6" Type="http://schemas.openxmlformats.org/officeDocument/2006/relationships/hyperlink" Target="https://users.cs.utah.edu/~regehr/papers/pldi25.pdf" TargetMode="External"/><Relationship Id="rId5" Type="http://schemas.openxmlformats.org/officeDocument/2006/relationships/hyperlink" Target="https://www.sigplan.org/Conferences/OOPSLA/" TargetMode="External"/><Relationship Id="rId4" Type="http://schemas.openxmlformats.org/officeDocument/2006/relationships/hyperlink" Target="https://pldi25.sigplan.org/details/pldi-2025-papers/60/First-Class-Verification-Dialects-for-MLIR"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www.tpc.org/tpcc/"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hyperlink" Target="https://github.com/facebook/folly/blob/main/folly/synchronization/Hazptr.h" TargetMode="External"/><Relationship Id="rId3" Type="http://schemas.openxmlformats.org/officeDocument/2006/relationships/hyperlink" Target="https://www.kernel.org/doc/html/latest/RCU/" TargetMode="External"/><Relationship Id="rId7" Type="http://schemas.openxmlformats.org/officeDocument/2006/relationships/hyperlink" Target="https://en.cppreference.com/w/cpp/header/hazard_pointer.html" TargetMode="External"/><Relationship Id="rId2" Type="http://schemas.openxmlformats.org/officeDocument/2006/relationships/hyperlink" Target="https://pdos.csail.mit.edu/6.828/2020/readings/rcu-decade-later.pdf" TargetMode="External"/><Relationship Id="rId1" Type="http://schemas.openxmlformats.org/officeDocument/2006/relationships/slideLayout" Target="../slideLayouts/slideLayout1.xml"/><Relationship Id="rId6" Type="http://schemas.openxmlformats.org/officeDocument/2006/relationships/hyperlink" Target="https://www.open-std.org/jtc1/sc22/wg21/docs/papers/2023/p2530r3.pdf" TargetMode="External"/><Relationship Id="rId5" Type="http://schemas.openxmlformats.org/officeDocument/2006/relationships/hyperlink" Target="https://docs.redhat.com/en/documentation/red_hat_enterprise_linux_for_real_time/10/html/optimizing_rhel_for_real_time_for_low_latency_operation/improving-cpu-performance-by-using-rcu-callbacks" TargetMode="External"/><Relationship Id="rId4" Type="http://schemas.openxmlformats.org/officeDocument/2006/relationships/hyperlink" Target="https://en.cppreference.com/w/cpp/header/rcu.html" TargetMode="External"/><Relationship Id="rId9" Type="http://schemas.openxmlformats.org/officeDocument/2006/relationships/hyperlink" Target="https://docs.rs/crossbeam-epoch/latest/crossbeam_epoch/" TargetMode="External"/></Relationships>
</file>

<file path=ppt/slides/_rels/slide29.xml.rels><?xml version="1.0" encoding="UTF-8" standalone="yes"?>
<Relationships xmlns="http://schemas.openxmlformats.org/package/2006/relationships"><Relationship Id="rId8" Type="http://schemas.openxmlformats.org/officeDocument/2006/relationships/hyperlink" Target="https://iris-project.org/pdfs/2024-pldi-proof-recipe.pdf" TargetMode="External"/><Relationship Id="rId3" Type="http://schemas.openxmlformats.org/officeDocument/2006/relationships/hyperlink" Target="https://conf.researchr.org/details/PPoPP-2024/PPoPP-2024-papers/18/Are-Your-Epochs-Too-Epic-Batch-Free-Can-Be-Harmful" TargetMode="External"/><Relationship Id="rId7" Type="http://schemas.openxmlformats.org/officeDocument/2006/relationships/hyperlink" Target="https://iris-project.org/pdfs/2023-oopsla-reclamation.pdf" TargetMode="External"/><Relationship Id="rId2" Type="http://schemas.openxmlformats.org/officeDocument/2006/relationships/hyperlink" Target="https://aturon.github.io/blog/2015/08/27/epoch/" TargetMode="External"/><Relationship Id="rId1" Type="http://schemas.openxmlformats.org/officeDocument/2006/relationships/slideLayout" Target="../slideLayouts/slideLayout1.xml"/><Relationship Id="rId6" Type="http://schemas.openxmlformats.org/officeDocument/2006/relationships/hyperlink" Target="https://uwspace.uwaterloo.ca/items/2863b19e-5289-4ee1-83f7-a2cbd41655bf" TargetMode="External"/><Relationship Id="rId11" Type="http://schemas.openxmlformats.org/officeDocument/2006/relationships/hyperlink" Target="https://github.com/kaist-cp/smr-benchmark" TargetMode="External"/><Relationship Id="rId5" Type="http://schemas.openxmlformats.org/officeDocument/2006/relationships/hyperlink" Target="https://arxiv.org/html/2501.04250v1" TargetMode="External"/><Relationship Id="rId10" Type="http://schemas.openxmlformats.org/officeDocument/2006/relationships/hyperlink" Target="https://iris-project.org/pdfs/2025-pldi-hp-revisited.pdf" TargetMode="External"/><Relationship Id="rId4" Type="http://schemas.openxmlformats.org/officeDocument/2006/relationships/hyperlink" Target="https://arxiv.org/abs/2401.11347" TargetMode="External"/><Relationship Id="rId9" Type="http://schemas.openxmlformats.org/officeDocument/2006/relationships/hyperlink" Target="https://dl.acm.org/doi/pdf/10.1145/3704906"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hyperlink" Target="https://www.open-std.org/jtc1/sc22/wg21/docs/papers/2023/p2530r3.pdf" TargetMode="External"/><Relationship Id="rId2" Type="http://schemas.openxmlformats.org/officeDocument/2006/relationships/hyperlink" Target="https://www.open-std.org/jtc1/sc22/wg21/docs/papers/2024/p3428r0.pdf" TargetMode="Externa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hyperlink" Target="https://en.cppreference.com/w/cpp/header/hazard_pointer.html" TargetMode="External"/><Relationship Id="rId2" Type="http://schemas.openxmlformats.org/officeDocument/2006/relationships/hyperlink" Target="https://www.open-std.org/jtc1/sc22/wg21/docs/papers/2023/p2530r3.pdf" TargetMode="External"/><Relationship Id="rId1" Type="http://schemas.openxmlformats.org/officeDocument/2006/relationships/slideLayout" Target="../slideLayouts/slideLayout1.xml"/><Relationship Id="rId4" Type="http://schemas.openxmlformats.org/officeDocument/2006/relationships/hyperlink" Target="https://www.open-std.org/jtc1/sc22/wg21/docs/papers/2024/p3428r0.pdf"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doi.org/10.1145/3558481.3591079" TargetMode="Externa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hyperlink" Target="https://plv.mpi-sws.org/scfix/paper.pdf" TargetMode="External"/><Relationship Id="rId2" Type="http://schemas.openxmlformats.org/officeDocument/2006/relationships/hyperlink" Target="https://www.cl.cam.ac.uk/~pes20/cppppc/popl079-batty.pdf" TargetMode="External"/><Relationship Id="rId1" Type="http://schemas.openxmlformats.org/officeDocument/2006/relationships/slideLayout" Target="../slideLayouts/slideLayout1.xml"/><Relationship Id="rId4" Type="http://schemas.openxmlformats.org/officeDocument/2006/relationships/hyperlink" Target="https://conf.researchr.org/event/CC-2017/cc-2017-papers-partially-redundant-fence-elimination-for-x86-arm-and-power-processors" TargetMode="External"/></Relationships>
</file>

<file path=ppt/slides/_rels/slide40.xml.rels><?xml version="1.0" encoding="UTF-8" standalone="yes"?>
<Relationships xmlns="http://schemas.openxmlformats.org/package/2006/relationships"><Relationship Id="rId3" Type="http://schemas.openxmlformats.org/officeDocument/2006/relationships/hyperlink" Target="https://eupp.github.io/papers/ecoop2024-lincheck-idea.pdf" TargetMode="External"/><Relationship Id="rId2" Type="http://schemas.openxmlformats.org/officeDocument/2006/relationships/hyperlink" Target="https://link.springer.com/chapter/10.1007/978-3-031-37706-8_8" TargetMode="External"/><Relationship Id="rId1" Type="http://schemas.openxmlformats.org/officeDocument/2006/relationships/slideLayout" Target="../slideLayouts/slideLayout1.xml"/><Relationship Id="rId6" Type="http://schemas.openxmlformats.org/officeDocument/2006/relationships/hyperlink" Target="https://link.springer.com/chapter/10.1007/978-3-642-14295-6_41" TargetMode="External"/><Relationship Id="rId5" Type="http://schemas.openxmlformats.org/officeDocument/2006/relationships/hyperlink" Target="https://acg.cis.upenn.edu/papers/pldi07_checkfence.pdf" TargetMode="External"/><Relationship Id="rId4" Type="http://schemas.openxmlformats.org/officeDocument/2006/relationships/hyperlink" Target="https://www.microsoft.com/en-us/research/wp-content/uploads/2016/02/pldi015-burckhardt.pdf" TargetMode="External"/></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hyperlink" Target="https://www.open-std.org/jtc1/sc22/wg21/docs/papers/2025/p0260r19.html" TargetMode="External"/><Relationship Id="rId2" Type="http://schemas.openxmlformats.org/officeDocument/2006/relationships/hyperlink" Target="https://iris-project.org/" TargetMode="Externa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E5D18-CED4-B9D5-3D8B-F350B805FDF4}"/>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9DCB83D5-7F9D-741B-C5EB-2A8D335ED14A}"/>
              </a:ext>
            </a:extLst>
          </p:cNvPr>
          <p:cNvSpPr txBox="1"/>
          <p:nvPr/>
        </p:nvSpPr>
        <p:spPr>
          <a:xfrm>
            <a:off x="233910" y="208621"/>
            <a:ext cx="10448804" cy="461665"/>
          </a:xfrm>
          <a:prstGeom prst="rect">
            <a:avLst/>
          </a:prstGeom>
          <a:solidFill>
            <a:srgbClr val="002060"/>
          </a:solidFill>
        </p:spPr>
        <p:txBody>
          <a:bodyPr wrap="square" rtlCol="0">
            <a:spAutoFit/>
          </a:bodyPr>
          <a:lstStyle/>
          <a:p>
            <a:r>
              <a:rPr lang="en-US" sz="2400">
                <a:solidFill>
                  <a:schemeClr val="bg1"/>
                </a:solidFill>
                <a:latin typeface="Ubuntu Condensed" panose="020B0506030602030204" pitchFamily="34" charset="0"/>
              </a:rPr>
              <a:t>Real programs/codebases that mix blocking and non‑blocking data structures</a:t>
            </a:r>
            <a:endParaRPr lang="ru-RU" sz="2400">
              <a:solidFill>
                <a:schemeClr val="bg1"/>
              </a:solidFill>
              <a:latin typeface="Ubuntu Condensed" panose="020B0506030602030204" pitchFamily="34" charset="0"/>
            </a:endParaRPr>
          </a:p>
        </p:txBody>
      </p:sp>
      <p:sp>
        <p:nvSpPr>
          <p:cNvPr id="7" name="Номер слайда 7">
            <a:extLst>
              <a:ext uri="{FF2B5EF4-FFF2-40B4-BE49-F238E27FC236}">
                <a16:creationId xmlns:a16="http://schemas.microsoft.com/office/drawing/2014/main" id="{0AEC1F71-C62F-CAF9-DCD1-BC39938468E9}"/>
              </a:ext>
            </a:extLst>
          </p:cNvPr>
          <p:cNvSpPr>
            <a:spLocks noGrp="1"/>
          </p:cNvSpPr>
          <p:nvPr>
            <p:ph type="sldNum" sz="quarter" idx="12"/>
          </p:nvPr>
        </p:nvSpPr>
        <p:spPr>
          <a:xfrm>
            <a:off x="11725835" y="6402070"/>
            <a:ext cx="386155" cy="365125"/>
          </a:xfrm>
        </p:spPr>
        <p:txBody>
          <a:bodyPr/>
          <a:lstStyle/>
          <a:p>
            <a:pPr algn="ctr"/>
            <a:fld id="{E757BAED-F255-4CF1-96BA-8D7417A9C3BC}" type="slidenum">
              <a:rPr lang="ru-RU" sz="1800" smtClean="0">
                <a:latin typeface="Ubuntu Condensed" panose="020B0506030602030204" pitchFamily="34" charset="0"/>
              </a:rPr>
              <a:pPr algn="ctr"/>
              <a:t>1</a:t>
            </a:fld>
            <a:endParaRPr lang="ru-RU" sz="1800">
              <a:latin typeface="Ubuntu Condensed" panose="020B0506030602030204" pitchFamily="34" charset="0"/>
            </a:endParaRPr>
          </a:p>
        </p:txBody>
      </p:sp>
      <p:sp>
        <p:nvSpPr>
          <p:cNvPr id="4" name="TextBox 3">
            <a:extLst>
              <a:ext uri="{FF2B5EF4-FFF2-40B4-BE49-F238E27FC236}">
                <a16:creationId xmlns:a16="http://schemas.microsoft.com/office/drawing/2014/main" id="{BE162025-FD67-40EC-2BA4-BE00CB40A000}"/>
              </a:ext>
            </a:extLst>
          </p:cNvPr>
          <p:cNvSpPr txBox="1"/>
          <p:nvPr/>
        </p:nvSpPr>
        <p:spPr>
          <a:xfrm>
            <a:off x="233909" y="773686"/>
            <a:ext cx="11491925" cy="6001643"/>
          </a:xfrm>
          <a:prstGeom prst="rect">
            <a:avLst/>
          </a:prstGeom>
          <a:noFill/>
        </p:spPr>
        <p:txBody>
          <a:bodyPr wrap="square">
            <a:spAutoFit/>
          </a:bodyPr>
          <a:lstStyle/>
          <a:p>
            <a:r>
              <a:rPr lang="en-US" sz="1200" b="1"/>
              <a:t>1) Linux kernel: systematic mixing of RCU (non‑blocking for reads) with spinlock/mutex (blocking for writes/updates)</a:t>
            </a:r>
          </a:p>
          <a:p>
            <a:r>
              <a:rPr lang="en-US" sz="1200"/>
              <a:t>The official documentation describes idioms where </a:t>
            </a:r>
            <a:r>
              <a:rPr lang="en-US" sz="1200" i="1"/>
              <a:t>reads are done in RCU read‑side critical sections</a:t>
            </a:r>
            <a:r>
              <a:rPr lang="en-US" sz="1200"/>
              <a:t>, while </a:t>
            </a:r>
            <a:r>
              <a:rPr lang="en-US" sz="1200" i="1"/>
              <a:t>modifications are protected by locks</a:t>
            </a:r>
            <a:r>
              <a:rPr lang="en-US" sz="1200"/>
              <a:t>; see “Read‑Side Action Taken Outside of Lock” and examples of lists protected by RCU with locked insert/remove paths. This is a production example of </a:t>
            </a:r>
            <a:r>
              <a:rPr lang="en-US" sz="1200" i="1"/>
              <a:t>combining</a:t>
            </a:r>
            <a:r>
              <a:rPr lang="en-US" sz="1200"/>
              <a:t> non‑blocking reads and blocking writes around the same structures. </a:t>
            </a:r>
            <a:r>
              <a:rPr lang="en-US" sz="1200">
                <a:hlinkClick r:id="rId2"/>
              </a:rPr>
              <a:t>[github.com]</a:t>
            </a:r>
            <a:r>
              <a:rPr lang="en-US" sz="1200"/>
              <a:t>, </a:t>
            </a:r>
            <a:r>
              <a:rPr lang="en-US" sz="1200">
                <a:hlinkClick r:id="rId3"/>
              </a:rPr>
              <a:t>[arxiv.org]</a:t>
            </a:r>
            <a:endParaRPr lang="en-US" sz="1200"/>
          </a:p>
          <a:p>
            <a:r>
              <a:rPr lang="en-US" sz="1200"/>
              <a:t>The spinlocks documentation and concurrency overviews highlight how </a:t>
            </a:r>
            <a:r>
              <a:rPr lang="en-US" sz="1200" i="1"/>
              <a:t>spinlocks/semaphores</a:t>
            </a:r>
            <a:r>
              <a:rPr lang="en-US" sz="1200"/>
              <a:t> are combined with RCU across real subsystems (VFS, networking, etc.); “RCU Usage One Decade Later” summarizes the breadth of RCU usage in tandem with other primitives. </a:t>
            </a:r>
            <a:r>
              <a:rPr lang="en-US" sz="1200">
                <a:hlinkClick r:id="rId4"/>
              </a:rPr>
              <a:t>[github.com]</a:t>
            </a:r>
            <a:r>
              <a:rPr lang="en-US" sz="1200"/>
              <a:t>, </a:t>
            </a:r>
            <a:r>
              <a:rPr lang="en-US" sz="1200">
                <a:hlinkClick r:id="rId5"/>
              </a:rPr>
              <a:t>[mlir.llvm.org]</a:t>
            </a:r>
            <a:r>
              <a:rPr lang="en-US" sz="1200"/>
              <a:t>, </a:t>
            </a:r>
            <a:r>
              <a:rPr lang="en-US" sz="1200">
                <a:hlinkClick r:id="rId6"/>
              </a:rPr>
              <a:t>[mlsys.org]</a:t>
            </a:r>
            <a:endParaRPr lang="en-US" sz="1200"/>
          </a:p>
          <a:p>
            <a:r>
              <a:rPr lang="en-US" sz="1200" b="1"/>
              <a:t>Why this is “mixing”:</a:t>
            </a:r>
            <a:r>
              <a:rPr lang="en-US" sz="1200"/>
              <a:t> RCU provides non‑blocking reader access, but </a:t>
            </a:r>
            <a:r>
              <a:rPr lang="en-US" sz="1200" b="1"/>
              <a:t>updating threads</a:t>
            </a:r>
            <a:r>
              <a:rPr lang="en-US" sz="1200"/>
              <a:t> synchronize via </a:t>
            </a:r>
            <a:r>
              <a:rPr lang="en-US" sz="1200" b="1"/>
              <a:t>blocking</a:t>
            </a:r>
            <a:r>
              <a:rPr lang="en-US" sz="1200"/>
              <a:t> locks (spinlock/</a:t>
            </a:r>
            <a:r>
              <a:rPr lang="en-US" sz="1200" err="1"/>
              <a:t>rwlock</a:t>
            </a:r>
            <a:r>
              <a:rPr lang="en-US" sz="1200"/>
              <a:t>/</a:t>
            </a:r>
            <a:r>
              <a:rPr lang="en-US" sz="1200" err="1"/>
              <a:t>seqlock</a:t>
            </a:r>
            <a:r>
              <a:rPr lang="en-US" sz="1200"/>
              <a:t>), and both techniques are used </a:t>
            </a:r>
            <a:r>
              <a:rPr lang="en-US" sz="1200" i="1"/>
              <a:t>together</a:t>
            </a:r>
            <a:r>
              <a:rPr lang="en-US" sz="1200"/>
              <a:t> around the same lists/hash tables/trees. </a:t>
            </a:r>
            <a:r>
              <a:rPr lang="en-US" sz="1200">
                <a:hlinkClick r:id="rId2"/>
              </a:rPr>
              <a:t>[github.com]</a:t>
            </a:r>
            <a:endParaRPr lang="en-US" sz="1200"/>
          </a:p>
          <a:p>
            <a:endParaRPr lang="en-US" sz="1200" b="1"/>
          </a:p>
          <a:p>
            <a:r>
              <a:rPr lang="en-US" sz="1200" b="1"/>
              <a:t>2) </a:t>
            </a:r>
            <a:r>
              <a:rPr lang="en-US" sz="1200" b="1" err="1"/>
              <a:t>RocksDB</a:t>
            </a:r>
            <a:r>
              <a:rPr lang="en-US" sz="1200" b="1"/>
              <a:t>: </a:t>
            </a:r>
            <a:r>
              <a:rPr lang="en-US" sz="1200" b="1" i="1"/>
              <a:t>lock‑free</a:t>
            </a:r>
            <a:r>
              <a:rPr lang="en-US" sz="1200" b="1"/>
              <a:t> readers + </a:t>
            </a:r>
            <a:r>
              <a:rPr lang="en-US" sz="1200" b="1" i="1"/>
              <a:t>blocking</a:t>
            </a:r>
            <a:r>
              <a:rPr lang="en-US" sz="1200" b="1"/>
              <a:t> write path on </a:t>
            </a:r>
            <a:r>
              <a:rPr lang="en-US" sz="1200" b="1" err="1"/>
              <a:t>memtable</a:t>
            </a:r>
            <a:r>
              <a:rPr lang="en-US" sz="1200" b="1"/>
              <a:t> (</a:t>
            </a:r>
            <a:r>
              <a:rPr lang="en-US" sz="1200" b="1" err="1"/>
              <a:t>skiplist</a:t>
            </a:r>
            <a:r>
              <a:rPr lang="en-US" sz="1200" b="1"/>
              <a:t>)</a:t>
            </a:r>
          </a:p>
          <a:p>
            <a:r>
              <a:rPr lang="en-US" sz="1200"/>
              <a:t>In the </a:t>
            </a:r>
            <a:r>
              <a:rPr lang="en-US" sz="1200" b="1" err="1"/>
              <a:t>skiplist</a:t>
            </a:r>
            <a:r>
              <a:rPr lang="en-US" sz="1200"/>
              <a:t> code for the </a:t>
            </a:r>
            <a:r>
              <a:rPr lang="en-US" sz="1200" err="1"/>
              <a:t>memtable</a:t>
            </a:r>
            <a:r>
              <a:rPr lang="en-US" sz="1200"/>
              <a:t>, it is stated: </a:t>
            </a:r>
            <a:r>
              <a:rPr lang="en-US" sz="1200" i="1"/>
              <a:t>“Writes require external synchronization, most likely a mutex. Reads progress without any internal locking”</a:t>
            </a:r>
            <a:r>
              <a:rPr lang="en-US" sz="1200"/>
              <a:t>—i.e., </a:t>
            </a:r>
            <a:r>
              <a:rPr lang="en-US" sz="1200" b="1"/>
              <a:t>writes</a:t>
            </a:r>
            <a:r>
              <a:rPr lang="en-US" sz="1200"/>
              <a:t> require locking (typically a </a:t>
            </a:r>
            <a:r>
              <a:rPr lang="en-US" sz="1200" b="1"/>
              <a:t>DB mutex</a:t>
            </a:r>
            <a:r>
              <a:rPr lang="en-US" sz="1200"/>
              <a:t> around metadata/writer coordination), while </a:t>
            </a:r>
            <a:r>
              <a:rPr lang="en-US" sz="1200" b="1"/>
              <a:t>reads</a:t>
            </a:r>
            <a:r>
              <a:rPr lang="en-US" sz="1200"/>
              <a:t> proceed </a:t>
            </a:r>
            <a:r>
              <a:rPr lang="en-US" sz="1200" b="1"/>
              <a:t>lock‑free/non‑blocking</a:t>
            </a:r>
            <a:r>
              <a:rPr lang="en-US" sz="1200"/>
              <a:t>. </a:t>
            </a:r>
            <a:r>
              <a:rPr lang="en-US" sz="1200">
                <a:hlinkClick r:id="rId7"/>
              </a:rPr>
              <a:t>[fzn.fr]</a:t>
            </a:r>
            <a:endParaRPr lang="en-US" sz="1200"/>
          </a:p>
          <a:p>
            <a:r>
              <a:rPr lang="en-US" sz="1200"/>
              <a:t>The </a:t>
            </a:r>
            <a:r>
              <a:rPr lang="en-US" sz="1200" err="1"/>
              <a:t>RocksDB</a:t>
            </a:r>
            <a:r>
              <a:rPr lang="en-US" sz="1200"/>
              <a:t> blog (“Reducing Lock Contention”) explains that </a:t>
            </a:r>
            <a:r>
              <a:rPr lang="en-US" sz="1200" err="1"/>
              <a:t>memtable</a:t>
            </a:r>
            <a:r>
              <a:rPr lang="en-US" sz="1200"/>
              <a:t> is a </a:t>
            </a:r>
            <a:r>
              <a:rPr lang="en-US" sz="1200" i="1"/>
              <a:t>lock‑free</a:t>
            </a:r>
            <a:r>
              <a:rPr lang="en-US" sz="1200"/>
              <a:t> structure for “single writer / multiple readers”, while </a:t>
            </a:r>
            <a:r>
              <a:rPr lang="en-US" sz="1200" b="1"/>
              <a:t>DB mutex</a:t>
            </a:r>
            <a:r>
              <a:rPr lang="en-US" sz="1200"/>
              <a:t> is used around metadata and writer coordination—i.e., the engine combines </a:t>
            </a:r>
            <a:r>
              <a:rPr lang="en-US" sz="1200" i="1"/>
              <a:t>lock‑free</a:t>
            </a:r>
            <a:r>
              <a:rPr lang="en-US" sz="1200"/>
              <a:t> operations with </a:t>
            </a:r>
            <a:r>
              <a:rPr lang="en-US" sz="1200" b="1"/>
              <a:t>blocking</a:t>
            </a:r>
            <a:r>
              <a:rPr lang="en-US" sz="1200"/>
              <a:t> coordination. </a:t>
            </a:r>
            <a:r>
              <a:rPr lang="en-US" sz="1200">
                <a:hlinkClick r:id="rId8"/>
              </a:rPr>
              <a:t>[dre.vanderbilt.edu]</a:t>
            </a:r>
            <a:endParaRPr lang="en-US" sz="1200"/>
          </a:p>
          <a:p>
            <a:r>
              <a:rPr lang="en-US" sz="1200"/>
              <a:t>Additionally, the </a:t>
            </a:r>
            <a:r>
              <a:rPr lang="en-US" sz="1200" err="1"/>
              <a:t>MemTable</a:t>
            </a:r>
            <a:r>
              <a:rPr lang="en-US" sz="1200"/>
              <a:t> Wiki points to </a:t>
            </a:r>
            <a:r>
              <a:rPr lang="en-US" sz="1200" i="1" err="1"/>
              <a:t>skiplist</a:t>
            </a:r>
            <a:r>
              <a:rPr lang="en-US" sz="1200"/>
              <a:t> as the default, and Stack Overflow discussions emphasize that lock‑free read coexists with write/metadata synchronization (or limits on simultaneous writers). </a:t>
            </a:r>
            <a:r>
              <a:rPr lang="en-US" sz="1200">
                <a:hlinkClick r:id="rId9"/>
              </a:rPr>
              <a:t>[mljourney.com]</a:t>
            </a:r>
            <a:r>
              <a:rPr lang="en-US" sz="1200"/>
              <a:t>, </a:t>
            </a:r>
            <a:r>
              <a:rPr lang="en-US" sz="1200">
                <a:hlinkClick r:id="rId10"/>
              </a:rPr>
              <a:t>[docs.pytorch.org]</a:t>
            </a:r>
            <a:endParaRPr lang="en-US" sz="1200"/>
          </a:p>
          <a:p>
            <a:endParaRPr lang="en-US" sz="1200"/>
          </a:p>
          <a:p>
            <a:r>
              <a:rPr lang="en-US" sz="1200" b="1"/>
              <a:t>3) Meta Folly: the same </a:t>
            </a:r>
            <a:r>
              <a:rPr lang="en-US" sz="1200" b="1" err="1"/>
              <a:t>MPMCQueue</a:t>
            </a:r>
            <a:r>
              <a:rPr lang="en-US" sz="1200" b="1"/>
              <a:t> provides both non‑blocking and blocking operations</a:t>
            </a:r>
          </a:p>
          <a:p>
            <a:r>
              <a:rPr lang="en-US" sz="1200"/>
              <a:t>In Folly’s </a:t>
            </a:r>
            <a:r>
              <a:rPr lang="en-US" sz="1200" b="1" err="1"/>
              <a:t>MPMCQueue.h</a:t>
            </a:r>
            <a:r>
              <a:rPr lang="en-US" sz="1200"/>
              <a:t>, besides non‑blocking read/write, there are </a:t>
            </a:r>
            <a:r>
              <a:rPr lang="en-US" sz="1200" b="1" err="1"/>
              <a:t>blockingRead</a:t>
            </a:r>
            <a:r>
              <a:rPr lang="en-US" sz="1200" b="1"/>
              <a:t>/</a:t>
            </a:r>
            <a:r>
              <a:rPr lang="en-US" sz="1200" b="1" err="1"/>
              <a:t>blockingWrite</a:t>
            </a:r>
            <a:r>
              <a:rPr lang="en-US" sz="1200" b="1"/>
              <a:t>/</a:t>
            </a:r>
            <a:r>
              <a:rPr lang="en-US" sz="1200" b="1" err="1"/>
              <a:t>tryReadUntil</a:t>
            </a:r>
            <a:r>
              <a:rPr lang="en-US" sz="1200" b="1"/>
              <a:t>/</a:t>
            </a:r>
            <a:r>
              <a:rPr lang="en-US" sz="1200" b="1" err="1"/>
              <a:t>tryWriteUntil</a:t>
            </a:r>
            <a:r>
              <a:rPr lang="en-US" sz="1200"/>
              <a:t>—so </a:t>
            </a:r>
            <a:r>
              <a:rPr lang="en-US" sz="1200" b="1"/>
              <a:t>one</a:t>
            </a:r>
            <a:r>
              <a:rPr lang="en-US" sz="1200"/>
              <a:t> structure supports </a:t>
            </a:r>
            <a:r>
              <a:rPr lang="en-US" sz="1200" i="1"/>
              <a:t>both styles</a:t>
            </a:r>
            <a:r>
              <a:rPr lang="en-US" sz="1200"/>
              <a:t>, and Meta uses it in production. This is </a:t>
            </a:r>
            <a:r>
              <a:rPr lang="en-US" sz="1200" i="1"/>
              <a:t>internal mixing</a:t>
            </a:r>
            <a:r>
              <a:rPr lang="en-US" sz="1200"/>
              <a:t> of blocking/non‑blocking semantics. </a:t>
            </a:r>
            <a:r>
              <a:rPr lang="en-US" sz="1200">
                <a:hlinkClick r:id="rId11"/>
              </a:rPr>
              <a:t>[mfem.org]</a:t>
            </a:r>
            <a:endParaRPr lang="en-US" sz="1200"/>
          </a:p>
          <a:p>
            <a:r>
              <a:rPr lang="en-US" sz="1200"/>
              <a:t>Production use of </a:t>
            </a:r>
            <a:r>
              <a:rPr lang="en-US" sz="1200" err="1"/>
              <a:t>MPMCQueue</a:t>
            </a:r>
            <a:r>
              <a:rPr lang="en-US" sz="1200"/>
              <a:t> and its correctness (linearizability with </a:t>
            </a:r>
            <a:r>
              <a:rPr lang="en-US" sz="1200" b="1"/>
              <a:t>external LPs</a:t>
            </a:r>
            <a:r>
              <a:rPr lang="en-US" sz="1200"/>
              <a:t>) are shown in a mechanized verification (CPP’22), further validating real scenarios. </a:t>
            </a:r>
            <a:r>
              <a:rPr lang="en-US" sz="1200">
                <a:hlinkClick r:id="rId12"/>
              </a:rPr>
              <a:t>[arxiv.org]</a:t>
            </a:r>
            <a:br>
              <a:rPr lang="en-US" sz="1200"/>
            </a:br>
            <a:endParaRPr lang="en-US" sz="1200"/>
          </a:p>
          <a:p>
            <a:r>
              <a:rPr lang="en-US" sz="1200" b="1"/>
              <a:t>4) </a:t>
            </a:r>
            <a:r>
              <a:rPr lang="en-US" sz="1200" b="1" err="1"/>
              <a:t>oneTBB</a:t>
            </a:r>
            <a:r>
              <a:rPr lang="en-US" sz="1200" b="1"/>
              <a:t> (used in many products): </a:t>
            </a:r>
            <a:r>
              <a:rPr lang="en-US" sz="1200" b="1" err="1"/>
              <a:t>concurrent_bounded_queue</a:t>
            </a:r>
            <a:r>
              <a:rPr lang="en-US" sz="1200" b="1"/>
              <a:t> (blocking) alongside non‑blocking containers/scheduler</a:t>
            </a:r>
          </a:p>
          <a:p>
            <a:r>
              <a:rPr lang="en-US" sz="1200"/>
              <a:t>TBB/</a:t>
            </a:r>
            <a:r>
              <a:rPr lang="en-US" sz="1200" err="1"/>
              <a:t>oneAPI</a:t>
            </a:r>
            <a:r>
              <a:rPr lang="en-US" sz="1200"/>
              <a:t> docs describe </a:t>
            </a:r>
            <a:r>
              <a:rPr lang="en-US" sz="1200" b="1" err="1"/>
              <a:t>concurrent_bounded_queue</a:t>
            </a:r>
            <a:r>
              <a:rPr lang="en-US" sz="1200"/>
              <a:t> with push/pop that </a:t>
            </a:r>
            <a:r>
              <a:rPr lang="en-US" sz="1200" b="1"/>
              <a:t>can block</a:t>
            </a:r>
            <a:r>
              <a:rPr lang="en-US" sz="1200"/>
              <a:t> at capacity, and </a:t>
            </a:r>
            <a:r>
              <a:rPr lang="en-US" sz="1200" b="1" err="1"/>
              <a:t>concurrent_queue</a:t>
            </a:r>
            <a:r>
              <a:rPr lang="en-US" sz="1200"/>
              <a:t>—non‑blocking (unbounded, </a:t>
            </a:r>
            <a:r>
              <a:rPr lang="en-US" sz="1200" err="1"/>
              <a:t>try_pop</a:t>
            </a:r>
            <a:r>
              <a:rPr lang="en-US" sz="1200"/>
              <a:t>). These two styles are often used </a:t>
            </a:r>
            <a:r>
              <a:rPr lang="en-US" sz="1200" i="1"/>
              <a:t>together</a:t>
            </a:r>
            <a:r>
              <a:rPr lang="en-US" sz="1200"/>
              <a:t> in pipelines. </a:t>
            </a:r>
            <a:r>
              <a:rPr lang="en-US" sz="1200">
                <a:hlinkClick r:id="rId13"/>
              </a:rPr>
              <a:t>[deepwiki.com]</a:t>
            </a:r>
            <a:r>
              <a:rPr lang="en-US" sz="1200"/>
              <a:t>, </a:t>
            </a:r>
            <a:r>
              <a:rPr lang="en-US" sz="1200">
                <a:hlinkClick r:id="rId14"/>
              </a:rPr>
              <a:t>[</a:t>
            </a:r>
            <a:r>
              <a:rPr lang="en-US" sz="1200" err="1">
                <a:hlinkClick r:id="rId14"/>
              </a:rPr>
              <a:t>homes.cs.w</a:t>
            </a:r>
            <a:r>
              <a:rPr lang="en-US" sz="1200">
                <a:hlinkClick r:id="rId14"/>
              </a:rPr>
              <a:t>...ington.edu]</a:t>
            </a:r>
            <a:endParaRPr lang="en-US" sz="1200"/>
          </a:p>
          <a:p>
            <a:r>
              <a:rPr lang="en-US" sz="1200"/>
              <a:t>Practical context: </a:t>
            </a:r>
            <a:r>
              <a:rPr lang="en-US" sz="1200" b="1"/>
              <a:t>TBB</a:t>
            </a:r>
            <a:r>
              <a:rPr lang="en-US" sz="1200"/>
              <a:t> is widely deployed (Adobe CS, Autodesk Maya, Unreal Engine, Civilization, etc.); its runtime is </a:t>
            </a:r>
            <a:r>
              <a:rPr lang="en-US" sz="1200" b="1"/>
              <a:t>work‑stealing</a:t>
            </a:r>
            <a:r>
              <a:rPr lang="en-US" sz="1200"/>
              <a:t>. Real applications connect </a:t>
            </a:r>
            <a:r>
              <a:rPr lang="en-US" sz="1200" b="1"/>
              <a:t>blocking queues for back‑pressure</a:t>
            </a:r>
            <a:r>
              <a:rPr lang="en-US" sz="1200"/>
              <a:t> with non‑blocking task flows/containers—i.e., mixing in production. </a:t>
            </a:r>
            <a:r>
              <a:rPr lang="en-US" sz="1200">
                <a:hlinkClick r:id="rId15"/>
              </a:rPr>
              <a:t>[web.eecs.umich.edu]</a:t>
            </a:r>
            <a:r>
              <a:rPr lang="en-US" sz="1200"/>
              <a:t>, </a:t>
            </a:r>
            <a:r>
              <a:rPr lang="en-US" sz="1200">
                <a:hlinkClick r:id="rId16"/>
              </a:rPr>
              <a:t>[cs.otago.ac.nz]</a:t>
            </a:r>
            <a:endParaRPr lang="en-US" sz="1200"/>
          </a:p>
          <a:p>
            <a:endParaRPr lang="en-US" sz="1200"/>
          </a:p>
          <a:p>
            <a:r>
              <a:rPr lang="en-US" sz="1200" b="1"/>
              <a:t>5) </a:t>
            </a:r>
            <a:r>
              <a:rPr lang="en-US" sz="1200" b="1" err="1"/>
              <a:t>moodycamel</a:t>
            </a:r>
            <a:r>
              <a:rPr lang="en-US" sz="1200" b="1"/>
              <a:t>::</a:t>
            </a:r>
            <a:r>
              <a:rPr lang="en-US" sz="1200" b="1" err="1"/>
              <a:t>ConcurrentQueue</a:t>
            </a:r>
            <a:r>
              <a:rPr lang="en-US" sz="1200" b="1"/>
              <a:t>: using a </a:t>
            </a:r>
            <a:r>
              <a:rPr lang="en-US" sz="1200" b="1" i="1"/>
              <a:t>lock‑free</a:t>
            </a:r>
            <a:r>
              <a:rPr lang="en-US" sz="1200" b="1"/>
              <a:t> queue together with its blocking sibling</a:t>
            </a:r>
          </a:p>
          <a:p>
            <a:r>
              <a:rPr lang="en-US" sz="1200"/>
              <a:t>The </a:t>
            </a:r>
            <a:r>
              <a:rPr lang="en-US" sz="1200" err="1"/>
              <a:t>concurrentqueue</a:t>
            </a:r>
            <a:r>
              <a:rPr lang="en-US" sz="1200"/>
              <a:t> repo offers a </a:t>
            </a:r>
            <a:r>
              <a:rPr lang="en-US" sz="1200" b="1"/>
              <a:t>lock‑free</a:t>
            </a:r>
            <a:r>
              <a:rPr lang="en-US" sz="1200"/>
              <a:t> queue and a separate </a:t>
            </a:r>
            <a:r>
              <a:rPr lang="en-US" sz="1200" b="1" err="1"/>
              <a:t>BlockingConcurrentQueue</a:t>
            </a:r>
            <a:r>
              <a:rPr lang="en-US" sz="1200"/>
              <a:t> with low overhead. This is a common approach to mix </a:t>
            </a:r>
            <a:r>
              <a:rPr lang="en-US" sz="1200" b="1"/>
              <a:t>sleeping consumers</a:t>
            </a:r>
            <a:r>
              <a:rPr lang="en-US" sz="1200"/>
              <a:t> (blocking) and </a:t>
            </a:r>
            <a:r>
              <a:rPr lang="en-US" sz="1200" b="1"/>
              <a:t>lock‑free</a:t>
            </a:r>
            <a:r>
              <a:rPr lang="en-US" sz="1200"/>
              <a:t> producer paths within the same application (depending on needs). </a:t>
            </a:r>
            <a:r>
              <a:rPr lang="en-US" sz="1200">
                <a:hlinkClick r:id="rId17"/>
              </a:rPr>
              <a:t>[vkdoc.net]</a:t>
            </a:r>
            <a:endParaRPr lang="en-US" sz="1200"/>
          </a:p>
        </p:txBody>
      </p:sp>
    </p:spTree>
    <p:extLst>
      <p:ext uri="{BB962C8B-B14F-4D97-AF65-F5344CB8AC3E}">
        <p14:creationId xmlns:p14="http://schemas.microsoft.com/office/powerpoint/2010/main" val="1331247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9439B-2637-607D-BBC3-BD9AC9D86C23}"/>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C7623DC4-7527-577C-9174-CF5F410B5E81}"/>
              </a:ext>
            </a:extLst>
          </p:cNvPr>
          <p:cNvSpPr txBox="1"/>
          <p:nvPr/>
        </p:nvSpPr>
        <p:spPr>
          <a:xfrm>
            <a:off x="233910" y="208621"/>
            <a:ext cx="7073670" cy="461665"/>
          </a:xfrm>
          <a:prstGeom prst="rect">
            <a:avLst/>
          </a:prstGeom>
          <a:solidFill>
            <a:srgbClr val="002060"/>
          </a:solidFill>
        </p:spPr>
        <p:txBody>
          <a:bodyPr wrap="square" rtlCol="0">
            <a:spAutoFit/>
          </a:bodyPr>
          <a:lstStyle/>
          <a:p>
            <a:r>
              <a:rPr lang="en-US" sz="2400">
                <a:solidFill>
                  <a:schemeClr val="bg1"/>
                </a:solidFill>
                <a:latin typeface="Ubuntu Condensed" panose="020B0506030602030204" pitchFamily="34" charset="0"/>
              </a:rPr>
              <a:t>Verifying progress semantics</a:t>
            </a:r>
            <a:endParaRPr lang="ru-RU" sz="2400">
              <a:solidFill>
                <a:schemeClr val="bg1"/>
              </a:solidFill>
              <a:latin typeface="Ubuntu Condensed" panose="020B0506030602030204" pitchFamily="34" charset="0"/>
            </a:endParaRPr>
          </a:p>
        </p:txBody>
      </p:sp>
      <p:sp>
        <p:nvSpPr>
          <p:cNvPr id="7" name="Номер слайда 7">
            <a:extLst>
              <a:ext uri="{FF2B5EF4-FFF2-40B4-BE49-F238E27FC236}">
                <a16:creationId xmlns:a16="http://schemas.microsoft.com/office/drawing/2014/main" id="{3B330F6B-C0C3-714B-B287-D371D791E33D}"/>
              </a:ext>
            </a:extLst>
          </p:cNvPr>
          <p:cNvSpPr>
            <a:spLocks noGrp="1"/>
          </p:cNvSpPr>
          <p:nvPr>
            <p:ph type="sldNum" sz="quarter" idx="12"/>
          </p:nvPr>
        </p:nvSpPr>
        <p:spPr>
          <a:xfrm>
            <a:off x="11725835" y="6402070"/>
            <a:ext cx="386155" cy="365125"/>
          </a:xfrm>
        </p:spPr>
        <p:txBody>
          <a:bodyPr/>
          <a:lstStyle/>
          <a:p>
            <a:pPr algn="ctr"/>
            <a:fld id="{E757BAED-F255-4CF1-96BA-8D7417A9C3BC}" type="slidenum">
              <a:rPr lang="ru-RU" sz="1800" smtClean="0">
                <a:latin typeface="Ubuntu Condensed" panose="020B0506030602030204" pitchFamily="34" charset="0"/>
              </a:rPr>
              <a:pPr algn="ctr"/>
              <a:t>2</a:t>
            </a:fld>
            <a:endParaRPr lang="ru-RU" sz="1800">
              <a:latin typeface="Ubuntu Condensed" panose="020B0506030602030204" pitchFamily="34" charset="0"/>
            </a:endParaRPr>
          </a:p>
        </p:txBody>
      </p:sp>
      <p:sp>
        <p:nvSpPr>
          <p:cNvPr id="8" name="TextBox 7">
            <a:extLst>
              <a:ext uri="{FF2B5EF4-FFF2-40B4-BE49-F238E27FC236}">
                <a16:creationId xmlns:a16="http://schemas.microsoft.com/office/drawing/2014/main" id="{D330D7ED-E34B-B5C1-9DDF-43667C93646E}"/>
              </a:ext>
            </a:extLst>
          </p:cNvPr>
          <p:cNvSpPr txBox="1"/>
          <p:nvPr/>
        </p:nvSpPr>
        <p:spPr>
          <a:xfrm>
            <a:off x="233910" y="862581"/>
            <a:ext cx="11577616" cy="2616101"/>
          </a:xfrm>
          <a:prstGeom prst="rect">
            <a:avLst/>
          </a:prstGeom>
          <a:noFill/>
        </p:spPr>
        <p:txBody>
          <a:bodyPr wrap="square">
            <a:spAutoFit/>
          </a:bodyPr>
          <a:lstStyle/>
          <a:p>
            <a:r>
              <a:rPr lang="en-US" sz="1200" b="1"/>
              <a:t>“bounded lock‑based queue” + “lock‑free MPMC queue/lock‑free stack” in one pipeline</a:t>
            </a:r>
          </a:p>
          <a:p>
            <a:r>
              <a:rPr lang="en-US" sz="1200" i="1"/>
              <a:t>Setup</a:t>
            </a:r>
            <a:r>
              <a:rPr lang="en-US" sz="1200"/>
              <a:t>: In production, teams often combine heterogeneous primitives: e.g., </a:t>
            </a:r>
            <a:r>
              <a:rPr lang="en-US" sz="1200" b="1"/>
              <a:t>Intel </a:t>
            </a:r>
            <a:r>
              <a:rPr lang="en-US" sz="1200" b="1" err="1"/>
              <a:t>oneTBB</a:t>
            </a:r>
            <a:r>
              <a:rPr lang="en-US" sz="1200"/>
              <a:t> provides a </a:t>
            </a:r>
            <a:r>
              <a:rPr lang="en-US" sz="1200" b="1"/>
              <a:t>blocking</a:t>
            </a:r>
            <a:r>
              <a:rPr lang="en-US" sz="1200"/>
              <a:t> </a:t>
            </a:r>
            <a:r>
              <a:rPr lang="en-US" sz="1400" err="1"/>
              <a:t>concurrent_bounded_queue</a:t>
            </a:r>
            <a:r>
              <a:rPr lang="en-US" sz="1400"/>
              <a:t>&lt;T&gt;</a:t>
            </a:r>
            <a:r>
              <a:rPr lang="en-US" sz="1200"/>
              <a:t> (</a:t>
            </a:r>
            <a:r>
              <a:rPr lang="en-US" sz="1400"/>
              <a:t>push/pop</a:t>
            </a:r>
            <a:r>
              <a:rPr lang="en-US" sz="1200"/>
              <a:t> blocking by capacity)—a natural </a:t>
            </a:r>
            <a:r>
              <a:rPr lang="en-US" sz="1200" i="1"/>
              <a:t>back‑pressure</a:t>
            </a:r>
            <a:r>
              <a:rPr lang="en-US" sz="1200"/>
              <a:t> for producers; on the consumer side, teams use fast </a:t>
            </a:r>
            <a:r>
              <a:rPr lang="en-US" sz="1200" b="1"/>
              <a:t>lock‑free MPMC queue</a:t>
            </a:r>
            <a:r>
              <a:rPr lang="en-US" sz="1200"/>
              <a:t> from </a:t>
            </a:r>
            <a:r>
              <a:rPr lang="en-US" sz="1200" b="1"/>
              <a:t>Meta Folly</a:t>
            </a:r>
            <a:r>
              <a:rPr lang="en-US" sz="1200"/>
              <a:t> (widely used in production; formally verified to be linearizable in Coq/Iris: CPP’22), or a </a:t>
            </a:r>
            <a:r>
              <a:rPr lang="en-US" sz="1200" b="1"/>
              <a:t>Treiber stack</a:t>
            </a:r>
            <a:r>
              <a:rPr lang="en-US" sz="1200"/>
              <a:t> for cache/task layers. This is </a:t>
            </a:r>
            <a:r>
              <a:rPr lang="en-US" sz="1200" i="1"/>
              <a:t>not hypothetical</a:t>
            </a:r>
            <a:r>
              <a:rPr lang="en-US" sz="1200"/>
              <a:t>:</a:t>
            </a:r>
            <a:br>
              <a:rPr lang="en-US" sz="1200"/>
            </a:br>
            <a:r>
              <a:rPr lang="en-US" sz="1200"/>
              <a:t>• </a:t>
            </a:r>
            <a:r>
              <a:rPr lang="en-US" sz="1200" err="1"/>
              <a:t>oneTBB</a:t>
            </a:r>
            <a:r>
              <a:rPr lang="en-US" sz="1200"/>
              <a:t> is an industry standard; </a:t>
            </a:r>
            <a:r>
              <a:rPr lang="en-US" sz="1200" b="1"/>
              <a:t>used in Adobe Creative Suite, Autodesk Maya, Unreal Engine 3, Civilization 5, etc.</a:t>
            </a:r>
            <a:r>
              <a:rPr lang="en-US" sz="1200"/>
              <a:t>, and its runtime is task‑based work‑stealing (with concurrent containers and blocking/atomic primitives). </a:t>
            </a:r>
            <a:br>
              <a:rPr lang="en-US" sz="1200"/>
            </a:br>
            <a:r>
              <a:rPr lang="en-US" sz="1200"/>
              <a:t>• </a:t>
            </a:r>
            <a:r>
              <a:rPr lang="en-US" sz="1200" b="1"/>
              <a:t>Folly MPMC queue</a:t>
            </a:r>
            <a:r>
              <a:rPr lang="en-US" sz="1200"/>
              <a:t>—actually deployed at Meta and </a:t>
            </a:r>
            <a:r>
              <a:rPr lang="en-US" sz="1200" b="1"/>
              <a:t>formally verified</a:t>
            </a:r>
            <a:r>
              <a:rPr lang="en-US" sz="1200"/>
              <a:t> as linearizable (with </a:t>
            </a:r>
            <a:r>
              <a:rPr lang="en-US" sz="1200" b="1"/>
              <a:t>external linearization points</a:t>
            </a:r>
            <a:r>
              <a:rPr lang="en-US" sz="1200"/>
              <a:t>)—i.e., not only code but </a:t>
            </a:r>
            <a:r>
              <a:rPr lang="en-US" sz="1200" b="1"/>
              <a:t>confirmed semantics</a:t>
            </a:r>
            <a:r>
              <a:rPr lang="en-US" sz="1200"/>
              <a:t>. </a:t>
            </a:r>
            <a:br>
              <a:rPr lang="en-US" sz="1200"/>
            </a:br>
            <a:r>
              <a:rPr lang="en-US" sz="1200"/>
              <a:t>• A broad ecosystem of </a:t>
            </a:r>
            <a:r>
              <a:rPr lang="en-US" sz="1200" i="1"/>
              <a:t>lock‑free</a:t>
            </a:r>
            <a:r>
              <a:rPr lang="en-US" sz="1200"/>
              <a:t> structures (</a:t>
            </a:r>
            <a:r>
              <a:rPr lang="en-US" sz="1200" err="1"/>
              <a:t>Boost.Lockfree</a:t>
            </a:r>
            <a:r>
              <a:rPr lang="en-US" sz="1200"/>
              <a:t>, </a:t>
            </a:r>
            <a:r>
              <a:rPr lang="en-US" sz="1200" err="1"/>
              <a:t>libcds</a:t>
            </a:r>
            <a:r>
              <a:rPr lang="en-US" sz="1200"/>
              <a:t>, </a:t>
            </a:r>
            <a:r>
              <a:rPr lang="en-US" sz="1200" err="1"/>
              <a:t>Userspace</a:t>
            </a:r>
            <a:r>
              <a:rPr lang="en-US" sz="1200"/>
              <a:t> RCU, etc.) is documented, showing developers </a:t>
            </a:r>
            <a:r>
              <a:rPr lang="en-US" sz="1200" b="1"/>
              <a:t>do mix</a:t>
            </a:r>
            <a:r>
              <a:rPr lang="en-US" sz="1200"/>
              <a:t> different models (blocking, lock‑free, RCU) to hit required latency/back‑pressure/fairness balances. </a:t>
            </a:r>
            <a:r>
              <a:rPr lang="en-US" sz="1200">
                <a:hlinkClick r:id="rId2"/>
              </a:rPr>
              <a:t>[scispace.com]</a:t>
            </a:r>
            <a:r>
              <a:rPr lang="en-US" sz="1200"/>
              <a:t>, </a:t>
            </a:r>
            <a:r>
              <a:rPr lang="en-US" sz="1200">
                <a:hlinkClick r:id="rId3"/>
              </a:rPr>
              <a:t>[academia.edu]</a:t>
            </a:r>
            <a:r>
              <a:rPr lang="en-US" sz="1200"/>
              <a:t> </a:t>
            </a:r>
            <a:r>
              <a:rPr lang="en-US" sz="1200">
                <a:hlinkClick r:id="rId4"/>
              </a:rPr>
              <a:t>[pldi25.sigplan.org]</a:t>
            </a:r>
            <a:r>
              <a:rPr lang="en-US" sz="1200"/>
              <a:t> </a:t>
            </a:r>
            <a:r>
              <a:rPr lang="en-US" sz="1200">
                <a:hlinkClick r:id="rId5"/>
              </a:rPr>
              <a:t>[sigplan.org]</a:t>
            </a:r>
            <a:r>
              <a:rPr lang="en-US" sz="1200"/>
              <a:t>, </a:t>
            </a:r>
            <a:r>
              <a:rPr lang="en-US" sz="1200">
                <a:hlinkClick r:id="rId6"/>
              </a:rPr>
              <a:t>[users.cs.utah.edu]</a:t>
            </a:r>
            <a:endParaRPr lang="en-US" sz="1200"/>
          </a:p>
          <a:p>
            <a:r>
              <a:rPr lang="en-US" sz="1200" i="1"/>
              <a:t>What Concur‑IR unlocks</a:t>
            </a:r>
            <a:r>
              <a:rPr lang="en-US" sz="1200"/>
              <a:t>:</a:t>
            </a:r>
          </a:p>
          <a:p>
            <a:r>
              <a:rPr lang="en-US" sz="1200" b="1"/>
              <a:t>Static contract checks</a:t>
            </a:r>
            <a:r>
              <a:rPr lang="en-US" sz="1200"/>
              <a:t> at the interface between components: if a downstream section requires “lock‑free”/“wait‑free,” but upstream uses “blocking,” we warn about potential SLA violations or perf degradation (your </a:t>
            </a:r>
            <a:r>
              <a:rPr lang="en-US" sz="1400"/>
              <a:t>progress</a:t>
            </a:r>
            <a:r>
              <a:rPr lang="en-US" sz="1200"/>
              <a:t>/</a:t>
            </a:r>
            <a:r>
              <a:rPr lang="en-US" sz="1400"/>
              <a:t>semantics</a:t>
            </a:r>
            <a:r>
              <a:rPr lang="en-US" sz="1200"/>
              <a:t> attributes in IR create a checkable contract). This is a </a:t>
            </a:r>
            <a:r>
              <a:rPr lang="en-US" sz="1200" b="1"/>
              <a:t>new diagnostic</a:t>
            </a:r>
            <a:r>
              <a:rPr lang="en-US" sz="1200"/>
              <a:t> impossible in plain MLIR/LLVM where progress semantics aren’t represented. </a:t>
            </a:r>
            <a:r>
              <a:rPr lang="en-US" sz="1200">
                <a:hlinkClick r:id="rId7"/>
              </a:rPr>
              <a:t>[github.com]</a:t>
            </a:r>
            <a:endParaRPr lang="en-US" sz="1200"/>
          </a:p>
        </p:txBody>
      </p:sp>
      <p:sp>
        <p:nvSpPr>
          <p:cNvPr id="2" name="TextBox 1">
            <a:extLst>
              <a:ext uri="{FF2B5EF4-FFF2-40B4-BE49-F238E27FC236}">
                <a16:creationId xmlns:a16="http://schemas.microsoft.com/office/drawing/2014/main" id="{F3C53018-A88A-2AA6-5F60-5F7D0AD2F070}"/>
              </a:ext>
            </a:extLst>
          </p:cNvPr>
          <p:cNvSpPr txBox="1"/>
          <p:nvPr/>
        </p:nvSpPr>
        <p:spPr>
          <a:xfrm>
            <a:off x="233910" y="3429000"/>
            <a:ext cx="11243388" cy="1200329"/>
          </a:xfrm>
          <a:prstGeom prst="rect">
            <a:avLst/>
          </a:prstGeom>
          <a:solidFill>
            <a:schemeClr val="accent6">
              <a:lumMod val="20000"/>
              <a:lumOff val="80000"/>
            </a:schemeClr>
          </a:solidFill>
        </p:spPr>
        <p:txBody>
          <a:bodyPr wrap="square">
            <a:spAutoFit/>
          </a:bodyPr>
          <a:lstStyle/>
          <a:p>
            <a:r>
              <a:rPr lang="en-SG" sz="1200">
                <a:latin typeface="JetBrains Mono" panose="02000009000000000000" pitchFamily="49" charset="0"/>
                <a:ea typeface="JetBrains Mono" panose="02000009000000000000" pitchFamily="49" charset="0"/>
                <a:cs typeface="JetBrains Mono" panose="02000009000000000000" pitchFamily="49" charset="0"/>
              </a:rPr>
              <a:t>// producer: </a:t>
            </a:r>
            <a:r>
              <a:rPr lang="en-SG" sz="1200" err="1">
                <a:latin typeface="JetBrains Mono" panose="02000009000000000000" pitchFamily="49" charset="0"/>
                <a:ea typeface="JetBrains Mono" panose="02000009000000000000" pitchFamily="49" charset="0"/>
                <a:cs typeface="JetBrains Mono" panose="02000009000000000000" pitchFamily="49" charset="0"/>
              </a:rPr>
              <a:t>oneTBB</a:t>
            </a:r>
            <a:r>
              <a:rPr lang="en-SG" sz="1200">
                <a:latin typeface="JetBrains Mono" panose="02000009000000000000" pitchFamily="49" charset="0"/>
                <a:ea typeface="JetBrains Mono" panose="02000009000000000000" pitchFamily="49" charset="0"/>
                <a:cs typeface="JetBrains Mono" panose="02000009000000000000" pitchFamily="49" charset="0"/>
              </a:rPr>
              <a:t> bounded queue (blocking push)</a:t>
            </a:r>
          </a:p>
          <a:p>
            <a:r>
              <a:rPr lang="en-SG" sz="1200" err="1">
                <a:latin typeface="JetBrains Mono" panose="02000009000000000000" pitchFamily="49" charset="0"/>
                <a:ea typeface="JetBrains Mono" panose="02000009000000000000" pitchFamily="49" charset="0"/>
                <a:cs typeface="JetBrains Mono" panose="02000009000000000000" pitchFamily="49" charset="0"/>
              </a:rPr>
              <a:t>tbb</a:t>
            </a:r>
            <a:r>
              <a:rPr lang="en-SG" sz="1200">
                <a:latin typeface="JetBrains Mono" panose="02000009000000000000" pitchFamily="49" charset="0"/>
                <a:ea typeface="JetBrains Mono" panose="02000009000000000000" pitchFamily="49" charset="0"/>
                <a:cs typeface="JetBrains Mono" panose="02000009000000000000" pitchFamily="49" charset="0"/>
              </a:rPr>
              <a:t>::</a:t>
            </a:r>
            <a:r>
              <a:rPr lang="en-SG" sz="1200" err="1">
                <a:latin typeface="JetBrains Mono" panose="02000009000000000000" pitchFamily="49" charset="0"/>
                <a:ea typeface="JetBrains Mono" panose="02000009000000000000" pitchFamily="49" charset="0"/>
                <a:cs typeface="JetBrains Mono" panose="02000009000000000000" pitchFamily="49" charset="0"/>
              </a:rPr>
              <a:t>concurrent_bounded_queue</a:t>
            </a:r>
            <a:r>
              <a:rPr lang="en-SG" sz="1200">
                <a:latin typeface="JetBrains Mono" panose="02000009000000000000" pitchFamily="49" charset="0"/>
                <a:ea typeface="JetBrains Mono" panose="02000009000000000000" pitchFamily="49" charset="0"/>
                <a:cs typeface="JetBrains Mono" panose="02000009000000000000" pitchFamily="49" charset="0"/>
              </a:rPr>
              <a:t>&lt;int&gt; q;</a:t>
            </a:r>
          </a:p>
          <a:p>
            <a:r>
              <a:rPr lang="en-SG" sz="1200" err="1">
                <a:latin typeface="JetBrains Mono" panose="02000009000000000000" pitchFamily="49" charset="0"/>
                <a:ea typeface="JetBrains Mono" panose="02000009000000000000" pitchFamily="49" charset="0"/>
                <a:cs typeface="JetBrains Mono" panose="02000009000000000000" pitchFamily="49" charset="0"/>
              </a:rPr>
              <a:t>q.set_capacity</a:t>
            </a:r>
            <a:r>
              <a:rPr lang="en-SG" sz="1200">
                <a:latin typeface="JetBrains Mono" panose="02000009000000000000" pitchFamily="49" charset="0"/>
                <a:ea typeface="JetBrains Mono" panose="02000009000000000000" pitchFamily="49" charset="0"/>
                <a:cs typeface="JetBrains Mono" panose="02000009000000000000" pitchFamily="49" charset="0"/>
              </a:rPr>
              <a:t>(1024);                    // back-pressure boundary  </a:t>
            </a:r>
            <a:r>
              <a:rPr lang="en-SG" sz="1200" err="1">
                <a:latin typeface="JetBrains Mono" panose="02000009000000000000" pitchFamily="49" charset="0"/>
                <a:ea typeface="JetBrains Mono" panose="02000009000000000000" pitchFamily="49" charset="0"/>
                <a:cs typeface="JetBrains Mono" panose="02000009000000000000" pitchFamily="49" charset="0"/>
              </a:rPr>
              <a:t>q.push</a:t>
            </a:r>
            <a:r>
              <a:rPr lang="en-SG" sz="1200">
                <a:latin typeface="JetBrains Mono" panose="02000009000000000000" pitchFamily="49" charset="0"/>
                <a:ea typeface="JetBrains Mono" panose="02000009000000000000" pitchFamily="49" charset="0"/>
                <a:cs typeface="JetBrains Mono" panose="02000009000000000000" pitchFamily="49" charset="0"/>
              </a:rPr>
              <a:t>(item); // may block until capacity allows</a:t>
            </a:r>
          </a:p>
          <a:p>
            <a:r>
              <a:rPr lang="en-SG" sz="1200">
                <a:latin typeface="JetBrains Mono" panose="02000009000000000000" pitchFamily="49" charset="0"/>
                <a:ea typeface="JetBrains Mono" panose="02000009000000000000" pitchFamily="49" charset="0"/>
                <a:cs typeface="JetBrains Mono" panose="02000009000000000000" pitchFamily="49" charset="0"/>
              </a:rPr>
              <a:t>/* consumer: Folly MPMC queue (lock-free) */</a:t>
            </a:r>
          </a:p>
          <a:p>
            <a:r>
              <a:rPr lang="en-SG" sz="1200">
                <a:latin typeface="JetBrains Mono" panose="02000009000000000000" pitchFamily="49" charset="0"/>
                <a:ea typeface="JetBrains Mono" panose="02000009000000000000" pitchFamily="49" charset="0"/>
                <a:cs typeface="JetBrains Mono" panose="02000009000000000000" pitchFamily="49" charset="0"/>
              </a:rPr>
              <a:t>folly::</a:t>
            </a:r>
            <a:r>
              <a:rPr lang="en-SG" sz="1200" err="1">
                <a:latin typeface="JetBrains Mono" panose="02000009000000000000" pitchFamily="49" charset="0"/>
                <a:ea typeface="JetBrains Mono" panose="02000009000000000000" pitchFamily="49" charset="0"/>
                <a:cs typeface="JetBrains Mono" panose="02000009000000000000" pitchFamily="49" charset="0"/>
              </a:rPr>
              <a:t>MPMCQueue</a:t>
            </a:r>
            <a:r>
              <a:rPr lang="en-SG" sz="1200">
                <a:latin typeface="JetBrains Mono" panose="02000009000000000000" pitchFamily="49" charset="0"/>
                <a:ea typeface="JetBrains Mono" panose="02000009000000000000" pitchFamily="49" charset="0"/>
                <a:cs typeface="JetBrains Mono" panose="02000009000000000000" pitchFamily="49" charset="0"/>
              </a:rPr>
              <a:t>&lt;int&gt; </a:t>
            </a:r>
            <a:r>
              <a:rPr lang="en-SG" sz="1200" err="1">
                <a:latin typeface="JetBrains Mono" panose="02000009000000000000" pitchFamily="49" charset="0"/>
                <a:ea typeface="JetBrains Mono" panose="02000009000000000000" pitchFamily="49" charset="0"/>
                <a:cs typeface="JetBrains Mono" panose="02000009000000000000" pitchFamily="49" charset="0"/>
              </a:rPr>
              <a:t>mpmc</a:t>
            </a:r>
            <a:r>
              <a:rPr lang="en-SG" sz="1200">
                <a:latin typeface="JetBrains Mono" panose="02000009000000000000" pitchFamily="49" charset="0"/>
                <a:ea typeface="JetBrains Mono" panose="02000009000000000000" pitchFamily="49" charset="0"/>
                <a:cs typeface="JetBrains Mono" panose="02000009000000000000" pitchFamily="49" charset="0"/>
              </a:rPr>
              <a:t>(1024);        // lock-free MPMC queue in Folly (used at Meta) int v;</a:t>
            </a:r>
          </a:p>
          <a:p>
            <a:r>
              <a:rPr lang="en-SG" sz="1200">
                <a:latin typeface="JetBrains Mono" panose="02000009000000000000" pitchFamily="49" charset="0"/>
                <a:ea typeface="JetBrains Mono" panose="02000009000000000000" pitchFamily="49" charset="0"/>
                <a:cs typeface="JetBrains Mono" panose="02000009000000000000" pitchFamily="49" charset="0"/>
              </a:rPr>
              <a:t>if (</a:t>
            </a:r>
            <a:r>
              <a:rPr lang="en-SG" sz="1200" err="1">
                <a:latin typeface="JetBrains Mono" panose="02000009000000000000" pitchFamily="49" charset="0"/>
                <a:ea typeface="JetBrains Mono" panose="02000009000000000000" pitchFamily="49" charset="0"/>
                <a:cs typeface="JetBrains Mono" panose="02000009000000000000" pitchFamily="49" charset="0"/>
              </a:rPr>
              <a:t>mpmc.read</a:t>
            </a:r>
            <a:r>
              <a:rPr lang="en-SG" sz="1200">
                <a:latin typeface="JetBrains Mono" panose="02000009000000000000" pitchFamily="49" charset="0"/>
                <a:ea typeface="JetBrains Mono" panose="02000009000000000000" pitchFamily="49" charset="0"/>
                <a:cs typeface="JetBrains Mono" panose="02000009000000000000" pitchFamily="49" charset="0"/>
              </a:rPr>
              <a:t>(v)) { /* ... */ }          // non-blocking semantics, linearizable queue</a:t>
            </a:r>
          </a:p>
        </p:txBody>
      </p:sp>
      <p:sp>
        <p:nvSpPr>
          <p:cNvPr id="9" name="TextBox 8">
            <a:extLst>
              <a:ext uri="{FF2B5EF4-FFF2-40B4-BE49-F238E27FC236}">
                <a16:creationId xmlns:a16="http://schemas.microsoft.com/office/drawing/2014/main" id="{F57BDC13-C758-4D30-6C5F-8284715FC21C}"/>
              </a:ext>
            </a:extLst>
          </p:cNvPr>
          <p:cNvSpPr txBox="1"/>
          <p:nvPr/>
        </p:nvSpPr>
        <p:spPr>
          <a:xfrm>
            <a:off x="233909" y="4765141"/>
            <a:ext cx="11243388" cy="1938992"/>
          </a:xfrm>
          <a:prstGeom prst="rect">
            <a:avLst/>
          </a:prstGeom>
          <a:solidFill>
            <a:srgbClr val="FFCCCC"/>
          </a:solidFill>
        </p:spPr>
        <p:txBody>
          <a:bodyPr wrap="square">
            <a:spAutoFit/>
          </a:bodyPr>
          <a:lstStyle/>
          <a:p>
            <a:r>
              <a:rPr lang="en-SG" sz="1200">
                <a:latin typeface="JetBrains Mono" panose="02000009000000000000" pitchFamily="49" charset="0"/>
                <a:ea typeface="JetBrains Mono" panose="02000009000000000000" pitchFamily="49" charset="0"/>
                <a:cs typeface="JetBrains Mono" panose="02000009000000000000" pitchFamily="49" charset="0"/>
              </a:rPr>
              <a:t>// bounded, blocking queue</a:t>
            </a:r>
          </a:p>
          <a:p>
            <a:r>
              <a:rPr lang="en-SG" sz="1200">
                <a:latin typeface="JetBrains Mono" panose="02000009000000000000" pitchFamily="49" charset="0"/>
                <a:ea typeface="JetBrains Mono" panose="02000009000000000000" pitchFamily="49" charset="0"/>
                <a:cs typeface="JetBrains Mono" panose="02000009000000000000" pitchFamily="49" charset="0"/>
              </a:rPr>
              <a:t>%Q = </a:t>
            </a:r>
            <a:r>
              <a:rPr lang="en-SG" sz="1200" err="1">
                <a:latin typeface="JetBrains Mono" panose="02000009000000000000" pitchFamily="49" charset="0"/>
                <a:ea typeface="JetBrains Mono" panose="02000009000000000000" pitchFamily="49" charset="0"/>
                <a:cs typeface="JetBrains Mono" panose="02000009000000000000" pitchFamily="49" charset="0"/>
              </a:rPr>
              <a:t>concur.ds.create</a:t>
            </a:r>
            <a:r>
              <a:rPr lang="en-SG" sz="1200">
                <a:latin typeface="JetBrains Mono" panose="02000009000000000000" pitchFamily="49" charset="0"/>
                <a:ea typeface="JetBrains Mono" panose="02000009000000000000" pitchFamily="49" charset="0"/>
                <a:cs typeface="JetBrains Mono" panose="02000009000000000000" pitchFamily="49" charset="0"/>
              </a:rPr>
              <a:t> @queue&lt;i32&gt; { progress = "blocking", semantics = "linearizable", capacity = 1024 }</a:t>
            </a:r>
          </a:p>
          <a:p>
            <a:r>
              <a:rPr lang="en-SG" sz="1200">
                <a:latin typeface="JetBrains Mono" panose="02000009000000000000" pitchFamily="49" charset="0"/>
                <a:ea typeface="JetBrains Mono" panose="02000009000000000000" pitchFamily="49" charset="0"/>
                <a:cs typeface="JetBrains Mono" panose="02000009000000000000" pitchFamily="49" charset="0"/>
              </a:rPr>
              <a:t>// producer push (may block)</a:t>
            </a:r>
          </a:p>
          <a:p>
            <a:r>
              <a:rPr lang="en-SG" sz="1200" err="1">
                <a:latin typeface="JetBrains Mono" panose="02000009000000000000" pitchFamily="49" charset="0"/>
                <a:ea typeface="JetBrains Mono" panose="02000009000000000000" pitchFamily="49" charset="0"/>
                <a:cs typeface="JetBrains Mono" panose="02000009000000000000" pitchFamily="49" charset="0"/>
              </a:rPr>
              <a:t>concur.ds.enqueue</a:t>
            </a:r>
            <a:r>
              <a:rPr lang="en-SG" sz="1200">
                <a:latin typeface="JetBrains Mono" panose="02000009000000000000" pitchFamily="49" charset="0"/>
                <a:ea typeface="JetBrains Mono" panose="02000009000000000000" pitchFamily="49" charset="0"/>
                <a:cs typeface="JetBrains Mono" panose="02000009000000000000" pitchFamily="49" charset="0"/>
              </a:rPr>
              <a:t> %Q, %x</a:t>
            </a:r>
          </a:p>
          <a:p>
            <a:endParaRPr lang="en-SG" sz="1200">
              <a:latin typeface="JetBrains Mono" panose="02000009000000000000" pitchFamily="49" charset="0"/>
              <a:ea typeface="JetBrains Mono" panose="02000009000000000000" pitchFamily="49" charset="0"/>
              <a:cs typeface="JetBrains Mono" panose="02000009000000000000" pitchFamily="49" charset="0"/>
            </a:endParaRPr>
          </a:p>
          <a:p>
            <a:r>
              <a:rPr lang="en-SG" sz="1200">
                <a:latin typeface="JetBrains Mono" panose="02000009000000000000" pitchFamily="49" charset="0"/>
                <a:ea typeface="JetBrains Mono" panose="02000009000000000000" pitchFamily="49" charset="0"/>
                <a:cs typeface="JetBrains Mono" panose="02000009000000000000" pitchFamily="49" charset="0"/>
              </a:rPr>
              <a:t>// lock-free MPMC consumer side</a:t>
            </a:r>
          </a:p>
          <a:p>
            <a:r>
              <a:rPr lang="en-SG" sz="1200">
                <a:latin typeface="JetBrains Mono" panose="02000009000000000000" pitchFamily="49" charset="0"/>
                <a:ea typeface="JetBrains Mono" panose="02000009000000000000" pitchFamily="49" charset="0"/>
                <a:cs typeface="JetBrains Mono" panose="02000009000000000000" pitchFamily="49" charset="0"/>
              </a:rPr>
              <a:t>%M = </a:t>
            </a:r>
            <a:r>
              <a:rPr lang="en-SG" sz="1200" err="1">
                <a:latin typeface="JetBrains Mono" panose="02000009000000000000" pitchFamily="49" charset="0"/>
                <a:ea typeface="JetBrains Mono" panose="02000009000000000000" pitchFamily="49" charset="0"/>
                <a:cs typeface="JetBrains Mono" panose="02000009000000000000" pitchFamily="49" charset="0"/>
              </a:rPr>
              <a:t>concur.ds.create</a:t>
            </a:r>
            <a:r>
              <a:rPr lang="en-SG" sz="1200">
                <a:latin typeface="JetBrains Mono" panose="02000009000000000000" pitchFamily="49" charset="0"/>
                <a:ea typeface="JetBrains Mono" panose="02000009000000000000" pitchFamily="49" charset="0"/>
                <a:cs typeface="JetBrains Mono" panose="02000009000000000000" pitchFamily="49" charset="0"/>
              </a:rPr>
              <a:t> @mpmc_queue&lt;i32&gt; { progress = "lock-free", semantics = "linearizable" }</a:t>
            </a:r>
          </a:p>
          <a:p>
            <a:r>
              <a:rPr lang="en-SG" sz="1200">
                <a:latin typeface="JetBrains Mono" panose="02000009000000000000" pitchFamily="49" charset="0"/>
                <a:ea typeface="JetBrains Mono" panose="02000009000000000000" pitchFamily="49" charset="0"/>
                <a:cs typeface="JetBrains Mono" panose="02000009000000000000" pitchFamily="49" charset="0"/>
              </a:rPr>
              <a:t>%ok, %y = </a:t>
            </a:r>
            <a:r>
              <a:rPr lang="en-SG" sz="1200" err="1">
                <a:latin typeface="JetBrains Mono" panose="02000009000000000000" pitchFamily="49" charset="0"/>
                <a:ea typeface="JetBrains Mono" panose="02000009000000000000" pitchFamily="49" charset="0"/>
                <a:cs typeface="JetBrains Mono" panose="02000009000000000000" pitchFamily="49" charset="0"/>
              </a:rPr>
              <a:t>concur.ds.dequeue</a:t>
            </a:r>
            <a:r>
              <a:rPr lang="en-SG" sz="1200">
                <a:latin typeface="JetBrains Mono" panose="02000009000000000000" pitchFamily="49" charset="0"/>
                <a:ea typeface="JetBrains Mono" panose="02000009000000000000" pitchFamily="49" charset="0"/>
                <a:cs typeface="JetBrains Mono" panose="02000009000000000000" pitchFamily="49" charset="0"/>
              </a:rPr>
              <a:t> %M</a:t>
            </a:r>
          </a:p>
          <a:p>
            <a:endParaRPr lang="en-SG" sz="1200">
              <a:latin typeface="JetBrains Mono" panose="02000009000000000000" pitchFamily="49" charset="0"/>
              <a:ea typeface="JetBrains Mono" panose="02000009000000000000" pitchFamily="49" charset="0"/>
              <a:cs typeface="JetBrains Mono" panose="02000009000000000000" pitchFamily="49" charset="0"/>
            </a:endParaRPr>
          </a:p>
          <a:p>
            <a:r>
              <a:rPr lang="en-SG" sz="1200">
                <a:latin typeface="JetBrains Mono" panose="02000009000000000000" pitchFamily="49" charset="0"/>
                <a:ea typeface="JetBrains Mono" panose="02000009000000000000" pitchFamily="49" charset="0"/>
                <a:cs typeface="JetBrains Mono" panose="02000009000000000000" pitchFamily="49" charset="0"/>
              </a:rPr>
              <a:t>// DIAGNOSTICS: contract mismatch</a:t>
            </a:r>
          </a:p>
        </p:txBody>
      </p:sp>
    </p:spTree>
    <p:extLst>
      <p:ext uri="{BB962C8B-B14F-4D97-AF65-F5344CB8AC3E}">
        <p14:creationId xmlns:p14="http://schemas.microsoft.com/office/powerpoint/2010/main" val="796389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E9A4139-7AC5-E18E-32DE-8C35770DE71D}"/>
              </a:ext>
            </a:extLst>
          </p:cNvPr>
          <p:cNvSpPr txBox="1"/>
          <p:nvPr/>
        </p:nvSpPr>
        <p:spPr>
          <a:xfrm>
            <a:off x="1557131" y="1899887"/>
            <a:ext cx="8726556" cy="1015663"/>
          </a:xfrm>
          <a:prstGeom prst="rect">
            <a:avLst/>
          </a:prstGeom>
          <a:noFill/>
        </p:spPr>
        <p:txBody>
          <a:bodyPr wrap="square">
            <a:spAutoFit/>
          </a:bodyPr>
          <a:lstStyle/>
          <a:p>
            <a:r>
              <a:rPr lang="en-US" sz="6000">
                <a:solidFill>
                  <a:schemeClr val="bg1"/>
                </a:solidFill>
                <a:latin typeface="Ubuntu Condensed" panose="020B0506030602030204" pitchFamily="34" charset="0"/>
              </a:rPr>
              <a:t>Transactional data structures</a:t>
            </a:r>
            <a:endParaRPr lang="ru-RU" sz="6000">
              <a:solidFill>
                <a:schemeClr val="bg1"/>
              </a:solidFill>
              <a:latin typeface="Ubuntu Condensed" panose="020B0506030602030204" pitchFamily="34" charset="0"/>
            </a:endParaRPr>
          </a:p>
        </p:txBody>
      </p:sp>
    </p:spTree>
    <p:extLst>
      <p:ext uri="{BB962C8B-B14F-4D97-AF65-F5344CB8AC3E}">
        <p14:creationId xmlns:p14="http://schemas.microsoft.com/office/powerpoint/2010/main" val="40709075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A4E88-B456-1AED-ABF5-CC4A01067D57}"/>
            </a:ext>
          </a:extLst>
        </p:cNvPr>
        <p:cNvGrpSpPr/>
        <p:nvPr/>
      </p:nvGrpSpPr>
      <p:grpSpPr>
        <a:xfrm>
          <a:off x="0" y="0"/>
          <a:ext cx="0" cy="0"/>
          <a:chOff x="0" y="0"/>
          <a:chExt cx="0" cy="0"/>
        </a:xfrm>
      </p:grpSpPr>
      <p:sp>
        <p:nvSpPr>
          <p:cNvPr id="7" name="Номер слайда 7">
            <a:extLst>
              <a:ext uri="{FF2B5EF4-FFF2-40B4-BE49-F238E27FC236}">
                <a16:creationId xmlns:a16="http://schemas.microsoft.com/office/drawing/2014/main" id="{04090F20-6DC1-EC81-C596-EC56338BC368}"/>
              </a:ext>
            </a:extLst>
          </p:cNvPr>
          <p:cNvSpPr>
            <a:spLocks noGrp="1"/>
          </p:cNvSpPr>
          <p:nvPr>
            <p:ph type="sldNum" sz="quarter" idx="12"/>
          </p:nvPr>
        </p:nvSpPr>
        <p:spPr>
          <a:xfrm>
            <a:off x="11725835" y="6402070"/>
            <a:ext cx="386155" cy="365125"/>
          </a:xfrm>
        </p:spPr>
        <p:txBody>
          <a:bodyPr/>
          <a:lstStyle/>
          <a:p>
            <a:pPr algn="ctr"/>
            <a:fld id="{E757BAED-F255-4CF1-96BA-8D7417A9C3BC}" type="slidenum">
              <a:rPr lang="ru-RU" sz="1800" smtClean="0">
                <a:latin typeface="Ubuntu Condensed" panose="020B0506030602030204" pitchFamily="34" charset="0"/>
              </a:rPr>
              <a:pPr algn="ctr"/>
              <a:t>4</a:t>
            </a:fld>
            <a:endParaRPr lang="ru-RU" sz="1800">
              <a:latin typeface="Ubuntu Condensed" panose="020B0506030602030204" pitchFamily="34" charset="0"/>
            </a:endParaRPr>
          </a:p>
        </p:txBody>
      </p:sp>
      <p:sp>
        <p:nvSpPr>
          <p:cNvPr id="4" name="TextBox 3">
            <a:extLst>
              <a:ext uri="{FF2B5EF4-FFF2-40B4-BE49-F238E27FC236}">
                <a16:creationId xmlns:a16="http://schemas.microsoft.com/office/drawing/2014/main" id="{E3B807C0-1A8C-7AD4-83BE-18262C76E462}"/>
              </a:ext>
            </a:extLst>
          </p:cNvPr>
          <p:cNvSpPr txBox="1"/>
          <p:nvPr/>
        </p:nvSpPr>
        <p:spPr>
          <a:xfrm>
            <a:off x="233910" y="631912"/>
            <a:ext cx="11704090" cy="6227346"/>
          </a:xfrm>
          <a:prstGeom prst="rect">
            <a:avLst/>
          </a:prstGeom>
          <a:noFill/>
        </p:spPr>
        <p:txBody>
          <a:bodyPr wrap="square">
            <a:spAutoFit/>
          </a:bodyPr>
          <a:lstStyle/>
          <a:p>
            <a:pPr>
              <a:spcBef>
                <a:spcPts val="800"/>
              </a:spcBef>
              <a:spcAft>
                <a:spcPts val="400"/>
              </a:spcAft>
              <a:buNone/>
            </a:pPr>
            <a:r>
              <a:rPr lang="en-US" sz="2000" b="1" u="sng" kern="10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Motivation</a:t>
            </a:r>
            <a:endParaRPr lang="en-SG" sz="2000" b="1" kern="10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pPr algn="just">
              <a:spcAft>
                <a:spcPts val="600"/>
              </a:spcAft>
              <a:buNone/>
            </a:pPr>
            <a:r>
              <a:rPr lang="en-US" sz="1350" kern="100">
                <a:effectLst/>
                <a:latin typeface="Aptos" panose="020B0004020202020204" pitchFamily="34" charset="0"/>
                <a:ea typeface="Aptos" panose="020B0004020202020204" pitchFamily="34" charset="0"/>
                <a:cs typeface="Times New Roman" panose="02020603050405020304" pitchFamily="18" charset="0"/>
              </a:rPr>
              <a:t>Many multi-threaded systems, including those for finance, travel [30], warehouse management [6], and databases in general [39], need to compose operations into transactions that occur in an </a:t>
            </a:r>
            <a:r>
              <a:rPr lang="en-US" sz="1350" kern="100" err="1">
                <a:effectLst/>
                <a:latin typeface="Aptos" panose="020B0004020202020204" pitchFamily="34" charset="0"/>
                <a:ea typeface="Aptos" panose="020B0004020202020204" pitchFamily="34" charset="0"/>
                <a:cs typeface="Times New Roman" panose="02020603050405020304" pitchFamily="18" charset="0"/>
              </a:rPr>
              <a:t>allor</a:t>
            </a:r>
            <a:r>
              <a:rPr lang="en-US" sz="1350" kern="100">
                <a:effectLst/>
                <a:latin typeface="Aptos" panose="020B0004020202020204" pitchFamily="34" charset="0"/>
                <a:ea typeface="Aptos" panose="020B0004020202020204" pitchFamily="34" charset="0"/>
                <a:cs typeface="Times New Roman" panose="02020603050405020304" pitchFamily="18" charset="0"/>
              </a:rPr>
              <a:t>-nothing fashion (i.e., atomically) [1]</a:t>
            </a:r>
            <a:endParaRPr lang="en-SG" sz="1350" kern="100">
              <a:effectLst/>
              <a:latin typeface="Aptos" panose="020B0004020202020204" pitchFamily="34" charset="0"/>
              <a:ea typeface="Aptos" panose="020B0004020202020204" pitchFamily="34" charset="0"/>
              <a:cs typeface="Times New Roman" panose="02020603050405020304" pitchFamily="18" charset="0"/>
            </a:endParaRPr>
          </a:p>
          <a:p>
            <a:pPr>
              <a:spcBef>
                <a:spcPts val="600"/>
              </a:spcBef>
              <a:spcAft>
                <a:spcPts val="400"/>
              </a:spcAft>
              <a:buNone/>
            </a:pPr>
            <a:r>
              <a:rPr lang="en-US" sz="2000" b="1" u="sng" kern="10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Theory</a:t>
            </a:r>
            <a:endParaRPr lang="en-SG" sz="2000" b="1" kern="10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pPr algn="just">
              <a:spcAft>
                <a:spcPts val="800"/>
              </a:spcAft>
              <a:buNone/>
            </a:pPr>
            <a:r>
              <a:rPr lang="en-SG" sz="1350" kern="100">
                <a:effectLst/>
                <a:latin typeface="Aptos" panose="020B0004020202020204" pitchFamily="34" charset="0"/>
                <a:ea typeface="Aptos" panose="020B0004020202020204" pitchFamily="34" charset="0"/>
                <a:cs typeface="Times New Roman" panose="02020603050405020304" pitchFamily="18" charset="0"/>
              </a:rPr>
              <a:t>Herlihy and Koskinen [18] proposed transactional boosting, a (blocking) methodology that allows an STM system to incorporate operations on existing concurrent data structures.</a:t>
            </a:r>
          </a:p>
          <a:p>
            <a:pPr algn="just">
              <a:spcAft>
                <a:spcPts val="800"/>
              </a:spcAft>
              <a:buNone/>
            </a:pPr>
            <a:r>
              <a:rPr lang="en-SG" sz="1350" kern="100">
                <a:effectLst/>
                <a:latin typeface="Aptos" panose="020B0004020202020204" pitchFamily="34" charset="0"/>
                <a:ea typeface="Aptos" panose="020B0004020202020204" pitchFamily="34" charset="0"/>
                <a:cs typeface="Times New Roman" panose="02020603050405020304" pitchFamily="18" charset="0"/>
              </a:rPr>
              <a:t>In work concurrent to TDSL, Zhang et al. [43] proposed the Lock-Free Transactional Transform (LFTT), a nonblocking methodology to compose nonblocking data structures, based on the observation that only certain nodes—those critical to transaction semantics—really matter in conflict management. ... Subsequently, </a:t>
            </a:r>
            <a:r>
              <a:rPr lang="en-SG" sz="1350" kern="100" err="1">
                <a:effectLst/>
                <a:latin typeface="Aptos" panose="020B0004020202020204" pitchFamily="34" charset="0"/>
                <a:ea typeface="Aptos" panose="020B0004020202020204" pitchFamily="34" charset="0"/>
                <a:cs typeface="Times New Roman" panose="02020603050405020304" pitchFamily="18" charset="0"/>
              </a:rPr>
              <a:t>LaBorde</a:t>
            </a:r>
            <a:r>
              <a:rPr lang="en-SG" sz="1350" kern="100">
                <a:effectLst/>
                <a:latin typeface="Aptos" panose="020B0004020202020204" pitchFamily="34" charset="0"/>
                <a:ea typeface="Aptos" panose="020B0004020202020204" pitchFamily="34" charset="0"/>
                <a:cs typeface="Times New Roman" panose="02020603050405020304" pitchFamily="18" charset="0"/>
              </a:rPr>
              <a:t> et al. [23] proposed a Dynamic Transactional Transform (DTT) that generalizes LFTT to dynamic transactions (specified as lambda expressions). Concurrently, </a:t>
            </a:r>
            <a:r>
              <a:rPr lang="en-SG" sz="1350" kern="100" err="1">
                <a:effectLst/>
                <a:latin typeface="Aptos" panose="020B0004020202020204" pitchFamily="34" charset="0"/>
                <a:ea typeface="Aptos" panose="020B0004020202020204" pitchFamily="34" charset="0"/>
                <a:cs typeface="Times New Roman" panose="02020603050405020304" pitchFamily="18" charset="0"/>
              </a:rPr>
              <a:t>Elizarov</a:t>
            </a:r>
            <a:r>
              <a:rPr lang="en-SG" sz="1350" kern="100">
                <a:effectLst/>
                <a:latin typeface="Aptos" panose="020B0004020202020204" pitchFamily="34" charset="0"/>
                <a:ea typeface="Aptos" panose="020B0004020202020204" pitchFamily="34" charset="0"/>
                <a:cs typeface="Times New Roman" panose="02020603050405020304" pitchFamily="18" charset="0"/>
              </a:rPr>
              <a:t> et al. [8] proposed LOFT, which is similar to LFTT but avoids incorrectly repeated helping.</a:t>
            </a:r>
          </a:p>
          <a:p>
            <a:pPr algn="just">
              <a:spcAft>
                <a:spcPts val="800"/>
              </a:spcAft>
              <a:buNone/>
            </a:pPr>
            <a:r>
              <a:rPr lang="en-SG" sz="1350" kern="100">
                <a:effectLst/>
                <a:latin typeface="Aptos" panose="020B0004020202020204" pitchFamily="34" charset="0"/>
                <a:ea typeface="Aptos" panose="020B0004020202020204" pitchFamily="34" charset="0"/>
                <a:cs typeface="Times New Roman" panose="02020603050405020304" pitchFamily="18" charset="0"/>
              </a:rPr>
              <a:t>In [9] introduces nonblocking transaction composition (NBTC), a new methodology for atomic composition of nonblocking operations on concurrent data structures. Unlike previous software transactional memory (STM) approaches, NBTC leverages the linearizability of existing nonblocking structures, reducing the number of memory accesses that must be executed together, atomically, to only one per operation in most cases (these are typically the linearizing instructions of the constituent operations).</a:t>
            </a:r>
          </a:p>
          <a:p>
            <a:pPr algn="just">
              <a:spcAft>
                <a:spcPts val="600"/>
              </a:spcAft>
              <a:buNone/>
            </a:pPr>
            <a:r>
              <a:rPr lang="en-SG" sz="1000" kern="100">
                <a:solidFill>
                  <a:srgbClr val="7F7F7F"/>
                </a:solidFill>
                <a:effectLst/>
                <a:latin typeface="Aptos" panose="020B0004020202020204" pitchFamily="34" charset="0"/>
                <a:ea typeface="Aptos" panose="020B0004020202020204" pitchFamily="34" charset="0"/>
                <a:cs typeface="Times New Roman" panose="02020603050405020304" pitchFamily="18" charset="0"/>
              </a:rPr>
              <a:t>[1] Wentao Cai, Haosen Wen, and Michael L. Scott. 2023. Transactional Composition of Nonblocking Data Structures. In Proceedings of the 35th ACM Symposium on Parallelism in Algorithms and Architectures (SPAA '23). Association for Computing Machinery, New York, NY, USA, 187–197. https://doi.org/10.1145/3558481.3591079</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p>
            <a:pPr algn="just">
              <a:spcAft>
                <a:spcPts val="600"/>
              </a:spcAft>
              <a:buNone/>
            </a:pPr>
            <a:r>
              <a:rPr lang="en-SG" sz="1000" kern="100">
                <a:solidFill>
                  <a:srgbClr val="7F7F7F"/>
                </a:solidFill>
                <a:effectLst/>
                <a:latin typeface="Aptos" panose="020B0004020202020204" pitchFamily="34" charset="0"/>
                <a:ea typeface="Aptos" panose="020B0004020202020204" pitchFamily="34" charset="0"/>
                <a:cs typeface="Times New Roman" panose="02020603050405020304" pitchFamily="18" charset="0"/>
              </a:rPr>
              <a:t>[30] Chi Cao Minh, JaeWoong Chung, Christos </a:t>
            </a:r>
            <a:r>
              <a:rPr lang="en-SG" sz="1000" kern="100" err="1">
                <a:solidFill>
                  <a:srgbClr val="7F7F7F"/>
                </a:solidFill>
                <a:effectLst/>
                <a:latin typeface="Aptos" panose="020B0004020202020204" pitchFamily="34" charset="0"/>
                <a:ea typeface="Aptos" panose="020B0004020202020204" pitchFamily="34" charset="0"/>
                <a:cs typeface="Times New Roman" panose="02020603050405020304" pitchFamily="18" charset="0"/>
              </a:rPr>
              <a:t>Kozyrakis</a:t>
            </a:r>
            <a:r>
              <a:rPr lang="en-SG" sz="1000" kern="100">
                <a:solidFill>
                  <a:srgbClr val="7F7F7F"/>
                </a:solidFill>
                <a:effectLst/>
                <a:latin typeface="Aptos" panose="020B0004020202020204" pitchFamily="34" charset="0"/>
                <a:ea typeface="Aptos" panose="020B0004020202020204" pitchFamily="34" charset="0"/>
                <a:cs typeface="Times New Roman" panose="02020603050405020304" pitchFamily="18" charset="0"/>
              </a:rPr>
              <a:t>, and Kunle Olukotun. 2008.STAMP: Stanford Transactional Applications for Multi-Processing. In IEEE Intl. Symp. on Workload Characterization (IISWC). Seattle, WA, 35–46.</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p>
            <a:pPr algn="just">
              <a:spcAft>
                <a:spcPts val="600"/>
              </a:spcAft>
              <a:buNone/>
            </a:pPr>
            <a:r>
              <a:rPr lang="en-US" sz="1000" kern="100">
                <a:solidFill>
                  <a:srgbClr val="7F7F7F"/>
                </a:solidFill>
                <a:effectLst/>
                <a:latin typeface="Aptos" panose="020B0004020202020204" pitchFamily="34" charset="0"/>
                <a:ea typeface="Aptos" panose="020B0004020202020204" pitchFamily="34" charset="0"/>
                <a:cs typeface="Times New Roman" panose="02020603050405020304" pitchFamily="18" charset="0"/>
              </a:rPr>
              <a:t>[6] </a:t>
            </a:r>
            <a:r>
              <a:rPr lang="en-SG" sz="1000" kern="100">
                <a:solidFill>
                  <a:srgbClr val="7F7F7F"/>
                </a:solidFill>
                <a:effectLst/>
                <a:latin typeface="Aptos" panose="020B0004020202020204" pitchFamily="34" charset="0"/>
                <a:ea typeface="Aptos" panose="020B0004020202020204" pitchFamily="34" charset="0"/>
                <a:cs typeface="Times New Roman" panose="02020603050405020304" pitchFamily="18" charset="0"/>
              </a:rPr>
              <a:t>The Transaction Processing Council. 2010. TPC-C Benchmark (Revision 5.11.0). </a:t>
            </a:r>
            <a:r>
              <a:rPr lang="en-SG" sz="1000" u="sng" kern="100">
                <a:solidFill>
                  <a:srgbClr val="7F7F7F"/>
                </a:solidFill>
                <a:effectLst/>
                <a:latin typeface="Aptos" panose="020B0004020202020204" pitchFamily="34" charset="0"/>
                <a:ea typeface="Aptos" panose="020B0004020202020204" pitchFamily="34" charset="0"/>
                <a:cs typeface="Times New Roman" panose="02020603050405020304" pitchFamily="18" charset="0"/>
                <a:hlinkClick r:id="rId2"/>
              </a:rPr>
              <a:t>http://www.tpc.org/tpcc/</a:t>
            </a:r>
            <a:r>
              <a:rPr lang="en-SG" sz="1000" kern="100">
                <a:solidFill>
                  <a:srgbClr val="7F7F7F"/>
                </a:solidFill>
                <a:effectLst/>
                <a:latin typeface="Aptos" panose="020B0004020202020204" pitchFamily="34" charset="0"/>
                <a:ea typeface="Aptos" panose="020B0004020202020204" pitchFamily="34" charset="0"/>
                <a:cs typeface="Times New Roman" panose="02020603050405020304" pitchFamily="18" charset="0"/>
              </a:rPr>
              <a:t>.</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p>
            <a:pPr algn="just">
              <a:spcAft>
                <a:spcPts val="600"/>
              </a:spcAft>
              <a:buNone/>
            </a:pPr>
            <a:r>
              <a:rPr lang="en-SG" sz="1000" kern="100">
                <a:solidFill>
                  <a:srgbClr val="7F7F7F"/>
                </a:solidFill>
                <a:effectLst/>
                <a:latin typeface="Aptos" panose="020B0004020202020204" pitchFamily="34" charset="0"/>
                <a:ea typeface="Aptos" panose="020B0004020202020204" pitchFamily="34" charset="0"/>
                <a:cs typeface="Times New Roman" panose="02020603050405020304" pitchFamily="18" charset="0"/>
              </a:rPr>
              <a:t>[39] Stephen Tu, </a:t>
            </a:r>
            <a:r>
              <a:rPr lang="en-SG" sz="1000" kern="100" err="1">
                <a:solidFill>
                  <a:srgbClr val="7F7F7F"/>
                </a:solidFill>
                <a:effectLst/>
                <a:latin typeface="Aptos" panose="020B0004020202020204" pitchFamily="34" charset="0"/>
                <a:ea typeface="Aptos" panose="020B0004020202020204" pitchFamily="34" charset="0"/>
                <a:cs typeface="Times New Roman" panose="02020603050405020304" pitchFamily="18" charset="0"/>
              </a:rPr>
              <a:t>Wenting</a:t>
            </a:r>
            <a:r>
              <a:rPr lang="en-SG" sz="1000" kern="100">
                <a:solidFill>
                  <a:srgbClr val="7F7F7F"/>
                </a:solidFill>
                <a:effectLst/>
                <a:latin typeface="Aptos" panose="020B0004020202020204" pitchFamily="34" charset="0"/>
                <a:ea typeface="Aptos" panose="020B0004020202020204" pitchFamily="34" charset="0"/>
                <a:cs typeface="Times New Roman" panose="02020603050405020304" pitchFamily="18" charset="0"/>
              </a:rPr>
              <a:t> Zheng, Eddie Kohler, Barbara </a:t>
            </a:r>
            <a:r>
              <a:rPr lang="en-SG" sz="1000" kern="100" err="1">
                <a:solidFill>
                  <a:srgbClr val="7F7F7F"/>
                </a:solidFill>
                <a:effectLst/>
                <a:latin typeface="Aptos" panose="020B0004020202020204" pitchFamily="34" charset="0"/>
                <a:ea typeface="Aptos" panose="020B0004020202020204" pitchFamily="34" charset="0"/>
                <a:cs typeface="Times New Roman" panose="02020603050405020304" pitchFamily="18" charset="0"/>
              </a:rPr>
              <a:t>Liskov</a:t>
            </a:r>
            <a:r>
              <a:rPr lang="en-SG" sz="1000" kern="100">
                <a:solidFill>
                  <a:srgbClr val="7F7F7F"/>
                </a:solidFill>
                <a:effectLst/>
                <a:latin typeface="Aptos" panose="020B0004020202020204" pitchFamily="34" charset="0"/>
                <a:ea typeface="Aptos" panose="020B0004020202020204" pitchFamily="34" charset="0"/>
                <a:cs typeface="Times New Roman" panose="02020603050405020304" pitchFamily="18" charset="0"/>
              </a:rPr>
              <a:t>, and Samuel Madden. 2013. Speedy Transactions in Multicore In-Memory Databases. In 24th ACM Symp. on Operating Systems Principles (SOSP). </a:t>
            </a:r>
            <a:r>
              <a:rPr lang="en-SG" sz="1000" kern="100" err="1">
                <a:solidFill>
                  <a:srgbClr val="7F7F7F"/>
                </a:solidFill>
                <a:effectLst/>
                <a:latin typeface="Aptos" panose="020B0004020202020204" pitchFamily="34" charset="0"/>
                <a:ea typeface="Aptos" panose="020B0004020202020204" pitchFamily="34" charset="0"/>
                <a:cs typeface="Times New Roman" panose="02020603050405020304" pitchFamily="18" charset="0"/>
              </a:rPr>
              <a:t>Farminton</a:t>
            </a:r>
            <a:r>
              <a:rPr lang="en-SG" sz="1000" kern="100">
                <a:solidFill>
                  <a:srgbClr val="7F7F7F"/>
                </a:solidFill>
                <a:effectLst/>
                <a:latin typeface="Aptos" panose="020B0004020202020204" pitchFamily="34" charset="0"/>
                <a:ea typeface="Aptos" panose="020B0004020202020204" pitchFamily="34" charset="0"/>
                <a:cs typeface="Times New Roman" panose="02020603050405020304" pitchFamily="18" charset="0"/>
              </a:rPr>
              <a:t>, PA, 18–32.</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p>
            <a:pPr algn="just">
              <a:spcAft>
                <a:spcPts val="600"/>
              </a:spcAft>
              <a:buNone/>
            </a:pPr>
            <a:r>
              <a:rPr lang="en-SG" sz="1000" kern="100">
                <a:solidFill>
                  <a:srgbClr val="7F7F7F"/>
                </a:solidFill>
                <a:effectLst/>
                <a:latin typeface="Aptos" panose="020B0004020202020204" pitchFamily="34" charset="0"/>
                <a:ea typeface="Aptos" panose="020B0004020202020204" pitchFamily="34" charset="0"/>
                <a:cs typeface="Times New Roman" panose="02020603050405020304" pitchFamily="18" charset="0"/>
              </a:rPr>
              <a:t>[43] Deli Zhang and Damian </a:t>
            </a:r>
            <a:r>
              <a:rPr lang="en-SG" sz="1000" kern="100" err="1">
                <a:solidFill>
                  <a:srgbClr val="7F7F7F"/>
                </a:solidFill>
                <a:effectLst/>
                <a:latin typeface="Aptos" panose="020B0004020202020204" pitchFamily="34" charset="0"/>
                <a:ea typeface="Aptos" panose="020B0004020202020204" pitchFamily="34" charset="0"/>
                <a:cs typeface="Times New Roman" panose="02020603050405020304" pitchFamily="18" charset="0"/>
              </a:rPr>
              <a:t>Dechev</a:t>
            </a:r>
            <a:r>
              <a:rPr lang="en-SG" sz="1000" kern="100">
                <a:solidFill>
                  <a:srgbClr val="7F7F7F"/>
                </a:solidFill>
                <a:effectLst/>
                <a:latin typeface="Aptos" panose="020B0004020202020204" pitchFamily="34" charset="0"/>
                <a:ea typeface="Aptos" panose="020B0004020202020204" pitchFamily="34" charset="0"/>
                <a:cs typeface="Times New Roman" panose="02020603050405020304" pitchFamily="18" charset="0"/>
              </a:rPr>
              <a:t>. 2016. Lock-Free Transactions without Rollbacks for Linked Data Structures. In 28th ACM Symp. on Parallelism in Algorithms and Architectures (SPAA). Pacific Grove, CA, 325–336.</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p>
            <a:pPr algn="just">
              <a:spcAft>
                <a:spcPts val="600"/>
              </a:spcAft>
              <a:buNone/>
            </a:pPr>
            <a:r>
              <a:rPr lang="en-SG" sz="1000" kern="100">
                <a:solidFill>
                  <a:srgbClr val="7F7F7F"/>
                </a:solidFill>
                <a:effectLst/>
                <a:latin typeface="Aptos" panose="020B0004020202020204" pitchFamily="34" charset="0"/>
                <a:ea typeface="Aptos" panose="020B0004020202020204" pitchFamily="34" charset="0"/>
                <a:cs typeface="Times New Roman" panose="02020603050405020304" pitchFamily="18" charset="0"/>
              </a:rPr>
              <a:t>[23] Pierre </a:t>
            </a:r>
            <a:r>
              <a:rPr lang="en-SG" sz="1000" kern="100" err="1">
                <a:solidFill>
                  <a:srgbClr val="7F7F7F"/>
                </a:solidFill>
                <a:effectLst/>
                <a:latin typeface="Aptos" panose="020B0004020202020204" pitchFamily="34" charset="0"/>
                <a:ea typeface="Aptos" panose="020B0004020202020204" pitchFamily="34" charset="0"/>
                <a:cs typeface="Times New Roman" panose="02020603050405020304" pitchFamily="18" charset="0"/>
              </a:rPr>
              <a:t>LaBorde</a:t>
            </a:r>
            <a:r>
              <a:rPr lang="en-SG" sz="1000" kern="100">
                <a:solidFill>
                  <a:srgbClr val="7F7F7F"/>
                </a:solidFill>
                <a:effectLst/>
                <a:latin typeface="Aptos" panose="020B0004020202020204" pitchFamily="34" charset="0"/>
                <a:ea typeface="Aptos" panose="020B0004020202020204" pitchFamily="34" charset="0"/>
                <a:cs typeface="Times New Roman" panose="02020603050405020304" pitchFamily="18" charset="0"/>
              </a:rPr>
              <a:t>, Lance </a:t>
            </a:r>
            <a:r>
              <a:rPr lang="en-SG" sz="1000" kern="100" err="1">
                <a:solidFill>
                  <a:srgbClr val="7F7F7F"/>
                </a:solidFill>
                <a:effectLst/>
                <a:latin typeface="Aptos" panose="020B0004020202020204" pitchFamily="34" charset="0"/>
                <a:ea typeface="Aptos" panose="020B0004020202020204" pitchFamily="34" charset="0"/>
                <a:cs typeface="Times New Roman" panose="02020603050405020304" pitchFamily="18" charset="0"/>
              </a:rPr>
              <a:t>Lebanoff</a:t>
            </a:r>
            <a:r>
              <a:rPr lang="en-SG" sz="1000" kern="100">
                <a:solidFill>
                  <a:srgbClr val="7F7F7F"/>
                </a:solidFill>
                <a:effectLst/>
                <a:latin typeface="Aptos" panose="020B0004020202020204" pitchFamily="34" charset="0"/>
                <a:ea typeface="Aptos" panose="020B0004020202020204" pitchFamily="34" charset="0"/>
                <a:cs typeface="Times New Roman" panose="02020603050405020304" pitchFamily="18" charset="0"/>
              </a:rPr>
              <a:t>, Christina Peterson, Deli Zhang, and Damian </a:t>
            </a:r>
            <a:r>
              <a:rPr lang="en-SG" sz="1000" kern="100" err="1">
                <a:solidFill>
                  <a:srgbClr val="7F7F7F"/>
                </a:solidFill>
                <a:effectLst/>
                <a:latin typeface="Aptos" panose="020B0004020202020204" pitchFamily="34" charset="0"/>
                <a:ea typeface="Aptos" panose="020B0004020202020204" pitchFamily="34" charset="0"/>
                <a:cs typeface="Times New Roman" panose="02020603050405020304" pitchFamily="18" charset="0"/>
              </a:rPr>
              <a:t>Dechev</a:t>
            </a:r>
            <a:r>
              <a:rPr lang="en-SG" sz="1000" kern="100">
                <a:solidFill>
                  <a:srgbClr val="7F7F7F"/>
                </a:solidFill>
                <a:effectLst/>
                <a:latin typeface="Aptos" panose="020B0004020202020204" pitchFamily="34" charset="0"/>
                <a:ea typeface="Aptos" panose="020B0004020202020204" pitchFamily="34" charset="0"/>
                <a:cs typeface="Times New Roman" panose="02020603050405020304" pitchFamily="18" charset="0"/>
              </a:rPr>
              <a:t>. 2019. Wait-Free Dynamic Transactions for Linked Data Structures. In 10th Intl. Workshop on Programming Models and Applications for Multicores and </a:t>
            </a:r>
            <a:r>
              <a:rPr lang="en-SG" sz="1000" kern="100" err="1">
                <a:solidFill>
                  <a:srgbClr val="7F7F7F"/>
                </a:solidFill>
                <a:effectLst/>
                <a:latin typeface="Aptos" panose="020B0004020202020204" pitchFamily="34" charset="0"/>
                <a:ea typeface="Aptos" panose="020B0004020202020204" pitchFamily="34" charset="0"/>
                <a:cs typeface="Times New Roman" panose="02020603050405020304" pitchFamily="18" charset="0"/>
              </a:rPr>
              <a:t>Manycores</a:t>
            </a:r>
            <a:r>
              <a:rPr lang="en-SG" sz="1000" kern="100">
                <a:solidFill>
                  <a:srgbClr val="7F7F7F"/>
                </a:solidFill>
                <a:effectLst/>
                <a:latin typeface="Aptos" panose="020B0004020202020204" pitchFamily="34" charset="0"/>
                <a:ea typeface="Aptos" panose="020B0004020202020204" pitchFamily="34" charset="0"/>
                <a:cs typeface="Times New Roman" panose="02020603050405020304" pitchFamily="18" charset="0"/>
              </a:rPr>
              <a:t> (PMAM). Washington, DC, 41–50</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a:p>
            <a:pPr algn="just">
              <a:spcAft>
                <a:spcPts val="600"/>
              </a:spcAft>
              <a:buNone/>
            </a:pPr>
            <a:r>
              <a:rPr lang="en-SG" sz="1000" kern="100">
                <a:solidFill>
                  <a:srgbClr val="7F7F7F"/>
                </a:solidFill>
                <a:effectLst/>
                <a:latin typeface="Aptos" panose="020B0004020202020204" pitchFamily="34" charset="0"/>
                <a:ea typeface="Aptos" panose="020B0004020202020204" pitchFamily="34" charset="0"/>
                <a:cs typeface="Times New Roman" panose="02020603050405020304" pitchFamily="18" charset="0"/>
              </a:rPr>
              <a:t>[8] Avner </a:t>
            </a:r>
            <a:r>
              <a:rPr lang="en-SG" sz="1000" kern="100" err="1">
                <a:solidFill>
                  <a:srgbClr val="7F7F7F"/>
                </a:solidFill>
                <a:effectLst/>
                <a:latin typeface="Aptos" panose="020B0004020202020204" pitchFamily="34" charset="0"/>
                <a:ea typeface="Aptos" panose="020B0004020202020204" pitchFamily="34" charset="0"/>
                <a:cs typeface="Times New Roman" panose="02020603050405020304" pitchFamily="18" charset="0"/>
              </a:rPr>
              <a:t>Elizarov</a:t>
            </a:r>
            <a:r>
              <a:rPr lang="en-SG" sz="1000" kern="100">
                <a:solidFill>
                  <a:srgbClr val="7F7F7F"/>
                </a:solidFill>
                <a:effectLst/>
                <a:latin typeface="Aptos" panose="020B0004020202020204" pitchFamily="34" charset="0"/>
                <a:ea typeface="Aptos" panose="020B0004020202020204" pitchFamily="34" charset="0"/>
                <a:cs typeface="Times New Roman" panose="02020603050405020304" pitchFamily="18" charset="0"/>
              </a:rPr>
              <a:t>, Guy Golan-Gueta, and Erez </a:t>
            </a:r>
            <a:r>
              <a:rPr lang="en-SG" sz="1000" kern="100" err="1">
                <a:solidFill>
                  <a:srgbClr val="7F7F7F"/>
                </a:solidFill>
                <a:effectLst/>
                <a:latin typeface="Aptos" panose="020B0004020202020204" pitchFamily="34" charset="0"/>
                <a:ea typeface="Aptos" panose="020B0004020202020204" pitchFamily="34" charset="0"/>
                <a:cs typeface="Times New Roman" panose="02020603050405020304" pitchFamily="18" charset="0"/>
              </a:rPr>
              <a:t>Petrank</a:t>
            </a:r>
            <a:r>
              <a:rPr lang="en-SG" sz="1000" kern="100">
                <a:solidFill>
                  <a:srgbClr val="7F7F7F"/>
                </a:solidFill>
                <a:effectLst/>
                <a:latin typeface="Aptos" panose="020B0004020202020204" pitchFamily="34" charset="0"/>
                <a:ea typeface="Aptos" panose="020B0004020202020204" pitchFamily="34" charset="0"/>
                <a:cs typeface="Times New Roman" panose="02020603050405020304" pitchFamily="18" charset="0"/>
              </a:rPr>
              <a:t>. 2019. LOFT: Lock-Free Transactional Data Structures. In 24th ACM SIGPLAN Symp. on Principles and Practice of Parallel Programming (</a:t>
            </a:r>
            <a:r>
              <a:rPr lang="en-SG" sz="1000" kern="100" err="1">
                <a:solidFill>
                  <a:srgbClr val="7F7F7F"/>
                </a:solidFill>
                <a:effectLst/>
                <a:latin typeface="Aptos" panose="020B0004020202020204" pitchFamily="34" charset="0"/>
                <a:ea typeface="Aptos" panose="020B0004020202020204" pitchFamily="34" charset="0"/>
                <a:cs typeface="Times New Roman" panose="02020603050405020304" pitchFamily="18" charset="0"/>
              </a:rPr>
              <a:t>PPoPP</a:t>
            </a:r>
            <a:r>
              <a:rPr lang="en-SG" sz="1000" kern="100">
                <a:solidFill>
                  <a:srgbClr val="7F7F7F"/>
                </a:solidFill>
                <a:effectLst/>
                <a:latin typeface="Aptos" panose="020B0004020202020204" pitchFamily="34" charset="0"/>
                <a:ea typeface="Aptos" panose="020B0004020202020204" pitchFamily="34" charset="0"/>
                <a:cs typeface="Times New Roman" panose="02020603050405020304" pitchFamily="18" charset="0"/>
              </a:rPr>
              <a:t>). Washington, DC, 425–426.</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A5A0C1D4-7FC6-D2C5-5A92-CBFED0681065}"/>
              </a:ext>
            </a:extLst>
          </p:cNvPr>
          <p:cNvSpPr txBox="1"/>
          <p:nvPr/>
        </p:nvSpPr>
        <p:spPr>
          <a:xfrm>
            <a:off x="233910" y="208621"/>
            <a:ext cx="4940070" cy="461665"/>
          </a:xfrm>
          <a:prstGeom prst="rect">
            <a:avLst/>
          </a:prstGeom>
          <a:solidFill>
            <a:schemeClr val="accent2">
              <a:lumMod val="50000"/>
            </a:schemeClr>
          </a:solidFill>
        </p:spPr>
        <p:txBody>
          <a:bodyPr wrap="square" rtlCol="0">
            <a:spAutoFit/>
          </a:bodyPr>
          <a:lstStyle/>
          <a:p>
            <a:r>
              <a:rPr lang="en-US" sz="2400">
                <a:solidFill>
                  <a:schemeClr val="bg1"/>
                </a:solidFill>
                <a:latin typeface="Ubuntu Condensed" panose="020B0506030602030204" pitchFamily="34" charset="0"/>
              </a:rPr>
              <a:t>Transactional Concurrent Data Structures</a:t>
            </a:r>
            <a:endParaRPr lang="ru-RU" sz="2400">
              <a:solidFill>
                <a:schemeClr val="bg1"/>
              </a:solidFill>
              <a:latin typeface="Ubuntu Condensed" panose="020B0506030602030204" pitchFamily="34" charset="0"/>
            </a:endParaRPr>
          </a:p>
        </p:txBody>
      </p:sp>
    </p:spTree>
    <p:extLst>
      <p:ext uri="{BB962C8B-B14F-4D97-AF65-F5344CB8AC3E}">
        <p14:creationId xmlns:p14="http://schemas.microsoft.com/office/powerpoint/2010/main" val="4153341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63695-D7C5-A0C2-98E6-09045BDCE722}"/>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96818081-F94E-27A4-0876-C0D06FB7D715}"/>
              </a:ext>
            </a:extLst>
          </p:cNvPr>
          <p:cNvSpPr txBox="1"/>
          <p:nvPr/>
        </p:nvSpPr>
        <p:spPr>
          <a:xfrm>
            <a:off x="233910" y="208621"/>
            <a:ext cx="4940070" cy="461665"/>
          </a:xfrm>
          <a:prstGeom prst="rect">
            <a:avLst/>
          </a:prstGeom>
          <a:solidFill>
            <a:schemeClr val="accent2">
              <a:lumMod val="50000"/>
            </a:schemeClr>
          </a:solidFill>
        </p:spPr>
        <p:txBody>
          <a:bodyPr wrap="square" rtlCol="0">
            <a:spAutoFit/>
          </a:bodyPr>
          <a:lstStyle/>
          <a:p>
            <a:r>
              <a:rPr lang="en-US" sz="2400">
                <a:solidFill>
                  <a:schemeClr val="bg1"/>
                </a:solidFill>
                <a:latin typeface="Ubuntu Condensed" panose="020B0506030602030204" pitchFamily="34" charset="0"/>
              </a:rPr>
              <a:t>Transactional Concurrent Data Structures</a:t>
            </a:r>
            <a:endParaRPr lang="ru-RU" sz="2400">
              <a:solidFill>
                <a:schemeClr val="bg1"/>
              </a:solidFill>
              <a:latin typeface="Ubuntu Condensed" panose="020B0506030602030204" pitchFamily="34" charset="0"/>
            </a:endParaRPr>
          </a:p>
        </p:txBody>
      </p:sp>
      <p:sp>
        <p:nvSpPr>
          <p:cNvPr id="7" name="Номер слайда 7">
            <a:extLst>
              <a:ext uri="{FF2B5EF4-FFF2-40B4-BE49-F238E27FC236}">
                <a16:creationId xmlns:a16="http://schemas.microsoft.com/office/drawing/2014/main" id="{511160AC-B852-FFCC-CA17-5BEADC8751C2}"/>
              </a:ext>
            </a:extLst>
          </p:cNvPr>
          <p:cNvSpPr>
            <a:spLocks noGrp="1"/>
          </p:cNvSpPr>
          <p:nvPr>
            <p:ph type="sldNum" sz="quarter" idx="12"/>
          </p:nvPr>
        </p:nvSpPr>
        <p:spPr>
          <a:xfrm>
            <a:off x="11725835" y="6402070"/>
            <a:ext cx="386155" cy="365125"/>
          </a:xfrm>
        </p:spPr>
        <p:txBody>
          <a:bodyPr/>
          <a:lstStyle/>
          <a:p>
            <a:pPr algn="ctr"/>
            <a:fld id="{E757BAED-F255-4CF1-96BA-8D7417A9C3BC}" type="slidenum">
              <a:rPr lang="ru-RU" sz="1800" smtClean="0">
                <a:latin typeface="Ubuntu Condensed" panose="020B0506030602030204" pitchFamily="34" charset="0"/>
              </a:rPr>
              <a:pPr algn="ctr"/>
              <a:t>5</a:t>
            </a:fld>
            <a:endParaRPr lang="ru-RU" sz="1800">
              <a:latin typeface="Ubuntu Condensed" panose="020B0506030602030204" pitchFamily="34" charset="0"/>
            </a:endParaRPr>
          </a:p>
        </p:txBody>
      </p:sp>
      <p:sp>
        <p:nvSpPr>
          <p:cNvPr id="3" name="TextBox 2">
            <a:extLst>
              <a:ext uri="{FF2B5EF4-FFF2-40B4-BE49-F238E27FC236}">
                <a16:creationId xmlns:a16="http://schemas.microsoft.com/office/drawing/2014/main" id="{FCF49B17-05EB-086D-287E-50B02979FFC6}"/>
              </a:ext>
            </a:extLst>
          </p:cNvPr>
          <p:cNvSpPr txBox="1"/>
          <p:nvPr/>
        </p:nvSpPr>
        <p:spPr>
          <a:xfrm>
            <a:off x="233909" y="1483447"/>
            <a:ext cx="5371761" cy="4211730"/>
          </a:xfrm>
          <a:prstGeom prst="rect">
            <a:avLst/>
          </a:prstGeom>
          <a:solidFill>
            <a:srgbClr val="1F1F1F"/>
          </a:solidFill>
        </p:spPr>
        <p:txBody>
          <a:bodyPr wrap="square">
            <a:spAutoFit/>
          </a:bodyPr>
          <a:lstStyle/>
          <a:p>
            <a:pPr>
              <a:lnSpc>
                <a:spcPts val="1425"/>
              </a:lnSpc>
              <a:buNone/>
            </a:pPr>
            <a:r>
              <a:rPr lang="en-US" sz="1000" b="0">
                <a:solidFill>
                  <a:srgbClr val="569CD6"/>
                </a:solidFill>
                <a:effectLst/>
                <a:latin typeface="JetBrains Mono" panose="02000009000000000000" pitchFamily="49" charset="0"/>
              </a:rPr>
              <a:t>struct</a:t>
            </a:r>
            <a:r>
              <a:rPr lang="en-US" sz="1000" b="0">
                <a:solidFill>
                  <a:srgbClr val="CCCCCC"/>
                </a:solidFill>
                <a:effectLst/>
                <a:latin typeface="JetBrains Mono" panose="02000009000000000000" pitchFamily="49" charset="0"/>
              </a:rPr>
              <a:t> </a:t>
            </a:r>
            <a:r>
              <a:rPr lang="en-US" sz="1000" b="0">
                <a:solidFill>
                  <a:srgbClr val="4EC9B0"/>
                </a:solidFill>
                <a:effectLst/>
                <a:latin typeface="JetBrains Mono" panose="02000009000000000000" pitchFamily="49" charset="0"/>
              </a:rPr>
              <a:t>Stack</a:t>
            </a:r>
            <a:r>
              <a:rPr lang="en-US" sz="1000" b="0">
                <a:solidFill>
                  <a:srgbClr val="CCCCCC"/>
                </a:solidFill>
                <a:effectLst/>
                <a:latin typeface="JetBrains Mono" panose="02000009000000000000" pitchFamily="49" charset="0"/>
              </a:rPr>
              <a:t> {</a:t>
            </a:r>
          </a:p>
          <a:p>
            <a:pPr>
              <a:lnSpc>
                <a:spcPts val="1425"/>
              </a:lnSpc>
              <a:buNone/>
            </a:pPr>
            <a:r>
              <a:rPr lang="en-US" sz="1000" b="0">
                <a:solidFill>
                  <a:srgbClr val="CCCCCC"/>
                </a:solidFill>
                <a:effectLst/>
                <a:latin typeface="JetBrains Mono" panose="02000009000000000000" pitchFamily="49" charset="0"/>
              </a:rPr>
              <a:t>  Node </a:t>
            </a:r>
            <a:r>
              <a:rPr lang="en-US" sz="1000" b="0">
                <a:solidFill>
                  <a:srgbClr val="D4D4D4"/>
                </a:solidFill>
                <a:effectLst/>
                <a:latin typeface="JetBrains Mono" panose="02000009000000000000" pitchFamily="49" charset="0"/>
              </a:rPr>
              <a:t>*</a:t>
            </a:r>
            <a:r>
              <a:rPr lang="en-US" sz="1000" b="0">
                <a:solidFill>
                  <a:srgbClr val="9CDCFE"/>
                </a:solidFill>
                <a:effectLst/>
                <a:latin typeface="JetBrains Mono" panose="02000009000000000000" pitchFamily="49" charset="0"/>
              </a:rPr>
              <a:t>head</a:t>
            </a:r>
            <a:r>
              <a:rPr lang="en-US" sz="1000" b="0">
                <a:solidFill>
                  <a:srgbClr val="CCCCCC"/>
                </a:solidFill>
                <a:effectLst/>
                <a:latin typeface="JetBrains Mono" panose="02000009000000000000" pitchFamily="49" charset="0"/>
              </a:rPr>
              <a:t>;</a:t>
            </a:r>
          </a:p>
          <a:p>
            <a:pPr>
              <a:lnSpc>
                <a:spcPts val="1425"/>
              </a:lnSpc>
              <a:buNone/>
            </a:pPr>
            <a:br>
              <a:rPr lang="en-US" sz="1000" b="0">
                <a:solidFill>
                  <a:srgbClr val="CCCCCC"/>
                </a:solidFill>
                <a:effectLst/>
                <a:latin typeface="JetBrains Mono" panose="02000009000000000000" pitchFamily="49" charset="0"/>
              </a:rPr>
            </a:b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CCCCCC"/>
                </a:solidFill>
                <a:effectLst/>
                <a:latin typeface="JetBrains Mono" panose="02000009000000000000" pitchFamily="49" charset="0"/>
              </a:rPr>
              <a:t>  </a:t>
            </a:r>
            <a:r>
              <a:rPr lang="en-US" sz="1000" b="0">
                <a:solidFill>
                  <a:srgbClr val="569CD6"/>
                </a:solidFill>
                <a:effectLst/>
                <a:latin typeface="JetBrains Mono" panose="02000009000000000000" pitchFamily="49" charset="0"/>
              </a:rPr>
              <a:t>void</a:t>
            </a:r>
            <a:r>
              <a:rPr lang="en-US" sz="1000" b="0">
                <a:solidFill>
                  <a:srgbClr val="CCCCCC"/>
                </a:solidFill>
                <a:effectLst/>
                <a:latin typeface="JetBrains Mono" panose="02000009000000000000" pitchFamily="49" charset="0"/>
              </a:rPr>
              <a:t> </a:t>
            </a:r>
            <a:r>
              <a:rPr lang="en-US" sz="1000" b="0">
                <a:solidFill>
                  <a:srgbClr val="DCDCAA"/>
                </a:solidFill>
                <a:effectLst/>
                <a:latin typeface="JetBrains Mono" panose="02000009000000000000" pitchFamily="49" charset="0"/>
              </a:rPr>
              <a:t>push</a:t>
            </a:r>
            <a:r>
              <a:rPr lang="en-US" sz="1000" b="0">
                <a:solidFill>
                  <a:srgbClr val="CCCCCC"/>
                </a:solidFill>
                <a:effectLst/>
                <a:latin typeface="JetBrains Mono" panose="02000009000000000000" pitchFamily="49" charset="0"/>
              </a:rPr>
              <a:t>(</a:t>
            </a:r>
            <a:r>
              <a:rPr lang="en-US" sz="1000" b="0">
                <a:solidFill>
                  <a:srgbClr val="569CD6"/>
                </a:solidFill>
                <a:effectLst/>
                <a:latin typeface="JetBrains Mono" panose="02000009000000000000" pitchFamily="49" charset="0"/>
              </a:rPr>
              <a:t>int</a:t>
            </a:r>
            <a:r>
              <a:rPr lang="en-US" sz="1000" b="0">
                <a:solidFill>
                  <a:srgbClr val="CCCCCC"/>
                </a:solidFill>
                <a:effectLst/>
                <a:latin typeface="JetBrains Mono" panose="02000009000000000000" pitchFamily="49" charset="0"/>
              </a:rPr>
              <a:t> </a:t>
            </a:r>
            <a:r>
              <a:rPr lang="en-US" sz="1000" b="0" err="1">
                <a:solidFill>
                  <a:srgbClr val="9CDCFE"/>
                </a:solidFill>
                <a:effectLst/>
                <a:latin typeface="JetBrains Mono" panose="02000009000000000000" pitchFamily="49" charset="0"/>
              </a:rPr>
              <a:t>val</a:t>
            </a:r>
            <a:r>
              <a:rPr lang="en-US" sz="1000" b="0">
                <a:solidFill>
                  <a:srgbClr val="CCCCCC"/>
                </a:solidFill>
                <a:effectLst/>
                <a:latin typeface="JetBrains Mono" panose="02000009000000000000" pitchFamily="49" charset="0"/>
              </a:rPr>
              <a:t>) {</a:t>
            </a:r>
          </a:p>
          <a:p>
            <a:pPr>
              <a:lnSpc>
                <a:spcPts val="1425"/>
              </a:lnSpc>
              <a:buNone/>
            </a:pPr>
            <a:r>
              <a:rPr lang="en-US" sz="1000" b="0">
                <a:solidFill>
                  <a:srgbClr val="CCCCCC"/>
                </a:solidFill>
                <a:effectLst/>
                <a:latin typeface="JetBrains Mono" panose="02000009000000000000" pitchFamily="49" charset="0"/>
              </a:rPr>
              <a:t>    Node </a:t>
            </a:r>
            <a:r>
              <a:rPr lang="en-US" sz="1000" b="0">
                <a:solidFill>
                  <a:srgbClr val="D4D4D4"/>
                </a:solidFill>
                <a:effectLst/>
                <a:latin typeface="JetBrains Mono" panose="02000009000000000000" pitchFamily="49" charset="0"/>
              </a:rPr>
              <a:t>*</a:t>
            </a:r>
            <a:r>
              <a:rPr lang="en-US" sz="1000" b="0">
                <a:solidFill>
                  <a:srgbClr val="CCCCCC"/>
                </a:solidFill>
                <a:effectLst/>
                <a:latin typeface="JetBrains Mono" panose="02000009000000000000" pitchFamily="49" charset="0"/>
              </a:rPr>
              <a:t>n </a:t>
            </a:r>
            <a:r>
              <a:rPr lang="en-US" sz="1000" b="0">
                <a:solidFill>
                  <a:srgbClr val="D4D4D4"/>
                </a:solidFill>
                <a:effectLst/>
                <a:latin typeface="JetBrains Mono" panose="02000009000000000000" pitchFamily="49" charset="0"/>
              </a:rPr>
              <a:t>=</a:t>
            </a:r>
            <a:r>
              <a:rPr lang="en-US" sz="1000" b="0">
                <a:solidFill>
                  <a:srgbClr val="CCCCCC"/>
                </a:solidFill>
                <a:effectLst/>
                <a:latin typeface="JetBrains Mono" panose="02000009000000000000" pitchFamily="49" charset="0"/>
              </a:rPr>
              <a:t> </a:t>
            </a:r>
            <a:r>
              <a:rPr lang="en-US" sz="1000" b="0">
                <a:solidFill>
                  <a:srgbClr val="C586C0"/>
                </a:solidFill>
                <a:effectLst/>
                <a:latin typeface="JetBrains Mono" panose="02000009000000000000" pitchFamily="49" charset="0"/>
              </a:rPr>
              <a:t>new</a:t>
            </a:r>
            <a:r>
              <a:rPr lang="en-US" sz="1000" b="0">
                <a:solidFill>
                  <a:srgbClr val="CCCCCC"/>
                </a:solidFill>
                <a:effectLst/>
                <a:latin typeface="JetBrains Mono" panose="02000009000000000000" pitchFamily="49" charset="0"/>
              </a:rPr>
              <a:t> </a:t>
            </a:r>
            <a:r>
              <a:rPr lang="en-US" sz="1000" b="0">
                <a:solidFill>
                  <a:srgbClr val="DCDCAA"/>
                </a:solidFill>
                <a:effectLst/>
                <a:latin typeface="JetBrains Mono" panose="02000009000000000000" pitchFamily="49" charset="0"/>
              </a:rPr>
              <a:t>Node</a:t>
            </a:r>
            <a:r>
              <a:rPr lang="en-US" sz="1000" b="0">
                <a:solidFill>
                  <a:srgbClr val="CCCCCC"/>
                </a:solidFill>
                <a:effectLst/>
                <a:latin typeface="JetBrains Mono" panose="02000009000000000000" pitchFamily="49" charset="0"/>
              </a:rPr>
              <a:t>(</a:t>
            </a:r>
            <a:r>
              <a:rPr lang="en-US" sz="1000" b="0" err="1">
                <a:solidFill>
                  <a:srgbClr val="9CDCFE"/>
                </a:solidFill>
                <a:effectLst/>
                <a:latin typeface="JetBrains Mono" panose="02000009000000000000" pitchFamily="49" charset="0"/>
              </a:rPr>
              <a:t>val</a:t>
            </a:r>
            <a:r>
              <a:rPr lang="en-US" sz="1000" b="0">
                <a:solidFill>
                  <a:srgbClr val="CCCCCC"/>
                </a:solidFill>
                <a:effectLst/>
                <a:latin typeface="JetBrains Mono" panose="02000009000000000000" pitchFamily="49" charset="0"/>
              </a:rPr>
              <a:t>);</a:t>
            </a:r>
          </a:p>
          <a:p>
            <a:pPr>
              <a:lnSpc>
                <a:spcPts val="1425"/>
              </a:lnSpc>
              <a:buNone/>
            </a:pPr>
            <a:r>
              <a:rPr lang="en-US" sz="1000" b="0">
                <a:solidFill>
                  <a:srgbClr val="6A9955"/>
                </a:solidFill>
                <a:effectLst/>
                <a:latin typeface="JetBrains Mono" panose="02000009000000000000" pitchFamily="49" charset="0"/>
              </a:rPr>
              <a:t>    // Planning Phase</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CCCCCC"/>
                </a:solidFill>
                <a:effectLst/>
                <a:latin typeface="JetBrains Mono" panose="02000009000000000000" pitchFamily="49" charset="0"/>
              </a:rPr>
              <a:t>    </a:t>
            </a:r>
            <a:r>
              <a:rPr lang="en-US" sz="1000" b="0">
                <a:solidFill>
                  <a:srgbClr val="C586C0"/>
                </a:solidFill>
                <a:effectLst/>
                <a:latin typeface="JetBrains Mono" panose="02000009000000000000" pitchFamily="49" charset="0"/>
              </a:rPr>
              <a:t>while</a:t>
            </a:r>
            <a:r>
              <a:rPr lang="en-US" sz="1000" b="0">
                <a:solidFill>
                  <a:srgbClr val="CCCCCC"/>
                </a:solidFill>
                <a:effectLst/>
                <a:latin typeface="JetBrains Mono" panose="02000009000000000000" pitchFamily="49" charset="0"/>
              </a:rPr>
              <a:t> (</a:t>
            </a:r>
            <a:r>
              <a:rPr lang="en-US" sz="1000" b="0">
                <a:solidFill>
                  <a:srgbClr val="569CD6"/>
                </a:solidFill>
                <a:effectLst/>
                <a:latin typeface="JetBrains Mono" panose="02000009000000000000" pitchFamily="49" charset="0"/>
              </a:rPr>
              <a:t>true</a:t>
            </a:r>
            <a:r>
              <a:rPr lang="en-US" sz="1000" b="0">
                <a:solidFill>
                  <a:srgbClr val="CCCCCC"/>
                </a:solidFill>
                <a:effectLst/>
                <a:latin typeface="JetBrains Mono" panose="02000009000000000000" pitchFamily="49" charset="0"/>
              </a:rPr>
              <a:t>) {</a:t>
            </a:r>
          </a:p>
          <a:p>
            <a:pPr>
              <a:lnSpc>
                <a:spcPts val="1425"/>
              </a:lnSpc>
              <a:buNone/>
            </a:pPr>
            <a:r>
              <a:rPr lang="en-US" sz="1000" b="0">
                <a:solidFill>
                  <a:srgbClr val="CCCCCC"/>
                </a:solidFill>
                <a:effectLst/>
                <a:latin typeface="JetBrains Mono" panose="02000009000000000000" pitchFamily="49" charset="0"/>
              </a:rPr>
              <a:t>      Node </a:t>
            </a:r>
            <a:r>
              <a:rPr lang="en-US" sz="1000" b="0">
                <a:solidFill>
                  <a:srgbClr val="D4D4D4"/>
                </a:solidFill>
                <a:effectLst/>
                <a:latin typeface="JetBrains Mono" panose="02000009000000000000" pitchFamily="49" charset="0"/>
              </a:rPr>
              <a:t>*</a:t>
            </a:r>
            <a:r>
              <a:rPr lang="en-US" sz="1000" b="0" err="1">
                <a:solidFill>
                  <a:srgbClr val="CCCCCC"/>
                </a:solidFill>
                <a:effectLst/>
                <a:latin typeface="JetBrains Mono" panose="02000009000000000000" pitchFamily="49" charset="0"/>
              </a:rPr>
              <a:t>old_head</a:t>
            </a:r>
            <a:r>
              <a:rPr lang="en-US" sz="1000" b="0">
                <a:solidFill>
                  <a:srgbClr val="CCCCCC"/>
                </a:solidFill>
                <a:effectLst/>
                <a:latin typeface="JetBrains Mono" panose="02000009000000000000" pitchFamily="49" charset="0"/>
              </a:rPr>
              <a:t> </a:t>
            </a:r>
            <a:r>
              <a:rPr lang="en-US" sz="1000" b="0">
                <a:solidFill>
                  <a:srgbClr val="D4D4D4"/>
                </a:solidFill>
                <a:effectLst/>
                <a:latin typeface="JetBrains Mono" panose="02000009000000000000" pitchFamily="49" charset="0"/>
              </a:rPr>
              <a:t>=</a:t>
            </a:r>
            <a:r>
              <a:rPr lang="en-US" sz="1000" b="0">
                <a:solidFill>
                  <a:srgbClr val="CCCCCC"/>
                </a:solidFill>
                <a:effectLst/>
                <a:latin typeface="JetBrains Mono" panose="02000009000000000000" pitchFamily="49" charset="0"/>
              </a:rPr>
              <a:t> </a:t>
            </a:r>
            <a:r>
              <a:rPr lang="en-US" sz="1000" b="0">
                <a:solidFill>
                  <a:srgbClr val="569CD6"/>
                </a:solidFill>
                <a:effectLst/>
                <a:latin typeface="JetBrains Mono" panose="02000009000000000000" pitchFamily="49" charset="0"/>
              </a:rPr>
              <a:t>this</a:t>
            </a:r>
            <a:r>
              <a:rPr lang="en-US" sz="1000" b="0">
                <a:solidFill>
                  <a:srgbClr val="CCCCCC"/>
                </a:solidFill>
                <a:effectLst/>
                <a:latin typeface="JetBrains Mono" panose="02000009000000000000" pitchFamily="49" charset="0"/>
              </a:rPr>
              <a:t>-&gt;</a:t>
            </a:r>
            <a:r>
              <a:rPr lang="en-US" sz="1000" b="0">
                <a:solidFill>
                  <a:srgbClr val="9CDCFE"/>
                </a:solidFill>
                <a:effectLst/>
                <a:latin typeface="JetBrains Mono" panose="02000009000000000000" pitchFamily="49" charset="0"/>
              </a:rPr>
              <a:t>head</a:t>
            </a:r>
            <a:r>
              <a:rPr lang="en-US" sz="1000" b="0">
                <a:solidFill>
                  <a:srgbClr val="CCCCCC"/>
                </a:solidFill>
                <a:effectLst/>
                <a:latin typeface="JetBrains Mono" panose="02000009000000000000" pitchFamily="49" charset="0"/>
              </a:rPr>
              <a:t>;</a:t>
            </a:r>
            <a:r>
              <a:rPr lang="en-US" sz="1000" b="0">
                <a:solidFill>
                  <a:srgbClr val="6A9955"/>
                </a:solidFill>
                <a:effectLst/>
                <a:latin typeface="JetBrains Mono" panose="02000009000000000000" pitchFamily="49" charset="0"/>
              </a:rPr>
              <a:t> // Load</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CCCCCC"/>
                </a:solidFill>
                <a:effectLst/>
                <a:latin typeface="JetBrains Mono" panose="02000009000000000000" pitchFamily="49" charset="0"/>
              </a:rPr>
              <a:t>      </a:t>
            </a:r>
            <a:r>
              <a:rPr lang="en-US" sz="1000" b="0">
                <a:solidFill>
                  <a:srgbClr val="9CDCFE"/>
                </a:solidFill>
                <a:effectLst/>
                <a:latin typeface="JetBrains Mono" panose="02000009000000000000" pitchFamily="49" charset="0"/>
              </a:rPr>
              <a:t>n</a:t>
            </a:r>
            <a:r>
              <a:rPr lang="en-US" sz="1000" b="0">
                <a:solidFill>
                  <a:srgbClr val="CCCCCC"/>
                </a:solidFill>
                <a:effectLst/>
                <a:latin typeface="JetBrains Mono" panose="02000009000000000000" pitchFamily="49" charset="0"/>
              </a:rPr>
              <a:t>-&gt;</a:t>
            </a:r>
            <a:r>
              <a:rPr lang="en-US" sz="1000" b="0">
                <a:solidFill>
                  <a:srgbClr val="9CDCFE"/>
                </a:solidFill>
                <a:effectLst/>
                <a:latin typeface="JetBrains Mono" panose="02000009000000000000" pitchFamily="49" charset="0"/>
              </a:rPr>
              <a:t>next</a:t>
            </a:r>
            <a:r>
              <a:rPr lang="en-US" sz="1000" b="0">
                <a:solidFill>
                  <a:srgbClr val="CCCCCC"/>
                </a:solidFill>
                <a:effectLst/>
                <a:latin typeface="JetBrains Mono" panose="02000009000000000000" pitchFamily="49" charset="0"/>
              </a:rPr>
              <a:t> </a:t>
            </a:r>
            <a:r>
              <a:rPr lang="en-US" sz="1000" b="0">
                <a:solidFill>
                  <a:srgbClr val="D4D4D4"/>
                </a:solidFill>
                <a:effectLst/>
                <a:latin typeface="JetBrains Mono" panose="02000009000000000000" pitchFamily="49" charset="0"/>
              </a:rPr>
              <a:t>=</a:t>
            </a:r>
            <a:r>
              <a:rPr lang="en-US" sz="1000" b="0">
                <a:solidFill>
                  <a:srgbClr val="CCCCCC"/>
                </a:solidFill>
                <a:effectLst/>
                <a:latin typeface="JetBrains Mono" panose="02000009000000000000" pitchFamily="49" charset="0"/>
              </a:rPr>
              <a:t> </a:t>
            </a:r>
            <a:r>
              <a:rPr lang="en-US" sz="1000" b="0" err="1">
                <a:solidFill>
                  <a:srgbClr val="CCCCCC"/>
                </a:solidFill>
                <a:effectLst/>
                <a:latin typeface="JetBrains Mono" panose="02000009000000000000" pitchFamily="49" charset="0"/>
              </a:rPr>
              <a:t>old_head</a:t>
            </a:r>
            <a:r>
              <a:rPr lang="en-US" sz="1000" b="0">
                <a:solidFill>
                  <a:srgbClr val="CCCCCC"/>
                </a:solidFill>
                <a:effectLst/>
                <a:latin typeface="JetBrains Mono" panose="02000009000000000000" pitchFamily="49" charset="0"/>
              </a:rPr>
              <a:t>;</a:t>
            </a:r>
          </a:p>
          <a:p>
            <a:pPr>
              <a:lnSpc>
                <a:spcPts val="1425"/>
              </a:lnSpc>
              <a:buNone/>
            </a:pPr>
            <a:br>
              <a:rPr lang="en-US" sz="1000" b="0">
                <a:solidFill>
                  <a:srgbClr val="CCCCCC"/>
                </a:solidFill>
                <a:effectLst/>
                <a:latin typeface="JetBrains Mono" panose="02000009000000000000" pitchFamily="49" charset="0"/>
              </a:rPr>
            </a:b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6A9955"/>
                </a:solidFill>
                <a:effectLst/>
                <a:latin typeface="JetBrains Mono" panose="02000009000000000000" pitchFamily="49" charset="0"/>
              </a:rPr>
              <a:t>      // LINEARIZATION POINT (LP)</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6A9955"/>
                </a:solidFill>
                <a:effectLst/>
                <a:latin typeface="JetBrains Mono" panose="02000009000000000000" pitchFamily="49" charset="0"/>
              </a:rPr>
              <a:t>      // The user marks the CAS.</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6A9955"/>
                </a:solidFill>
                <a:effectLst/>
                <a:latin typeface="JetBrains Mono" panose="02000009000000000000" pitchFamily="49" charset="0"/>
              </a:rPr>
              <a:t>      // In normal code, this executes immediately.</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6A9955"/>
                </a:solidFill>
                <a:effectLst/>
                <a:latin typeface="JetBrains Mono" panose="02000009000000000000" pitchFamily="49" charset="0"/>
              </a:rPr>
              <a:t>      // In a transaction, the compiler intercepts this.</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CCCCCC"/>
                </a:solidFill>
                <a:effectLst/>
                <a:latin typeface="JetBrains Mono" panose="02000009000000000000" pitchFamily="49" charset="0"/>
              </a:rPr>
              <a:t>      </a:t>
            </a:r>
            <a:r>
              <a:rPr lang="en-US" sz="1000" b="0">
                <a:solidFill>
                  <a:srgbClr val="C586C0"/>
                </a:solidFill>
                <a:effectLst/>
                <a:latin typeface="JetBrains Mono" panose="02000009000000000000" pitchFamily="49" charset="0"/>
              </a:rPr>
              <a:t>if</a:t>
            </a:r>
            <a:r>
              <a:rPr lang="en-US" sz="1000" b="0">
                <a:solidFill>
                  <a:srgbClr val="CCCCCC"/>
                </a:solidFill>
                <a:effectLst/>
                <a:latin typeface="JetBrains Mono" panose="02000009000000000000" pitchFamily="49" charset="0"/>
              </a:rPr>
              <a:t> (</a:t>
            </a:r>
            <a:r>
              <a:rPr lang="en-US" sz="1000" b="0">
                <a:solidFill>
                  <a:srgbClr val="DCDCAA"/>
                </a:solidFill>
                <a:effectLst/>
                <a:latin typeface="JetBrains Mono" panose="02000009000000000000" pitchFamily="49" charset="0"/>
              </a:rPr>
              <a:t>__</a:t>
            </a:r>
            <a:r>
              <a:rPr lang="en-US" sz="1000" b="0" err="1">
                <a:solidFill>
                  <a:srgbClr val="DCDCAA"/>
                </a:solidFill>
                <a:effectLst/>
                <a:latin typeface="JetBrains Mono" panose="02000009000000000000" pitchFamily="49" charset="0"/>
              </a:rPr>
              <a:t>sync_linearize_cas</a:t>
            </a:r>
            <a:r>
              <a:rPr lang="en-US" sz="1000" b="0">
                <a:solidFill>
                  <a:srgbClr val="CCCCCC"/>
                </a:solidFill>
                <a:effectLst/>
                <a:latin typeface="JetBrains Mono" panose="02000009000000000000" pitchFamily="49" charset="0"/>
              </a:rPr>
              <a:t>(</a:t>
            </a:r>
            <a:r>
              <a:rPr lang="en-US" sz="1000" b="0">
                <a:solidFill>
                  <a:srgbClr val="D4D4D4"/>
                </a:solidFill>
                <a:effectLst/>
                <a:latin typeface="JetBrains Mono" panose="02000009000000000000" pitchFamily="49" charset="0"/>
              </a:rPr>
              <a:t>&amp;</a:t>
            </a:r>
            <a:r>
              <a:rPr lang="en-US" sz="1000" b="0">
                <a:solidFill>
                  <a:srgbClr val="569CD6"/>
                </a:solidFill>
                <a:effectLst/>
                <a:latin typeface="JetBrains Mono" panose="02000009000000000000" pitchFamily="49" charset="0"/>
              </a:rPr>
              <a:t>this</a:t>
            </a:r>
            <a:r>
              <a:rPr lang="en-US" sz="1000" b="0">
                <a:solidFill>
                  <a:srgbClr val="CCCCCC"/>
                </a:solidFill>
                <a:effectLst/>
                <a:latin typeface="JetBrains Mono" panose="02000009000000000000" pitchFamily="49" charset="0"/>
              </a:rPr>
              <a:t>-&gt;</a:t>
            </a:r>
            <a:r>
              <a:rPr lang="en-US" sz="1000" b="0">
                <a:solidFill>
                  <a:srgbClr val="9CDCFE"/>
                </a:solidFill>
                <a:effectLst/>
                <a:latin typeface="JetBrains Mono" panose="02000009000000000000" pitchFamily="49" charset="0"/>
              </a:rPr>
              <a:t>head</a:t>
            </a:r>
            <a:r>
              <a:rPr lang="en-US" sz="1000" b="0">
                <a:solidFill>
                  <a:srgbClr val="CCCCCC"/>
                </a:solidFill>
                <a:effectLst/>
                <a:latin typeface="JetBrains Mono" panose="02000009000000000000" pitchFamily="49" charset="0"/>
              </a:rPr>
              <a:t>, </a:t>
            </a:r>
            <a:r>
              <a:rPr lang="en-US" sz="1000" b="0" err="1">
                <a:solidFill>
                  <a:srgbClr val="CCCCCC"/>
                </a:solidFill>
                <a:effectLst/>
                <a:latin typeface="JetBrains Mono" panose="02000009000000000000" pitchFamily="49" charset="0"/>
              </a:rPr>
              <a:t>old_head</a:t>
            </a:r>
            <a:r>
              <a:rPr lang="en-US" sz="1000" b="0">
                <a:solidFill>
                  <a:srgbClr val="CCCCCC"/>
                </a:solidFill>
                <a:effectLst/>
                <a:latin typeface="JetBrains Mono" panose="02000009000000000000" pitchFamily="49" charset="0"/>
              </a:rPr>
              <a:t>, n)) {</a:t>
            </a:r>
          </a:p>
          <a:p>
            <a:pPr>
              <a:lnSpc>
                <a:spcPts val="1425"/>
              </a:lnSpc>
              <a:buNone/>
            </a:pPr>
            <a:r>
              <a:rPr lang="en-US" sz="1000" b="0">
                <a:solidFill>
                  <a:srgbClr val="CCCCCC"/>
                </a:solidFill>
                <a:effectLst/>
                <a:latin typeface="JetBrains Mono" panose="02000009000000000000" pitchFamily="49" charset="0"/>
              </a:rPr>
              <a:t>        </a:t>
            </a:r>
            <a:r>
              <a:rPr lang="en-US" sz="1000" b="0">
                <a:solidFill>
                  <a:srgbClr val="C586C0"/>
                </a:solidFill>
                <a:effectLst/>
                <a:latin typeface="JetBrains Mono" panose="02000009000000000000" pitchFamily="49" charset="0"/>
              </a:rPr>
              <a:t>return</a:t>
            </a:r>
            <a:r>
              <a:rPr lang="en-US" sz="1000" b="0">
                <a:solidFill>
                  <a:srgbClr val="CCCCCC"/>
                </a:solidFill>
                <a:effectLst/>
                <a:latin typeface="JetBrains Mono" panose="02000009000000000000" pitchFamily="49" charset="0"/>
              </a:rPr>
              <a:t>;</a:t>
            </a:r>
            <a:r>
              <a:rPr lang="en-US" sz="1000" b="0">
                <a:solidFill>
                  <a:srgbClr val="6A9955"/>
                </a:solidFill>
                <a:effectLst/>
                <a:latin typeface="JetBrains Mono" panose="02000009000000000000" pitchFamily="49" charset="0"/>
              </a:rPr>
              <a:t> // Success</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CCCCCC"/>
                </a:solidFill>
                <a:effectLst/>
                <a:latin typeface="JetBrains Mono" panose="02000009000000000000" pitchFamily="49" charset="0"/>
              </a:rPr>
              <a:t>      }</a:t>
            </a:r>
          </a:p>
          <a:p>
            <a:pPr>
              <a:lnSpc>
                <a:spcPts val="1425"/>
              </a:lnSpc>
              <a:buNone/>
            </a:pPr>
            <a:r>
              <a:rPr lang="en-US" sz="1000" b="0">
                <a:solidFill>
                  <a:srgbClr val="6A9955"/>
                </a:solidFill>
                <a:effectLst/>
                <a:latin typeface="JetBrains Mono" panose="02000009000000000000" pitchFamily="49" charset="0"/>
              </a:rPr>
              <a:t>      // (Automatic retry loop if outside transaction)</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CCCCCC"/>
                </a:solidFill>
                <a:effectLst/>
                <a:latin typeface="JetBrains Mono" panose="02000009000000000000" pitchFamily="49" charset="0"/>
              </a:rPr>
              <a:t>    }</a:t>
            </a:r>
          </a:p>
          <a:p>
            <a:pPr>
              <a:lnSpc>
                <a:spcPts val="1425"/>
              </a:lnSpc>
              <a:buNone/>
            </a:pPr>
            <a:r>
              <a:rPr lang="en-US" sz="1000" b="0">
                <a:solidFill>
                  <a:srgbClr val="CCCCCC"/>
                </a:solidFill>
                <a:effectLst/>
                <a:latin typeface="JetBrains Mono" panose="02000009000000000000" pitchFamily="49" charset="0"/>
              </a:rPr>
              <a:t>  }</a:t>
            </a:r>
          </a:p>
          <a:p>
            <a:pPr>
              <a:lnSpc>
                <a:spcPts val="1425"/>
              </a:lnSpc>
              <a:buNone/>
            </a:pPr>
            <a:endParaRPr lang="en-US" sz="1000" b="0">
              <a:solidFill>
                <a:srgbClr val="CCCCCC"/>
              </a:solidFill>
              <a:effectLst/>
              <a:latin typeface="JetBrains Mono" panose="02000009000000000000" pitchFamily="49" charset="0"/>
            </a:endParaRPr>
          </a:p>
        </p:txBody>
      </p:sp>
      <p:sp>
        <p:nvSpPr>
          <p:cNvPr id="6" name="Rectangle 2">
            <a:extLst>
              <a:ext uri="{FF2B5EF4-FFF2-40B4-BE49-F238E27FC236}">
                <a16:creationId xmlns:a16="http://schemas.microsoft.com/office/drawing/2014/main" id="{87582ECA-F1D2-CF96-5D9C-0A2446AE2755}"/>
              </a:ext>
            </a:extLst>
          </p:cNvPr>
          <p:cNvSpPr>
            <a:spLocks noChangeArrowheads="1"/>
          </p:cNvSpPr>
          <p:nvPr/>
        </p:nvSpPr>
        <p:spPr bwMode="auto">
          <a:xfrm>
            <a:off x="233910" y="769047"/>
            <a:ext cx="1149192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a:solidFill>
                  <a:srgbClr val="3333FF"/>
                </a:solidFill>
              </a:rPr>
              <a:t>Phase 1: The User Contract (Annotations)</a:t>
            </a:r>
          </a:p>
          <a:p>
            <a:r>
              <a:rPr lang="en-US" sz="1400" b="1" i="0">
                <a:effectLst/>
                <a:latin typeface="Inter"/>
              </a:rPr>
              <a:t>The user writes a standard data structure (e.g., a Stack) but uses a special intrinsic or attribute to indicate</a:t>
            </a:r>
            <a:endParaRPr kumimoji="0" lang="en-US" altLang="en-US" sz="1050" i="0" u="none" strike="noStrike" cap="none" normalizeH="0" baseline="0">
              <a:ln>
                <a:noFill/>
              </a:ln>
              <a:effectLst/>
            </a:endParaRPr>
          </a:p>
        </p:txBody>
      </p:sp>
      <p:sp>
        <p:nvSpPr>
          <p:cNvPr id="4" name="TextBox 3">
            <a:extLst>
              <a:ext uri="{FF2B5EF4-FFF2-40B4-BE49-F238E27FC236}">
                <a16:creationId xmlns:a16="http://schemas.microsoft.com/office/drawing/2014/main" id="{166BF9CC-333B-E4B9-0C31-40A7659FF75F}"/>
              </a:ext>
            </a:extLst>
          </p:cNvPr>
          <p:cNvSpPr txBox="1"/>
          <p:nvPr/>
        </p:nvSpPr>
        <p:spPr>
          <a:xfrm>
            <a:off x="5979872" y="1483447"/>
            <a:ext cx="5371761" cy="5109412"/>
          </a:xfrm>
          <a:prstGeom prst="rect">
            <a:avLst/>
          </a:prstGeom>
          <a:solidFill>
            <a:srgbClr val="1F1F1F"/>
          </a:solidFill>
        </p:spPr>
        <p:txBody>
          <a:bodyPr wrap="square">
            <a:spAutoFit/>
          </a:bodyPr>
          <a:lstStyle/>
          <a:p>
            <a:pPr>
              <a:lnSpc>
                <a:spcPts val="1425"/>
              </a:lnSpc>
              <a:buNone/>
            </a:pPr>
            <a:r>
              <a:rPr lang="en-US" sz="1000" b="0">
                <a:solidFill>
                  <a:srgbClr val="CCCCCC"/>
                </a:solidFill>
                <a:effectLst/>
                <a:latin typeface="JetBrains Mono" panose="02000009000000000000" pitchFamily="49" charset="0"/>
              </a:rPr>
              <a:t>  </a:t>
            </a:r>
            <a:r>
              <a:rPr lang="en-US" sz="1000" b="0">
                <a:solidFill>
                  <a:srgbClr val="569CD6"/>
                </a:solidFill>
                <a:effectLst/>
                <a:latin typeface="JetBrains Mono" panose="02000009000000000000" pitchFamily="49" charset="0"/>
              </a:rPr>
              <a:t>int</a:t>
            </a:r>
            <a:r>
              <a:rPr lang="en-US" sz="1000" b="0">
                <a:solidFill>
                  <a:srgbClr val="CCCCCC"/>
                </a:solidFill>
                <a:effectLst/>
                <a:latin typeface="JetBrains Mono" panose="02000009000000000000" pitchFamily="49" charset="0"/>
              </a:rPr>
              <a:t> </a:t>
            </a:r>
            <a:r>
              <a:rPr lang="en-US" sz="1000" b="0">
                <a:solidFill>
                  <a:srgbClr val="DCDCAA"/>
                </a:solidFill>
                <a:effectLst/>
                <a:latin typeface="JetBrains Mono" panose="02000009000000000000" pitchFamily="49" charset="0"/>
              </a:rPr>
              <a:t>pop</a:t>
            </a:r>
            <a:r>
              <a:rPr lang="en-US" sz="1000" b="0">
                <a:solidFill>
                  <a:srgbClr val="CCCCCC"/>
                </a:solidFill>
                <a:effectLst/>
                <a:latin typeface="JetBrains Mono" panose="02000009000000000000" pitchFamily="49" charset="0"/>
              </a:rPr>
              <a:t>() {</a:t>
            </a:r>
          </a:p>
          <a:p>
            <a:pPr>
              <a:lnSpc>
                <a:spcPts val="1425"/>
              </a:lnSpc>
              <a:buNone/>
            </a:pPr>
            <a:r>
              <a:rPr lang="en-US" sz="1000" b="0">
                <a:solidFill>
                  <a:srgbClr val="CCCCCC"/>
                </a:solidFill>
                <a:effectLst/>
                <a:latin typeface="JetBrains Mono" panose="02000009000000000000" pitchFamily="49" charset="0"/>
              </a:rPr>
              <a:t>    </a:t>
            </a:r>
            <a:r>
              <a:rPr lang="en-US" sz="1000" b="0">
                <a:solidFill>
                  <a:srgbClr val="C586C0"/>
                </a:solidFill>
                <a:effectLst/>
                <a:latin typeface="JetBrains Mono" panose="02000009000000000000" pitchFamily="49" charset="0"/>
              </a:rPr>
              <a:t>while</a:t>
            </a:r>
            <a:r>
              <a:rPr lang="en-US" sz="1000" b="0">
                <a:solidFill>
                  <a:srgbClr val="CCCCCC"/>
                </a:solidFill>
                <a:effectLst/>
                <a:latin typeface="JetBrains Mono" panose="02000009000000000000" pitchFamily="49" charset="0"/>
              </a:rPr>
              <a:t> (</a:t>
            </a:r>
            <a:r>
              <a:rPr lang="en-US" sz="1000" b="0">
                <a:solidFill>
                  <a:srgbClr val="569CD6"/>
                </a:solidFill>
                <a:effectLst/>
                <a:latin typeface="JetBrains Mono" panose="02000009000000000000" pitchFamily="49" charset="0"/>
              </a:rPr>
              <a:t>true</a:t>
            </a:r>
            <a:r>
              <a:rPr lang="en-US" sz="1000" b="0">
                <a:solidFill>
                  <a:srgbClr val="CCCCCC"/>
                </a:solidFill>
                <a:effectLst/>
                <a:latin typeface="JetBrains Mono" panose="02000009000000000000" pitchFamily="49" charset="0"/>
              </a:rPr>
              <a:t>) {</a:t>
            </a:r>
          </a:p>
          <a:p>
            <a:pPr>
              <a:lnSpc>
                <a:spcPts val="1425"/>
              </a:lnSpc>
              <a:buNone/>
            </a:pPr>
            <a:r>
              <a:rPr lang="en-US" sz="1000" b="0">
                <a:solidFill>
                  <a:srgbClr val="CCCCCC"/>
                </a:solidFill>
                <a:effectLst/>
                <a:latin typeface="JetBrains Mono" panose="02000009000000000000" pitchFamily="49" charset="0"/>
              </a:rPr>
              <a:t>      Node </a:t>
            </a:r>
            <a:r>
              <a:rPr lang="en-US" sz="1000" b="0">
                <a:solidFill>
                  <a:srgbClr val="D4D4D4"/>
                </a:solidFill>
                <a:effectLst/>
                <a:latin typeface="JetBrains Mono" panose="02000009000000000000" pitchFamily="49" charset="0"/>
              </a:rPr>
              <a:t>*</a:t>
            </a:r>
            <a:r>
              <a:rPr lang="en-US" sz="1000" b="0" err="1">
                <a:solidFill>
                  <a:srgbClr val="CCCCCC"/>
                </a:solidFill>
                <a:effectLst/>
                <a:latin typeface="JetBrains Mono" panose="02000009000000000000" pitchFamily="49" charset="0"/>
              </a:rPr>
              <a:t>old_head</a:t>
            </a:r>
            <a:r>
              <a:rPr lang="en-US" sz="1000" b="0">
                <a:solidFill>
                  <a:srgbClr val="CCCCCC"/>
                </a:solidFill>
                <a:effectLst/>
                <a:latin typeface="JetBrains Mono" panose="02000009000000000000" pitchFamily="49" charset="0"/>
              </a:rPr>
              <a:t> </a:t>
            </a:r>
            <a:r>
              <a:rPr lang="en-US" sz="1000" b="0">
                <a:solidFill>
                  <a:srgbClr val="D4D4D4"/>
                </a:solidFill>
                <a:effectLst/>
                <a:latin typeface="JetBrains Mono" panose="02000009000000000000" pitchFamily="49" charset="0"/>
              </a:rPr>
              <a:t>=</a:t>
            </a:r>
            <a:r>
              <a:rPr lang="en-US" sz="1000" b="0">
                <a:solidFill>
                  <a:srgbClr val="CCCCCC"/>
                </a:solidFill>
                <a:effectLst/>
                <a:latin typeface="JetBrains Mono" panose="02000009000000000000" pitchFamily="49" charset="0"/>
              </a:rPr>
              <a:t> </a:t>
            </a:r>
            <a:r>
              <a:rPr lang="en-US" sz="1000" b="0">
                <a:solidFill>
                  <a:srgbClr val="569CD6"/>
                </a:solidFill>
                <a:effectLst/>
                <a:latin typeface="JetBrains Mono" panose="02000009000000000000" pitchFamily="49" charset="0"/>
              </a:rPr>
              <a:t>this</a:t>
            </a:r>
            <a:r>
              <a:rPr lang="en-US" sz="1000" b="0">
                <a:solidFill>
                  <a:srgbClr val="CCCCCC"/>
                </a:solidFill>
                <a:effectLst/>
                <a:latin typeface="JetBrains Mono" panose="02000009000000000000" pitchFamily="49" charset="0"/>
              </a:rPr>
              <a:t>-&gt;</a:t>
            </a:r>
            <a:r>
              <a:rPr lang="en-US" sz="1000" b="0">
                <a:solidFill>
                  <a:srgbClr val="9CDCFE"/>
                </a:solidFill>
                <a:effectLst/>
                <a:latin typeface="JetBrains Mono" panose="02000009000000000000" pitchFamily="49" charset="0"/>
              </a:rPr>
              <a:t>head</a:t>
            </a:r>
            <a:r>
              <a:rPr lang="en-US" sz="1000" b="0">
                <a:solidFill>
                  <a:srgbClr val="CCCCCC"/>
                </a:solidFill>
                <a:effectLst/>
                <a:latin typeface="JetBrains Mono" panose="02000009000000000000" pitchFamily="49" charset="0"/>
              </a:rPr>
              <a:t>;</a:t>
            </a:r>
          </a:p>
          <a:p>
            <a:pPr>
              <a:lnSpc>
                <a:spcPts val="1425"/>
              </a:lnSpc>
              <a:buNone/>
            </a:pPr>
            <a:r>
              <a:rPr lang="en-US" sz="1000" b="0">
                <a:solidFill>
                  <a:srgbClr val="CCCCCC"/>
                </a:solidFill>
                <a:effectLst/>
                <a:latin typeface="JetBrains Mono" panose="02000009000000000000" pitchFamily="49" charset="0"/>
              </a:rPr>
              <a:t>      </a:t>
            </a:r>
            <a:r>
              <a:rPr lang="en-US" sz="1000" b="0">
                <a:solidFill>
                  <a:srgbClr val="C586C0"/>
                </a:solidFill>
                <a:effectLst/>
                <a:latin typeface="JetBrains Mono" panose="02000009000000000000" pitchFamily="49" charset="0"/>
              </a:rPr>
              <a:t>if</a:t>
            </a:r>
            <a:r>
              <a:rPr lang="en-US" sz="1000" b="0">
                <a:solidFill>
                  <a:srgbClr val="CCCCCC"/>
                </a:solidFill>
                <a:effectLst/>
                <a:latin typeface="JetBrains Mono" panose="02000009000000000000" pitchFamily="49" charset="0"/>
              </a:rPr>
              <a:t> (</a:t>
            </a:r>
            <a:r>
              <a:rPr lang="en-US" sz="1000" b="0">
                <a:solidFill>
                  <a:srgbClr val="D4D4D4"/>
                </a:solidFill>
                <a:effectLst/>
                <a:latin typeface="JetBrains Mono" panose="02000009000000000000" pitchFamily="49" charset="0"/>
              </a:rPr>
              <a:t>!</a:t>
            </a:r>
            <a:r>
              <a:rPr lang="en-US" sz="1000" b="0" err="1">
                <a:solidFill>
                  <a:srgbClr val="CCCCCC"/>
                </a:solidFill>
                <a:effectLst/>
                <a:latin typeface="JetBrains Mono" panose="02000009000000000000" pitchFamily="49" charset="0"/>
              </a:rPr>
              <a:t>old_head</a:t>
            </a:r>
            <a:r>
              <a:rPr lang="en-US" sz="1000" b="0">
                <a:solidFill>
                  <a:srgbClr val="CCCCCC"/>
                </a:solidFill>
                <a:effectLst/>
                <a:latin typeface="JetBrains Mono" panose="02000009000000000000" pitchFamily="49" charset="0"/>
              </a:rPr>
              <a:t>)</a:t>
            </a:r>
          </a:p>
          <a:p>
            <a:pPr>
              <a:lnSpc>
                <a:spcPts val="1425"/>
              </a:lnSpc>
              <a:buNone/>
            </a:pPr>
            <a:r>
              <a:rPr lang="en-US" sz="1000" b="0">
                <a:solidFill>
                  <a:srgbClr val="CCCCCC"/>
                </a:solidFill>
                <a:effectLst/>
                <a:latin typeface="JetBrains Mono" panose="02000009000000000000" pitchFamily="49" charset="0"/>
              </a:rPr>
              <a:t>        </a:t>
            </a:r>
            <a:r>
              <a:rPr lang="en-US" sz="1000" b="0">
                <a:solidFill>
                  <a:srgbClr val="C586C0"/>
                </a:solidFill>
                <a:effectLst/>
                <a:latin typeface="JetBrains Mono" panose="02000009000000000000" pitchFamily="49" charset="0"/>
              </a:rPr>
              <a:t>return</a:t>
            </a:r>
            <a:r>
              <a:rPr lang="en-US" sz="1000" b="0">
                <a:solidFill>
                  <a:srgbClr val="CCCCCC"/>
                </a:solidFill>
                <a:effectLst/>
                <a:latin typeface="JetBrains Mono" panose="02000009000000000000" pitchFamily="49" charset="0"/>
              </a:rPr>
              <a:t> </a:t>
            </a:r>
            <a:r>
              <a:rPr lang="en-US" sz="1000" b="0">
                <a:solidFill>
                  <a:srgbClr val="D4D4D4"/>
                </a:solidFill>
                <a:effectLst/>
                <a:latin typeface="JetBrains Mono" panose="02000009000000000000" pitchFamily="49" charset="0"/>
              </a:rPr>
              <a:t>-</a:t>
            </a:r>
            <a:r>
              <a:rPr lang="en-US" sz="1000" b="0">
                <a:solidFill>
                  <a:srgbClr val="B5CEA8"/>
                </a:solidFill>
                <a:effectLst/>
                <a:latin typeface="JetBrains Mono" panose="02000009000000000000" pitchFamily="49" charset="0"/>
              </a:rPr>
              <a:t>1</a:t>
            </a:r>
            <a:r>
              <a:rPr lang="en-US" sz="1000" b="0">
                <a:solidFill>
                  <a:srgbClr val="CCCCCC"/>
                </a:solidFill>
                <a:effectLst/>
                <a:latin typeface="JetBrains Mono" panose="02000009000000000000" pitchFamily="49" charset="0"/>
              </a:rPr>
              <a:t>;</a:t>
            </a:r>
          </a:p>
          <a:p>
            <a:pPr>
              <a:lnSpc>
                <a:spcPts val="1425"/>
              </a:lnSpc>
              <a:buNone/>
            </a:pPr>
            <a:r>
              <a:rPr lang="en-US" sz="1000" b="0">
                <a:solidFill>
                  <a:srgbClr val="CCCCCC"/>
                </a:solidFill>
                <a:effectLst/>
                <a:latin typeface="JetBrains Mono" panose="02000009000000000000" pitchFamily="49" charset="0"/>
              </a:rPr>
              <a:t>      Node </a:t>
            </a:r>
            <a:r>
              <a:rPr lang="en-US" sz="1000" b="0">
                <a:solidFill>
                  <a:srgbClr val="D4D4D4"/>
                </a:solidFill>
                <a:effectLst/>
                <a:latin typeface="JetBrains Mono" panose="02000009000000000000" pitchFamily="49" charset="0"/>
              </a:rPr>
              <a:t>*</a:t>
            </a:r>
            <a:r>
              <a:rPr lang="en-US" sz="1000" b="0">
                <a:solidFill>
                  <a:srgbClr val="CCCCCC"/>
                </a:solidFill>
                <a:effectLst/>
                <a:latin typeface="JetBrains Mono" panose="02000009000000000000" pitchFamily="49" charset="0"/>
              </a:rPr>
              <a:t>next </a:t>
            </a:r>
            <a:r>
              <a:rPr lang="en-US" sz="1000" b="0">
                <a:solidFill>
                  <a:srgbClr val="D4D4D4"/>
                </a:solidFill>
                <a:effectLst/>
                <a:latin typeface="JetBrains Mono" panose="02000009000000000000" pitchFamily="49" charset="0"/>
              </a:rPr>
              <a:t>=</a:t>
            </a:r>
            <a:r>
              <a:rPr lang="en-US" sz="1000" b="0">
                <a:solidFill>
                  <a:srgbClr val="CCCCCC"/>
                </a:solidFill>
                <a:effectLst/>
                <a:latin typeface="JetBrains Mono" panose="02000009000000000000" pitchFamily="49" charset="0"/>
              </a:rPr>
              <a:t> </a:t>
            </a:r>
            <a:r>
              <a:rPr lang="en-US" sz="1000" b="0" err="1">
                <a:solidFill>
                  <a:srgbClr val="9CDCFE"/>
                </a:solidFill>
                <a:effectLst/>
                <a:latin typeface="JetBrains Mono" panose="02000009000000000000" pitchFamily="49" charset="0"/>
              </a:rPr>
              <a:t>old_head</a:t>
            </a:r>
            <a:r>
              <a:rPr lang="en-US" sz="1000" b="0">
                <a:solidFill>
                  <a:srgbClr val="CCCCCC"/>
                </a:solidFill>
                <a:effectLst/>
                <a:latin typeface="JetBrains Mono" panose="02000009000000000000" pitchFamily="49" charset="0"/>
              </a:rPr>
              <a:t>-&gt;</a:t>
            </a:r>
            <a:r>
              <a:rPr lang="en-US" sz="1000" b="0">
                <a:solidFill>
                  <a:srgbClr val="9CDCFE"/>
                </a:solidFill>
                <a:effectLst/>
                <a:latin typeface="JetBrains Mono" panose="02000009000000000000" pitchFamily="49" charset="0"/>
              </a:rPr>
              <a:t>next</a:t>
            </a:r>
            <a:r>
              <a:rPr lang="en-US" sz="1000" b="0">
                <a:solidFill>
                  <a:srgbClr val="CCCCCC"/>
                </a:solidFill>
                <a:effectLst/>
                <a:latin typeface="JetBrains Mono" panose="02000009000000000000" pitchFamily="49" charset="0"/>
              </a:rPr>
              <a:t>;</a:t>
            </a:r>
          </a:p>
          <a:p>
            <a:pPr>
              <a:lnSpc>
                <a:spcPts val="1425"/>
              </a:lnSpc>
              <a:buNone/>
            </a:pPr>
            <a:br>
              <a:rPr lang="en-US" sz="1000" b="0">
                <a:solidFill>
                  <a:srgbClr val="CCCCCC"/>
                </a:solidFill>
                <a:effectLst/>
                <a:latin typeface="JetBrains Mono" panose="02000009000000000000" pitchFamily="49" charset="0"/>
              </a:rPr>
            </a:b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6A9955"/>
                </a:solidFill>
                <a:effectLst/>
                <a:latin typeface="JetBrains Mono" panose="02000009000000000000" pitchFamily="49" charset="0"/>
              </a:rPr>
              <a:t>      // LINEARIZATION POINT</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CCCCCC"/>
                </a:solidFill>
                <a:effectLst/>
                <a:latin typeface="JetBrains Mono" panose="02000009000000000000" pitchFamily="49" charset="0"/>
              </a:rPr>
              <a:t>      </a:t>
            </a:r>
            <a:r>
              <a:rPr lang="en-US" sz="1000" b="0">
                <a:solidFill>
                  <a:srgbClr val="C586C0"/>
                </a:solidFill>
                <a:effectLst/>
                <a:latin typeface="JetBrains Mono" panose="02000009000000000000" pitchFamily="49" charset="0"/>
              </a:rPr>
              <a:t>if</a:t>
            </a:r>
            <a:r>
              <a:rPr lang="en-US" sz="1000" b="0">
                <a:solidFill>
                  <a:srgbClr val="CCCCCC"/>
                </a:solidFill>
                <a:effectLst/>
                <a:latin typeface="JetBrains Mono" panose="02000009000000000000" pitchFamily="49" charset="0"/>
              </a:rPr>
              <a:t> (</a:t>
            </a:r>
            <a:r>
              <a:rPr lang="en-US" sz="1000" b="0">
                <a:solidFill>
                  <a:srgbClr val="DCDCAA"/>
                </a:solidFill>
                <a:effectLst/>
                <a:latin typeface="JetBrains Mono" panose="02000009000000000000" pitchFamily="49" charset="0"/>
              </a:rPr>
              <a:t>__</a:t>
            </a:r>
            <a:r>
              <a:rPr lang="en-US" sz="1000" b="0" err="1">
                <a:solidFill>
                  <a:srgbClr val="DCDCAA"/>
                </a:solidFill>
                <a:effectLst/>
                <a:latin typeface="JetBrains Mono" panose="02000009000000000000" pitchFamily="49" charset="0"/>
              </a:rPr>
              <a:t>sync_linearize_cas</a:t>
            </a:r>
            <a:r>
              <a:rPr lang="en-US" sz="1000" b="0">
                <a:solidFill>
                  <a:srgbClr val="CCCCCC"/>
                </a:solidFill>
                <a:effectLst/>
                <a:latin typeface="JetBrains Mono" panose="02000009000000000000" pitchFamily="49" charset="0"/>
              </a:rPr>
              <a:t>(</a:t>
            </a:r>
            <a:r>
              <a:rPr lang="en-US" sz="1000" b="0">
                <a:solidFill>
                  <a:srgbClr val="D4D4D4"/>
                </a:solidFill>
                <a:effectLst/>
                <a:latin typeface="JetBrains Mono" panose="02000009000000000000" pitchFamily="49" charset="0"/>
              </a:rPr>
              <a:t>&amp;</a:t>
            </a:r>
            <a:r>
              <a:rPr lang="en-US" sz="1000" b="0">
                <a:solidFill>
                  <a:srgbClr val="569CD6"/>
                </a:solidFill>
                <a:effectLst/>
                <a:latin typeface="JetBrains Mono" panose="02000009000000000000" pitchFamily="49" charset="0"/>
              </a:rPr>
              <a:t>this</a:t>
            </a:r>
            <a:r>
              <a:rPr lang="en-US" sz="1000" b="0">
                <a:solidFill>
                  <a:srgbClr val="CCCCCC"/>
                </a:solidFill>
                <a:effectLst/>
                <a:latin typeface="JetBrains Mono" panose="02000009000000000000" pitchFamily="49" charset="0"/>
              </a:rPr>
              <a:t>-&gt;</a:t>
            </a:r>
            <a:r>
              <a:rPr lang="en-US" sz="1000" b="0">
                <a:solidFill>
                  <a:srgbClr val="9CDCFE"/>
                </a:solidFill>
                <a:effectLst/>
                <a:latin typeface="JetBrains Mono" panose="02000009000000000000" pitchFamily="49" charset="0"/>
              </a:rPr>
              <a:t>head</a:t>
            </a:r>
            <a:r>
              <a:rPr lang="en-US" sz="1000" b="0">
                <a:solidFill>
                  <a:srgbClr val="CCCCCC"/>
                </a:solidFill>
                <a:effectLst/>
                <a:latin typeface="JetBrains Mono" panose="02000009000000000000" pitchFamily="49" charset="0"/>
              </a:rPr>
              <a:t>, </a:t>
            </a:r>
            <a:r>
              <a:rPr lang="en-US" sz="1000" b="0" err="1">
                <a:solidFill>
                  <a:srgbClr val="CCCCCC"/>
                </a:solidFill>
                <a:effectLst/>
                <a:latin typeface="JetBrains Mono" panose="02000009000000000000" pitchFamily="49" charset="0"/>
              </a:rPr>
              <a:t>old_head</a:t>
            </a:r>
            <a:r>
              <a:rPr lang="en-US" sz="1000" b="0">
                <a:solidFill>
                  <a:srgbClr val="CCCCCC"/>
                </a:solidFill>
                <a:effectLst/>
                <a:latin typeface="JetBrains Mono" panose="02000009000000000000" pitchFamily="49" charset="0"/>
              </a:rPr>
              <a:t>, next)) {</a:t>
            </a:r>
          </a:p>
          <a:p>
            <a:pPr>
              <a:lnSpc>
                <a:spcPts val="1425"/>
              </a:lnSpc>
              <a:buNone/>
            </a:pPr>
            <a:r>
              <a:rPr lang="en-US" sz="1000" b="0">
                <a:solidFill>
                  <a:srgbClr val="CCCCCC"/>
                </a:solidFill>
                <a:effectLst/>
                <a:latin typeface="JetBrains Mono" panose="02000009000000000000" pitchFamily="49" charset="0"/>
              </a:rPr>
              <a:t>        </a:t>
            </a:r>
            <a:r>
              <a:rPr lang="en-US" sz="1000" b="0">
                <a:solidFill>
                  <a:srgbClr val="C586C0"/>
                </a:solidFill>
                <a:effectLst/>
                <a:latin typeface="JetBrains Mono" panose="02000009000000000000" pitchFamily="49" charset="0"/>
              </a:rPr>
              <a:t>delete</a:t>
            </a:r>
            <a:r>
              <a:rPr lang="en-US" sz="1000" b="0">
                <a:solidFill>
                  <a:srgbClr val="CCCCCC"/>
                </a:solidFill>
                <a:effectLst/>
                <a:latin typeface="JetBrains Mono" panose="02000009000000000000" pitchFamily="49" charset="0"/>
              </a:rPr>
              <a:t> </a:t>
            </a:r>
            <a:r>
              <a:rPr lang="en-US" sz="1000" b="0" err="1">
                <a:solidFill>
                  <a:srgbClr val="CCCCCC"/>
                </a:solidFill>
                <a:effectLst/>
                <a:latin typeface="JetBrains Mono" panose="02000009000000000000" pitchFamily="49" charset="0"/>
              </a:rPr>
              <a:t>old_head</a:t>
            </a:r>
            <a:r>
              <a:rPr lang="en-US" sz="1000" b="0">
                <a:solidFill>
                  <a:srgbClr val="CCCCCC"/>
                </a:solidFill>
                <a:effectLst/>
                <a:latin typeface="JetBrains Mono" panose="02000009000000000000" pitchFamily="49" charset="0"/>
              </a:rPr>
              <a:t>;</a:t>
            </a:r>
            <a:r>
              <a:rPr lang="en-US" sz="1000" b="0">
                <a:solidFill>
                  <a:srgbClr val="6A9955"/>
                </a:solidFill>
                <a:effectLst/>
                <a:latin typeface="JetBrains Mono" panose="02000009000000000000" pitchFamily="49" charset="0"/>
              </a:rPr>
              <a:t> // Cleanup Phase</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CCCCCC"/>
                </a:solidFill>
                <a:effectLst/>
                <a:latin typeface="JetBrains Mono" panose="02000009000000000000" pitchFamily="49" charset="0"/>
              </a:rPr>
              <a:t>        </a:t>
            </a:r>
            <a:r>
              <a:rPr lang="en-US" sz="1000" b="0">
                <a:solidFill>
                  <a:srgbClr val="C586C0"/>
                </a:solidFill>
                <a:effectLst/>
                <a:latin typeface="JetBrains Mono" panose="02000009000000000000" pitchFamily="49" charset="0"/>
              </a:rPr>
              <a:t>return</a:t>
            </a:r>
            <a:r>
              <a:rPr lang="en-US" sz="1000" b="0">
                <a:solidFill>
                  <a:srgbClr val="CCCCCC"/>
                </a:solidFill>
                <a:effectLst/>
                <a:latin typeface="JetBrains Mono" panose="02000009000000000000" pitchFamily="49" charset="0"/>
              </a:rPr>
              <a:t> </a:t>
            </a:r>
            <a:r>
              <a:rPr lang="en-US" sz="1000" b="0" err="1">
                <a:solidFill>
                  <a:srgbClr val="9CDCFE"/>
                </a:solidFill>
                <a:effectLst/>
                <a:latin typeface="JetBrains Mono" panose="02000009000000000000" pitchFamily="49" charset="0"/>
              </a:rPr>
              <a:t>old_head</a:t>
            </a:r>
            <a:r>
              <a:rPr lang="en-US" sz="1000" b="0">
                <a:solidFill>
                  <a:srgbClr val="CCCCCC"/>
                </a:solidFill>
                <a:effectLst/>
                <a:latin typeface="JetBrains Mono" panose="02000009000000000000" pitchFamily="49" charset="0"/>
              </a:rPr>
              <a:t>-&gt;</a:t>
            </a:r>
            <a:r>
              <a:rPr lang="en-US" sz="1000" b="0" err="1">
                <a:solidFill>
                  <a:srgbClr val="9CDCFE"/>
                </a:solidFill>
                <a:effectLst/>
                <a:latin typeface="JetBrains Mono" panose="02000009000000000000" pitchFamily="49" charset="0"/>
              </a:rPr>
              <a:t>val</a:t>
            </a:r>
            <a:r>
              <a:rPr lang="en-US" sz="1000" b="0">
                <a:solidFill>
                  <a:srgbClr val="CCCCCC"/>
                </a:solidFill>
                <a:effectLst/>
                <a:latin typeface="JetBrains Mono" panose="02000009000000000000" pitchFamily="49" charset="0"/>
              </a:rPr>
              <a:t>;</a:t>
            </a:r>
          </a:p>
          <a:p>
            <a:pPr>
              <a:lnSpc>
                <a:spcPts val="1425"/>
              </a:lnSpc>
              <a:buNone/>
            </a:pPr>
            <a:r>
              <a:rPr lang="en-US" sz="1000" b="0">
                <a:solidFill>
                  <a:srgbClr val="CCCCCC"/>
                </a:solidFill>
                <a:effectLst/>
                <a:latin typeface="JetBrains Mono" panose="02000009000000000000" pitchFamily="49" charset="0"/>
              </a:rPr>
              <a:t>      }</a:t>
            </a:r>
          </a:p>
          <a:p>
            <a:pPr>
              <a:lnSpc>
                <a:spcPts val="1425"/>
              </a:lnSpc>
              <a:buNone/>
            </a:pPr>
            <a:r>
              <a:rPr lang="en-US" sz="1000" b="0">
                <a:solidFill>
                  <a:srgbClr val="CCCCCC"/>
                </a:solidFill>
                <a:effectLst/>
                <a:latin typeface="JetBrains Mono" panose="02000009000000000000" pitchFamily="49" charset="0"/>
              </a:rPr>
              <a:t>    }</a:t>
            </a:r>
          </a:p>
          <a:p>
            <a:pPr>
              <a:lnSpc>
                <a:spcPts val="1425"/>
              </a:lnSpc>
              <a:buNone/>
            </a:pPr>
            <a:r>
              <a:rPr lang="en-US" sz="1000" b="0">
                <a:solidFill>
                  <a:srgbClr val="CCCCCC"/>
                </a:solidFill>
                <a:effectLst/>
                <a:latin typeface="JetBrains Mono" panose="02000009000000000000" pitchFamily="49" charset="0"/>
              </a:rPr>
              <a:t>  }</a:t>
            </a:r>
          </a:p>
          <a:p>
            <a:pPr>
              <a:lnSpc>
                <a:spcPts val="1425"/>
              </a:lnSpc>
              <a:buNone/>
            </a:pPr>
            <a:r>
              <a:rPr lang="en-US" sz="1000" b="0">
                <a:solidFill>
                  <a:srgbClr val="CCCCCC"/>
                </a:solidFill>
                <a:effectLst/>
                <a:latin typeface="JetBrains Mono" panose="02000009000000000000" pitchFamily="49" charset="0"/>
              </a:rPr>
              <a:t>};</a:t>
            </a:r>
          </a:p>
          <a:p>
            <a:pPr>
              <a:lnSpc>
                <a:spcPts val="1425"/>
              </a:lnSpc>
              <a:buNone/>
            </a:pPr>
            <a:br>
              <a:rPr lang="en-US" sz="1000" b="0">
                <a:solidFill>
                  <a:srgbClr val="CCCCCC"/>
                </a:solidFill>
                <a:effectLst/>
                <a:latin typeface="JetBrains Mono" panose="02000009000000000000" pitchFamily="49" charset="0"/>
              </a:rPr>
            </a:b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6A9955"/>
                </a:solidFill>
                <a:effectLst/>
                <a:latin typeface="JetBrains Mono" panose="02000009000000000000" pitchFamily="49" charset="0"/>
              </a:rPr>
              <a:t>// TRANSACTION</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569CD6"/>
                </a:solidFill>
                <a:effectLst/>
                <a:latin typeface="JetBrains Mono" panose="02000009000000000000" pitchFamily="49" charset="0"/>
              </a:rPr>
              <a:t>void</a:t>
            </a:r>
            <a:r>
              <a:rPr lang="en-US" sz="1000" b="0">
                <a:solidFill>
                  <a:srgbClr val="CCCCCC"/>
                </a:solidFill>
                <a:effectLst/>
                <a:latin typeface="JetBrains Mono" panose="02000009000000000000" pitchFamily="49" charset="0"/>
              </a:rPr>
              <a:t> </a:t>
            </a:r>
            <a:r>
              <a:rPr lang="en-US" sz="1000" b="0" err="1">
                <a:solidFill>
                  <a:srgbClr val="DCDCAA"/>
                </a:solidFill>
                <a:effectLst/>
                <a:latin typeface="JetBrains Mono" panose="02000009000000000000" pitchFamily="49" charset="0"/>
              </a:rPr>
              <a:t>move_atomic</a:t>
            </a:r>
            <a:r>
              <a:rPr lang="en-US" sz="1000" b="0">
                <a:solidFill>
                  <a:srgbClr val="CCCCCC"/>
                </a:solidFill>
                <a:effectLst/>
                <a:latin typeface="JetBrains Mono" panose="02000009000000000000" pitchFamily="49" charset="0"/>
              </a:rPr>
              <a:t>(</a:t>
            </a:r>
            <a:r>
              <a:rPr lang="en-US" sz="1000" b="0">
                <a:solidFill>
                  <a:srgbClr val="4EC9B0"/>
                </a:solidFill>
                <a:effectLst/>
                <a:latin typeface="JetBrains Mono" panose="02000009000000000000" pitchFamily="49" charset="0"/>
              </a:rPr>
              <a:t>Stack</a:t>
            </a:r>
            <a:r>
              <a:rPr lang="en-US" sz="1000" b="0">
                <a:solidFill>
                  <a:srgbClr val="CCCCCC"/>
                </a:solidFill>
                <a:effectLst/>
                <a:latin typeface="JetBrains Mono" panose="02000009000000000000" pitchFamily="49" charset="0"/>
              </a:rPr>
              <a:t> </a:t>
            </a:r>
            <a:r>
              <a:rPr lang="en-US" sz="1000" b="0">
                <a:solidFill>
                  <a:srgbClr val="569CD6"/>
                </a:solidFill>
                <a:effectLst/>
                <a:latin typeface="JetBrains Mono" panose="02000009000000000000" pitchFamily="49" charset="0"/>
              </a:rPr>
              <a:t>&amp;</a:t>
            </a:r>
            <a:r>
              <a:rPr lang="en-US" sz="1000" b="0">
                <a:solidFill>
                  <a:srgbClr val="9CDCFE"/>
                </a:solidFill>
                <a:effectLst/>
                <a:latin typeface="JetBrains Mono" panose="02000009000000000000" pitchFamily="49" charset="0"/>
              </a:rPr>
              <a:t>s1</a:t>
            </a:r>
            <a:r>
              <a:rPr lang="en-US" sz="1000" b="0">
                <a:solidFill>
                  <a:srgbClr val="CCCCCC"/>
                </a:solidFill>
                <a:effectLst/>
                <a:latin typeface="JetBrains Mono" panose="02000009000000000000" pitchFamily="49" charset="0"/>
              </a:rPr>
              <a:t>, </a:t>
            </a:r>
            <a:r>
              <a:rPr lang="en-US" sz="1000" b="0">
                <a:solidFill>
                  <a:srgbClr val="4EC9B0"/>
                </a:solidFill>
                <a:effectLst/>
                <a:latin typeface="JetBrains Mono" panose="02000009000000000000" pitchFamily="49" charset="0"/>
              </a:rPr>
              <a:t>Stack</a:t>
            </a:r>
            <a:r>
              <a:rPr lang="en-US" sz="1000" b="0">
                <a:solidFill>
                  <a:srgbClr val="CCCCCC"/>
                </a:solidFill>
                <a:effectLst/>
                <a:latin typeface="JetBrains Mono" panose="02000009000000000000" pitchFamily="49" charset="0"/>
              </a:rPr>
              <a:t> </a:t>
            </a:r>
            <a:r>
              <a:rPr lang="en-US" sz="1000" b="0">
                <a:solidFill>
                  <a:srgbClr val="569CD6"/>
                </a:solidFill>
                <a:effectLst/>
                <a:latin typeface="JetBrains Mono" panose="02000009000000000000" pitchFamily="49" charset="0"/>
              </a:rPr>
              <a:t>&amp;</a:t>
            </a:r>
            <a:r>
              <a:rPr lang="en-US" sz="1000" b="0">
                <a:solidFill>
                  <a:srgbClr val="9CDCFE"/>
                </a:solidFill>
                <a:effectLst/>
                <a:latin typeface="JetBrains Mono" panose="02000009000000000000" pitchFamily="49" charset="0"/>
              </a:rPr>
              <a:t>s2</a:t>
            </a:r>
            <a:r>
              <a:rPr lang="en-US" sz="1000" b="0">
                <a:solidFill>
                  <a:srgbClr val="CCCCCC"/>
                </a:solidFill>
                <a:effectLst/>
                <a:latin typeface="JetBrains Mono" panose="02000009000000000000" pitchFamily="49" charset="0"/>
              </a:rPr>
              <a:t>) {</a:t>
            </a:r>
          </a:p>
          <a:p>
            <a:pPr>
              <a:lnSpc>
                <a:spcPts val="1425"/>
              </a:lnSpc>
              <a:buNone/>
            </a:pPr>
            <a:r>
              <a:rPr lang="en-US" sz="1000" b="0">
                <a:solidFill>
                  <a:srgbClr val="6A9955"/>
                </a:solidFill>
                <a:effectLst/>
                <a:latin typeface="JetBrains Mono" panose="02000009000000000000" pitchFamily="49" charset="0"/>
              </a:rPr>
              <a:t>  // The user simply writes logic</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CCCCCC"/>
                </a:solidFill>
                <a:effectLst/>
                <a:latin typeface="JetBrains Mono" panose="02000009000000000000" pitchFamily="49" charset="0"/>
              </a:rPr>
              <a:t>  __</a:t>
            </a:r>
            <a:r>
              <a:rPr lang="en-US" sz="1000" b="0" err="1">
                <a:solidFill>
                  <a:srgbClr val="CCCCCC"/>
                </a:solidFill>
                <a:effectLst/>
                <a:latin typeface="JetBrains Mono" panose="02000009000000000000" pitchFamily="49" charset="0"/>
              </a:rPr>
              <a:t>sync_transaction</a:t>
            </a:r>
            <a:r>
              <a:rPr lang="en-US" sz="1000" b="0">
                <a:solidFill>
                  <a:srgbClr val="CCCCCC"/>
                </a:solidFill>
                <a:effectLst/>
                <a:latin typeface="JetBrains Mono" panose="02000009000000000000" pitchFamily="49" charset="0"/>
              </a:rPr>
              <a:t> {</a:t>
            </a:r>
          </a:p>
          <a:p>
            <a:pPr>
              <a:lnSpc>
                <a:spcPts val="1425"/>
              </a:lnSpc>
              <a:buNone/>
            </a:pPr>
            <a:r>
              <a:rPr lang="en-US" sz="1000" b="0">
                <a:solidFill>
                  <a:srgbClr val="CCCCCC"/>
                </a:solidFill>
                <a:effectLst/>
                <a:latin typeface="JetBrains Mono" panose="02000009000000000000" pitchFamily="49" charset="0"/>
              </a:rPr>
              <a:t>    </a:t>
            </a:r>
            <a:r>
              <a:rPr lang="en-US" sz="1000" b="0">
                <a:solidFill>
                  <a:srgbClr val="569CD6"/>
                </a:solidFill>
                <a:effectLst/>
                <a:latin typeface="JetBrains Mono" panose="02000009000000000000" pitchFamily="49" charset="0"/>
              </a:rPr>
              <a:t>int</a:t>
            </a:r>
            <a:r>
              <a:rPr lang="en-US" sz="1000" b="0">
                <a:solidFill>
                  <a:srgbClr val="CCCCCC"/>
                </a:solidFill>
                <a:effectLst/>
                <a:latin typeface="JetBrains Mono" panose="02000009000000000000" pitchFamily="49" charset="0"/>
              </a:rPr>
              <a:t> </a:t>
            </a:r>
            <a:r>
              <a:rPr lang="en-US" sz="1000" b="0" err="1">
                <a:solidFill>
                  <a:srgbClr val="CCCCCC"/>
                </a:solidFill>
                <a:effectLst/>
                <a:latin typeface="JetBrains Mono" panose="02000009000000000000" pitchFamily="49" charset="0"/>
              </a:rPr>
              <a:t>val</a:t>
            </a:r>
            <a:r>
              <a:rPr lang="en-US" sz="1000" b="0">
                <a:solidFill>
                  <a:srgbClr val="CCCCCC"/>
                </a:solidFill>
                <a:effectLst/>
                <a:latin typeface="JetBrains Mono" panose="02000009000000000000" pitchFamily="49" charset="0"/>
              </a:rPr>
              <a:t> </a:t>
            </a:r>
            <a:r>
              <a:rPr lang="en-US" sz="1000" b="0">
                <a:solidFill>
                  <a:srgbClr val="D4D4D4"/>
                </a:solidFill>
                <a:effectLst/>
                <a:latin typeface="JetBrains Mono" panose="02000009000000000000" pitchFamily="49" charset="0"/>
              </a:rPr>
              <a:t>=</a:t>
            </a:r>
            <a:r>
              <a:rPr lang="en-US" sz="1000" b="0">
                <a:solidFill>
                  <a:srgbClr val="CCCCCC"/>
                </a:solidFill>
                <a:effectLst/>
                <a:latin typeface="JetBrains Mono" panose="02000009000000000000" pitchFamily="49" charset="0"/>
              </a:rPr>
              <a:t> </a:t>
            </a:r>
            <a:r>
              <a:rPr lang="en-US" sz="1000" b="0">
                <a:solidFill>
                  <a:srgbClr val="9CDCFE"/>
                </a:solidFill>
                <a:effectLst/>
                <a:latin typeface="JetBrains Mono" panose="02000009000000000000" pitchFamily="49" charset="0"/>
              </a:rPr>
              <a:t>s1</a:t>
            </a:r>
            <a:r>
              <a:rPr lang="en-US" sz="1000" b="0">
                <a:solidFill>
                  <a:srgbClr val="CCCCCC"/>
                </a:solidFill>
                <a:effectLst/>
                <a:latin typeface="JetBrains Mono" panose="02000009000000000000" pitchFamily="49" charset="0"/>
              </a:rPr>
              <a:t>.</a:t>
            </a:r>
            <a:r>
              <a:rPr lang="en-US" sz="1000" b="0">
                <a:solidFill>
                  <a:srgbClr val="DCDCAA"/>
                </a:solidFill>
                <a:effectLst/>
                <a:latin typeface="JetBrains Mono" panose="02000009000000000000" pitchFamily="49" charset="0"/>
              </a:rPr>
              <a:t>pop</a:t>
            </a:r>
            <a:r>
              <a:rPr lang="en-US" sz="1000" b="0">
                <a:solidFill>
                  <a:srgbClr val="CCCCCC"/>
                </a:solidFill>
                <a:effectLst/>
                <a:latin typeface="JetBrains Mono" panose="02000009000000000000" pitchFamily="49" charset="0"/>
              </a:rPr>
              <a:t>();</a:t>
            </a:r>
          </a:p>
          <a:p>
            <a:pPr>
              <a:lnSpc>
                <a:spcPts val="1425"/>
              </a:lnSpc>
              <a:buNone/>
            </a:pPr>
            <a:r>
              <a:rPr lang="en-US" sz="1000" b="0">
                <a:solidFill>
                  <a:srgbClr val="CCCCCC"/>
                </a:solidFill>
                <a:effectLst/>
                <a:latin typeface="JetBrains Mono" panose="02000009000000000000" pitchFamily="49" charset="0"/>
              </a:rPr>
              <a:t>    </a:t>
            </a:r>
            <a:r>
              <a:rPr lang="en-US" sz="1000" b="0">
                <a:solidFill>
                  <a:srgbClr val="C586C0"/>
                </a:solidFill>
                <a:effectLst/>
                <a:latin typeface="JetBrains Mono" panose="02000009000000000000" pitchFamily="49" charset="0"/>
              </a:rPr>
              <a:t>if</a:t>
            </a:r>
            <a:r>
              <a:rPr lang="en-US" sz="1000" b="0">
                <a:solidFill>
                  <a:srgbClr val="CCCCCC"/>
                </a:solidFill>
                <a:effectLst/>
                <a:latin typeface="JetBrains Mono" panose="02000009000000000000" pitchFamily="49" charset="0"/>
              </a:rPr>
              <a:t> (</a:t>
            </a:r>
            <a:r>
              <a:rPr lang="en-US" sz="1000" b="0" err="1">
                <a:solidFill>
                  <a:srgbClr val="CCCCCC"/>
                </a:solidFill>
                <a:effectLst/>
                <a:latin typeface="JetBrains Mono" panose="02000009000000000000" pitchFamily="49" charset="0"/>
              </a:rPr>
              <a:t>val</a:t>
            </a:r>
            <a:r>
              <a:rPr lang="en-US" sz="1000" b="0">
                <a:solidFill>
                  <a:srgbClr val="CCCCCC"/>
                </a:solidFill>
                <a:effectLst/>
                <a:latin typeface="JetBrains Mono" panose="02000009000000000000" pitchFamily="49" charset="0"/>
              </a:rPr>
              <a:t> </a:t>
            </a:r>
            <a:r>
              <a:rPr lang="en-US" sz="1000" b="0">
                <a:solidFill>
                  <a:srgbClr val="D4D4D4"/>
                </a:solidFill>
                <a:effectLst/>
                <a:latin typeface="JetBrains Mono" panose="02000009000000000000" pitchFamily="49" charset="0"/>
              </a:rPr>
              <a:t>!=</a:t>
            </a:r>
            <a:r>
              <a:rPr lang="en-US" sz="1000" b="0">
                <a:solidFill>
                  <a:srgbClr val="CCCCCC"/>
                </a:solidFill>
                <a:effectLst/>
                <a:latin typeface="JetBrains Mono" panose="02000009000000000000" pitchFamily="49" charset="0"/>
              </a:rPr>
              <a:t> </a:t>
            </a:r>
            <a:r>
              <a:rPr lang="en-US" sz="1000" b="0">
                <a:solidFill>
                  <a:srgbClr val="D4D4D4"/>
                </a:solidFill>
                <a:effectLst/>
                <a:latin typeface="JetBrains Mono" panose="02000009000000000000" pitchFamily="49" charset="0"/>
              </a:rPr>
              <a:t>-</a:t>
            </a:r>
            <a:r>
              <a:rPr lang="en-US" sz="1000" b="0">
                <a:solidFill>
                  <a:srgbClr val="B5CEA8"/>
                </a:solidFill>
                <a:effectLst/>
                <a:latin typeface="JetBrains Mono" panose="02000009000000000000" pitchFamily="49" charset="0"/>
              </a:rPr>
              <a:t>1</a:t>
            </a:r>
            <a:r>
              <a:rPr lang="en-US" sz="1000" b="0">
                <a:solidFill>
                  <a:srgbClr val="CCCCCC"/>
                </a:solidFill>
                <a:effectLst/>
                <a:latin typeface="JetBrains Mono" panose="02000009000000000000" pitchFamily="49" charset="0"/>
              </a:rPr>
              <a:t>) {</a:t>
            </a:r>
          </a:p>
          <a:p>
            <a:pPr>
              <a:lnSpc>
                <a:spcPts val="1425"/>
              </a:lnSpc>
              <a:buNone/>
            </a:pPr>
            <a:r>
              <a:rPr lang="en-US" sz="1000" b="0">
                <a:solidFill>
                  <a:srgbClr val="CCCCCC"/>
                </a:solidFill>
                <a:effectLst/>
                <a:latin typeface="JetBrains Mono" panose="02000009000000000000" pitchFamily="49" charset="0"/>
              </a:rPr>
              <a:t>      </a:t>
            </a:r>
            <a:r>
              <a:rPr lang="en-US" sz="1000" b="0">
                <a:solidFill>
                  <a:srgbClr val="9CDCFE"/>
                </a:solidFill>
                <a:effectLst/>
                <a:latin typeface="JetBrains Mono" panose="02000009000000000000" pitchFamily="49" charset="0"/>
              </a:rPr>
              <a:t>s2</a:t>
            </a:r>
            <a:r>
              <a:rPr lang="en-US" sz="1000" b="0">
                <a:solidFill>
                  <a:srgbClr val="CCCCCC"/>
                </a:solidFill>
                <a:effectLst/>
                <a:latin typeface="JetBrains Mono" panose="02000009000000000000" pitchFamily="49" charset="0"/>
              </a:rPr>
              <a:t>.</a:t>
            </a:r>
            <a:r>
              <a:rPr lang="en-US" sz="1000" b="0">
                <a:solidFill>
                  <a:srgbClr val="DCDCAA"/>
                </a:solidFill>
                <a:effectLst/>
                <a:latin typeface="JetBrains Mono" panose="02000009000000000000" pitchFamily="49" charset="0"/>
              </a:rPr>
              <a:t>push</a:t>
            </a:r>
            <a:r>
              <a:rPr lang="en-US" sz="1000" b="0">
                <a:solidFill>
                  <a:srgbClr val="CCCCCC"/>
                </a:solidFill>
                <a:effectLst/>
                <a:latin typeface="JetBrains Mono" panose="02000009000000000000" pitchFamily="49" charset="0"/>
              </a:rPr>
              <a:t>(</a:t>
            </a:r>
            <a:r>
              <a:rPr lang="en-US" sz="1000" b="0" err="1">
                <a:solidFill>
                  <a:srgbClr val="CCCCCC"/>
                </a:solidFill>
                <a:effectLst/>
                <a:latin typeface="JetBrains Mono" panose="02000009000000000000" pitchFamily="49" charset="0"/>
              </a:rPr>
              <a:t>val</a:t>
            </a:r>
            <a:r>
              <a:rPr lang="en-US" sz="1000" b="0">
                <a:solidFill>
                  <a:srgbClr val="CCCCCC"/>
                </a:solidFill>
                <a:effectLst/>
                <a:latin typeface="JetBrains Mono" panose="02000009000000000000" pitchFamily="49" charset="0"/>
              </a:rPr>
              <a:t>);</a:t>
            </a:r>
          </a:p>
          <a:p>
            <a:pPr>
              <a:lnSpc>
                <a:spcPts val="1425"/>
              </a:lnSpc>
              <a:buNone/>
            </a:pPr>
            <a:r>
              <a:rPr lang="en-US" sz="1000" b="0">
                <a:solidFill>
                  <a:srgbClr val="CCCCCC"/>
                </a:solidFill>
                <a:effectLst/>
                <a:latin typeface="JetBrains Mono" panose="02000009000000000000" pitchFamily="49" charset="0"/>
              </a:rPr>
              <a:t>    }</a:t>
            </a:r>
          </a:p>
          <a:p>
            <a:pPr>
              <a:lnSpc>
                <a:spcPts val="1425"/>
              </a:lnSpc>
              <a:buNone/>
            </a:pPr>
            <a:r>
              <a:rPr lang="en-US" sz="1000" b="0">
                <a:solidFill>
                  <a:srgbClr val="CCCCCC"/>
                </a:solidFill>
                <a:effectLst/>
                <a:latin typeface="JetBrains Mono" panose="02000009000000000000" pitchFamily="49" charset="0"/>
              </a:rPr>
              <a:t>  }</a:t>
            </a:r>
          </a:p>
          <a:p>
            <a:pPr>
              <a:lnSpc>
                <a:spcPts val="1425"/>
              </a:lnSpc>
              <a:buNone/>
            </a:pPr>
            <a:r>
              <a:rPr lang="en-US" sz="1000" b="0">
                <a:solidFill>
                  <a:srgbClr val="CCCCCC"/>
                </a:solidFill>
                <a:effectLst/>
                <a:latin typeface="JetBrains Mono" panose="02000009000000000000" pitchFamily="49" charset="0"/>
              </a:rPr>
              <a:t>}</a:t>
            </a:r>
          </a:p>
        </p:txBody>
      </p:sp>
    </p:spTree>
    <p:extLst>
      <p:ext uri="{BB962C8B-B14F-4D97-AF65-F5344CB8AC3E}">
        <p14:creationId xmlns:p14="http://schemas.microsoft.com/office/powerpoint/2010/main" val="34894486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A6364-50BC-1AFD-7EE3-DA6F71F3AB58}"/>
            </a:ext>
          </a:extLst>
        </p:cNvPr>
        <p:cNvGrpSpPr/>
        <p:nvPr/>
      </p:nvGrpSpPr>
      <p:grpSpPr>
        <a:xfrm>
          <a:off x="0" y="0"/>
          <a:ext cx="0" cy="0"/>
          <a:chOff x="0" y="0"/>
          <a:chExt cx="0" cy="0"/>
        </a:xfrm>
      </p:grpSpPr>
      <p:sp>
        <p:nvSpPr>
          <p:cNvPr id="7" name="Номер слайда 7">
            <a:extLst>
              <a:ext uri="{FF2B5EF4-FFF2-40B4-BE49-F238E27FC236}">
                <a16:creationId xmlns:a16="http://schemas.microsoft.com/office/drawing/2014/main" id="{97A78D6D-4BA1-D5A3-EABE-70DC6F74E1B2}"/>
              </a:ext>
            </a:extLst>
          </p:cNvPr>
          <p:cNvSpPr>
            <a:spLocks noGrp="1"/>
          </p:cNvSpPr>
          <p:nvPr>
            <p:ph type="sldNum" sz="quarter" idx="12"/>
          </p:nvPr>
        </p:nvSpPr>
        <p:spPr>
          <a:xfrm>
            <a:off x="11725835" y="6402070"/>
            <a:ext cx="386155" cy="365125"/>
          </a:xfrm>
        </p:spPr>
        <p:txBody>
          <a:bodyPr/>
          <a:lstStyle/>
          <a:p>
            <a:pPr algn="ctr"/>
            <a:fld id="{E757BAED-F255-4CF1-96BA-8D7417A9C3BC}" type="slidenum">
              <a:rPr lang="ru-RU" sz="1800" smtClean="0">
                <a:latin typeface="Ubuntu Condensed" panose="020B0506030602030204" pitchFamily="34" charset="0"/>
              </a:rPr>
              <a:pPr algn="ctr"/>
              <a:t>6</a:t>
            </a:fld>
            <a:endParaRPr lang="ru-RU" sz="1800">
              <a:latin typeface="Ubuntu Condensed" panose="020B0506030602030204" pitchFamily="34" charset="0"/>
            </a:endParaRPr>
          </a:p>
        </p:txBody>
      </p:sp>
      <p:sp>
        <p:nvSpPr>
          <p:cNvPr id="3" name="TextBox 2">
            <a:extLst>
              <a:ext uri="{FF2B5EF4-FFF2-40B4-BE49-F238E27FC236}">
                <a16:creationId xmlns:a16="http://schemas.microsoft.com/office/drawing/2014/main" id="{5E44D826-2F4E-865C-2898-568E9AF5EBDC}"/>
              </a:ext>
            </a:extLst>
          </p:cNvPr>
          <p:cNvSpPr txBox="1"/>
          <p:nvPr/>
        </p:nvSpPr>
        <p:spPr>
          <a:xfrm>
            <a:off x="233909" y="2372902"/>
            <a:ext cx="5609154" cy="3852658"/>
          </a:xfrm>
          <a:prstGeom prst="rect">
            <a:avLst/>
          </a:prstGeom>
          <a:solidFill>
            <a:srgbClr val="1F1F1F"/>
          </a:solidFill>
        </p:spPr>
        <p:txBody>
          <a:bodyPr wrap="square">
            <a:spAutoFit/>
          </a:bodyPr>
          <a:lstStyle/>
          <a:p>
            <a:pPr>
              <a:lnSpc>
                <a:spcPts val="1425"/>
              </a:lnSpc>
              <a:buNone/>
            </a:pPr>
            <a:r>
              <a:rPr lang="en-US" sz="1000" b="0">
                <a:solidFill>
                  <a:srgbClr val="569CD6"/>
                </a:solidFill>
                <a:effectLst/>
                <a:latin typeface="JetBrains Mono" panose="02000009000000000000" pitchFamily="49" charset="0"/>
              </a:rPr>
              <a:t>void</a:t>
            </a:r>
            <a:r>
              <a:rPr lang="en-US" sz="1000" b="0">
                <a:solidFill>
                  <a:srgbClr val="CCCCCC"/>
                </a:solidFill>
                <a:effectLst/>
                <a:latin typeface="JetBrains Mono" panose="02000009000000000000" pitchFamily="49" charset="0"/>
              </a:rPr>
              <a:t> </a:t>
            </a:r>
            <a:r>
              <a:rPr lang="en-US" sz="1000" b="0" err="1">
                <a:solidFill>
                  <a:srgbClr val="9CDCFE"/>
                </a:solidFill>
                <a:effectLst/>
                <a:latin typeface="JetBrains Mono" panose="02000009000000000000" pitchFamily="49" charset="0"/>
              </a:rPr>
              <a:t>move_atomic_impl</a:t>
            </a:r>
            <a:r>
              <a:rPr lang="en-US" sz="1000" b="0">
                <a:solidFill>
                  <a:srgbClr val="CCCCCC"/>
                </a:solidFill>
                <a:effectLst/>
                <a:latin typeface="JetBrains Mono" panose="02000009000000000000" pitchFamily="49" charset="0"/>
              </a:rPr>
              <a:t>(</a:t>
            </a:r>
            <a:r>
              <a:rPr lang="en-US" sz="1000" b="0">
                <a:solidFill>
                  <a:srgbClr val="4EC9B0"/>
                </a:solidFill>
                <a:effectLst/>
                <a:latin typeface="JetBrains Mono" panose="02000009000000000000" pitchFamily="49" charset="0"/>
              </a:rPr>
              <a:t>Stack</a:t>
            </a:r>
            <a:r>
              <a:rPr lang="en-US" sz="1000" b="0">
                <a:solidFill>
                  <a:srgbClr val="CCCCCC"/>
                </a:solidFill>
                <a:effectLst/>
                <a:latin typeface="JetBrains Mono" panose="02000009000000000000" pitchFamily="49" charset="0"/>
              </a:rPr>
              <a:t> </a:t>
            </a:r>
            <a:r>
              <a:rPr lang="en-US" sz="1000" b="0">
                <a:solidFill>
                  <a:srgbClr val="569CD6"/>
                </a:solidFill>
                <a:effectLst/>
                <a:latin typeface="JetBrains Mono" panose="02000009000000000000" pitchFamily="49" charset="0"/>
              </a:rPr>
              <a:t>&amp;</a:t>
            </a:r>
            <a:r>
              <a:rPr lang="en-US" sz="1000" b="0">
                <a:solidFill>
                  <a:srgbClr val="9CDCFE"/>
                </a:solidFill>
                <a:effectLst/>
                <a:latin typeface="JetBrains Mono" panose="02000009000000000000" pitchFamily="49" charset="0"/>
              </a:rPr>
              <a:t>s1</a:t>
            </a:r>
            <a:r>
              <a:rPr lang="en-US" sz="1000" b="0">
                <a:solidFill>
                  <a:srgbClr val="CCCCCC"/>
                </a:solidFill>
                <a:effectLst/>
                <a:latin typeface="JetBrains Mono" panose="02000009000000000000" pitchFamily="49" charset="0"/>
              </a:rPr>
              <a:t>, </a:t>
            </a:r>
            <a:r>
              <a:rPr lang="en-US" sz="1000" b="0">
                <a:solidFill>
                  <a:srgbClr val="4EC9B0"/>
                </a:solidFill>
                <a:effectLst/>
                <a:latin typeface="JetBrains Mono" panose="02000009000000000000" pitchFamily="49" charset="0"/>
              </a:rPr>
              <a:t>Stack</a:t>
            </a:r>
            <a:r>
              <a:rPr lang="en-US" sz="1000" b="0">
                <a:solidFill>
                  <a:srgbClr val="CCCCCC"/>
                </a:solidFill>
                <a:effectLst/>
                <a:latin typeface="JetBrains Mono" panose="02000009000000000000" pitchFamily="49" charset="0"/>
              </a:rPr>
              <a:t> </a:t>
            </a:r>
            <a:r>
              <a:rPr lang="en-US" sz="1000" b="0">
                <a:solidFill>
                  <a:srgbClr val="569CD6"/>
                </a:solidFill>
                <a:effectLst/>
                <a:latin typeface="JetBrains Mono" panose="02000009000000000000" pitchFamily="49" charset="0"/>
              </a:rPr>
              <a:t>&amp;</a:t>
            </a:r>
            <a:r>
              <a:rPr lang="en-US" sz="1000" b="0">
                <a:solidFill>
                  <a:srgbClr val="9CDCFE"/>
                </a:solidFill>
                <a:effectLst/>
                <a:latin typeface="JetBrains Mono" panose="02000009000000000000" pitchFamily="49" charset="0"/>
              </a:rPr>
              <a:t>s2</a:t>
            </a:r>
            <a:r>
              <a:rPr lang="en-US" sz="1000" b="0">
                <a:solidFill>
                  <a:srgbClr val="CCCCCC"/>
                </a:solidFill>
                <a:effectLst/>
                <a:latin typeface="JetBrains Mono" panose="02000009000000000000" pitchFamily="49" charset="0"/>
              </a:rPr>
              <a:t>) {</a:t>
            </a:r>
          </a:p>
          <a:p>
            <a:pPr>
              <a:lnSpc>
                <a:spcPts val="1425"/>
              </a:lnSpc>
              <a:buNone/>
            </a:pPr>
            <a:r>
              <a:rPr lang="en-US" sz="1000" b="0">
                <a:solidFill>
                  <a:srgbClr val="CCCCCC"/>
                </a:solidFill>
                <a:effectLst/>
                <a:latin typeface="JetBrains Mono" panose="02000009000000000000" pitchFamily="49" charset="0"/>
              </a:rPr>
              <a:t>  Descriptor </a:t>
            </a:r>
            <a:r>
              <a:rPr lang="en-US" sz="1000" b="0">
                <a:solidFill>
                  <a:srgbClr val="D4D4D4"/>
                </a:solidFill>
                <a:effectLst/>
                <a:latin typeface="JetBrains Mono" panose="02000009000000000000" pitchFamily="49" charset="0"/>
              </a:rPr>
              <a:t>*</a:t>
            </a:r>
            <a:r>
              <a:rPr lang="en-US" sz="1000" b="0">
                <a:solidFill>
                  <a:srgbClr val="CCCCCC"/>
                </a:solidFill>
                <a:effectLst/>
                <a:latin typeface="JetBrains Mono" panose="02000009000000000000" pitchFamily="49" charset="0"/>
              </a:rPr>
              <a:t>desc </a:t>
            </a:r>
            <a:r>
              <a:rPr lang="en-US" sz="1000" b="0">
                <a:solidFill>
                  <a:srgbClr val="D4D4D4"/>
                </a:solidFill>
                <a:effectLst/>
                <a:latin typeface="JetBrains Mono" panose="02000009000000000000" pitchFamily="49" charset="0"/>
              </a:rPr>
              <a:t>=</a:t>
            </a:r>
            <a:r>
              <a:rPr lang="en-US" sz="1000" b="0">
                <a:solidFill>
                  <a:srgbClr val="CCCCCC"/>
                </a:solidFill>
                <a:effectLst/>
                <a:latin typeface="JetBrains Mono" panose="02000009000000000000" pitchFamily="49" charset="0"/>
              </a:rPr>
              <a:t> </a:t>
            </a:r>
            <a:r>
              <a:rPr lang="en-US" sz="1000" b="0" err="1">
                <a:solidFill>
                  <a:srgbClr val="DCDCAA"/>
                </a:solidFill>
                <a:effectLst/>
                <a:latin typeface="JetBrains Mono" panose="02000009000000000000" pitchFamily="49" charset="0"/>
              </a:rPr>
              <a:t>mcns_alloc_descriptor</a:t>
            </a:r>
            <a:r>
              <a:rPr lang="en-US" sz="1000" b="0">
                <a:solidFill>
                  <a:srgbClr val="CCCCCC"/>
                </a:solidFill>
                <a:effectLst/>
                <a:latin typeface="JetBrains Mono" panose="02000009000000000000" pitchFamily="49" charset="0"/>
              </a:rPr>
              <a:t>();</a:t>
            </a:r>
          </a:p>
          <a:p>
            <a:pPr>
              <a:lnSpc>
                <a:spcPts val="1425"/>
              </a:lnSpc>
              <a:buNone/>
            </a:pP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6A9955"/>
                </a:solidFill>
                <a:effectLst/>
                <a:latin typeface="JetBrains Mono" panose="02000009000000000000" pitchFamily="49" charset="0"/>
              </a:rPr>
              <a:t>  // --- Step 1: Execute s1.pop() (Speculatively) ---</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CCCCCC"/>
                </a:solidFill>
                <a:effectLst/>
                <a:latin typeface="JetBrains Mono" panose="02000009000000000000" pitchFamily="49" charset="0"/>
              </a:rPr>
              <a:t>  Node </a:t>
            </a:r>
            <a:r>
              <a:rPr lang="en-US" sz="1000" b="0">
                <a:solidFill>
                  <a:srgbClr val="D4D4D4"/>
                </a:solidFill>
                <a:effectLst/>
                <a:latin typeface="JetBrains Mono" panose="02000009000000000000" pitchFamily="49" charset="0"/>
              </a:rPr>
              <a:t>*</a:t>
            </a:r>
            <a:r>
              <a:rPr lang="en-US" sz="1000" b="0">
                <a:solidFill>
                  <a:srgbClr val="CCCCCC"/>
                </a:solidFill>
                <a:effectLst/>
                <a:latin typeface="JetBrains Mono" panose="02000009000000000000" pitchFamily="49" charset="0"/>
              </a:rPr>
              <a:t>s1_head_old;</a:t>
            </a:r>
          </a:p>
          <a:p>
            <a:pPr>
              <a:lnSpc>
                <a:spcPts val="1425"/>
              </a:lnSpc>
              <a:buNone/>
            </a:pPr>
            <a:r>
              <a:rPr lang="en-US" sz="1000" b="0">
                <a:solidFill>
                  <a:srgbClr val="CCCCCC"/>
                </a:solidFill>
                <a:effectLst/>
                <a:latin typeface="JetBrains Mono" panose="02000009000000000000" pitchFamily="49" charset="0"/>
              </a:rPr>
              <a:t>  Node </a:t>
            </a:r>
            <a:r>
              <a:rPr lang="en-US" sz="1000" b="0">
                <a:solidFill>
                  <a:srgbClr val="D4D4D4"/>
                </a:solidFill>
                <a:effectLst/>
                <a:latin typeface="JetBrains Mono" panose="02000009000000000000" pitchFamily="49" charset="0"/>
              </a:rPr>
              <a:t>*</a:t>
            </a:r>
            <a:r>
              <a:rPr lang="en-US" sz="1000" b="0">
                <a:solidFill>
                  <a:srgbClr val="CCCCCC"/>
                </a:solidFill>
                <a:effectLst/>
                <a:latin typeface="JetBrains Mono" panose="02000009000000000000" pitchFamily="49" charset="0"/>
              </a:rPr>
              <a:t>s1_next;</a:t>
            </a:r>
          </a:p>
          <a:p>
            <a:pPr>
              <a:lnSpc>
                <a:spcPts val="1425"/>
              </a:lnSpc>
              <a:buNone/>
            </a:pPr>
            <a:r>
              <a:rPr lang="en-US" sz="1000" b="0">
                <a:solidFill>
                  <a:srgbClr val="CCCCCC"/>
                </a:solidFill>
                <a:effectLst/>
                <a:latin typeface="JetBrains Mono" panose="02000009000000000000" pitchFamily="49" charset="0"/>
              </a:rPr>
              <a:t>  </a:t>
            </a:r>
            <a:r>
              <a:rPr lang="en-US" sz="1000" b="0">
                <a:solidFill>
                  <a:srgbClr val="569CD6"/>
                </a:solidFill>
                <a:effectLst/>
                <a:latin typeface="JetBrains Mono" panose="02000009000000000000" pitchFamily="49" charset="0"/>
              </a:rPr>
              <a:t>int</a:t>
            </a:r>
            <a:r>
              <a:rPr lang="en-US" sz="1000" b="0">
                <a:solidFill>
                  <a:srgbClr val="CCCCCC"/>
                </a:solidFill>
                <a:effectLst/>
                <a:latin typeface="JetBrains Mono" panose="02000009000000000000" pitchFamily="49" charset="0"/>
              </a:rPr>
              <a:t> </a:t>
            </a:r>
            <a:r>
              <a:rPr lang="en-US" sz="1000" b="0" err="1">
                <a:solidFill>
                  <a:srgbClr val="CCCCCC"/>
                </a:solidFill>
                <a:effectLst/>
                <a:latin typeface="JetBrains Mono" panose="02000009000000000000" pitchFamily="49" charset="0"/>
              </a:rPr>
              <a:t>val</a:t>
            </a:r>
            <a:r>
              <a:rPr lang="en-US" sz="1000" b="0">
                <a:solidFill>
                  <a:srgbClr val="CCCCCC"/>
                </a:solidFill>
                <a:effectLst/>
                <a:latin typeface="JetBrains Mono" panose="02000009000000000000" pitchFamily="49" charset="0"/>
              </a:rPr>
              <a:t>;</a:t>
            </a:r>
          </a:p>
          <a:p>
            <a:pPr>
              <a:lnSpc>
                <a:spcPts val="1425"/>
              </a:lnSpc>
              <a:buNone/>
            </a:pP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6A9955"/>
                </a:solidFill>
                <a:effectLst/>
                <a:latin typeface="JetBrains Mono" panose="02000009000000000000" pitchFamily="49" charset="0"/>
              </a:rPr>
              <a:t>  // "Soft" Read Retry Loop</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CCCCCC"/>
                </a:solidFill>
                <a:effectLst/>
                <a:latin typeface="JetBrains Mono" panose="02000009000000000000" pitchFamily="49" charset="0"/>
              </a:rPr>
              <a:t>  </a:t>
            </a:r>
            <a:r>
              <a:rPr lang="en-US" sz="1000" b="0">
                <a:solidFill>
                  <a:srgbClr val="C586C0"/>
                </a:solidFill>
                <a:effectLst/>
                <a:latin typeface="JetBrains Mono" panose="02000009000000000000" pitchFamily="49" charset="0"/>
              </a:rPr>
              <a:t>do</a:t>
            </a:r>
            <a:r>
              <a:rPr lang="en-US" sz="1000" b="0">
                <a:solidFill>
                  <a:srgbClr val="CCCCCC"/>
                </a:solidFill>
                <a:effectLst/>
                <a:latin typeface="JetBrains Mono" panose="02000009000000000000" pitchFamily="49" charset="0"/>
              </a:rPr>
              <a:t> {</a:t>
            </a:r>
          </a:p>
          <a:p>
            <a:pPr>
              <a:lnSpc>
                <a:spcPts val="1425"/>
              </a:lnSpc>
              <a:buNone/>
            </a:pPr>
            <a:r>
              <a:rPr lang="en-US" sz="1000" b="0">
                <a:solidFill>
                  <a:srgbClr val="CCCCCC"/>
                </a:solidFill>
                <a:effectLst/>
                <a:latin typeface="JetBrains Mono" panose="02000009000000000000" pitchFamily="49" charset="0"/>
              </a:rPr>
              <a:t>    s1_head_old </a:t>
            </a:r>
            <a:r>
              <a:rPr lang="en-US" sz="1000" b="0">
                <a:solidFill>
                  <a:srgbClr val="D4D4D4"/>
                </a:solidFill>
                <a:effectLst/>
                <a:latin typeface="JetBrains Mono" panose="02000009000000000000" pitchFamily="49" charset="0"/>
              </a:rPr>
              <a:t>=</a:t>
            </a:r>
            <a:r>
              <a:rPr lang="en-US" sz="1000" b="0">
                <a:solidFill>
                  <a:srgbClr val="CCCCCC"/>
                </a:solidFill>
                <a:effectLst/>
                <a:latin typeface="JetBrains Mono" panose="02000009000000000000" pitchFamily="49" charset="0"/>
              </a:rPr>
              <a:t> </a:t>
            </a:r>
            <a:r>
              <a:rPr lang="en-US" sz="1000" b="0" err="1">
                <a:solidFill>
                  <a:srgbClr val="DCDCAA"/>
                </a:solidFill>
                <a:effectLst/>
                <a:latin typeface="JetBrains Mono" panose="02000009000000000000" pitchFamily="49" charset="0"/>
              </a:rPr>
              <a:t>atomic_load</a:t>
            </a:r>
            <a:r>
              <a:rPr lang="en-US" sz="1000" b="0">
                <a:solidFill>
                  <a:srgbClr val="CCCCCC"/>
                </a:solidFill>
                <a:effectLst/>
                <a:latin typeface="JetBrains Mono" panose="02000009000000000000" pitchFamily="49" charset="0"/>
              </a:rPr>
              <a:t>(</a:t>
            </a:r>
            <a:r>
              <a:rPr lang="en-US" sz="1000" b="0">
                <a:solidFill>
                  <a:srgbClr val="9CDCFE"/>
                </a:solidFill>
                <a:effectLst/>
                <a:latin typeface="JetBrains Mono" panose="02000009000000000000" pitchFamily="49" charset="0"/>
              </a:rPr>
              <a:t>s1</a:t>
            </a:r>
            <a:r>
              <a:rPr lang="en-US" sz="1000" b="0">
                <a:solidFill>
                  <a:srgbClr val="CCCCCC"/>
                </a:solidFill>
                <a:effectLst/>
                <a:latin typeface="JetBrains Mono" panose="02000009000000000000" pitchFamily="49" charset="0"/>
              </a:rPr>
              <a:t>.</a:t>
            </a:r>
            <a:r>
              <a:rPr lang="en-US" sz="1000" b="0">
                <a:solidFill>
                  <a:srgbClr val="9CDCFE"/>
                </a:solidFill>
                <a:effectLst/>
                <a:latin typeface="JetBrains Mono" panose="02000009000000000000" pitchFamily="49" charset="0"/>
              </a:rPr>
              <a:t>head</a:t>
            </a:r>
            <a:r>
              <a:rPr lang="en-US" sz="1000" b="0">
                <a:solidFill>
                  <a:srgbClr val="CCCCCC"/>
                </a:solidFill>
                <a:effectLst/>
                <a:latin typeface="JetBrains Mono" panose="02000009000000000000" pitchFamily="49" charset="0"/>
              </a:rPr>
              <a:t>);</a:t>
            </a:r>
            <a:r>
              <a:rPr lang="en-US" sz="1000" b="0">
                <a:solidFill>
                  <a:srgbClr val="6A9955"/>
                </a:solidFill>
                <a:effectLst/>
                <a:latin typeface="JetBrains Mono" panose="02000009000000000000" pitchFamily="49" charset="0"/>
              </a:rPr>
              <a:t> // Tracking Read</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CCCCCC"/>
                </a:solidFill>
                <a:effectLst/>
                <a:latin typeface="JetBrains Mono" panose="02000009000000000000" pitchFamily="49" charset="0"/>
              </a:rPr>
              <a:t>    </a:t>
            </a:r>
            <a:r>
              <a:rPr lang="en-US" sz="1000" b="0">
                <a:solidFill>
                  <a:srgbClr val="C586C0"/>
                </a:solidFill>
                <a:effectLst/>
                <a:latin typeface="JetBrains Mono" panose="02000009000000000000" pitchFamily="49" charset="0"/>
              </a:rPr>
              <a:t>if</a:t>
            </a:r>
            <a:r>
              <a:rPr lang="en-US" sz="1000" b="0">
                <a:solidFill>
                  <a:srgbClr val="CCCCCC"/>
                </a:solidFill>
                <a:effectLst/>
                <a:latin typeface="JetBrains Mono" panose="02000009000000000000" pitchFamily="49" charset="0"/>
              </a:rPr>
              <a:t> (</a:t>
            </a:r>
            <a:r>
              <a:rPr lang="en-US" sz="1000" b="0">
                <a:solidFill>
                  <a:srgbClr val="D4D4D4"/>
                </a:solidFill>
                <a:effectLst/>
                <a:latin typeface="JetBrains Mono" panose="02000009000000000000" pitchFamily="49" charset="0"/>
              </a:rPr>
              <a:t>!</a:t>
            </a:r>
            <a:r>
              <a:rPr lang="en-US" sz="1000" b="0">
                <a:solidFill>
                  <a:srgbClr val="CCCCCC"/>
                </a:solidFill>
                <a:effectLst/>
                <a:latin typeface="JetBrains Mono" panose="02000009000000000000" pitchFamily="49" charset="0"/>
              </a:rPr>
              <a:t>s1_head_old)</a:t>
            </a:r>
          </a:p>
          <a:p>
            <a:pPr>
              <a:lnSpc>
                <a:spcPts val="1425"/>
              </a:lnSpc>
              <a:buNone/>
            </a:pPr>
            <a:r>
              <a:rPr lang="en-US" sz="1000" b="0">
                <a:solidFill>
                  <a:srgbClr val="CCCCCC"/>
                </a:solidFill>
                <a:effectLst/>
                <a:latin typeface="JetBrains Mono" panose="02000009000000000000" pitchFamily="49" charset="0"/>
              </a:rPr>
              <a:t>      </a:t>
            </a:r>
            <a:r>
              <a:rPr lang="en-US" sz="1000" b="0" err="1">
                <a:solidFill>
                  <a:srgbClr val="C586C0"/>
                </a:solidFill>
                <a:effectLst/>
                <a:latin typeface="JetBrains Mono" panose="02000009000000000000" pitchFamily="49" charset="0"/>
              </a:rPr>
              <a:t>goto</a:t>
            </a:r>
            <a:r>
              <a:rPr lang="en-US" sz="1000" b="0">
                <a:solidFill>
                  <a:srgbClr val="CCCCCC"/>
                </a:solidFill>
                <a:effectLst/>
                <a:latin typeface="JetBrains Mono" panose="02000009000000000000" pitchFamily="49" charset="0"/>
              </a:rPr>
              <a:t> </a:t>
            </a:r>
            <a:r>
              <a:rPr lang="en-US" sz="1000" b="0">
                <a:solidFill>
                  <a:srgbClr val="C8C8C8"/>
                </a:solidFill>
                <a:effectLst/>
                <a:latin typeface="JetBrains Mono" panose="02000009000000000000" pitchFamily="49" charset="0"/>
              </a:rPr>
              <a:t>abort</a:t>
            </a:r>
            <a:r>
              <a:rPr lang="en-US" sz="1000" b="0">
                <a:solidFill>
                  <a:srgbClr val="CCCCCC"/>
                </a:solidFill>
                <a:effectLst/>
                <a:latin typeface="JetBrains Mono" panose="02000009000000000000" pitchFamily="49" charset="0"/>
              </a:rPr>
              <a:t>;</a:t>
            </a:r>
            <a:r>
              <a:rPr lang="en-US" sz="1000" b="0">
                <a:solidFill>
                  <a:srgbClr val="6A9955"/>
                </a:solidFill>
                <a:effectLst/>
                <a:latin typeface="JetBrains Mono" panose="02000009000000000000" pitchFamily="49" charset="0"/>
              </a:rPr>
              <a:t> // Stack empty, branch logic</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CCCCCC"/>
                </a:solidFill>
                <a:effectLst/>
                <a:latin typeface="JetBrains Mono" panose="02000009000000000000" pitchFamily="49" charset="0"/>
              </a:rPr>
              <a:t>    s1_next </a:t>
            </a:r>
            <a:r>
              <a:rPr lang="en-US" sz="1000" b="0">
                <a:solidFill>
                  <a:srgbClr val="D4D4D4"/>
                </a:solidFill>
                <a:effectLst/>
                <a:latin typeface="JetBrains Mono" panose="02000009000000000000" pitchFamily="49" charset="0"/>
              </a:rPr>
              <a:t>=</a:t>
            </a:r>
            <a:r>
              <a:rPr lang="en-US" sz="1000" b="0">
                <a:solidFill>
                  <a:srgbClr val="CCCCCC"/>
                </a:solidFill>
                <a:effectLst/>
                <a:latin typeface="JetBrains Mono" panose="02000009000000000000" pitchFamily="49" charset="0"/>
              </a:rPr>
              <a:t> </a:t>
            </a:r>
            <a:r>
              <a:rPr lang="en-US" sz="1000" b="0">
                <a:solidFill>
                  <a:srgbClr val="9CDCFE"/>
                </a:solidFill>
                <a:effectLst/>
                <a:latin typeface="JetBrains Mono" panose="02000009000000000000" pitchFamily="49" charset="0"/>
              </a:rPr>
              <a:t>s1_head_old</a:t>
            </a:r>
            <a:r>
              <a:rPr lang="en-US" sz="1000" b="0">
                <a:solidFill>
                  <a:srgbClr val="CCCCCC"/>
                </a:solidFill>
                <a:effectLst/>
                <a:latin typeface="JetBrains Mono" panose="02000009000000000000" pitchFamily="49" charset="0"/>
              </a:rPr>
              <a:t>-&gt;</a:t>
            </a:r>
            <a:r>
              <a:rPr lang="en-US" sz="1000" b="0">
                <a:solidFill>
                  <a:srgbClr val="9CDCFE"/>
                </a:solidFill>
                <a:effectLst/>
                <a:latin typeface="JetBrains Mono" panose="02000009000000000000" pitchFamily="49" charset="0"/>
              </a:rPr>
              <a:t>next</a:t>
            </a:r>
            <a:r>
              <a:rPr lang="en-US" sz="1000" b="0">
                <a:solidFill>
                  <a:srgbClr val="CCCCCC"/>
                </a:solidFill>
                <a:effectLst/>
                <a:latin typeface="JetBrains Mono" panose="02000009000000000000" pitchFamily="49" charset="0"/>
              </a:rPr>
              <a:t>;</a:t>
            </a:r>
          </a:p>
          <a:p>
            <a:pPr>
              <a:lnSpc>
                <a:spcPts val="1425"/>
              </a:lnSpc>
              <a:buNone/>
            </a:pPr>
            <a:r>
              <a:rPr lang="en-US" sz="1000" b="0">
                <a:solidFill>
                  <a:srgbClr val="CCCCCC"/>
                </a:solidFill>
                <a:effectLst/>
                <a:latin typeface="JetBrains Mono" panose="02000009000000000000" pitchFamily="49" charset="0"/>
              </a:rPr>
              <a:t>    </a:t>
            </a:r>
            <a:r>
              <a:rPr lang="en-US" sz="1000" b="0" err="1">
                <a:solidFill>
                  <a:srgbClr val="CCCCCC"/>
                </a:solidFill>
                <a:effectLst/>
                <a:latin typeface="JetBrains Mono" panose="02000009000000000000" pitchFamily="49" charset="0"/>
              </a:rPr>
              <a:t>val</a:t>
            </a:r>
            <a:r>
              <a:rPr lang="en-US" sz="1000" b="0">
                <a:solidFill>
                  <a:srgbClr val="CCCCCC"/>
                </a:solidFill>
                <a:effectLst/>
                <a:latin typeface="JetBrains Mono" panose="02000009000000000000" pitchFamily="49" charset="0"/>
              </a:rPr>
              <a:t> </a:t>
            </a:r>
            <a:r>
              <a:rPr lang="en-US" sz="1000" b="0">
                <a:solidFill>
                  <a:srgbClr val="D4D4D4"/>
                </a:solidFill>
                <a:effectLst/>
                <a:latin typeface="JetBrains Mono" panose="02000009000000000000" pitchFamily="49" charset="0"/>
              </a:rPr>
              <a:t>=</a:t>
            </a:r>
            <a:r>
              <a:rPr lang="en-US" sz="1000" b="0">
                <a:solidFill>
                  <a:srgbClr val="CCCCCC"/>
                </a:solidFill>
                <a:effectLst/>
                <a:latin typeface="JetBrains Mono" panose="02000009000000000000" pitchFamily="49" charset="0"/>
              </a:rPr>
              <a:t> </a:t>
            </a:r>
            <a:r>
              <a:rPr lang="en-US" sz="1000" b="0">
                <a:solidFill>
                  <a:srgbClr val="9CDCFE"/>
                </a:solidFill>
                <a:effectLst/>
                <a:latin typeface="JetBrains Mono" panose="02000009000000000000" pitchFamily="49" charset="0"/>
              </a:rPr>
              <a:t>s1_head_old</a:t>
            </a:r>
            <a:r>
              <a:rPr lang="en-US" sz="1000" b="0">
                <a:solidFill>
                  <a:srgbClr val="CCCCCC"/>
                </a:solidFill>
                <a:effectLst/>
                <a:latin typeface="JetBrains Mono" panose="02000009000000000000" pitchFamily="49" charset="0"/>
              </a:rPr>
              <a:t>-&gt;</a:t>
            </a:r>
            <a:r>
              <a:rPr lang="en-US" sz="1000" b="0" err="1">
                <a:solidFill>
                  <a:srgbClr val="9CDCFE"/>
                </a:solidFill>
                <a:effectLst/>
                <a:latin typeface="JetBrains Mono" panose="02000009000000000000" pitchFamily="49" charset="0"/>
              </a:rPr>
              <a:t>val</a:t>
            </a:r>
            <a:r>
              <a:rPr lang="en-US" sz="1000" b="0">
                <a:solidFill>
                  <a:srgbClr val="CCCCCC"/>
                </a:solidFill>
                <a:effectLst/>
                <a:latin typeface="JetBrains Mono" panose="02000009000000000000" pitchFamily="49" charset="0"/>
              </a:rPr>
              <a:t>;</a:t>
            </a:r>
          </a:p>
          <a:p>
            <a:pPr>
              <a:lnSpc>
                <a:spcPts val="1425"/>
              </a:lnSpc>
              <a:buNone/>
            </a:pPr>
            <a:r>
              <a:rPr lang="en-US" sz="1000" b="0">
                <a:solidFill>
                  <a:srgbClr val="6A9955"/>
                </a:solidFill>
                <a:effectLst/>
                <a:latin typeface="JetBrains Mono" panose="02000009000000000000" pitchFamily="49" charset="0"/>
              </a:rPr>
              <a:t>    // We do NOT perform CAS. We record the intent.</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CCCCCC"/>
                </a:solidFill>
                <a:effectLst/>
                <a:latin typeface="JetBrains Mono" panose="02000009000000000000" pitchFamily="49" charset="0"/>
              </a:rPr>
              <a:t>  } </a:t>
            </a:r>
            <a:r>
              <a:rPr lang="en-US" sz="1000" b="0">
                <a:solidFill>
                  <a:srgbClr val="C586C0"/>
                </a:solidFill>
                <a:effectLst/>
                <a:latin typeface="JetBrains Mono" panose="02000009000000000000" pitchFamily="49" charset="0"/>
              </a:rPr>
              <a:t>while</a:t>
            </a:r>
            <a:r>
              <a:rPr lang="en-US" sz="1000" b="0">
                <a:solidFill>
                  <a:srgbClr val="CCCCCC"/>
                </a:solidFill>
                <a:effectLst/>
                <a:latin typeface="JetBrains Mono" panose="02000009000000000000" pitchFamily="49" charset="0"/>
              </a:rPr>
              <a:t> (</a:t>
            </a:r>
            <a:r>
              <a:rPr lang="en-US" sz="1000" b="0">
                <a:solidFill>
                  <a:srgbClr val="D4D4D4"/>
                </a:solidFill>
                <a:effectLst/>
                <a:latin typeface="JetBrains Mono" panose="02000009000000000000" pitchFamily="49" charset="0"/>
              </a:rPr>
              <a:t>!</a:t>
            </a:r>
            <a:r>
              <a:rPr lang="en-US" sz="1000" b="0" err="1">
                <a:solidFill>
                  <a:srgbClr val="DCDCAA"/>
                </a:solidFill>
                <a:effectLst/>
                <a:latin typeface="JetBrains Mono" panose="02000009000000000000" pitchFamily="49" charset="0"/>
              </a:rPr>
              <a:t>validate_read</a:t>
            </a:r>
            <a:r>
              <a:rPr lang="en-US" sz="1000" b="0">
                <a:solidFill>
                  <a:srgbClr val="CCCCCC"/>
                </a:solidFill>
                <a:effectLst/>
                <a:latin typeface="JetBrains Mono" panose="02000009000000000000" pitchFamily="49" charset="0"/>
              </a:rPr>
              <a:t>(</a:t>
            </a:r>
            <a:r>
              <a:rPr lang="en-US" sz="1000" b="0">
                <a:solidFill>
                  <a:srgbClr val="9CDCFE"/>
                </a:solidFill>
                <a:effectLst/>
                <a:latin typeface="JetBrains Mono" panose="02000009000000000000" pitchFamily="49" charset="0"/>
              </a:rPr>
              <a:t>s1</a:t>
            </a:r>
            <a:r>
              <a:rPr lang="en-US" sz="1000" b="0">
                <a:solidFill>
                  <a:srgbClr val="CCCCCC"/>
                </a:solidFill>
                <a:effectLst/>
                <a:latin typeface="JetBrains Mono" panose="02000009000000000000" pitchFamily="49" charset="0"/>
              </a:rPr>
              <a:t>.</a:t>
            </a:r>
            <a:r>
              <a:rPr lang="en-US" sz="1000" b="0">
                <a:solidFill>
                  <a:srgbClr val="9CDCFE"/>
                </a:solidFill>
                <a:effectLst/>
                <a:latin typeface="JetBrains Mono" panose="02000009000000000000" pitchFamily="49" charset="0"/>
              </a:rPr>
              <a:t>head</a:t>
            </a:r>
            <a:r>
              <a:rPr lang="en-US" sz="1000" b="0">
                <a:solidFill>
                  <a:srgbClr val="CCCCCC"/>
                </a:solidFill>
                <a:effectLst/>
                <a:latin typeface="JetBrains Mono" panose="02000009000000000000" pitchFamily="49" charset="0"/>
              </a:rPr>
              <a:t>, s1_head_old));</a:t>
            </a:r>
          </a:p>
          <a:p>
            <a:pPr>
              <a:lnSpc>
                <a:spcPts val="1425"/>
              </a:lnSpc>
              <a:buNone/>
            </a:pP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6A9955"/>
                </a:solidFill>
                <a:effectLst/>
                <a:latin typeface="JetBrains Mono" panose="02000009000000000000" pitchFamily="49" charset="0"/>
              </a:rPr>
              <a:t>  // Add intent to descriptor:</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6A9955"/>
                </a:solidFill>
                <a:effectLst/>
                <a:latin typeface="JetBrains Mono" panose="02000009000000000000" pitchFamily="49" charset="0"/>
              </a:rPr>
              <a:t>  // "I want to replace s1.head from s1_head_old to s1_next"</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CCCCCC"/>
                </a:solidFill>
                <a:effectLst/>
                <a:latin typeface="JetBrains Mono" panose="02000009000000000000" pitchFamily="49" charset="0"/>
              </a:rPr>
              <a:t>  </a:t>
            </a:r>
            <a:r>
              <a:rPr lang="en-US" sz="1000" b="0" err="1">
                <a:solidFill>
                  <a:srgbClr val="DCDCAA"/>
                </a:solidFill>
                <a:effectLst/>
                <a:latin typeface="JetBrains Mono" panose="02000009000000000000" pitchFamily="49" charset="0"/>
              </a:rPr>
              <a:t>mcns_add_entry</a:t>
            </a:r>
            <a:r>
              <a:rPr lang="en-US" sz="1000" b="0">
                <a:solidFill>
                  <a:srgbClr val="CCCCCC"/>
                </a:solidFill>
                <a:effectLst/>
                <a:latin typeface="JetBrains Mono" panose="02000009000000000000" pitchFamily="49" charset="0"/>
              </a:rPr>
              <a:t>(desc, </a:t>
            </a:r>
            <a:r>
              <a:rPr lang="en-US" sz="1000" b="0">
                <a:solidFill>
                  <a:srgbClr val="D4D4D4"/>
                </a:solidFill>
                <a:effectLst/>
                <a:latin typeface="JetBrains Mono" panose="02000009000000000000" pitchFamily="49" charset="0"/>
              </a:rPr>
              <a:t>&amp;</a:t>
            </a:r>
            <a:r>
              <a:rPr lang="en-US" sz="1000" b="0">
                <a:solidFill>
                  <a:srgbClr val="9CDCFE"/>
                </a:solidFill>
                <a:effectLst/>
                <a:latin typeface="JetBrains Mono" panose="02000009000000000000" pitchFamily="49" charset="0"/>
              </a:rPr>
              <a:t>s1</a:t>
            </a:r>
            <a:r>
              <a:rPr lang="en-US" sz="1000" b="0">
                <a:solidFill>
                  <a:srgbClr val="CCCCCC"/>
                </a:solidFill>
                <a:effectLst/>
                <a:latin typeface="JetBrains Mono" panose="02000009000000000000" pitchFamily="49" charset="0"/>
              </a:rPr>
              <a:t>.</a:t>
            </a:r>
            <a:r>
              <a:rPr lang="en-US" sz="1000" b="0">
                <a:solidFill>
                  <a:srgbClr val="9CDCFE"/>
                </a:solidFill>
                <a:effectLst/>
                <a:latin typeface="JetBrains Mono" panose="02000009000000000000" pitchFamily="49" charset="0"/>
              </a:rPr>
              <a:t>head</a:t>
            </a:r>
            <a:r>
              <a:rPr lang="en-US" sz="1000" b="0">
                <a:solidFill>
                  <a:srgbClr val="CCCCCC"/>
                </a:solidFill>
                <a:effectLst/>
                <a:latin typeface="JetBrains Mono" panose="02000009000000000000" pitchFamily="49" charset="0"/>
              </a:rPr>
              <a:t>, s1_head_old, s1_next);</a:t>
            </a:r>
          </a:p>
        </p:txBody>
      </p:sp>
      <p:sp>
        <p:nvSpPr>
          <p:cNvPr id="6" name="Rectangle 2">
            <a:extLst>
              <a:ext uri="{FF2B5EF4-FFF2-40B4-BE49-F238E27FC236}">
                <a16:creationId xmlns:a16="http://schemas.microsoft.com/office/drawing/2014/main" id="{29746212-14BC-748C-5B54-EBC48D41CF69}"/>
              </a:ext>
            </a:extLst>
          </p:cNvPr>
          <p:cNvSpPr>
            <a:spLocks noChangeArrowheads="1"/>
          </p:cNvSpPr>
          <p:nvPr/>
        </p:nvSpPr>
        <p:spPr bwMode="auto">
          <a:xfrm>
            <a:off x="233910" y="670286"/>
            <a:ext cx="11491925" cy="16235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fr-FR" b="1">
                <a:solidFill>
                  <a:srgbClr val="3333FF"/>
                </a:solidFill>
              </a:rPr>
              <a:t>Phase 2: Compiler Magic (Transformation Pipeline)</a:t>
            </a:r>
          </a:p>
          <a:p>
            <a:pPr algn="l">
              <a:lnSpc>
                <a:spcPts val="1500"/>
              </a:lnSpc>
              <a:buNone/>
            </a:pPr>
            <a:r>
              <a:rPr lang="en-US" sz="1400" b="0" i="0">
                <a:effectLst/>
                <a:latin typeface="Inter"/>
              </a:rPr>
              <a:t>The compiler must perform </a:t>
            </a:r>
            <a:r>
              <a:rPr lang="en-US" sz="1400" b="1" i="0">
                <a:effectLst/>
                <a:latin typeface="Inter"/>
              </a:rPr>
              <a:t>Slicing</a:t>
            </a:r>
            <a:r>
              <a:rPr lang="en-US" sz="1400" b="0" i="0">
                <a:effectLst/>
                <a:latin typeface="Inter"/>
              </a:rPr>
              <a:t> on the </a:t>
            </a:r>
            <a:r>
              <a:rPr lang="en-US" sz="1400" b="0" i="0">
                <a:effectLst/>
                <a:latin typeface="DM Mono" panose="020B0509040201040103" pitchFamily="49" charset="0"/>
              </a:rPr>
              <a:t>push</a:t>
            </a:r>
            <a:r>
              <a:rPr lang="en-US" sz="1400" b="0" i="0">
                <a:effectLst/>
                <a:latin typeface="Inter"/>
              </a:rPr>
              <a:t> and </a:t>
            </a:r>
            <a:r>
              <a:rPr lang="en-US" sz="1400" b="0" i="0">
                <a:effectLst/>
                <a:latin typeface="DM Mono" panose="020B0509040201040103" pitchFamily="49" charset="0"/>
              </a:rPr>
              <a:t>pop</a:t>
            </a:r>
            <a:r>
              <a:rPr lang="en-US" sz="1400" b="0" i="0">
                <a:effectLst/>
                <a:latin typeface="Inter"/>
              </a:rPr>
              <a:t> functions. It divides the code into three parts:</a:t>
            </a:r>
          </a:p>
          <a:p>
            <a:pPr algn="l">
              <a:lnSpc>
                <a:spcPts val="1500"/>
              </a:lnSpc>
              <a:spcAft>
                <a:spcPts val="225"/>
              </a:spcAft>
              <a:buFont typeface="+mj-lt"/>
              <a:buAutoNum type="arabicPeriod"/>
            </a:pPr>
            <a:r>
              <a:rPr lang="en-US" sz="1400" b="1" i="0">
                <a:effectLst/>
                <a:latin typeface="Inter"/>
              </a:rPr>
              <a:t>Generator (Planning):</a:t>
            </a:r>
            <a:r>
              <a:rPr lang="en-US" sz="1400" b="0" i="0">
                <a:effectLst/>
                <a:latin typeface="Inter"/>
              </a:rPr>
              <a:t> Code before the linearization point (calculating new values).</a:t>
            </a:r>
          </a:p>
          <a:p>
            <a:pPr algn="l">
              <a:lnSpc>
                <a:spcPts val="1500"/>
              </a:lnSpc>
              <a:spcAft>
                <a:spcPts val="225"/>
              </a:spcAft>
              <a:buFont typeface="+mj-lt"/>
              <a:buAutoNum type="arabicPeriod"/>
            </a:pPr>
            <a:r>
              <a:rPr lang="en-US" sz="1400" b="1" i="0">
                <a:effectLst/>
                <a:latin typeface="Inter"/>
              </a:rPr>
              <a:t>Critical (Execution):</a:t>
            </a:r>
            <a:r>
              <a:rPr lang="en-US" sz="1400" b="0" i="0">
                <a:effectLst/>
                <a:latin typeface="Inter"/>
              </a:rPr>
              <a:t> The linearization point itself (address, expected value, new value).</a:t>
            </a:r>
          </a:p>
          <a:p>
            <a:pPr algn="l">
              <a:lnSpc>
                <a:spcPts val="1500"/>
              </a:lnSpc>
              <a:spcAft>
                <a:spcPts val="225"/>
              </a:spcAft>
              <a:buFont typeface="+mj-lt"/>
              <a:buAutoNum type="arabicPeriod"/>
            </a:pPr>
            <a:r>
              <a:rPr lang="en-US" sz="1400" b="1" i="0">
                <a:effectLst/>
                <a:latin typeface="Inter"/>
              </a:rPr>
              <a:t>Post-Op (Cleanup):</a:t>
            </a:r>
            <a:r>
              <a:rPr lang="en-US" sz="1400" b="0" i="0">
                <a:effectLst/>
                <a:latin typeface="Inter"/>
              </a:rPr>
              <a:t> Code after success (deleting nodes, updating counters).</a:t>
            </a:r>
          </a:p>
          <a:p>
            <a:pPr algn="l">
              <a:buNone/>
            </a:pPr>
            <a:r>
              <a:rPr lang="en-US" sz="1400" b="1" i="0">
                <a:effectLst/>
                <a:latin typeface="Inter"/>
              </a:rPr>
              <a:t>How the compiler transforms </a:t>
            </a:r>
            <a:r>
              <a:rPr lang="en-US" sz="1400" b="1" i="0" err="1">
                <a:effectLst/>
                <a:latin typeface="DM Mono" panose="020B0509040201040103" pitchFamily="49" charset="0"/>
              </a:rPr>
              <a:t>move_atomic</a:t>
            </a:r>
            <a:r>
              <a:rPr lang="en-US" sz="1400" b="1" i="0">
                <a:effectLst/>
                <a:latin typeface="Inter"/>
              </a:rPr>
              <a:t>:</a:t>
            </a:r>
          </a:p>
          <a:p>
            <a:pPr algn="l">
              <a:lnSpc>
                <a:spcPts val="1500"/>
              </a:lnSpc>
              <a:spcAft>
                <a:spcPts val="1350"/>
              </a:spcAft>
              <a:buNone/>
            </a:pPr>
            <a:r>
              <a:rPr lang="en-US" sz="1400" b="0" i="0">
                <a:effectLst/>
                <a:latin typeface="Inter"/>
              </a:rPr>
              <a:t>It </a:t>
            </a:r>
            <a:r>
              <a:rPr lang="en-US" sz="1400" b="0" i="0" err="1">
                <a:effectLst/>
                <a:latin typeface="Inter"/>
              </a:rPr>
              <a:t>inlines</a:t>
            </a:r>
            <a:r>
              <a:rPr lang="en-US" sz="1400" b="0" i="0">
                <a:effectLst/>
                <a:latin typeface="Inter"/>
              </a:rPr>
              <a:t> calls and assembles an </a:t>
            </a:r>
            <a:r>
              <a:rPr lang="en-US" sz="1400" b="1" i="0">
                <a:effectLst/>
                <a:latin typeface="Inter"/>
              </a:rPr>
              <a:t>MCNS Descriptor</a:t>
            </a:r>
            <a:r>
              <a:rPr lang="en-US" sz="1400" b="0" i="0">
                <a:effectLst/>
                <a:latin typeface="Inter"/>
              </a:rPr>
              <a:t> (Multi-Compare-N-Swap).</a:t>
            </a:r>
          </a:p>
        </p:txBody>
      </p:sp>
      <p:sp>
        <p:nvSpPr>
          <p:cNvPr id="4" name="TextBox 3">
            <a:extLst>
              <a:ext uri="{FF2B5EF4-FFF2-40B4-BE49-F238E27FC236}">
                <a16:creationId xmlns:a16="http://schemas.microsoft.com/office/drawing/2014/main" id="{D358D093-8AD5-D422-EFFC-6DB5D8AB753A}"/>
              </a:ext>
            </a:extLst>
          </p:cNvPr>
          <p:cNvSpPr txBox="1"/>
          <p:nvPr/>
        </p:nvSpPr>
        <p:spPr>
          <a:xfrm>
            <a:off x="6116681" y="1660865"/>
            <a:ext cx="5609154" cy="4914166"/>
          </a:xfrm>
          <a:prstGeom prst="rect">
            <a:avLst/>
          </a:prstGeom>
          <a:solidFill>
            <a:srgbClr val="1F1F1F"/>
          </a:solidFill>
        </p:spPr>
        <p:txBody>
          <a:bodyPr wrap="square">
            <a:spAutoFit/>
          </a:bodyPr>
          <a:lstStyle/>
          <a:p>
            <a:pPr>
              <a:lnSpc>
                <a:spcPts val="1425"/>
              </a:lnSpc>
              <a:buNone/>
            </a:pPr>
            <a:r>
              <a:rPr lang="en-US" sz="1000" b="0">
                <a:solidFill>
                  <a:srgbClr val="6A9955"/>
                </a:solidFill>
                <a:effectLst/>
                <a:latin typeface="JetBrains Mono" panose="02000009000000000000" pitchFamily="49" charset="0"/>
              </a:rPr>
              <a:t>  // --- Step 2: Execute s2.push(</a:t>
            </a:r>
            <a:r>
              <a:rPr lang="en-US" sz="1000" b="0" err="1">
                <a:solidFill>
                  <a:srgbClr val="6A9955"/>
                </a:solidFill>
                <a:effectLst/>
                <a:latin typeface="JetBrains Mono" panose="02000009000000000000" pitchFamily="49" charset="0"/>
              </a:rPr>
              <a:t>val</a:t>
            </a:r>
            <a:r>
              <a:rPr lang="en-US" sz="1000" b="0">
                <a:solidFill>
                  <a:srgbClr val="6A9955"/>
                </a:solidFill>
                <a:effectLst/>
                <a:latin typeface="JetBrains Mono" panose="02000009000000000000" pitchFamily="49" charset="0"/>
              </a:rPr>
              <a:t>) (Speculatively) ---</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CCCCCC"/>
                </a:solidFill>
                <a:effectLst/>
                <a:latin typeface="JetBrains Mono" panose="02000009000000000000" pitchFamily="49" charset="0"/>
              </a:rPr>
              <a:t>  Node </a:t>
            </a:r>
            <a:r>
              <a:rPr lang="en-US" sz="1000" b="0">
                <a:solidFill>
                  <a:srgbClr val="D4D4D4"/>
                </a:solidFill>
                <a:effectLst/>
                <a:latin typeface="JetBrains Mono" panose="02000009000000000000" pitchFamily="49" charset="0"/>
              </a:rPr>
              <a:t>*</a:t>
            </a:r>
            <a:r>
              <a:rPr lang="en-US" sz="1000" b="0">
                <a:solidFill>
                  <a:srgbClr val="CCCCCC"/>
                </a:solidFill>
                <a:effectLst/>
                <a:latin typeface="JetBrains Mono" panose="02000009000000000000" pitchFamily="49" charset="0"/>
              </a:rPr>
              <a:t>n </a:t>
            </a:r>
            <a:r>
              <a:rPr lang="en-US" sz="1000" b="0">
                <a:solidFill>
                  <a:srgbClr val="D4D4D4"/>
                </a:solidFill>
                <a:effectLst/>
                <a:latin typeface="JetBrains Mono" panose="02000009000000000000" pitchFamily="49" charset="0"/>
              </a:rPr>
              <a:t>=</a:t>
            </a:r>
            <a:r>
              <a:rPr lang="en-US" sz="1000" b="0">
                <a:solidFill>
                  <a:srgbClr val="CCCCCC"/>
                </a:solidFill>
                <a:effectLst/>
                <a:latin typeface="JetBrains Mono" panose="02000009000000000000" pitchFamily="49" charset="0"/>
              </a:rPr>
              <a:t> </a:t>
            </a:r>
            <a:r>
              <a:rPr lang="en-US" sz="1000" b="0">
                <a:solidFill>
                  <a:srgbClr val="C586C0"/>
                </a:solidFill>
                <a:effectLst/>
                <a:latin typeface="JetBrains Mono" panose="02000009000000000000" pitchFamily="49" charset="0"/>
              </a:rPr>
              <a:t>new</a:t>
            </a:r>
            <a:r>
              <a:rPr lang="en-US" sz="1000" b="0">
                <a:solidFill>
                  <a:srgbClr val="CCCCCC"/>
                </a:solidFill>
                <a:effectLst/>
                <a:latin typeface="JetBrains Mono" panose="02000009000000000000" pitchFamily="49" charset="0"/>
              </a:rPr>
              <a:t> </a:t>
            </a:r>
            <a:r>
              <a:rPr lang="en-US" sz="1000" b="0">
                <a:solidFill>
                  <a:srgbClr val="DCDCAA"/>
                </a:solidFill>
                <a:effectLst/>
                <a:latin typeface="JetBrains Mono" panose="02000009000000000000" pitchFamily="49" charset="0"/>
              </a:rPr>
              <a:t>Node</a:t>
            </a:r>
            <a:r>
              <a:rPr lang="en-US" sz="1000" b="0">
                <a:solidFill>
                  <a:srgbClr val="CCCCCC"/>
                </a:solidFill>
                <a:effectLst/>
                <a:latin typeface="JetBrains Mono" panose="02000009000000000000" pitchFamily="49" charset="0"/>
              </a:rPr>
              <a:t>(</a:t>
            </a:r>
            <a:r>
              <a:rPr lang="en-US" sz="1000" b="0" err="1">
                <a:solidFill>
                  <a:srgbClr val="CCCCCC"/>
                </a:solidFill>
                <a:effectLst/>
                <a:latin typeface="JetBrains Mono" panose="02000009000000000000" pitchFamily="49" charset="0"/>
              </a:rPr>
              <a:t>val</a:t>
            </a:r>
            <a:r>
              <a:rPr lang="en-US" sz="1000" b="0">
                <a:solidFill>
                  <a:srgbClr val="CCCCCC"/>
                </a:solidFill>
                <a:effectLst/>
                <a:latin typeface="JetBrains Mono" panose="02000009000000000000" pitchFamily="49" charset="0"/>
              </a:rPr>
              <a:t>);</a:t>
            </a:r>
          </a:p>
          <a:p>
            <a:pPr>
              <a:lnSpc>
                <a:spcPts val="1425"/>
              </a:lnSpc>
              <a:buNone/>
            </a:pPr>
            <a:r>
              <a:rPr lang="en-US" sz="1000" b="0">
                <a:solidFill>
                  <a:srgbClr val="CCCCCC"/>
                </a:solidFill>
                <a:effectLst/>
                <a:latin typeface="JetBrains Mono" panose="02000009000000000000" pitchFamily="49" charset="0"/>
              </a:rPr>
              <a:t>  Node </a:t>
            </a:r>
            <a:r>
              <a:rPr lang="en-US" sz="1000" b="0">
                <a:solidFill>
                  <a:srgbClr val="D4D4D4"/>
                </a:solidFill>
                <a:effectLst/>
                <a:latin typeface="JetBrains Mono" panose="02000009000000000000" pitchFamily="49" charset="0"/>
              </a:rPr>
              <a:t>*</a:t>
            </a:r>
            <a:r>
              <a:rPr lang="en-US" sz="1000" b="0">
                <a:solidFill>
                  <a:srgbClr val="9CDCFE"/>
                </a:solidFill>
                <a:effectLst/>
                <a:latin typeface="JetBrains Mono" panose="02000009000000000000" pitchFamily="49" charset="0"/>
              </a:rPr>
              <a:t>s2_head_old</a:t>
            </a:r>
            <a:r>
              <a:rPr lang="en-US" sz="1000" b="0">
                <a:solidFill>
                  <a:srgbClr val="CCCCCC"/>
                </a:solidFill>
                <a:effectLst/>
                <a:latin typeface="JetBrains Mono" panose="02000009000000000000" pitchFamily="49" charset="0"/>
              </a:rPr>
              <a:t>;</a:t>
            </a:r>
          </a:p>
          <a:p>
            <a:pPr>
              <a:lnSpc>
                <a:spcPts val="1425"/>
              </a:lnSpc>
              <a:buNone/>
            </a:pPr>
            <a:r>
              <a:rPr lang="en-US" sz="1000" b="0">
                <a:solidFill>
                  <a:srgbClr val="CCCCCC"/>
                </a:solidFill>
                <a:effectLst/>
                <a:latin typeface="JetBrains Mono" panose="02000009000000000000" pitchFamily="49" charset="0"/>
              </a:rPr>
              <a:t>  </a:t>
            </a:r>
            <a:r>
              <a:rPr lang="en-US" sz="1000" b="0">
                <a:solidFill>
                  <a:srgbClr val="C586C0"/>
                </a:solidFill>
                <a:effectLst/>
                <a:latin typeface="JetBrains Mono" panose="02000009000000000000" pitchFamily="49" charset="0"/>
              </a:rPr>
              <a:t>do</a:t>
            </a:r>
            <a:r>
              <a:rPr lang="en-US" sz="1000" b="0">
                <a:solidFill>
                  <a:srgbClr val="CCCCCC"/>
                </a:solidFill>
                <a:effectLst/>
                <a:latin typeface="JetBrains Mono" panose="02000009000000000000" pitchFamily="49" charset="0"/>
              </a:rPr>
              <a:t> {</a:t>
            </a:r>
          </a:p>
          <a:p>
            <a:pPr>
              <a:lnSpc>
                <a:spcPts val="1425"/>
              </a:lnSpc>
              <a:buNone/>
            </a:pPr>
            <a:r>
              <a:rPr lang="en-US" sz="1000" b="0">
                <a:solidFill>
                  <a:srgbClr val="CCCCCC"/>
                </a:solidFill>
                <a:effectLst/>
                <a:latin typeface="JetBrains Mono" panose="02000009000000000000" pitchFamily="49" charset="0"/>
              </a:rPr>
              <a:t>    s2_head_old </a:t>
            </a:r>
            <a:r>
              <a:rPr lang="en-US" sz="1000" b="0">
                <a:solidFill>
                  <a:srgbClr val="D4D4D4"/>
                </a:solidFill>
                <a:effectLst/>
                <a:latin typeface="JetBrains Mono" panose="02000009000000000000" pitchFamily="49" charset="0"/>
              </a:rPr>
              <a:t>=</a:t>
            </a:r>
            <a:r>
              <a:rPr lang="en-US" sz="1000" b="0">
                <a:solidFill>
                  <a:srgbClr val="CCCCCC"/>
                </a:solidFill>
                <a:effectLst/>
                <a:latin typeface="JetBrains Mono" panose="02000009000000000000" pitchFamily="49" charset="0"/>
              </a:rPr>
              <a:t> </a:t>
            </a:r>
            <a:r>
              <a:rPr lang="en-US" sz="1000" b="0" err="1">
                <a:solidFill>
                  <a:srgbClr val="DCDCAA"/>
                </a:solidFill>
                <a:effectLst/>
                <a:latin typeface="JetBrains Mono" panose="02000009000000000000" pitchFamily="49" charset="0"/>
              </a:rPr>
              <a:t>atomic_load</a:t>
            </a:r>
            <a:r>
              <a:rPr lang="en-US" sz="1000" b="0">
                <a:solidFill>
                  <a:srgbClr val="CCCCCC"/>
                </a:solidFill>
                <a:effectLst/>
                <a:latin typeface="JetBrains Mono" panose="02000009000000000000" pitchFamily="49" charset="0"/>
              </a:rPr>
              <a:t>(</a:t>
            </a:r>
            <a:r>
              <a:rPr lang="en-US" sz="1000" b="0">
                <a:solidFill>
                  <a:srgbClr val="9CDCFE"/>
                </a:solidFill>
                <a:effectLst/>
                <a:latin typeface="JetBrains Mono" panose="02000009000000000000" pitchFamily="49" charset="0"/>
              </a:rPr>
              <a:t>s2</a:t>
            </a:r>
            <a:r>
              <a:rPr lang="en-US" sz="1000" b="0">
                <a:solidFill>
                  <a:srgbClr val="CCCCCC"/>
                </a:solidFill>
                <a:effectLst/>
                <a:latin typeface="JetBrains Mono" panose="02000009000000000000" pitchFamily="49" charset="0"/>
              </a:rPr>
              <a:t>.</a:t>
            </a:r>
            <a:r>
              <a:rPr lang="en-US" sz="1000" b="0">
                <a:solidFill>
                  <a:srgbClr val="9CDCFE"/>
                </a:solidFill>
                <a:effectLst/>
                <a:latin typeface="JetBrains Mono" panose="02000009000000000000" pitchFamily="49" charset="0"/>
              </a:rPr>
              <a:t>head</a:t>
            </a:r>
            <a:r>
              <a:rPr lang="en-US" sz="1000" b="0">
                <a:solidFill>
                  <a:srgbClr val="CCCCCC"/>
                </a:solidFill>
                <a:effectLst/>
                <a:latin typeface="JetBrains Mono" panose="02000009000000000000" pitchFamily="49" charset="0"/>
              </a:rPr>
              <a:t>);</a:t>
            </a:r>
            <a:r>
              <a:rPr lang="en-US" sz="1000" b="0">
                <a:solidFill>
                  <a:srgbClr val="6A9955"/>
                </a:solidFill>
                <a:effectLst/>
                <a:latin typeface="JetBrains Mono" panose="02000009000000000000" pitchFamily="49" charset="0"/>
              </a:rPr>
              <a:t> // Tracking Read</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CCCCCC"/>
                </a:solidFill>
                <a:effectLst/>
                <a:latin typeface="JetBrains Mono" panose="02000009000000000000" pitchFamily="49" charset="0"/>
              </a:rPr>
              <a:t>    </a:t>
            </a:r>
            <a:r>
              <a:rPr lang="en-US" sz="1000" b="0">
                <a:solidFill>
                  <a:srgbClr val="9CDCFE"/>
                </a:solidFill>
                <a:effectLst/>
                <a:latin typeface="JetBrains Mono" panose="02000009000000000000" pitchFamily="49" charset="0"/>
              </a:rPr>
              <a:t>n</a:t>
            </a:r>
            <a:r>
              <a:rPr lang="en-US" sz="1000" b="0">
                <a:solidFill>
                  <a:srgbClr val="CCCCCC"/>
                </a:solidFill>
                <a:effectLst/>
                <a:latin typeface="JetBrains Mono" panose="02000009000000000000" pitchFamily="49" charset="0"/>
              </a:rPr>
              <a:t>-&gt;</a:t>
            </a:r>
            <a:r>
              <a:rPr lang="en-US" sz="1000" b="0">
                <a:solidFill>
                  <a:srgbClr val="9CDCFE"/>
                </a:solidFill>
                <a:effectLst/>
                <a:latin typeface="JetBrains Mono" panose="02000009000000000000" pitchFamily="49" charset="0"/>
              </a:rPr>
              <a:t>next</a:t>
            </a:r>
            <a:r>
              <a:rPr lang="en-US" sz="1000" b="0">
                <a:solidFill>
                  <a:srgbClr val="CCCCCC"/>
                </a:solidFill>
                <a:effectLst/>
                <a:latin typeface="JetBrains Mono" panose="02000009000000000000" pitchFamily="49" charset="0"/>
              </a:rPr>
              <a:t> </a:t>
            </a:r>
            <a:r>
              <a:rPr lang="en-US" sz="1000" b="0">
                <a:solidFill>
                  <a:srgbClr val="D4D4D4"/>
                </a:solidFill>
                <a:effectLst/>
                <a:latin typeface="JetBrains Mono" panose="02000009000000000000" pitchFamily="49" charset="0"/>
              </a:rPr>
              <a:t>=</a:t>
            </a:r>
            <a:r>
              <a:rPr lang="en-US" sz="1000" b="0">
                <a:solidFill>
                  <a:srgbClr val="CCCCCC"/>
                </a:solidFill>
                <a:effectLst/>
                <a:latin typeface="JetBrains Mono" panose="02000009000000000000" pitchFamily="49" charset="0"/>
              </a:rPr>
              <a:t> s2_head_old;</a:t>
            </a:r>
          </a:p>
          <a:p>
            <a:pPr>
              <a:lnSpc>
                <a:spcPts val="1425"/>
              </a:lnSpc>
              <a:buNone/>
            </a:pPr>
            <a:r>
              <a:rPr lang="en-US" sz="1000" b="0">
                <a:solidFill>
                  <a:srgbClr val="6A9955"/>
                </a:solidFill>
                <a:effectLst/>
                <a:latin typeface="JetBrains Mono" panose="02000009000000000000" pitchFamily="49" charset="0"/>
              </a:rPr>
              <a:t>    // Again, NO CAS performed yet.</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CCCCCC"/>
                </a:solidFill>
                <a:effectLst/>
                <a:latin typeface="JetBrains Mono" panose="02000009000000000000" pitchFamily="49" charset="0"/>
              </a:rPr>
              <a:t>  } </a:t>
            </a:r>
            <a:r>
              <a:rPr lang="en-US" sz="1000" b="0">
                <a:solidFill>
                  <a:srgbClr val="C586C0"/>
                </a:solidFill>
                <a:effectLst/>
                <a:latin typeface="JetBrains Mono" panose="02000009000000000000" pitchFamily="49" charset="0"/>
              </a:rPr>
              <a:t>while</a:t>
            </a:r>
            <a:r>
              <a:rPr lang="en-US" sz="1000" b="0">
                <a:solidFill>
                  <a:srgbClr val="CCCCCC"/>
                </a:solidFill>
                <a:effectLst/>
                <a:latin typeface="JetBrains Mono" panose="02000009000000000000" pitchFamily="49" charset="0"/>
              </a:rPr>
              <a:t> (</a:t>
            </a:r>
            <a:r>
              <a:rPr lang="en-US" sz="1000" b="0">
                <a:solidFill>
                  <a:srgbClr val="D4D4D4"/>
                </a:solidFill>
                <a:effectLst/>
                <a:latin typeface="JetBrains Mono" panose="02000009000000000000" pitchFamily="49" charset="0"/>
              </a:rPr>
              <a:t>!</a:t>
            </a:r>
            <a:r>
              <a:rPr lang="en-US" sz="1000" b="0" err="1">
                <a:solidFill>
                  <a:srgbClr val="DCDCAA"/>
                </a:solidFill>
                <a:effectLst/>
                <a:latin typeface="JetBrains Mono" panose="02000009000000000000" pitchFamily="49" charset="0"/>
              </a:rPr>
              <a:t>validate_read</a:t>
            </a:r>
            <a:r>
              <a:rPr lang="en-US" sz="1000" b="0">
                <a:solidFill>
                  <a:srgbClr val="CCCCCC"/>
                </a:solidFill>
                <a:effectLst/>
                <a:latin typeface="JetBrains Mono" panose="02000009000000000000" pitchFamily="49" charset="0"/>
              </a:rPr>
              <a:t>(</a:t>
            </a:r>
            <a:r>
              <a:rPr lang="en-US" sz="1000" b="0">
                <a:solidFill>
                  <a:srgbClr val="9CDCFE"/>
                </a:solidFill>
                <a:effectLst/>
                <a:latin typeface="JetBrains Mono" panose="02000009000000000000" pitchFamily="49" charset="0"/>
              </a:rPr>
              <a:t>s2</a:t>
            </a:r>
            <a:r>
              <a:rPr lang="en-US" sz="1000" b="0">
                <a:solidFill>
                  <a:srgbClr val="CCCCCC"/>
                </a:solidFill>
                <a:effectLst/>
                <a:latin typeface="JetBrains Mono" panose="02000009000000000000" pitchFamily="49" charset="0"/>
              </a:rPr>
              <a:t>.</a:t>
            </a:r>
            <a:r>
              <a:rPr lang="en-US" sz="1000" b="0">
                <a:solidFill>
                  <a:srgbClr val="9CDCFE"/>
                </a:solidFill>
                <a:effectLst/>
                <a:latin typeface="JetBrains Mono" panose="02000009000000000000" pitchFamily="49" charset="0"/>
              </a:rPr>
              <a:t>head</a:t>
            </a:r>
            <a:r>
              <a:rPr lang="en-US" sz="1000" b="0">
                <a:solidFill>
                  <a:srgbClr val="CCCCCC"/>
                </a:solidFill>
                <a:effectLst/>
                <a:latin typeface="JetBrains Mono" panose="02000009000000000000" pitchFamily="49" charset="0"/>
              </a:rPr>
              <a:t>, s2_head_old));</a:t>
            </a:r>
          </a:p>
          <a:p>
            <a:pPr>
              <a:lnSpc>
                <a:spcPts val="1425"/>
              </a:lnSpc>
              <a:buNone/>
            </a:pP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6A9955"/>
                </a:solidFill>
                <a:effectLst/>
                <a:latin typeface="JetBrains Mono" panose="02000009000000000000" pitchFamily="49" charset="0"/>
              </a:rPr>
              <a:t>  // Add intent:</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6A9955"/>
                </a:solidFill>
                <a:effectLst/>
                <a:latin typeface="JetBrains Mono" panose="02000009000000000000" pitchFamily="49" charset="0"/>
              </a:rPr>
              <a:t>  // "I want to replace s2.head from s2_head_old to n"</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CCCCCC"/>
                </a:solidFill>
                <a:effectLst/>
                <a:latin typeface="JetBrains Mono" panose="02000009000000000000" pitchFamily="49" charset="0"/>
              </a:rPr>
              <a:t>  </a:t>
            </a:r>
            <a:r>
              <a:rPr lang="en-US" sz="1000" b="0" err="1">
                <a:solidFill>
                  <a:srgbClr val="9CDCFE"/>
                </a:solidFill>
                <a:effectLst/>
                <a:latin typeface="JetBrains Mono" panose="02000009000000000000" pitchFamily="49" charset="0"/>
              </a:rPr>
              <a:t>mcns_add_entry</a:t>
            </a:r>
            <a:r>
              <a:rPr lang="en-US" sz="1000" b="0">
                <a:solidFill>
                  <a:srgbClr val="CCCCCC"/>
                </a:solidFill>
                <a:effectLst/>
                <a:latin typeface="JetBrains Mono" panose="02000009000000000000" pitchFamily="49" charset="0"/>
              </a:rPr>
              <a:t>(desc, </a:t>
            </a:r>
            <a:r>
              <a:rPr lang="en-US" sz="1000" b="0">
                <a:solidFill>
                  <a:srgbClr val="D4D4D4"/>
                </a:solidFill>
                <a:effectLst/>
                <a:latin typeface="JetBrains Mono" panose="02000009000000000000" pitchFamily="49" charset="0"/>
              </a:rPr>
              <a:t>&amp;</a:t>
            </a:r>
            <a:r>
              <a:rPr lang="en-US" sz="1000" b="0">
                <a:solidFill>
                  <a:srgbClr val="9CDCFE"/>
                </a:solidFill>
                <a:effectLst/>
                <a:latin typeface="JetBrains Mono" panose="02000009000000000000" pitchFamily="49" charset="0"/>
              </a:rPr>
              <a:t>s2</a:t>
            </a:r>
            <a:r>
              <a:rPr lang="en-US" sz="1000" b="0">
                <a:solidFill>
                  <a:srgbClr val="CCCCCC"/>
                </a:solidFill>
                <a:effectLst/>
                <a:latin typeface="JetBrains Mono" panose="02000009000000000000" pitchFamily="49" charset="0"/>
              </a:rPr>
              <a:t>.</a:t>
            </a:r>
            <a:r>
              <a:rPr lang="en-US" sz="1000" b="0">
                <a:solidFill>
                  <a:srgbClr val="9CDCFE"/>
                </a:solidFill>
                <a:effectLst/>
                <a:latin typeface="JetBrains Mono" panose="02000009000000000000" pitchFamily="49" charset="0"/>
              </a:rPr>
              <a:t>head</a:t>
            </a:r>
            <a:r>
              <a:rPr lang="en-US" sz="1000" b="0">
                <a:solidFill>
                  <a:srgbClr val="CCCCCC"/>
                </a:solidFill>
                <a:effectLst/>
                <a:latin typeface="JetBrains Mono" panose="02000009000000000000" pitchFamily="49" charset="0"/>
              </a:rPr>
              <a:t>, s2_head_old, n);</a:t>
            </a:r>
          </a:p>
          <a:p>
            <a:pPr>
              <a:lnSpc>
                <a:spcPts val="1425"/>
              </a:lnSpc>
              <a:buNone/>
            </a:pP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6A9955"/>
                </a:solidFill>
                <a:effectLst/>
                <a:latin typeface="JetBrains Mono" panose="02000009000000000000" pitchFamily="49" charset="0"/>
              </a:rPr>
              <a:t>  // --- Step 3: Atomic Commit (MCNS) ---</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6A9955"/>
                </a:solidFill>
                <a:effectLst/>
                <a:latin typeface="JetBrains Mono" panose="02000009000000000000" pitchFamily="49" charset="0"/>
              </a:rPr>
              <a:t>  // The magic function that executes all </a:t>
            </a:r>
            <a:r>
              <a:rPr lang="en-US" sz="1000" b="0" err="1">
                <a:solidFill>
                  <a:srgbClr val="6A9955"/>
                </a:solidFill>
                <a:effectLst/>
                <a:latin typeface="JetBrains Mono" panose="02000009000000000000" pitchFamily="49" charset="0"/>
              </a:rPr>
              <a:t>CASes</a:t>
            </a:r>
            <a:r>
              <a:rPr lang="en-US" sz="1000" b="0">
                <a:solidFill>
                  <a:srgbClr val="6A9955"/>
                </a:solidFill>
                <a:effectLst/>
                <a:latin typeface="JetBrains Mono" panose="02000009000000000000" pitchFamily="49" charset="0"/>
              </a:rPr>
              <a:t> at once</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CCCCCC"/>
                </a:solidFill>
                <a:effectLst/>
                <a:latin typeface="JetBrains Mono" panose="02000009000000000000" pitchFamily="49" charset="0"/>
              </a:rPr>
              <a:t>  </a:t>
            </a:r>
            <a:r>
              <a:rPr lang="en-US" sz="1000" b="0">
                <a:solidFill>
                  <a:srgbClr val="569CD6"/>
                </a:solidFill>
                <a:effectLst/>
                <a:latin typeface="JetBrains Mono" panose="02000009000000000000" pitchFamily="49" charset="0"/>
              </a:rPr>
              <a:t>bool</a:t>
            </a:r>
            <a:r>
              <a:rPr lang="en-US" sz="1000" b="0">
                <a:solidFill>
                  <a:srgbClr val="CCCCCC"/>
                </a:solidFill>
                <a:effectLst/>
                <a:latin typeface="JetBrains Mono" panose="02000009000000000000" pitchFamily="49" charset="0"/>
              </a:rPr>
              <a:t> </a:t>
            </a:r>
            <a:r>
              <a:rPr lang="en-US" sz="1000" b="0">
                <a:solidFill>
                  <a:srgbClr val="9CDCFE"/>
                </a:solidFill>
                <a:effectLst/>
                <a:latin typeface="JetBrains Mono" panose="02000009000000000000" pitchFamily="49" charset="0"/>
              </a:rPr>
              <a:t>success</a:t>
            </a:r>
            <a:r>
              <a:rPr lang="en-US" sz="1000" b="0">
                <a:solidFill>
                  <a:srgbClr val="CCCCCC"/>
                </a:solidFill>
                <a:effectLst/>
                <a:latin typeface="JetBrains Mono" panose="02000009000000000000" pitchFamily="49" charset="0"/>
              </a:rPr>
              <a:t> </a:t>
            </a:r>
            <a:r>
              <a:rPr lang="en-US" sz="1000" b="0">
                <a:solidFill>
                  <a:srgbClr val="D4D4D4"/>
                </a:solidFill>
                <a:effectLst/>
                <a:latin typeface="JetBrains Mono" panose="02000009000000000000" pitchFamily="49" charset="0"/>
              </a:rPr>
              <a:t>=</a:t>
            </a:r>
            <a:r>
              <a:rPr lang="en-US" sz="1000" b="0">
                <a:solidFill>
                  <a:srgbClr val="CCCCCC"/>
                </a:solidFill>
                <a:effectLst/>
                <a:latin typeface="JetBrains Mono" panose="02000009000000000000" pitchFamily="49" charset="0"/>
              </a:rPr>
              <a:t> </a:t>
            </a:r>
            <a:r>
              <a:rPr lang="en-US" sz="1000" b="0" err="1">
                <a:solidFill>
                  <a:srgbClr val="DCDCAA"/>
                </a:solidFill>
                <a:effectLst/>
                <a:latin typeface="JetBrains Mono" panose="02000009000000000000" pitchFamily="49" charset="0"/>
              </a:rPr>
              <a:t>mcns_commit</a:t>
            </a:r>
            <a:r>
              <a:rPr lang="en-US" sz="1000" b="0">
                <a:solidFill>
                  <a:srgbClr val="CCCCCC"/>
                </a:solidFill>
                <a:effectLst/>
                <a:latin typeface="JetBrains Mono" panose="02000009000000000000" pitchFamily="49" charset="0"/>
              </a:rPr>
              <a:t>(desc);</a:t>
            </a:r>
          </a:p>
          <a:p>
            <a:pPr>
              <a:lnSpc>
                <a:spcPts val="1425"/>
              </a:lnSpc>
              <a:buNone/>
            </a:pPr>
            <a:r>
              <a:rPr lang="en-US" sz="1000" b="0">
                <a:solidFill>
                  <a:srgbClr val="CCCCCC"/>
                </a:solidFill>
                <a:effectLst/>
                <a:latin typeface="JetBrains Mono" panose="02000009000000000000" pitchFamily="49" charset="0"/>
              </a:rPr>
              <a:t>  </a:t>
            </a:r>
            <a:r>
              <a:rPr lang="en-US" sz="1000" b="0">
                <a:solidFill>
                  <a:srgbClr val="C586C0"/>
                </a:solidFill>
                <a:effectLst/>
                <a:latin typeface="JetBrains Mono" panose="02000009000000000000" pitchFamily="49" charset="0"/>
              </a:rPr>
              <a:t>if</a:t>
            </a:r>
            <a:r>
              <a:rPr lang="en-US" sz="1000" b="0">
                <a:solidFill>
                  <a:srgbClr val="CCCCCC"/>
                </a:solidFill>
                <a:effectLst/>
                <a:latin typeface="JetBrains Mono" panose="02000009000000000000" pitchFamily="49" charset="0"/>
              </a:rPr>
              <a:t> (success) {</a:t>
            </a:r>
          </a:p>
          <a:p>
            <a:pPr>
              <a:lnSpc>
                <a:spcPts val="1425"/>
              </a:lnSpc>
              <a:buNone/>
            </a:pPr>
            <a:r>
              <a:rPr lang="en-US" sz="1000" b="0">
                <a:solidFill>
                  <a:srgbClr val="6A9955"/>
                </a:solidFill>
                <a:effectLst/>
                <a:latin typeface="JetBrains Mono" panose="02000009000000000000" pitchFamily="49" charset="0"/>
              </a:rPr>
              <a:t>    // --- Step 4: Cleanup (executed only on success) ---</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6A9955"/>
                </a:solidFill>
                <a:effectLst/>
                <a:latin typeface="JetBrains Mono" panose="02000009000000000000" pitchFamily="49" charset="0"/>
              </a:rPr>
              <a:t>    // From s1.pop():</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CCCCCC"/>
                </a:solidFill>
                <a:effectLst/>
                <a:latin typeface="JetBrains Mono" panose="02000009000000000000" pitchFamily="49" charset="0"/>
              </a:rPr>
              <a:t>    </a:t>
            </a:r>
            <a:r>
              <a:rPr lang="en-US" sz="1000" b="0">
                <a:solidFill>
                  <a:srgbClr val="C586C0"/>
                </a:solidFill>
                <a:effectLst/>
                <a:latin typeface="JetBrains Mono" panose="02000009000000000000" pitchFamily="49" charset="0"/>
              </a:rPr>
              <a:t>delete</a:t>
            </a:r>
            <a:r>
              <a:rPr lang="en-US" sz="1000" b="0">
                <a:solidFill>
                  <a:srgbClr val="CCCCCC"/>
                </a:solidFill>
                <a:effectLst/>
                <a:latin typeface="JetBrains Mono" panose="02000009000000000000" pitchFamily="49" charset="0"/>
              </a:rPr>
              <a:t> s1_head_old;</a:t>
            </a:r>
          </a:p>
          <a:p>
            <a:pPr>
              <a:lnSpc>
                <a:spcPts val="1425"/>
              </a:lnSpc>
              <a:buNone/>
            </a:pPr>
            <a:r>
              <a:rPr lang="en-US" sz="1000" b="0">
                <a:solidFill>
                  <a:srgbClr val="6A9955"/>
                </a:solidFill>
                <a:effectLst/>
                <a:latin typeface="JetBrains Mono" panose="02000009000000000000" pitchFamily="49" charset="0"/>
              </a:rPr>
              <a:t>    // From s2.push(): nothing (n is now in the list)</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CCCCCC"/>
                </a:solidFill>
                <a:effectLst/>
                <a:latin typeface="JetBrains Mono" panose="02000009000000000000" pitchFamily="49" charset="0"/>
              </a:rPr>
              <a:t>  } </a:t>
            </a:r>
            <a:r>
              <a:rPr lang="en-US" sz="1000" b="0">
                <a:solidFill>
                  <a:srgbClr val="C586C0"/>
                </a:solidFill>
                <a:effectLst/>
                <a:latin typeface="JetBrains Mono" panose="02000009000000000000" pitchFamily="49" charset="0"/>
              </a:rPr>
              <a:t>else</a:t>
            </a:r>
            <a:r>
              <a:rPr lang="en-US" sz="1000" b="0">
                <a:solidFill>
                  <a:srgbClr val="CCCCCC"/>
                </a:solidFill>
                <a:effectLst/>
                <a:latin typeface="JetBrains Mono" panose="02000009000000000000" pitchFamily="49" charset="0"/>
              </a:rPr>
              <a:t> {</a:t>
            </a:r>
          </a:p>
          <a:p>
            <a:pPr>
              <a:lnSpc>
                <a:spcPts val="1425"/>
              </a:lnSpc>
              <a:buNone/>
            </a:pPr>
            <a:r>
              <a:rPr lang="en-US" sz="1000" b="0">
                <a:solidFill>
                  <a:srgbClr val="6A9955"/>
                </a:solidFill>
                <a:effectLst/>
                <a:latin typeface="JetBrains Mono" panose="02000009000000000000" pitchFamily="49" charset="0"/>
              </a:rPr>
              <a:t>    // Rollback</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CCCCCC"/>
                </a:solidFill>
                <a:effectLst/>
                <a:latin typeface="JetBrains Mono" panose="02000009000000000000" pitchFamily="49" charset="0"/>
              </a:rPr>
              <a:t>    </a:t>
            </a:r>
            <a:r>
              <a:rPr lang="en-US" sz="1000" b="0">
                <a:solidFill>
                  <a:srgbClr val="C586C0"/>
                </a:solidFill>
                <a:effectLst/>
                <a:latin typeface="JetBrains Mono" panose="02000009000000000000" pitchFamily="49" charset="0"/>
              </a:rPr>
              <a:t>delete</a:t>
            </a:r>
            <a:r>
              <a:rPr lang="en-US" sz="1000" b="0">
                <a:solidFill>
                  <a:srgbClr val="CCCCCC"/>
                </a:solidFill>
                <a:effectLst/>
                <a:latin typeface="JetBrains Mono" panose="02000009000000000000" pitchFamily="49" charset="0"/>
              </a:rPr>
              <a:t> n;</a:t>
            </a:r>
            <a:r>
              <a:rPr lang="en-US" sz="1000" b="0">
                <a:solidFill>
                  <a:srgbClr val="6A9955"/>
                </a:solidFill>
                <a:effectLst/>
                <a:latin typeface="JetBrains Mono" panose="02000009000000000000" pitchFamily="49" charset="0"/>
              </a:rPr>
              <a:t>   // We created a node but didn't insert it; must delete.</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CCCCCC"/>
                </a:solidFill>
                <a:effectLst/>
                <a:latin typeface="JetBrains Mono" panose="02000009000000000000" pitchFamily="49" charset="0"/>
              </a:rPr>
              <a:t>    </a:t>
            </a:r>
            <a:r>
              <a:rPr lang="en-US" sz="1000" b="0" err="1">
                <a:solidFill>
                  <a:srgbClr val="C586C0"/>
                </a:solidFill>
                <a:effectLst/>
                <a:latin typeface="JetBrains Mono" panose="02000009000000000000" pitchFamily="49" charset="0"/>
              </a:rPr>
              <a:t>goto</a:t>
            </a:r>
            <a:r>
              <a:rPr lang="en-US" sz="1000" b="0">
                <a:solidFill>
                  <a:srgbClr val="CCCCCC"/>
                </a:solidFill>
                <a:effectLst/>
                <a:latin typeface="JetBrains Mono" panose="02000009000000000000" pitchFamily="49" charset="0"/>
              </a:rPr>
              <a:t> </a:t>
            </a:r>
            <a:r>
              <a:rPr lang="en-US" sz="1000" b="0">
                <a:solidFill>
                  <a:srgbClr val="C8C8C8"/>
                </a:solidFill>
                <a:effectLst/>
                <a:latin typeface="JetBrains Mono" panose="02000009000000000000" pitchFamily="49" charset="0"/>
              </a:rPr>
              <a:t>retry</a:t>
            </a:r>
            <a:r>
              <a:rPr lang="en-US" sz="1000" b="0">
                <a:solidFill>
                  <a:srgbClr val="CCCCCC"/>
                </a:solidFill>
                <a:effectLst/>
                <a:latin typeface="JetBrains Mono" panose="02000009000000000000" pitchFamily="49" charset="0"/>
              </a:rPr>
              <a:t>;</a:t>
            </a:r>
            <a:r>
              <a:rPr lang="en-US" sz="1000" b="0">
                <a:solidFill>
                  <a:srgbClr val="6A9955"/>
                </a:solidFill>
                <a:effectLst/>
                <a:latin typeface="JetBrains Mono" panose="02000009000000000000" pitchFamily="49" charset="0"/>
              </a:rPr>
              <a:t> // Restart the whole transaction</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CCCCCC"/>
                </a:solidFill>
                <a:effectLst/>
                <a:latin typeface="JetBrains Mono" panose="02000009000000000000" pitchFamily="49" charset="0"/>
              </a:rPr>
              <a:t>  }</a:t>
            </a:r>
          </a:p>
          <a:p>
            <a:pPr>
              <a:buNone/>
            </a:pPr>
            <a:r>
              <a:rPr lang="en-US" sz="1000" b="0">
                <a:solidFill>
                  <a:srgbClr val="CCCCCC"/>
                </a:solidFill>
                <a:effectLst/>
                <a:latin typeface="JetBrains Mono" panose="02000009000000000000" pitchFamily="49" charset="0"/>
              </a:rPr>
              <a:t>}</a:t>
            </a:r>
          </a:p>
        </p:txBody>
      </p:sp>
      <p:sp>
        <p:nvSpPr>
          <p:cNvPr id="2" name="TextBox 1">
            <a:extLst>
              <a:ext uri="{FF2B5EF4-FFF2-40B4-BE49-F238E27FC236}">
                <a16:creationId xmlns:a16="http://schemas.microsoft.com/office/drawing/2014/main" id="{902A60C5-554A-5C71-FF31-20E7D589F33B}"/>
              </a:ext>
            </a:extLst>
          </p:cNvPr>
          <p:cNvSpPr txBox="1"/>
          <p:nvPr/>
        </p:nvSpPr>
        <p:spPr>
          <a:xfrm>
            <a:off x="233910" y="208621"/>
            <a:ext cx="4940070" cy="461665"/>
          </a:xfrm>
          <a:prstGeom prst="rect">
            <a:avLst/>
          </a:prstGeom>
          <a:solidFill>
            <a:schemeClr val="accent2">
              <a:lumMod val="50000"/>
            </a:schemeClr>
          </a:solidFill>
        </p:spPr>
        <p:txBody>
          <a:bodyPr wrap="square" rtlCol="0">
            <a:spAutoFit/>
          </a:bodyPr>
          <a:lstStyle/>
          <a:p>
            <a:r>
              <a:rPr lang="en-US" sz="2400">
                <a:solidFill>
                  <a:schemeClr val="bg1"/>
                </a:solidFill>
                <a:latin typeface="Ubuntu Condensed" panose="020B0506030602030204" pitchFamily="34" charset="0"/>
              </a:rPr>
              <a:t>Transactional Concurrent Data Structures</a:t>
            </a:r>
            <a:endParaRPr lang="ru-RU" sz="2400">
              <a:solidFill>
                <a:schemeClr val="bg1"/>
              </a:solidFill>
              <a:latin typeface="Ubuntu Condensed" panose="020B0506030602030204" pitchFamily="34" charset="0"/>
            </a:endParaRPr>
          </a:p>
        </p:txBody>
      </p:sp>
    </p:spTree>
    <p:extLst>
      <p:ext uri="{BB962C8B-B14F-4D97-AF65-F5344CB8AC3E}">
        <p14:creationId xmlns:p14="http://schemas.microsoft.com/office/powerpoint/2010/main" val="18179218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A8A367B-06D0-8C92-D912-17F87D60A1DB}"/>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5C5C32B6-80B9-2279-3550-4364DD146146}"/>
              </a:ext>
            </a:extLst>
          </p:cNvPr>
          <p:cNvSpPr txBox="1"/>
          <p:nvPr/>
        </p:nvSpPr>
        <p:spPr>
          <a:xfrm>
            <a:off x="233910" y="208621"/>
            <a:ext cx="7073670" cy="461665"/>
          </a:xfrm>
          <a:prstGeom prst="rect">
            <a:avLst/>
          </a:prstGeom>
          <a:solidFill>
            <a:srgbClr val="002060"/>
          </a:solidFill>
        </p:spPr>
        <p:txBody>
          <a:bodyPr wrap="square" rtlCol="0">
            <a:spAutoFit/>
          </a:bodyPr>
          <a:lstStyle/>
          <a:p>
            <a:r>
              <a:rPr lang="en-US" sz="2400">
                <a:solidFill>
                  <a:schemeClr val="bg1"/>
                </a:solidFill>
                <a:latin typeface="Ubuntu Condensed" panose="020B0506030602030204" pitchFamily="34" charset="0"/>
              </a:rPr>
              <a:t>More Precise Static Race/Deadlock Analysis</a:t>
            </a:r>
            <a:endParaRPr lang="ru-RU" sz="2400">
              <a:solidFill>
                <a:schemeClr val="bg1"/>
              </a:solidFill>
              <a:latin typeface="Ubuntu Condensed" panose="020B0506030602030204" pitchFamily="34" charset="0"/>
            </a:endParaRPr>
          </a:p>
        </p:txBody>
      </p:sp>
      <p:sp>
        <p:nvSpPr>
          <p:cNvPr id="7" name="Номер слайда 7">
            <a:extLst>
              <a:ext uri="{FF2B5EF4-FFF2-40B4-BE49-F238E27FC236}">
                <a16:creationId xmlns:a16="http://schemas.microsoft.com/office/drawing/2014/main" id="{61BCC64B-ECF6-FBF3-ECC4-68D4421BABBE}"/>
              </a:ext>
            </a:extLst>
          </p:cNvPr>
          <p:cNvSpPr>
            <a:spLocks noGrp="1"/>
          </p:cNvSpPr>
          <p:nvPr>
            <p:ph type="sldNum" sz="quarter" idx="12"/>
          </p:nvPr>
        </p:nvSpPr>
        <p:spPr>
          <a:xfrm>
            <a:off x="11725835" y="6402070"/>
            <a:ext cx="386155" cy="365125"/>
          </a:xfrm>
        </p:spPr>
        <p:txBody>
          <a:bodyPr/>
          <a:lstStyle/>
          <a:p>
            <a:pPr algn="ctr"/>
            <a:fld id="{E757BAED-F255-4CF1-96BA-8D7417A9C3BC}" type="slidenum">
              <a:rPr lang="ru-RU" sz="1800" smtClean="0">
                <a:latin typeface="Ubuntu Condensed" panose="020B0506030602030204" pitchFamily="34" charset="0"/>
              </a:rPr>
              <a:pPr algn="ctr"/>
              <a:t>7</a:t>
            </a:fld>
            <a:endParaRPr lang="ru-RU" sz="1800">
              <a:latin typeface="Ubuntu Condensed" panose="020B0506030602030204" pitchFamily="34" charset="0"/>
            </a:endParaRPr>
          </a:p>
        </p:txBody>
      </p:sp>
      <p:sp>
        <p:nvSpPr>
          <p:cNvPr id="4" name="TextBox 3">
            <a:extLst>
              <a:ext uri="{FF2B5EF4-FFF2-40B4-BE49-F238E27FC236}">
                <a16:creationId xmlns:a16="http://schemas.microsoft.com/office/drawing/2014/main" id="{B55830FA-2748-E1FB-8A95-AC8A515A8464}"/>
              </a:ext>
            </a:extLst>
          </p:cNvPr>
          <p:cNvSpPr txBox="1"/>
          <p:nvPr/>
        </p:nvSpPr>
        <p:spPr>
          <a:xfrm>
            <a:off x="233910" y="670286"/>
            <a:ext cx="9829800" cy="2693045"/>
          </a:xfrm>
          <a:prstGeom prst="rect">
            <a:avLst/>
          </a:prstGeom>
          <a:noFill/>
        </p:spPr>
        <p:txBody>
          <a:bodyPr wrap="square">
            <a:spAutoFit/>
          </a:bodyPr>
          <a:lstStyle/>
          <a:p>
            <a:pPr>
              <a:spcAft>
                <a:spcPts val="600"/>
              </a:spcAft>
              <a:buNone/>
            </a:pPr>
            <a:r>
              <a:rPr lang="en-US" sz="1600" b="1"/>
              <a:t>Problem with Current Approach:</a:t>
            </a:r>
            <a:r>
              <a:rPr lang="en-US" sz="1600"/>
              <a:t> </a:t>
            </a:r>
            <a:r>
              <a:rPr lang="en-US" sz="1600" err="1"/>
              <a:t>ThreadSanitizer</a:t>
            </a:r>
            <a:r>
              <a:rPr lang="en-US" sz="1600"/>
              <a:t> (TSAN) and static analyzers (</a:t>
            </a:r>
            <a:r>
              <a:rPr lang="en-US" sz="1600" err="1"/>
              <a:t>RacerD</a:t>
            </a:r>
            <a:r>
              <a:rPr lang="en-US" sz="1600"/>
              <a:t>, Infer) work at the IR level, where concurrency semantics are blurred. For example, lock-free structures look like ordinary CAS loops without context.</a:t>
            </a:r>
          </a:p>
          <a:p>
            <a:pPr>
              <a:spcAft>
                <a:spcPts val="600"/>
              </a:spcAft>
              <a:buNone/>
            </a:pPr>
            <a:r>
              <a:rPr lang="en-US" sz="1600" b="1"/>
              <a:t>What Concur Dialect Provides:</a:t>
            </a:r>
            <a:endParaRPr lang="en-US" sz="1600"/>
          </a:p>
          <a:p>
            <a:pPr>
              <a:spcAft>
                <a:spcPts val="600"/>
              </a:spcAft>
              <a:buFont typeface="Arial" panose="020B0604020202020204" pitchFamily="34" charset="0"/>
              <a:buChar char="•"/>
            </a:pPr>
            <a:r>
              <a:rPr lang="ru-RU" sz="1600" b="1"/>
              <a:t> </a:t>
            </a:r>
            <a:r>
              <a:rPr lang="en-US" sz="1600" b="1"/>
              <a:t>Eliminating False Positives:</a:t>
            </a:r>
            <a:r>
              <a:rPr lang="en-US" sz="1600"/>
              <a:t> If the analyzer sees </a:t>
            </a:r>
            <a:r>
              <a:rPr lang="en-US" sz="1600" err="1">
                <a:latin typeface="Courier New" panose="02070309020205020404" pitchFamily="49" charset="0"/>
              </a:rPr>
              <a:t>concur.ds.enqueue</a:t>
            </a:r>
            <a:r>
              <a:rPr lang="en-US" sz="1600">
                <a:latin typeface="Courier New" panose="02070309020205020404" pitchFamily="49" charset="0"/>
              </a:rPr>
              <a:t> %Q {progress="lock-free"}</a:t>
            </a:r>
            <a:r>
              <a:rPr lang="en-US" sz="1600"/>
              <a:t>, it knows this is not a data race, but a correct lock-free operation. </a:t>
            </a:r>
          </a:p>
          <a:p>
            <a:pPr>
              <a:spcAft>
                <a:spcPts val="600"/>
              </a:spcAft>
              <a:buFont typeface="Arial" panose="020B0604020202020204" pitchFamily="34" charset="0"/>
              <a:buChar char="•"/>
            </a:pPr>
            <a:r>
              <a:rPr lang="ru-RU" sz="1600" b="1"/>
              <a:t> </a:t>
            </a:r>
            <a:r>
              <a:rPr lang="en-US" sz="1600" b="1"/>
              <a:t>Context-Sensitive Analysis:</a:t>
            </a:r>
            <a:r>
              <a:rPr lang="en-US" sz="1600"/>
              <a:t> For </a:t>
            </a:r>
            <a:r>
              <a:rPr lang="en-US" sz="1600" err="1">
                <a:latin typeface="Courier New" panose="02070309020205020404" pitchFamily="49" charset="0"/>
              </a:rPr>
              <a:t>concur.guard.begin</a:t>
            </a:r>
            <a:r>
              <a:rPr lang="en-US" sz="1600">
                <a:latin typeface="Courier New" panose="02070309020205020404" pitchFamily="49" charset="0"/>
              </a:rPr>
              <a:t>/end</a:t>
            </a:r>
            <a:r>
              <a:rPr lang="en-US" sz="1600"/>
              <a:t>, the compiler builds a precise lock-order graph</a:t>
            </a:r>
          </a:p>
          <a:p>
            <a:pPr>
              <a:spcAft>
                <a:spcPts val="600"/>
              </a:spcAft>
              <a:buFont typeface="Arial" panose="020B0604020202020204" pitchFamily="34" charset="0"/>
              <a:buChar char="•"/>
            </a:pPr>
            <a:r>
              <a:rPr lang="ru-RU" sz="1600" b="1"/>
              <a:t> </a:t>
            </a:r>
            <a:r>
              <a:rPr lang="en-US" sz="1600" b="1"/>
              <a:t>Real-World Example:</a:t>
            </a:r>
            <a:r>
              <a:rPr lang="en-US" sz="1600"/>
              <a:t> …</a:t>
            </a:r>
            <a:endParaRPr lang="ru-RU" sz="1600"/>
          </a:p>
          <a:p>
            <a:pPr>
              <a:spcAft>
                <a:spcPts val="600"/>
              </a:spcAft>
            </a:pPr>
            <a:r>
              <a:rPr lang="en-SG" sz="1600" b="1"/>
              <a:t>Concrete Scenario:</a:t>
            </a:r>
            <a:endParaRPr lang="en-US" sz="1600" b="1"/>
          </a:p>
        </p:txBody>
      </p:sp>
      <p:sp>
        <p:nvSpPr>
          <p:cNvPr id="6" name="TextBox 5">
            <a:extLst>
              <a:ext uri="{FF2B5EF4-FFF2-40B4-BE49-F238E27FC236}">
                <a16:creationId xmlns:a16="http://schemas.microsoft.com/office/drawing/2014/main" id="{951E648B-5F06-F826-1F10-2D9052690187}"/>
              </a:ext>
            </a:extLst>
          </p:cNvPr>
          <p:cNvSpPr txBox="1"/>
          <p:nvPr/>
        </p:nvSpPr>
        <p:spPr>
          <a:xfrm>
            <a:off x="233910" y="3482199"/>
            <a:ext cx="4546195" cy="1569660"/>
          </a:xfrm>
          <a:prstGeom prst="rect">
            <a:avLst/>
          </a:prstGeom>
          <a:solidFill>
            <a:schemeClr val="accent6">
              <a:lumMod val="20000"/>
              <a:lumOff val="80000"/>
            </a:schemeClr>
          </a:solidFill>
        </p:spPr>
        <p:txBody>
          <a:bodyPr wrap="square">
            <a:spAutoFit/>
          </a:bodyPr>
          <a:lstStyle/>
          <a:p>
            <a:r>
              <a:rPr lang="en-SG" sz="1200">
                <a:latin typeface="JetBrains Mono" panose="02000009000000000000" pitchFamily="49" charset="0"/>
                <a:ea typeface="JetBrains Mono" panose="02000009000000000000" pitchFamily="49" charset="0"/>
                <a:cs typeface="JetBrains Mono" panose="02000009000000000000" pitchFamily="49" charset="0"/>
              </a:rPr>
              <a:t>// Before: TSAN reports a race</a:t>
            </a:r>
          </a:p>
          <a:p>
            <a:r>
              <a:rPr lang="en-SG" sz="1200">
                <a:latin typeface="JetBrains Mono" panose="02000009000000000000" pitchFamily="49" charset="0"/>
                <a:ea typeface="JetBrains Mono" panose="02000009000000000000" pitchFamily="49" charset="0"/>
                <a:cs typeface="JetBrains Mono" panose="02000009000000000000" pitchFamily="49" charset="0"/>
              </a:rPr>
              <a:t>%x = load %</a:t>
            </a:r>
            <a:r>
              <a:rPr lang="en-SG" sz="1200" err="1">
                <a:latin typeface="JetBrains Mono" panose="02000009000000000000" pitchFamily="49" charset="0"/>
                <a:ea typeface="JetBrains Mono" panose="02000009000000000000" pitchFamily="49" charset="0"/>
                <a:cs typeface="JetBrains Mono" panose="02000009000000000000" pitchFamily="49" charset="0"/>
              </a:rPr>
              <a:t>ptr</a:t>
            </a:r>
            <a:r>
              <a:rPr lang="en-SG" sz="1200">
                <a:latin typeface="JetBrains Mono" panose="02000009000000000000" pitchFamily="49" charset="0"/>
                <a:ea typeface="JetBrains Mono" panose="02000009000000000000" pitchFamily="49" charset="0"/>
                <a:cs typeface="JetBrains Mono" panose="02000009000000000000" pitchFamily="49" charset="0"/>
              </a:rPr>
              <a:t> : i32  // Thread A</a:t>
            </a:r>
          </a:p>
          <a:p>
            <a:r>
              <a:rPr lang="en-SG" sz="1200">
                <a:latin typeface="JetBrains Mono" panose="02000009000000000000" pitchFamily="49" charset="0"/>
                <a:ea typeface="JetBrains Mono" panose="02000009000000000000" pitchFamily="49" charset="0"/>
                <a:cs typeface="JetBrains Mono" panose="02000009000000000000" pitchFamily="49" charset="0"/>
              </a:rPr>
              <a:t>store %</a:t>
            </a:r>
            <a:r>
              <a:rPr lang="en-SG" sz="1200" err="1">
                <a:latin typeface="JetBrains Mono" panose="02000009000000000000" pitchFamily="49" charset="0"/>
                <a:ea typeface="JetBrains Mono" panose="02000009000000000000" pitchFamily="49" charset="0"/>
                <a:cs typeface="JetBrains Mono" panose="02000009000000000000" pitchFamily="49" charset="0"/>
              </a:rPr>
              <a:t>val</a:t>
            </a:r>
            <a:r>
              <a:rPr lang="en-SG" sz="1200">
                <a:latin typeface="JetBrains Mono" panose="02000009000000000000" pitchFamily="49" charset="0"/>
                <a:ea typeface="JetBrains Mono" panose="02000009000000000000" pitchFamily="49" charset="0"/>
                <a:cs typeface="JetBrains Mono" panose="02000009000000000000" pitchFamily="49" charset="0"/>
              </a:rPr>
              <a:t>, %</a:t>
            </a:r>
            <a:r>
              <a:rPr lang="en-SG" sz="1200" err="1">
                <a:latin typeface="JetBrains Mono" panose="02000009000000000000" pitchFamily="49" charset="0"/>
                <a:ea typeface="JetBrains Mono" panose="02000009000000000000" pitchFamily="49" charset="0"/>
                <a:cs typeface="JetBrains Mono" panose="02000009000000000000" pitchFamily="49" charset="0"/>
              </a:rPr>
              <a:t>ptr</a:t>
            </a:r>
            <a:r>
              <a:rPr lang="en-SG" sz="1200">
                <a:latin typeface="JetBrains Mono" panose="02000009000000000000" pitchFamily="49" charset="0"/>
                <a:ea typeface="JetBrains Mono" panose="02000009000000000000" pitchFamily="49" charset="0"/>
                <a:cs typeface="JetBrains Mono" panose="02000009000000000000" pitchFamily="49" charset="0"/>
              </a:rPr>
              <a:t> : i32  // Thread B, inside RCU</a:t>
            </a:r>
          </a:p>
          <a:p>
            <a:endParaRPr lang="en-SG" sz="1200">
              <a:latin typeface="JetBrains Mono" panose="02000009000000000000" pitchFamily="49" charset="0"/>
              <a:ea typeface="JetBrains Mono" panose="02000009000000000000" pitchFamily="49" charset="0"/>
              <a:cs typeface="JetBrains Mono" panose="02000009000000000000" pitchFamily="49" charset="0"/>
            </a:endParaRPr>
          </a:p>
          <a:p>
            <a:r>
              <a:rPr lang="en-SG" sz="1200">
                <a:latin typeface="JetBrains Mono" panose="02000009000000000000" pitchFamily="49" charset="0"/>
                <a:ea typeface="JetBrains Mono" panose="02000009000000000000" pitchFamily="49" charset="0"/>
                <a:cs typeface="JetBrains Mono" panose="02000009000000000000" pitchFamily="49" charset="0"/>
              </a:rPr>
              <a:t>// After: TSAN understands the context</a:t>
            </a:r>
          </a:p>
          <a:p>
            <a:r>
              <a:rPr lang="en-SG" sz="1200">
                <a:latin typeface="JetBrains Mono" panose="02000009000000000000" pitchFamily="49" charset="0"/>
                <a:ea typeface="JetBrains Mono" panose="02000009000000000000" pitchFamily="49" charset="0"/>
                <a:cs typeface="JetBrains Mono" panose="02000009000000000000" pitchFamily="49" charset="0"/>
              </a:rPr>
              <a:t>%epoch = </a:t>
            </a:r>
            <a:r>
              <a:rPr lang="en-SG" sz="1200" err="1">
                <a:latin typeface="JetBrains Mono" panose="02000009000000000000" pitchFamily="49" charset="0"/>
                <a:ea typeface="JetBrains Mono" panose="02000009000000000000" pitchFamily="49" charset="0"/>
                <a:cs typeface="JetBrains Mono" panose="02000009000000000000" pitchFamily="49" charset="0"/>
              </a:rPr>
              <a:t>concur.epoch.enter</a:t>
            </a:r>
            <a:endParaRPr lang="en-SG" sz="1200">
              <a:latin typeface="JetBrains Mono" panose="02000009000000000000" pitchFamily="49" charset="0"/>
              <a:ea typeface="JetBrains Mono" panose="02000009000000000000" pitchFamily="49" charset="0"/>
              <a:cs typeface="JetBrains Mono" panose="02000009000000000000" pitchFamily="49" charset="0"/>
            </a:endParaRPr>
          </a:p>
          <a:p>
            <a:r>
              <a:rPr lang="en-SG" sz="1200">
                <a:latin typeface="JetBrains Mono" panose="02000009000000000000" pitchFamily="49" charset="0"/>
                <a:ea typeface="JetBrains Mono" panose="02000009000000000000" pitchFamily="49" charset="0"/>
                <a:cs typeface="JetBrains Mono" panose="02000009000000000000" pitchFamily="49" charset="0"/>
              </a:rPr>
              <a:t>%x = load %</a:t>
            </a:r>
            <a:r>
              <a:rPr lang="en-SG" sz="1200" err="1">
                <a:latin typeface="JetBrains Mono" panose="02000009000000000000" pitchFamily="49" charset="0"/>
                <a:ea typeface="JetBrains Mono" panose="02000009000000000000" pitchFamily="49" charset="0"/>
                <a:cs typeface="JetBrains Mono" panose="02000009000000000000" pitchFamily="49" charset="0"/>
              </a:rPr>
              <a:t>ptr</a:t>
            </a:r>
            <a:r>
              <a:rPr lang="en-SG" sz="1200">
                <a:latin typeface="JetBrains Mono" panose="02000009000000000000" pitchFamily="49" charset="0"/>
                <a:ea typeface="JetBrains Mono" panose="02000009000000000000" pitchFamily="49" charset="0"/>
                <a:cs typeface="JetBrains Mono" panose="02000009000000000000" pitchFamily="49" charset="0"/>
              </a:rPr>
              <a:t> : i32  // Protected by epoch</a:t>
            </a:r>
          </a:p>
          <a:p>
            <a:r>
              <a:rPr lang="en-SG" sz="1200" err="1">
                <a:latin typeface="JetBrains Mono" panose="02000009000000000000" pitchFamily="49" charset="0"/>
                <a:ea typeface="JetBrains Mono" panose="02000009000000000000" pitchFamily="49" charset="0"/>
                <a:cs typeface="JetBrains Mono" panose="02000009000000000000" pitchFamily="49" charset="0"/>
              </a:rPr>
              <a:t>concur.epoch.exit</a:t>
            </a:r>
            <a:r>
              <a:rPr lang="en-SG" sz="1200">
                <a:latin typeface="JetBrains Mono" panose="02000009000000000000" pitchFamily="49" charset="0"/>
                <a:ea typeface="JetBrains Mono" panose="02000009000000000000" pitchFamily="49" charset="0"/>
                <a:cs typeface="JetBrains Mono" panose="02000009000000000000" pitchFamily="49" charset="0"/>
              </a:rPr>
              <a:t> %epoch</a:t>
            </a:r>
          </a:p>
        </p:txBody>
      </p:sp>
    </p:spTree>
    <p:extLst>
      <p:ext uri="{BB962C8B-B14F-4D97-AF65-F5344CB8AC3E}">
        <p14:creationId xmlns:p14="http://schemas.microsoft.com/office/powerpoint/2010/main" val="2924059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F970078-3C67-3CFD-F9D4-D6411CA0482A}"/>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EB062107-C7D4-F203-8E55-526F4D55659F}"/>
              </a:ext>
            </a:extLst>
          </p:cNvPr>
          <p:cNvSpPr txBox="1"/>
          <p:nvPr/>
        </p:nvSpPr>
        <p:spPr>
          <a:xfrm>
            <a:off x="233910" y="208621"/>
            <a:ext cx="7073670" cy="461665"/>
          </a:xfrm>
          <a:prstGeom prst="rect">
            <a:avLst/>
          </a:prstGeom>
          <a:solidFill>
            <a:srgbClr val="002060"/>
          </a:solidFill>
        </p:spPr>
        <p:txBody>
          <a:bodyPr wrap="square" rtlCol="0">
            <a:spAutoFit/>
          </a:bodyPr>
          <a:lstStyle/>
          <a:p>
            <a:r>
              <a:rPr lang="en-US" sz="2400">
                <a:solidFill>
                  <a:schemeClr val="bg1"/>
                </a:solidFill>
                <a:latin typeface="Ubuntu Condensed" panose="020B0506030602030204" pitchFamily="34" charset="0"/>
              </a:rPr>
              <a:t> Memory Reclamation Optimization</a:t>
            </a:r>
            <a:endParaRPr lang="ru-RU" sz="2400">
              <a:solidFill>
                <a:schemeClr val="bg1"/>
              </a:solidFill>
              <a:latin typeface="Ubuntu Condensed" panose="020B0506030602030204" pitchFamily="34" charset="0"/>
            </a:endParaRPr>
          </a:p>
        </p:txBody>
      </p:sp>
      <p:sp>
        <p:nvSpPr>
          <p:cNvPr id="7" name="Номер слайда 7">
            <a:extLst>
              <a:ext uri="{FF2B5EF4-FFF2-40B4-BE49-F238E27FC236}">
                <a16:creationId xmlns:a16="http://schemas.microsoft.com/office/drawing/2014/main" id="{BE4DDFEE-FCCC-1BB7-FA75-3F98361065AA}"/>
              </a:ext>
            </a:extLst>
          </p:cNvPr>
          <p:cNvSpPr>
            <a:spLocks noGrp="1"/>
          </p:cNvSpPr>
          <p:nvPr>
            <p:ph type="sldNum" sz="quarter" idx="12"/>
          </p:nvPr>
        </p:nvSpPr>
        <p:spPr>
          <a:xfrm>
            <a:off x="11725835" y="6402070"/>
            <a:ext cx="386155" cy="365125"/>
          </a:xfrm>
        </p:spPr>
        <p:txBody>
          <a:bodyPr/>
          <a:lstStyle/>
          <a:p>
            <a:pPr algn="ctr"/>
            <a:fld id="{E757BAED-F255-4CF1-96BA-8D7417A9C3BC}" type="slidenum">
              <a:rPr lang="ru-RU" sz="1800" smtClean="0">
                <a:latin typeface="Ubuntu Condensed" panose="020B0506030602030204" pitchFamily="34" charset="0"/>
              </a:rPr>
              <a:pPr algn="ctr"/>
              <a:t>8</a:t>
            </a:fld>
            <a:endParaRPr lang="ru-RU" sz="1800">
              <a:latin typeface="Ubuntu Condensed" panose="020B0506030602030204" pitchFamily="34" charset="0"/>
            </a:endParaRPr>
          </a:p>
        </p:txBody>
      </p:sp>
      <p:sp>
        <p:nvSpPr>
          <p:cNvPr id="6" name="TextBox 5">
            <a:extLst>
              <a:ext uri="{FF2B5EF4-FFF2-40B4-BE49-F238E27FC236}">
                <a16:creationId xmlns:a16="http://schemas.microsoft.com/office/drawing/2014/main" id="{2F8819E2-4307-92D7-0F9D-DB78F59B8F28}"/>
              </a:ext>
            </a:extLst>
          </p:cNvPr>
          <p:cNvSpPr txBox="1"/>
          <p:nvPr/>
        </p:nvSpPr>
        <p:spPr>
          <a:xfrm>
            <a:off x="233910" y="1343069"/>
            <a:ext cx="4546195" cy="2492990"/>
          </a:xfrm>
          <a:prstGeom prst="rect">
            <a:avLst/>
          </a:prstGeom>
          <a:solidFill>
            <a:schemeClr val="accent6">
              <a:lumMod val="20000"/>
              <a:lumOff val="80000"/>
            </a:schemeClr>
          </a:solidFill>
        </p:spPr>
        <p:txBody>
          <a:bodyPr wrap="square">
            <a:spAutoFit/>
          </a:bodyPr>
          <a:lstStyle/>
          <a:p>
            <a:r>
              <a:rPr lang="en-SG" sz="1200">
                <a:latin typeface="JetBrains Mono" panose="02000009000000000000" pitchFamily="49" charset="0"/>
                <a:ea typeface="JetBrains Mono" panose="02000009000000000000" pitchFamily="49" charset="0"/>
                <a:cs typeface="JetBrains Mono" panose="02000009000000000000" pitchFamily="49" charset="0"/>
              </a:rPr>
              <a:t>// Before: each operation acquire/release HP</a:t>
            </a:r>
          </a:p>
          <a:p>
            <a:r>
              <a:rPr lang="en-SG" sz="1200">
                <a:latin typeface="JetBrains Mono" panose="02000009000000000000" pitchFamily="49" charset="0"/>
                <a:ea typeface="JetBrains Mono" panose="02000009000000000000" pitchFamily="49" charset="0"/>
                <a:cs typeface="JetBrains Mono" panose="02000009000000000000" pitchFamily="49" charset="0"/>
              </a:rPr>
              <a:t>for %</a:t>
            </a:r>
            <a:r>
              <a:rPr lang="en-SG" sz="1200" err="1">
                <a:latin typeface="JetBrains Mono" panose="02000009000000000000" pitchFamily="49" charset="0"/>
                <a:ea typeface="JetBrains Mono" panose="02000009000000000000" pitchFamily="49" charset="0"/>
                <a:cs typeface="JetBrains Mono" panose="02000009000000000000" pitchFamily="49" charset="0"/>
              </a:rPr>
              <a:t>i</a:t>
            </a:r>
            <a:r>
              <a:rPr lang="en-SG" sz="1200">
                <a:latin typeface="JetBrains Mono" panose="02000009000000000000" pitchFamily="49" charset="0"/>
                <a:ea typeface="JetBrains Mono" panose="02000009000000000000" pitchFamily="49" charset="0"/>
                <a:cs typeface="JetBrains Mono" panose="02000009000000000000" pitchFamily="49" charset="0"/>
              </a:rPr>
              <a:t> in 0..N {</a:t>
            </a:r>
          </a:p>
          <a:p>
            <a:r>
              <a:rPr lang="en-SG" sz="1200">
                <a:latin typeface="JetBrains Mono" panose="02000009000000000000" pitchFamily="49" charset="0"/>
                <a:ea typeface="JetBrains Mono" panose="02000009000000000000" pitchFamily="49" charset="0"/>
                <a:cs typeface="JetBrains Mono" panose="02000009000000000000" pitchFamily="49" charset="0"/>
              </a:rPr>
              <a:t>  %hp = </a:t>
            </a:r>
            <a:r>
              <a:rPr lang="en-SG" sz="1200" err="1">
                <a:latin typeface="JetBrains Mono" panose="02000009000000000000" pitchFamily="49" charset="0"/>
                <a:ea typeface="JetBrains Mono" panose="02000009000000000000" pitchFamily="49" charset="0"/>
                <a:cs typeface="JetBrains Mono" panose="02000009000000000000" pitchFamily="49" charset="0"/>
              </a:rPr>
              <a:t>concur.hp.acquire</a:t>
            </a:r>
            <a:r>
              <a:rPr lang="en-SG" sz="1200">
                <a:latin typeface="JetBrains Mono" panose="02000009000000000000" pitchFamily="49" charset="0"/>
                <a:ea typeface="JetBrains Mono" panose="02000009000000000000" pitchFamily="49" charset="0"/>
                <a:cs typeface="JetBrains Mono" panose="02000009000000000000" pitchFamily="49" charset="0"/>
              </a:rPr>
              <a:t> %nodes[%</a:t>
            </a:r>
            <a:r>
              <a:rPr lang="en-SG" sz="1200" err="1">
                <a:latin typeface="JetBrains Mono" panose="02000009000000000000" pitchFamily="49" charset="0"/>
                <a:ea typeface="JetBrains Mono" panose="02000009000000000000" pitchFamily="49" charset="0"/>
                <a:cs typeface="JetBrains Mono" panose="02000009000000000000" pitchFamily="49" charset="0"/>
              </a:rPr>
              <a:t>i</a:t>
            </a:r>
            <a:r>
              <a:rPr lang="en-SG" sz="1200">
                <a:latin typeface="JetBrains Mono" panose="02000009000000000000" pitchFamily="49" charset="0"/>
                <a:ea typeface="JetBrains Mono" panose="02000009000000000000" pitchFamily="49" charset="0"/>
                <a:cs typeface="JetBrains Mono" panose="02000009000000000000" pitchFamily="49" charset="0"/>
              </a:rPr>
              <a:t>]</a:t>
            </a:r>
          </a:p>
          <a:p>
            <a:r>
              <a:rPr lang="en-SG" sz="1200">
                <a:latin typeface="JetBrains Mono" panose="02000009000000000000" pitchFamily="49" charset="0"/>
                <a:ea typeface="JetBrains Mono" panose="02000009000000000000" pitchFamily="49" charset="0"/>
                <a:cs typeface="JetBrains Mono" panose="02000009000000000000" pitchFamily="49" charset="0"/>
              </a:rPr>
              <a:t>  </a:t>
            </a:r>
            <a:r>
              <a:rPr lang="en-SG" sz="1200" err="1">
                <a:latin typeface="JetBrains Mono" panose="02000009000000000000" pitchFamily="49" charset="0"/>
                <a:ea typeface="JetBrains Mono" panose="02000009000000000000" pitchFamily="49" charset="0"/>
                <a:cs typeface="JetBrains Mono" panose="02000009000000000000" pitchFamily="49" charset="0"/>
              </a:rPr>
              <a:t>concur.hp.release</a:t>
            </a:r>
            <a:r>
              <a:rPr lang="en-SG" sz="1200">
                <a:latin typeface="JetBrains Mono" panose="02000009000000000000" pitchFamily="49" charset="0"/>
                <a:ea typeface="JetBrains Mono" panose="02000009000000000000" pitchFamily="49" charset="0"/>
                <a:cs typeface="JetBrains Mono" panose="02000009000000000000" pitchFamily="49" charset="0"/>
              </a:rPr>
              <a:t> %hp</a:t>
            </a:r>
          </a:p>
          <a:p>
            <a:r>
              <a:rPr lang="en-SG" sz="1200">
                <a:latin typeface="JetBrains Mono" panose="02000009000000000000" pitchFamily="49" charset="0"/>
                <a:ea typeface="JetBrains Mono" panose="02000009000000000000" pitchFamily="49" charset="0"/>
                <a:cs typeface="JetBrains Mono" panose="02000009000000000000" pitchFamily="49" charset="0"/>
              </a:rPr>
              <a:t>  </a:t>
            </a:r>
            <a:r>
              <a:rPr lang="en-SG" sz="1200" err="1">
                <a:latin typeface="JetBrains Mono" panose="02000009000000000000" pitchFamily="49" charset="0"/>
                <a:ea typeface="JetBrains Mono" panose="02000009000000000000" pitchFamily="49" charset="0"/>
                <a:cs typeface="JetBrains Mono" panose="02000009000000000000" pitchFamily="49" charset="0"/>
              </a:rPr>
              <a:t>concur.defer.free</a:t>
            </a:r>
            <a:r>
              <a:rPr lang="en-SG" sz="1200">
                <a:latin typeface="JetBrains Mono" panose="02000009000000000000" pitchFamily="49" charset="0"/>
                <a:ea typeface="JetBrains Mono" panose="02000009000000000000" pitchFamily="49" charset="0"/>
                <a:cs typeface="JetBrains Mono" panose="02000009000000000000" pitchFamily="49" charset="0"/>
              </a:rPr>
              <a:t> %nodes[%</a:t>
            </a:r>
            <a:r>
              <a:rPr lang="en-SG" sz="1200" err="1">
                <a:latin typeface="JetBrains Mono" panose="02000009000000000000" pitchFamily="49" charset="0"/>
                <a:ea typeface="JetBrains Mono" panose="02000009000000000000" pitchFamily="49" charset="0"/>
                <a:cs typeface="JetBrains Mono" panose="02000009000000000000" pitchFamily="49" charset="0"/>
              </a:rPr>
              <a:t>i</a:t>
            </a:r>
            <a:r>
              <a:rPr lang="en-SG" sz="1200">
                <a:latin typeface="JetBrains Mono" panose="02000009000000000000" pitchFamily="49" charset="0"/>
                <a:ea typeface="JetBrains Mono" panose="02000009000000000000" pitchFamily="49" charset="0"/>
                <a:cs typeface="JetBrains Mono" panose="02000009000000000000" pitchFamily="49" charset="0"/>
              </a:rPr>
              <a:t>] {scheme="hp"}</a:t>
            </a:r>
          </a:p>
          <a:p>
            <a:r>
              <a:rPr lang="en-SG" sz="1200">
                <a:latin typeface="JetBrains Mono" panose="02000009000000000000" pitchFamily="49" charset="0"/>
                <a:ea typeface="JetBrains Mono" panose="02000009000000000000" pitchFamily="49" charset="0"/>
                <a:cs typeface="JetBrains Mono" panose="02000009000000000000" pitchFamily="49" charset="0"/>
              </a:rPr>
              <a:t>}</a:t>
            </a:r>
          </a:p>
          <a:p>
            <a:endParaRPr lang="en-SG" sz="1200">
              <a:latin typeface="JetBrains Mono" panose="02000009000000000000" pitchFamily="49" charset="0"/>
              <a:ea typeface="JetBrains Mono" panose="02000009000000000000" pitchFamily="49" charset="0"/>
              <a:cs typeface="JetBrains Mono" panose="02000009000000000000" pitchFamily="49" charset="0"/>
            </a:endParaRPr>
          </a:p>
          <a:p>
            <a:r>
              <a:rPr lang="en-SG" sz="1200">
                <a:latin typeface="JetBrains Mono" panose="02000009000000000000" pitchFamily="49" charset="0"/>
                <a:ea typeface="JetBrains Mono" panose="02000009000000000000" pitchFamily="49" charset="0"/>
                <a:cs typeface="JetBrains Mono" panose="02000009000000000000" pitchFamily="49" charset="0"/>
              </a:rPr>
              <a:t>// After: compiler batches into epoch-based:</a:t>
            </a:r>
          </a:p>
          <a:p>
            <a:r>
              <a:rPr lang="en-SG" sz="1200">
                <a:latin typeface="JetBrains Mono" panose="02000009000000000000" pitchFamily="49" charset="0"/>
                <a:ea typeface="JetBrains Mono" panose="02000009000000000000" pitchFamily="49" charset="0"/>
                <a:cs typeface="JetBrains Mono" panose="02000009000000000000" pitchFamily="49" charset="0"/>
              </a:rPr>
              <a:t>%epoch = </a:t>
            </a:r>
            <a:r>
              <a:rPr lang="en-SG" sz="1200" err="1">
                <a:latin typeface="JetBrains Mono" panose="02000009000000000000" pitchFamily="49" charset="0"/>
                <a:ea typeface="JetBrains Mono" panose="02000009000000000000" pitchFamily="49" charset="0"/>
                <a:cs typeface="JetBrains Mono" panose="02000009000000000000" pitchFamily="49" charset="0"/>
              </a:rPr>
              <a:t>concur.epoch.enter</a:t>
            </a:r>
            <a:endParaRPr lang="en-SG" sz="1200">
              <a:latin typeface="JetBrains Mono" panose="02000009000000000000" pitchFamily="49" charset="0"/>
              <a:ea typeface="JetBrains Mono" panose="02000009000000000000" pitchFamily="49" charset="0"/>
              <a:cs typeface="JetBrains Mono" panose="02000009000000000000" pitchFamily="49" charset="0"/>
            </a:endParaRPr>
          </a:p>
          <a:p>
            <a:r>
              <a:rPr lang="en-SG" sz="1200">
                <a:latin typeface="JetBrains Mono" panose="02000009000000000000" pitchFamily="49" charset="0"/>
                <a:ea typeface="JetBrains Mono" panose="02000009000000000000" pitchFamily="49" charset="0"/>
                <a:cs typeface="JetBrains Mono" panose="02000009000000000000" pitchFamily="49" charset="0"/>
              </a:rPr>
              <a:t>for %</a:t>
            </a:r>
            <a:r>
              <a:rPr lang="en-SG" sz="1200" err="1">
                <a:latin typeface="JetBrains Mono" panose="02000009000000000000" pitchFamily="49" charset="0"/>
                <a:ea typeface="JetBrains Mono" panose="02000009000000000000" pitchFamily="49" charset="0"/>
                <a:cs typeface="JetBrains Mono" panose="02000009000000000000" pitchFamily="49" charset="0"/>
              </a:rPr>
              <a:t>i</a:t>
            </a:r>
            <a:r>
              <a:rPr lang="en-SG" sz="1200">
                <a:latin typeface="JetBrains Mono" panose="02000009000000000000" pitchFamily="49" charset="0"/>
                <a:ea typeface="JetBrains Mono" panose="02000009000000000000" pitchFamily="49" charset="0"/>
                <a:cs typeface="JetBrains Mono" panose="02000009000000000000" pitchFamily="49" charset="0"/>
              </a:rPr>
              <a:t> in 0..N {</a:t>
            </a:r>
          </a:p>
          <a:p>
            <a:r>
              <a:rPr lang="en-SG" sz="1200">
                <a:latin typeface="JetBrains Mono" panose="02000009000000000000" pitchFamily="49" charset="0"/>
                <a:ea typeface="JetBrains Mono" panose="02000009000000000000" pitchFamily="49" charset="0"/>
                <a:cs typeface="JetBrains Mono" panose="02000009000000000000" pitchFamily="49" charset="0"/>
              </a:rPr>
              <a:t>  </a:t>
            </a:r>
            <a:r>
              <a:rPr lang="en-SG" sz="1200" err="1">
                <a:latin typeface="JetBrains Mono" panose="02000009000000000000" pitchFamily="49" charset="0"/>
                <a:ea typeface="JetBrains Mono" panose="02000009000000000000" pitchFamily="49" charset="0"/>
                <a:cs typeface="JetBrains Mono" panose="02000009000000000000" pitchFamily="49" charset="0"/>
              </a:rPr>
              <a:t>concur.defer.free</a:t>
            </a:r>
            <a:r>
              <a:rPr lang="en-SG" sz="1200">
                <a:latin typeface="JetBrains Mono" panose="02000009000000000000" pitchFamily="49" charset="0"/>
                <a:ea typeface="JetBrains Mono" panose="02000009000000000000" pitchFamily="49" charset="0"/>
                <a:cs typeface="JetBrains Mono" panose="02000009000000000000" pitchFamily="49" charset="0"/>
              </a:rPr>
              <a:t> %nodes[%</a:t>
            </a:r>
            <a:r>
              <a:rPr lang="en-SG" sz="1200" err="1">
                <a:latin typeface="JetBrains Mono" panose="02000009000000000000" pitchFamily="49" charset="0"/>
                <a:ea typeface="JetBrains Mono" panose="02000009000000000000" pitchFamily="49" charset="0"/>
                <a:cs typeface="JetBrains Mono" panose="02000009000000000000" pitchFamily="49" charset="0"/>
              </a:rPr>
              <a:t>i</a:t>
            </a:r>
            <a:r>
              <a:rPr lang="en-SG" sz="1200">
                <a:latin typeface="JetBrains Mono" panose="02000009000000000000" pitchFamily="49" charset="0"/>
                <a:ea typeface="JetBrains Mono" panose="02000009000000000000" pitchFamily="49" charset="0"/>
                <a:cs typeface="JetBrains Mono" panose="02000009000000000000" pitchFamily="49" charset="0"/>
              </a:rPr>
              <a:t>] {scheme="</a:t>
            </a:r>
            <a:r>
              <a:rPr lang="en-SG" sz="1200" err="1">
                <a:latin typeface="JetBrains Mono" panose="02000009000000000000" pitchFamily="49" charset="0"/>
                <a:ea typeface="JetBrains Mono" panose="02000009000000000000" pitchFamily="49" charset="0"/>
                <a:cs typeface="JetBrains Mono" panose="02000009000000000000" pitchFamily="49" charset="0"/>
              </a:rPr>
              <a:t>ebr</a:t>
            </a:r>
            <a:r>
              <a:rPr lang="en-SG" sz="1200">
                <a:latin typeface="JetBrains Mono" panose="02000009000000000000" pitchFamily="49" charset="0"/>
                <a:ea typeface="JetBrains Mono" panose="02000009000000000000" pitchFamily="49" charset="0"/>
                <a:cs typeface="JetBrains Mono" panose="02000009000000000000" pitchFamily="49" charset="0"/>
              </a:rPr>
              <a:t>"}</a:t>
            </a:r>
          </a:p>
          <a:p>
            <a:r>
              <a:rPr lang="en-SG" sz="1200">
                <a:latin typeface="JetBrains Mono" panose="02000009000000000000" pitchFamily="49" charset="0"/>
                <a:ea typeface="JetBrains Mono" panose="02000009000000000000" pitchFamily="49" charset="0"/>
                <a:cs typeface="JetBrains Mono" panose="02000009000000000000" pitchFamily="49" charset="0"/>
              </a:rPr>
              <a:t>}</a:t>
            </a:r>
          </a:p>
          <a:p>
            <a:r>
              <a:rPr lang="en-SG" sz="1200" err="1">
                <a:latin typeface="JetBrains Mono" panose="02000009000000000000" pitchFamily="49" charset="0"/>
                <a:ea typeface="JetBrains Mono" panose="02000009000000000000" pitchFamily="49" charset="0"/>
                <a:cs typeface="JetBrains Mono" panose="02000009000000000000" pitchFamily="49" charset="0"/>
              </a:rPr>
              <a:t>concur.epoch.exit</a:t>
            </a:r>
            <a:r>
              <a:rPr lang="en-SG" sz="1200">
                <a:latin typeface="JetBrains Mono" panose="02000009000000000000" pitchFamily="49" charset="0"/>
                <a:ea typeface="JetBrains Mono" panose="02000009000000000000" pitchFamily="49" charset="0"/>
                <a:cs typeface="JetBrains Mono" panose="02000009000000000000" pitchFamily="49" charset="0"/>
              </a:rPr>
              <a:t> %epoch</a:t>
            </a:r>
          </a:p>
        </p:txBody>
      </p:sp>
      <p:sp>
        <p:nvSpPr>
          <p:cNvPr id="3" name="TextBox 2">
            <a:extLst>
              <a:ext uri="{FF2B5EF4-FFF2-40B4-BE49-F238E27FC236}">
                <a16:creationId xmlns:a16="http://schemas.microsoft.com/office/drawing/2014/main" id="{DE5CC2F5-6A5D-4082-8688-FDF3EE90A883}"/>
              </a:ext>
            </a:extLst>
          </p:cNvPr>
          <p:cNvSpPr txBox="1"/>
          <p:nvPr/>
        </p:nvSpPr>
        <p:spPr>
          <a:xfrm>
            <a:off x="233910" y="4028354"/>
            <a:ext cx="6094948" cy="584775"/>
          </a:xfrm>
          <a:prstGeom prst="rect">
            <a:avLst/>
          </a:prstGeom>
          <a:noFill/>
        </p:spPr>
        <p:txBody>
          <a:bodyPr wrap="square">
            <a:spAutoFit/>
          </a:bodyPr>
          <a:lstStyle/>
          <a:p>
            <a:r>
              <a:rPr lang="en-US" sz="1600" b="1"/>
              <a:t>Justification:</a:t>
            </a:r>
            <a:r>
              <a:rPr lang="en-US" sz="1600"/>
              <a:t> [Cohen et al., PPoPP'15 "Efficient Memory Reclamation"] [Wen et al., PPoPP’18 </a:t>
            </a:r>
            <a:r>
              <a:rPr lang="en-SG" sz="1600"/>
              <a:t>Interval-Based Memory Reclamation]</a:t>
            </a:r>
          </a:p>
        </p:txBody>
      </p:sp>
      <p:sp>
        <p:nvSpPr>
          <p:cNvPr id="8" name="TextBox 7">
            <a:extLst>
              <a:ext uri="{FF2B5EF4-FFF2-40B4-BE49-F238E27FC236}">
                <a16:creationId xmlns:a16="http://schemas.microsoft.com/office/drawing/2014/main" id="{1C26FE8D-6FB3-2C11-6446-D24BA8313B95}"/>
              </a:ext>
            </a:extLst>
          </p:cNvPr>
          <p:cNvSpPr txBox="1"/>
          <p:nvPr/>
        </p:nvSpPr>
        <p:spPr>
          <a:xfrm>
            <a:off x="233910" y="862581"/>
            <a:ext cx="6094948" cy="338554"/>
          </a:xfrm>
          <a:prstGeom prst="rect">
            <a:avLst/>
          </a:prstGeom>
          <a:noFill/>
        </p:spPr>
        <p:txBody>
          <a:bodyPr wrap="square">
            <a:spAutoFit/>
          </a:bodyPr>
          <a:lstStyle/>
          <a:p>
            <a:r>
              <a:rPr lang="en-US" sz="1600" b="1"/>
              <a:t>Scenario</a:t>
            </a:r>
            <a:r>
              <a:rPr lang="en-US" sz="1600"/>
              <a:t> from Real Code (folly::</a:t>
            </a:r>
            <a:r>
              <a:rPr lang="en-US" sz="1600" err="1"/>
              <a:t>ConcurrentHashMap</a:t>
            </a:r>
            <a:r>
              <a:rPr lang="en-US" sz="1600"/>
              <a:t> at Facebook):</a:t>
            </a:r>
            <a:endParaRPr lang="en-SG" sz="1600"/>
          </a:p>
        </p:txBody>
      </p:sp>
    </p:spTree>
    <p:extLst>
      <p:ext uri="{BB962C8B-B14F-4D97-AF65-F5344CB8AC3E}">
        <p14:creationId xmlns:p14="http://schemas.microsoft.com/office/powerpoint/2010/main" val="49551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3B086939-7724-8D1B-D7D2-97AACA7BF65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18AD303-9FB9-07A1-5AAA-FDDBCD55FF99}"/>
              </a:ext>
            </a:extLst>
          </p:cNvPr>
          <p:cNvSpPr txBox="1"/>
          <p:nvPr/>
        </p:nvSpPr>
        <p:spPr>
          <a:xfrm>
            <a:off x="1252331" y="1160747"/>
            <a:ext cx="8726556" cy="1938992"/>
          </a:xfrm>
          <a:prstGeom prst="rect">
            <a:avLst/>
          </a:prstGeom>
          <a:noFill/>
        </p:spPr>
        <p:txBody>
          <a:bodyPr wrap="square">
            <a:spAutoFit/>
          </a:bodyPr>
          <a:lstStyle/>
          <a:p>
            <a:r>
              <a:rPr lang="en-US" sz="6000">
                <a:solidFill>
                  <a:schemeClr val="bg1"/>
                </a:solidFill>
                <a:latin typeface="Ubuntu Condensed" panose="020B0506030602030204" pitchFamily="34" charset="0"/>
              </a:rPr>
              <a:t>Hints/annotation-based optimizations</a:t>
            </a:r>
            <a:endParaRPr lang="ru-RU" sz="6000">
              <a:solidFill>
                <a:schemeClr val="bg1"/>
              </a:solidFill>
              <a:latin typeface="Ubuntu Condensed" panose="020B0506030602030204" pitchFamily="34" charset="0"/>
            </a:endParaRPr>
          </a:p>
        </p:txBody>
      </p:sp>
    </p:spTree>
    <p:extLst>
      <p:ext uri="{BB962C8B-B14F-4D97-AF65-F5344CB8AC3E}">
        <p14:creationId xmlns:p14="http://schemas.microsoft.com/office/powerpoint/2010/main" val="1011156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5DE56-02C3-ACAA-11B9-F2F2525DDC21}"/>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DECF2BFF-9C41-2110-EAC4-6B705B5C6916}"/>
              </a:ext>
            </a:extLst>
          </p:cNvPr>
          <p:cNvSpPr txBox="1"/>
          <p:nvPr/>
        </p:nvSpPr>
        <p:spPr>
          <a:xfrm>
            <a:off x="233910" y="208621"/>
            <a:ext cx="4551450" cy="461665"/>
          </a:xfrm>
          <a:prstGeom prst="rect">
            <a:avLst/>
          </a:prstGeom>
          <a:solidFill>
            <a:schemeClr val="accent5">
              <a:lumMod val="50000"/>
            </a:schemeClr>
          </a:solidFill>
        </p:spPr>
        <p:txBody>
          <a:bodyPr wrap="square" rtlCol="0">
            <a:spAutoFit/>
          </a:bodyPr>
          <a:lstStyle/>
          <a:p>
            <a:r>
              <a:rPr lang="en-US" sz="2400">
                <a:solidFill>
                  <a:schemeClr val="bg1"/>
                </a:solidFill>
                <a:latin typeface="Ubuntu Condensed" panose="020B0506030602030204" pitchFamily="34" charset="0"/>
              </a:rPr>
              <a:t>Hints/annotations-based optimization</a:t>
            </a:r>
            <a:endParaRPr lang="ru-RU" sz="2400">
              <a:solidFill>
                <a:schemeClr val="bg1"/>
              </a:solidFill>
              <a:latin typeface="Ubuntu Condensed" panose="020B0506030602030204" pitchFamily="34" charset="0"/>
            </a:endParaRPr>
          </a:p>
        </p:txBody>
      </p:sp>
      <p:sp>
        <p:nvSpPr>
          <p:cNvPr id="7" name="Номер слайда 7">
            <a:extLst>
              <a:ext uri="{FF2B5EF4-FFF2-40B4-BE49-F238E27FC236}">
                <a16:creationId xmlns:a16="http://schemas.microsoft.com/office/drawing/2014/main" id="{DE5F6143-2CE6-F43F-C66F-2EFB8CD0416F}"/>
              </a:ext>
            </a:extLst>
          </p:cNvPr>
          <p:cNvSpPr>
            <a:spLocks noGrp="1"/>
          </p:cNvSpPr>
          <p:nvPr>
            <p:ph type="sldNum" sz="quarter" idx="12"/>
          </p:nvPr>
        </p:nvSpPr>
        <p:spPr>
          <a:xfrm>
            <a:off x="11725835" y="6402070"/>
            <a:ext cx="386155" cy="365125"/>
          </a:xfrm>
        </p:spPr>
        <p:txBody>
          <a:bodyPr/>
          <a:lstStyle/>
          <a:p>
            <a:pPr algn="ctr"/>
            <a:fld id="{E757BAED-F255-4CF1-96BA-8D7417A9C3BC}" type="slidenum">
              <a:rPr lang="ru-RU" sz="1800" smtClean="0">
                <a:latin typeface="Ubuntu Condensed" panose="020B0506030602030204" pitchFamily="34" charset="0"/>
              </a:rPr>
              <a:pPr algn="ctr"/>
              <a:t>10</a:t>
            </a:fld>
            <a:endParaRPr lang="ru-RU" sz="1800">
              <a:latin typeface="Ubuntu Condensed" panose="020B0506030602030204" pitchFamily="34" charset="0"/>
            </a:endParaRPr>
          </a:p>
        </p:txBody>
      </p:sp>
      <p:sp>
        <p:nvSpPr>
          <p:cNvPr id="2" name="TextBox 1">
            <a:extLst>
              <a:ext uri="{FF2B5EF4-FFF2-40B4-BE49-F238E27FC236}">
                <a16:creationId xmlns:a16="http://schemas.microsoft.com/office/drawing/2014/main" id="{E7054BFC-3E8A-5A8D-C945-DB2F16760C68}"/>
              </a:ext>
            </a:extLst>
          </p:cNvPr>
          <p:cNvSpPr txBox="1"/>
          <p:nvPr/>
        </p:nvSpPr>
        <p:spPr>
          <a:xfrm>
            <a:off x="233910" y="1356205"/>
            <a:ext cx="5371760" cy="276999"/>
          </a:xfrm>
          <a:prstGeom prst="rect">
            <a:avLst/>
          </a:prstGeom>
          <a:noFill/>
        </p:spPr>
        <p:txBody>
          <a:bodyPr wrap="square">
            <a:spAutoFit/>
          </a:bodyPr>
          <a:lstStyle/>
          <a:p>
            <a:r>
              <a:rPr lang="en-US" sz="1200" b="1"/>
              <a:t>Before</a:t>
            </a:r>
            <a:endParaRPr lang="en-US" sz="1200"/>
          </a:p>
        </p:txBody>
      </p:sp>
      <p:sp>
        <p:nvSpPr>
          <p:cNvPr id="5" name="TextBox 4">
            <a:extLst>
              <a:ext uri="{FF2B5EF4-FFF2-40B4-BE49-F238E27FC236}">
                <a16:creationId xmlns:a16="http://schemas.microsoft.com/office/drawing/2014/main" id="{EDCA184A-02E1-A4A7-1759-0AA05C967ED7}"/>
              </a:ext>
            </a:extLst>
          </p:cNvPr>
          <p:cNvSpPr txBox="1"/>
          <p:nvPr/>
        </p:nvSpPr>
        <p:spPr>
          <a:xfrm>
            <a:off x="5764764" y="1356205"/>
            <a:ext cx="5910825" cy="646331"/>
          </a:xfrm>
          <a:prstGeom prst="rect">
            <a:avLst/>
          </a:prstGeom>
          <a:noFill/>
        </p:spPr>
        <p:txBody>
          <a:bodyPr wrap="square">
            <a:spAutoFit/>
          </a:bodyPr>
          <a:lstStyle>
            <a:defPPr>
              <a:defRPr lang="ru-RU"/>
            </a:defPPr>
            <a:lvl1pPr>
              <a:defRPr sz="1200" b="1"/>
            </a:lvl1pPr>
          </a:lstStyle>
          <a:p>
            <a:r>
              <a:rPr lang="en-US"/>
              <a:t>After</a:t>
            </a:r>
          </a:p>
          <a:p>
            <a:r>
              <a:rPr lang="en-US" b="0"/>
              <a:t>The compiler replaces the mutex with an MCS Lock (queue-based spinlock), where each thread spins on its own local cache line..</a:t>
            </a:r>
            <a:endParaRPr lang="en-SG"/>
          </a:p>
        </p:txBody>
      </p:sp>
      <p:sp>
        <p:nvSpPr>
          <p:cNvPr id="6" name="Rectangle 2">
            <a:extLst>
              <a:ext uri="{FF2B5EF4-FFF2-40B4-BE49-F238E27FC236}">
                <a16:creationId xmlns:a16="http://schemas.microsoft.com/office/drawing/2014/main" id="{DCB18117-4FF9-228D-9A02-6165BB34E1F9}"/>
              </a:ext>
            </a:extLst>
          </p:cNvPr>
          <p:cNvSpPr>
            <a:spLocks noChangeArrowheads="1"/>
          </p:cNvSpPr>
          <p:nvPr/>
        </p:nvSpPr>
        <p:spPr bwMode="auto">
          <a:xfrm>
            <a:off x="233910" y="647426"/>
            <a:ext cx="11491925" cy="800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AutoNum type="arabicPeriod"/>
            </a:pPr>
            <a:r>
              <a:rPr lang="fr-FR" b="1">
                <a:solidFill>
                  <a:srgbClr val="3333FF"/>
                </a:solidFill>
              </a:rPr>
              <a:t>Contention </a:t>
            </a:r>
            <a:r>
              <a:rPr lang="fr-FR" b="1" err="1">
                <a:solidFill>
                  <a:srgbClr val="3333FF"/>
                </a:solidFill>
              </a:rPr>
              <a:t>Hints</a:t>
            </a:r>
            <a:r>
              <a:rPr lang="fr-FR" b="1">
                <a:solidFill>
                  <a:srgbClr val="3333FF"/>
                </a:solidFill>
              </a:rPr>
              <a:t> (</a:t>
            </a:r>
            <a:r>
              <a:rPr lang="fr-FR" b="1" err="1">
                <a:solidFill>
                  <a:srgbClr val="3333FF"/>
                </a:solidFill>
              </a:rPr>
              <a:t>sync</a:t>
            </a:r>
            <a:r>
              <a:rPr lang="fr-FR" b="1">
                <a:solidFill>
                  <a:srgbClr val="3333FF"/>
                </a:solidFill>
              </a:rPr>
              <a:t>::contention)</a:t>
            </a:r>
          </a:p>
          <a:p>
            <a:r>
              <a:rPr lang="en-US" sz="1400" b="1" i="0">
                <a:effectLst/>
                <a:latin typeface="Inter"/>
              </a:rPr>
              <a:t>Scenario:</a:t>
            </a:r>
            <a:r>
              <a:rPr lang="en-US" sz="1400" b="0" i="0">
                <a:effectLst/>
                <a:latin typeface="Inter"/>
              </a:rPr>
              <a:t> A central task queue in a thread pool. The user knows this lock will be hammered by 64 threads, so a standard mutex will collapse performance due to cache line bouncing.</a:t>
            </a:r>
            <a:endParaRPr kumimoji="0" lang="en-US" altLang="en-US" sz="1050" i="0" u="none" strike="noStrike" cap="none" normalizeH="0" baseline="0">
              <a:ln>
                <a:noFill/>
              </a:ln>
              <a:effectLst/>
            </a:endParaRPr>
          </a:p>
        </p:txBody>
      </p:sp>
      <p:sp>
        <p:nvSpPr>
          <p:cNvPr id="9" name="TextBox 8">
            <a:extLst>
              <a:ext uri="{FF2B5EF4-FFF2-40B4-BE49-F238E27FC236}">
                <a16:creationId xmlns:a16="http://schemas.microsoft.com/office/drawing/2014/main" id="{CD18D37A-C235-A6BE-A944-8A7411D9570F}"/>
              </a:ext>
            </a:extLst>
          </p:cNvPr>
          <p:cNvSpPr txBox="1"/>
          <p:nvPr/>
        </p:nvSpPr>
        <p:spPr>
          <a:xfrm>
            <a:off x="233909" y="1952315"/>
            <a:ext cx="5371761" cy="2236831"/>
          </a:xfrm>
          <a:prstGeom prst="rect">
            <a:avLst/>
          </a:prstGeom>
          <a:solidFill>
            <a:srgbClr val="1F1F1F"/>
          </a:solidFill>
        </p:spPr>
        <p:txBody>
          <a:bodyPr wrap="square">
            <a:spAutoFit/>
          </a:bodyPr>
          <a:lstStyle/>
          <a:p>
            <a:pPr>
              <a:lnSpc>
                <a:spcPts val="1425"/>
              </a:lnSpc>
              <a:buNone/>
            </a:pPr>
            <a:r>
              <a:rPr lang="en-SG" sz="1000" b="0">
                <a:solidFill>
                  <a:srgbClr val="569CD6"/>
                </a:solidFill>
                <a:effectLst/>
                <a:latin typeface="JetBrains Mono" panose="02000009000000000000" pitchFamily="49" charset="0"/>
              </a:rPr>
              <a:t>class</a:t>
            </a:r>
            <a:r>
              <a:rPr lang="en-SG" sz="1000" b="0">
                <a:solidFill>
                  <a:srgbClr val="CCCCCC"/>
                </a:solidFill>
                <a:effectLst/>
                <a:latin typeface="JetBrains Mono" panose="02000009000000000000" pitchFamily="49" charset="0"/>
              </a:rPr>
              <a:t> </a:t>
            </a:r>
            <a:r>
              <a:rPr lang="en-SG" sz="1000" b="0" err="1">
                <a:solidFill>
                  <a:srgbClr val="4EC9B0"/>
                </a:solidFill>
                <a:effectLst/>
                <a:latin typeface="JetBrains Mono" panose="02000009000000000000" pitchFamily="49" charset="0"/>
              </a:rPr>
              <a:t>TaskQueue</a:t>
            </a:r>
            <a:r>
              <a:rPr lang="en-SG" sz="1000" b="0">
                <a:solidFill>
                  <a:srgbClr val="CCCCCC"/>
                </a:solidFill>
                <a:effectLst/>
                <a:latin typeface="JetBrains Mono" panose="02000009000000000000" pitchFamily="49" charset="0"/>
              </a:rPr>
              <a:t> {</a:t>
            </a:r>
          </a:p>
          <a:p>
            <a:pPr>
              <a:lnSpc>
                <a:spcPts val="1425"/>
              </a:lnSpc>
              <a:buNone/>
            </a:pPr>
            <a:r>
              <a:rPr lang="en-SG" sz="1000" b="0">
                <a:solidFill>
                  <a:srgbClr val="6A9955"/>
                </a:solidFill>
                <a:effectLst/>
                <a:latin typeface="JetBrains Mono" panose="02000009000000000000" pitchFamily="49" charset="0"/>
              </a:rPr>
              <a:t>  // Hint: High contention expected. Do not use </a:t>
            </a:r>
            <a:r>
              <a:rPr lang="en-SG" sz="1000" b="0" err="1">
                <a:solidFill>
                  <a:srgbClr val="6A9955"/>
                </a:solidFill>
                <a:effectLst/>
                <a:latin typeface="JetBrains Mono" panose="02000009000000000000" pitchFamily="49" charset="0"/>
              </a:rPr>
              <a:t>futex</a:t>
            </a:r>
            <a:r>
              <a:rPr lang="en-SG" sz="1000" b="0">
                <a:solidFill>
                  <a:srgbClr val="6A9955"/>
                </a:solidFill>
                <a:effectLst/>
                <a:latin typeface="JetBrains Mono" panose="02000009000000000000" pitchFamily="49" charset="0"/>
              </a:rPr>
              <a:t>/</a:t>
            </a:r>
            <a:r>
              <a:rPr lang="en-SG" sz="1000" b="0" err="1">
                <a:solidFill>
                  <a:srgbClr val="6A9955"/>
                </a:solidFill>
                <a:effectLst/>
                <a:latin typeface="JetBrains Mono" panose="02000009000000000000" pitchFamily="49" charset="0"/>
              </a:rPr>
              <a:t>pthread_mutex</a:t>
            </a:r>
            <a:r>
              <a:rPr lang="en-SG" sz="1000" b="0">
                <a:solidFill>
                  <a:srgbClr val="6A9955"/>
                </a:solidFill>
                <a:effectLst/>
                <a:latin typeface="JetBrains Mono" panose="02000009000000000000" pitchFamily="49" charset="0"/>
              </a:rPr>
              <a:t>.</a:t>
            </a: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CCCCCC"/>
                </a:solidFill>
                <a:effectLst/>
                <a:latin typeface="JetBrains Mono" panose="02000009000000000000" pitchFamily="49" charset="0"/>
              </a:rPr>
              <a:t>  [[</a:t>
            </a:r>
            <a:r>
              <a:rPr lang="en-SG" sz="1000" b="0">
                <a:solidFill>
                  <a:srgbClr val="4EC9B0"/>
                </a:solidFill>
                <a:effectLst/>
                <a:latin typeface="JetBrains Mono" panose="02000009000000000000" pitchFamily="49" charset="0"/>
              </a:rPr>
              <a:t>sync</a:t>
            </a:r>
            <a:r>
              <a:rPr lang="en-SG" sz="1000" b="0">
                <a:solidFill>
                  <a:srgbClr val="CCCCCC"/>
                </a:solidFill>
                <a:effectLst/>
                <a:latin typeface="JetBrains Mono" panose="02000009000000000000" pitchFamily="49" charset="0"/>
              </a:rPr>
              <a:t>::</a:t>
            </a:r>
            <a:r>
              <a:rPr lang="en-SG" sz="1000" b="0">
                <a:solidFill>
                  <a:srgbClr val="4EC9B0"/>
                </a:solidFill>
                <a:effectLst/>
                <a:latin typeface="JetBrains Mono" panose="02000009000000000000" pitchFamily="49" charset="0"/>
              </a:rPr>
              <a:t>contention</a:t>
            </a:r>
            <a:r>
              <a:rPr lang="en-SG" sz="1000" b="0">
                <a:solidFill>
                  <a:srgbClr val="CCCCCC"/>
                </a:solidFill>
                <a:effectLst/>
                <a:latin typeface="JetBrains Mono" panose="02000009000000000000" pitchFamily="49" charset="0"/>
              </a:rPr>
              <a:t>(</a:t>
            </a:r>
            <a:r>
              <a:rPr lang="en-SG" sz="1000" b="0">
                <a:solidFill>
                  <a:srgbClr val="CE9178"/>
                </a:solidFill>
                <a:effectLst/>
                <a:latin typeface="JetBrains Mono" panose="02000009000000000000" pitchFamily="49" charset="0"/>
              </a:rPr>
              <a:t>"high"</a:t>
            </a:r>
            <a:r>
              <a:rPr lang="en-SG" sz="1000" b="0">
                <a:solidFill>
                  <a:srgbClr val="CCCCCC"/>
                </a:solidFill>
                <a:effectLst/>
                <a:latin typeface="JetBrains Mono" panose="02000009000000000000" pitchFamily="49" charset="0"/>
              </a:rPr>
              <a:t>)]]</a:t>
            </a:r>
          </a:p>
          <a:p>
            <a:pPr>
              <a:lnSpc>
                <a:spcPts val="1425"/>
              </a:lnSpc>
              <a:buNone/>
            </a:pPr>
            <a:r>
              <a:rPr lang="en-SG" sz="1000" b="0">
                <a:solidFill>
                  <a:srgbClr val="CCCCCC"/>
                </a:solidFill>
                <a:effectLst/>
                <a:latin typeface="JetBrains Mono" panose="02000009000000000000" pitchFamily="49" charset="0"/>
              </a:rPr>
              <a:t>  </a:t>
            </a:r>
            <a:r>
              <a:rPr lang="en-SG" sz="1000" b="0">
                <a:solidFill>
                  <a:srgbClr val="4EC9B0"/>
                </a:solidFill>
                <a:effectLst/>
                <a:latin typeface="JetBrains Mono" panose="02000009000000000000" pitchFamily="49" charset="0"/>
              </a:rPr>
              <a:t>std</a:t>
            </a:r>
            <a:r>
              <a:rPr lang="en-SG" sz="1000" b="0">
                <a:solidFill>
                  <a:srgbClr val="CCCCCC"/>
                </a:solidFill>
                <a:effectLst/>
                <a:latin typeface="JetBrains Mono" panose="02000009000000000000" pitchFamily="49" charset="0"/>
              </a:rPr>
              <a:t>::mutex </a:t>
            </a:r>
            <a:r>
              <a:rPr lang="en-SG" sz="1000" b="0">
                <a:solidFill>
                  <a:srgbClr val="9CDCFE"/>
                </a:solidFill>
                <a:effectLst/>
                <a:latin typeface="JetBrains Mono" panose="02000009000000000000" pitchFamily="49" charset="0"/>
              </a:rPr>
              <a:t>lock</a:t>
            </a:r>
            <a:r>
              <a:rPr lang="en-SG" sz="1000" b="0">
                <a:solidFill>
                  <a:srgbClr val="CCCCCC"/>
                </a:solidFill>
                <a:effectLst/>
                <a:latin typeface="JetBrains Mono" panose="02000009000000000000" pitchFamily="49" charset="0"/>
              </a:rPr>
              <a:t>;</a:t>
            </a:r>
          </a:p>
          <a:p>
            <a:pPr>
              <a:lnSpc>
                <a:spcPts val="1425"/>
              </a:lnSpc>
              <a:buNone/>
            </a:pPr>
            <a:r>
              <a:rPr lang="en-SG" sz="1000" b="0">
                <a:solidFill>
                  <a:srgbClr val="CCCCCC"/>
                </a:solidFill>
                <a:effectLst/>
                <a:latin typeface="JetBrains Mono" panose="02000009000000000000" pitchFamily="49" charset="0"/>
              </a:rPr>
              <a:t>  </a:t>
            </a:r>
            <a:r>
              <a:rPr lang="en-SG" sz="1000" b="0">
                <a:solidFill>
                  <a:srgbClr val="4EC9B0"/>
                </a:solidFill>
                <a:effectLst/>
                <a:latin typeface="JetBrains Mono" panose="02000009000000000000" pitchFamily="49" charset="0"/>
              </a:rPr>
              <a:t>std</a:t>
            </a:r>
            <a:r>
              <a:rPr lang="en-SG" sz="1000" b="0">
                <a:solidFill>
                  <a:srgbClr val="CCCCCC"/>
                </a:solidFill>
                <a:effectLst/>
                <a:latin typeface="JetBrains Mono" panose="02000009000000000000" pitchFamily="49" charset="0"/>
              </a:rPr>
              <a:t>::deque</a:t>
            </a:r>
            <a:r>
              <a:rPr lang="en-SG" sz="1000" b="0">
                <a:solidFill>
                  <a:srgbClr val="D4D4D4"/>
                </a:solidFill>
                <a:effectLst/>
                <a:latin typeface="JetBrains Mono" panose="02000009000000000000" pitchFamily="49" charset="0"/>
              </a:rPr>
              <a:t>&lt;</a:t>
            </a:r>
            <a:r>
              <a:rPr lang="en-SG" sz="1000" b="0">
                <a:solidFill>
                  <a:srgbClr val="CCCCCC"/>
                </a:solidFill>
                <a:effectLst/>
                <a:latin typeface="JetBrains Mono" panose="02000009000000000000" pitchFamily="49" charset="0"/>
              </a:rPr>
              <a:t>Task</a:t>
            </a:r>
            <a:r>
              <a:rPr lang="en-SG" sz="1000" b="0">
                <a:solidFill>
                  <a:srgbClr val="D4D4D4"/>
                </a:solidFill>
                <a:effectLst/>
                <a:latin typeface="JetBrains Mono" panose="02000009000000000000" pitchFamily="49" charset="0"/>
              </a:rPr>
              <a:t>&gt;</a:t>
            </a:r>
            <a:r>
              <a:rPr lang="en-SG" sz="1000" b="0">
                <a:solidFill>
                  <a:srgbClr val="CCCCCC"/>
                </a:solidFill>
                <a:effectLst/>
                <a:latin typeface="JetBrains Mono" panose="02000009000000000000" pitchFamily="49" charset="0"/>
              </a:rPr>
              <a:t> tasks;</a:t>
            </a:r>
          </a:p>
          <a:p>
            <a:pPr>
              <a:lnSpc>
                <a:spcPts val="1425"/>
              </a:lnSpc>
              <a:buNone/>
            </a:pPr>
            <a:r>
              <a:rPr lang="en-SG" sz="1000" b="0">
                <a:solidFill>
                  <a:srgbClr val="569CD6"/>
                </a:solidFill>
                <a:effectLst/>
                <a:latin typeface="JetBrains Mono" panose="02000009000000000000" pitchFamily="49" charset="0"/>
              </a:rPr>
              <a:t>public:</a:t>
            </a: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CCCCCC"/>
                </a:solidFill>
                <a:effectLst/>
                <a:latin typeface="JetBrains Mono" panose="02000009000000000000" pitchFamily="49" charset="0"/>
              </a:rPr>
              <a:t>  </a:t>
            </a:r>
            <a:r>
              <a:rPr lang="en-SG" sz="1000" b="0">
                <a:solidFill>
                  <a:srgbClr val="569CD6"/>
                </a:solidFill>
                <a:effectLst/>
                <a:latin typeface="JetBrains Mono" panose="02000009000000000000" pitchFamily="49" charset="0"/>
              </a:rPr>
              <a:t>void</a:t>
            </a:r>
            <a:r>
              <a:rPr lang="en-SG" sz="1000" b="0">
                <a:solidFill>
                  <a:srgbClr val="CCCCCC"/>
                </a:solidFill>
                <a:effectLst/>
                <a:latin typeface="JetBrains Mono" panose="02000009000000000000" pitchFamily="49" charset="0"/>
              </a:rPr>
              <a:t> </a:t>
            </a:r>
            <a:r>
              <a:rPr lang="en-SG" sz="1000" b="0">
                <a:solidFill>
                  <a:srgbClr val="DCDCAA"/>
                </a:solidFill>
                <a:effectLst/>
                <a:latin typeface="JetBrains Mono" panose="02000009000000000000" pitchFamily="49" charset="0"/>
              </a:rPr>
              <a:t>push</a:t>
            </a:r>
            <a:r>
              <a:rPr lang="en-SG" sz="1000" b="0">
                <a:solidFill>
                  <a:srgbClr val="CCCCCC"/>
                </a:solidFill>
                <a:effectLst/>
                <a:latin typeface="JetBrains Mono" panose="02000009000000000000" pitchFamily="49" charset="0"/>
              </a:rPr>
              <a:t>(</a:t>
            </a:r>
            <a:r>
              <a:rPr lang="en-SG" sz="1000" b="0">
                <a:solidFill>
                  <a:srgbClr val="4EC9B0"/>
                </a:solidFill>
                <a:effectLst/>
                <a:latin typeface="JetBrains Mono" panose="02000009000000000000" pitchFamily="49" charset="0"/>
              </a:rPr>
              <a:t>Task</a:t>
            </a:r>
            <a:r>
              <a:rPr lang="en-SG" sz="1000" b="0">
                <a:solidFill>
                  <a:srgbClr val="CCCCCC"/>
                </a:solidFill>
                <a:effectLst/>
                <a:latin typeface="JetBrains Mono" panose="02000009000000000000" pitchFamily="49" charset="0"/>
              </a:rPr>
              <a:t> </a:t>
            </a:r>
            <a:r>
              <a:rPr lang="en-SG" sz="1000" b="0">
                <a:solidFill>
                  <a:srgbClr val="9CDCFE"/>
                </a:solidFill>
                <a:effectLst/>
                <a:latin typeface="JetBrains Mono" panose="02000009000000000000" pitchFamily="49" charset="0"/>
              </a:rPr>
              <a:t>t</a:t>
            </a:r>
            <a:r>
              <a:rPr lang="en-SG" sz="1000" b="0">
                <a:solidFill>
                  <a:srgbClr val="CCCCCC"/>
                </a:solidFill>
                <a:effectLst/>
                <a:latin typeface="JetBrains Mono" panose="02000009000000000000" pitchFamily="49" charset="0"/>
              </a:rPr>
              <a:t>) {</a:t>
            </a:r>
          </a:p>
          <a:p>
            <a:pPr>
              <a:lnSpc>
                <a:spcPts val="1425"/>
              </a:lnSpc>
              <a:buNone/>
            </a:pPr>
            <a:r>
              <a:rPr lang="en-SG" sz="1000" b="0">
                <a:solidFill>
                  <a:srgbClr val="CCCCCC"/>
                </a:solidFill>
                <a:effectLst/>
                <a:latin typeface="JetBrains Mono" panose="02000009000000000000" pitchFamily="49" charset="0"/>
              </a:rPr>
              <a:t>    </a:t>
            </a:r>
            <a:r>
              <a:rPr lang="en-SG" sz="1000" b="0" err="1">
                <a:solidFill>
                  <a:srgbClr val="9CDCFE"/>
                </a:solidFill>
                <a:effectLst/>
                <a:latin typeface="JetBrains Mono" panose="02000009000000000000" pitchFamily="49" charset="0"/>
              </a:rPr>
              <a:t>lock</a:t>
            </a:r>
            <a:r>
              <a:rPr lang="en-SG" sz="1000" b="0" err="1">
                <a:solidFill>
                  <a:srgbClr val="CCCCCC"/>
                </a:solidFill>
                <a:effectLst/>
                <a:latin typeface="JetBrains Mono" panose="02000009000000000000" pitchFamily="49" charset="0"/>
              </a:rPr>
              <a:t>.</a:t>
            </a:r>
            <a:r>
              <a:rPr lang="en-SG" sz="1000" b="0" err="1">
                <a:solidFill>
                  <a:srgbClr val="DCDCAA"/>
                </a:solidFill>
                <a:effectLst/>
                <a:latin typeface="JetBrains Mono" panose="02000009000000000000" pitchFamily="49" charset="0"/>
              </a:rPr>
              <a:t>lock</a:t>
            </a:r>
            <a:r>
              <a:rPr lang="en-SG" sz="1000" b="0">
                <a:solidFill>
                  <a:srgbClr val="CCCCCC"/>
                </a:solidFill>
                <a:effectLst/>
                <a:latin typeface="JetBrains Mono" panose="02000009000000000000" pitchFamily="49" charset="0"/>
              </a:rPr>
              <a:t>();</a:t>
            </a:r>
          </a:p>
          <a:p>
            <a:pPr>
              <a:lnSpc>
                <a:spcPts val="1425"/>
              </a:lnSpc>
              <a:buNone/>
            </a:pPr>
            <a:r>
              <a:rPr lang="en-SG" sz="1000" b="0">
                <a:solidFill>
                  <a:srgbClr val="CCCCCC"/>
                </a:solidFill>
                <a:effectLst/>
                <a:latin typeface="JetBrains Mono" panose="02000009000000000000" pitchFamily="49" charset="0"/>
              </a:rPr>
              <a:t>    </a:t>
            </a:r>
            <a:r>
              <a:rPr lang="en-SG" sz="1000" b="0" err="1">
                <a:solidFill>
                  <a:srgbClr val="9CDCFE"/>
                </a:solidFill>
                <a:effectLst/>
                <a:latin typeface="JetBrains Mono" panose="02000009000000000000" pitchFamily="49" charset="0"/>
              </a:rPr>
              <a:t>tasks</a:t>
            </a:r>
            <a:r>
              <a:rPr lang="en-SG" sz="1000" b="0" err="1">
                <a:solidFill>
                  <a:srgbClr val="CCCCCC"/>
                </a:solidFill>
                <a:effectLst/>
                <a:latin typeface="JetBrains Mono" panose="02000009000000000000" pitchFamily="49" charset="0"/>
              </a:rPr>
              <a:t>.</a:t>
            </a:r>
            <a:r>
              <a:rPr lang="en-SG" sz="1000" b="0" err="1">
                <a:solidFill>
                  <a:srgbClr val="DCDCAA"/>
                </a:solidFill>
                <a:effectLst/>
                <a:latin typeface="JetBrains Mono" panose="02000009000000000000" pitchFamily="49" charset="0"/>
              </a:rPr>
              <a:t>push_back</a:t>
            </a:r>
            <a:r>
              <a:rPr lang="en-SG" sz="1000" b="0">
                <a:solidFill>
                  <a:srgbClr val="CCCCCC"/>
                </a:solidFill>
                <a:effectLst/>
                <a:latin typeface="JetBrains Mono" panose="02000009000000000000" pitchFamily="49" charset="0"/>
              </a:rPr>
              <a:t>(</a:t>
            </a:r>
            <a:r>
              <a:rPr lang="en-SG" sz="1000" b="0">
                <a:solidFill>
                  <a:srgbClr val="9CDCFE"/>
                </a:solidFill>
                <a:effectLst/>
                <a:latin typeface="JetBrains Mono" panose="02000009000000000000" pitchFamily="49" charset="0"/>
              </a:rPr>
              <a:t>t</a:t>
            </a:r>
            <a:r>
              <a:rPr lang="en-SG" sz="1000" b="0">
                <a:solidFill>
                  <a:srgbClr val="CCCCCC"/>
                </a:solidFill>
                <a:effectLst/>
                <a:latin typeface="JetBrains Mono" panose="02000009000000000000" pitchFamily="49" charset="0"/>
              </a:rPr>
              <a:t>);</a:t>
            </a:r>
          </a:p>
          <a:p>
            <a:pPr>
              <a:lnSpc>
                <a:spcPts val="1425"/>
              </a:lnSpc>
              <a:buNone/>
            </a:pPr>
            <a:r>
              <a:rPr lang="en-SG" sz="1000" b="0">
                <a:solidFill>
                  <a:srgbClr val="CCCCCC"/>
                </a:solidFill>
                <a:effectLst/>
                <a:latin typeface="JetBrains Mono" panose="02000009000000000000" pitchFamily="49" charset="0"/>
              </a:rPr>
              <a:t>    </a:t>
            </a:r>
            <a:r>
              <a:rPr lang="en-SG" sz="1000" b="0" err="1">
                <a:solidFill>
                  <a:srgbClr val="9CDCFE"/>
                </a:solidFill>
                <a:effectLst/>
                <a:latin typeface="JetBrains Mono" panose="02000009000000000000" pitchFamily="49" charset="0"/>
              </a:rPr>
              <a:t>lock</a:t>
            </a:r>
            <a:r>
              <a:rPr lang="en-SG" sz="1000" b="0" err="1">
                <a:solidFill>
                  <a:srgbClr val="CCCCCC"/>
                </a:solidFill>
                <a:effectLst/>
                <a:latin typeface="JetBrains Mono" panose="02000009000000000000" pitchFamily="49" charset="0"/>
              </a:rPr>
              <a:t>.</a:t>
            </a:r>
            <a:r>
              <a:rPr lang="en-SG" sz="1000" b="0" err="1">
                <a:solidFill>
                  <a:srgbClr val="DCDCAA"/>
                </a:solidFill>
                <a:effectLst/>
                <a:latin typeface="JetBrains Mono" panose="02000009000000000000" pitchFamily="49" charset="0"/>
              </a:rPr>
              <a:t>unlock</a:t>
            </a:r>
            <a:r>
              <a:rPr lang="en-SG" sz="1000" b="0">
                <a:solidFill>
                  <a:srgbClr val="CCCCCC"/>
                </a:solidFill>
                <a:effectLst/>
                <a:latin typeface="JetBrains Mono" panose="02000009000000000000" pitchFamily="49" charset="0"/>
              </a:rPr>
              <a:t>();</a:t>
            </a:r>
          </a:p>
          <a:p>
            <a:pPr>
              <a:lnSpc>
                <a:spcPts val="1425"/>
              </a:lnSpc>
              <a:buNone/>
            </a:pPr>
            <a:r>
              <a:rPr lang="en-SG" sz="1000" b="0">
                <a:solidFill>
                  <a:srgbClr val="CCCCCC"/>
                </a:solidFill>
                <a:effectLst/>
                <a:latin typeface="JetBrains Mono" panose="02000009000000000000" pitchFamily="49" charset="0"/>
              </a:rPr>
              <a:t>  }</a:t>
            </a:r>
          </a:p>
          <a:p>
            <a:pPr>
              <a:lnSpc>
                <a:spcPts val="1425"/>
              </a:lnSpc>
              <a:buNone/>
            </a:pPr>
            <a:r>
              <a:rPr lang="en-SG" sz="1000" b="0">
                <a:solidFill>
                  <a:srgbClr val="CCCCCC"/>
                </a:solidFill>
                <a:effectLst/>
                <a:latin typeface="JetBrains Mono" panose="02000009000000000000" pitchFamily="49" charset="0"/>
              </a:rPr>
              <a:t>};</a:t>
            </a:r>
          </a:p>
        </p:txBody>
      </p:sp>
      <p:sp>
        <p:nvSpPr>
          <p:cNvPr id="10" name="TextBox 9">
            <a:extLst>
              <a:ext uri="{FF2B5EF4-FFF2-40B4-BE49-F238E27FC236}">
                <a16:creationId xmlns:a16="http://schemas.microsoft.com/office/drawing/2014/main" id="{C7BB8848-4CC2-48CE-62FC-CE9381CFB030}"/>
              </a:ext>
            </a:extLst>
          </p:cNvPr>
          <p:cNvSpPr txBox="1"/>
          <p:nvPr/>
        </p:nvSpPr>
        <p:spPr>
          <a:xfrm>
            <a:off x="5777948" y="1952315"/>
            <a:ext cx="6056735" cy="2057294"/>
          </a:xfrm>
          <a:prstGeom prst="rect">
            <a:avLst/>
          </a:prstGeom>
          <a:solidFill>
            <a:srgbClr val="1F1F1F"/>
          </a:solidFill>
        </p:spPr>
        <p:txBody>
          <a:bodyPr wrap="square">
            <a:spAutoFit/>
          </a:bodyPr>
          <a:lstStyle/>
          <a:p>
            <a:pPr>
              <a:lnSpc>
                <a:spcPts val="1425"/>
              </a:lnSpc>
              <a:buNone/>
            </a:pPr>
            <a:r>
              <a:rPr lang="en-SG" sz="1000" b="0">
                <a:solidFill>
                  <a:srgbClr val="6A9955"/>
                </a:solidFill>
                <a:effectLst/>
                <a:latin typeface="JetBrains Mono" panose="02000009000000000000" pitchFamily="49" charset="0"/>
              </a:rPr>
              <a:t>// Compiler injects MCS lock</a:t>
            </a:r>
            <a:endParaRPr lang="en-SG" sz="1000" b="0">
              <a:solidFill>
                <a:srgbClr val="CCCCCC"/>
              </a:solidFill>
              <a:effectLst/>
              <a:latin typeface="JetBrains Mono" panose="02000009000000000000" pitchFamily="49" charset="0"/>
            </a:endParaRPr>
          </a:p>
          <a:p>
            <a:pPr>
              <a:lnSpc>
                <a:spcPts val="1425"/>
              </a:lnSpc>
              <a:buNone/>
            </a:pPr>
            <a:r>
              <a:rPr lang="en-SG" sz="1000">
                <a:solidFill>
                  <a:srgbClr val="569CD6"/>
                </a:solidFill>
                <a:latin typeface="JetBrains Mono" panose="02000009000000000000" pitchFamily="49" charset="0"/>
              </a:rPr>
              <a:t>class</a:t>
            </a:r>
            <a:r>
              <a:rPr lang="en-SG" sz="1000">
                <a:solidFill>
                  <a:srgbClr val="CCCCCC"/>
                </a:solidFill>
                <a:latin typeface="JetBrains Mono" panose="02000009000000000000" pitchFamily="49" charset="0"/>
              </a:rPr>
              <a:t> </a:t>
            </a:r>
            <a:r>
              <a:rPr lang="en-SG" sz="1000" err="1">
                <a:solidFill>
                  <a:srgbClr val="4EC9B0"/>
                </a:solidFill>
                <a:latin typeface="JetBrains Mono" panose="02000009000000000000" pitchFamily="49" charset="0"/>
              </a:rPr>
              <a:t>TaskQueue</a:t>
            </a:r>
            <a:r>
              <a:rPr lang="en-SG" sz="1000">
                <a:solidFill>
                  <a:srgbClr val="CCCCCC"/>
                </a:solidFill>
                <a:latin typeface="JetBrains Mono" panose="02000009000000000000" pitchFamily="49" charset="0"/>
              </a:rPr>
              <a:t> {</a:t>
            </a:r>
          </a:p>
          <a:p>
            <a:pPr>
              <a:lnSpc>
                <a:spcPts val="1425"/>
              </a:lnSpc>
              <a:buNone/>
            </a:pPr>
            <a:r>
              <a:rPr lang="en-SG" sz="1000">
                <a:solidFill>
                  <a:srgbClr val="CCCCCC"/>
                </a:solidFill>
                <a:latin typeface="JetBrains Mono" panose="02000009000000000000" pitchFamily="49" charset="0"/>
              </a:rPr>
              <a:t>  </a:t>
            </a:r>
            <a:r>
              <a:rPr lang="en-SG" sz="1000" err="1">
                <a:solidFill>
                  <a:srgbClr val="4EC9B0"/>
                </a:solidFill>
                <a:latin typeface="JetBrains Mono" panose="02000009000000000000" pitchFamily="49" charset="0"/>
              </a:rPr>
              <a:t>MCSLock</a:t>
            </a:r>
            <a:r>
              <a:rPr lang="en-SG" sz="1000">
                <a:solidFill>
                  <a:srgbClr val="4EC9B0"/>
                </a:solidFill>
                <a:latin typeface="JetBrains Mono" panose="02000009000000000000" pitchFamily="49" charset="0"/>
              </a:rPr>
              <a:t> </a:t>
            </a:r>
            <a:r>
              <a:rPr lang="en-SG" sz="1000">
                <a:solidFill>
                  <a:srgbClr val="9CDCFE"/>
                </a:solidFill>
                <a:latin typeface="JetBrains Mono" panose="02000009000000000000" pitchFamily="49" charset="0"/>
              </a:rPr>
              <a:t>lock</a:t>
            </a:r>
            <a:r>
              <a:rPr lang="en-SG" sz="1000">
                <a:solidFill>
                  <a:srgbClr val="CCCCCC"/>
                </a:solidFill>
                <a:latin typeface="JetBrains Mono" panose="02000009000000000000" pitchFamily="49" charset="0"/>
              </a:rPr>
              <a:t>;</a:t>
            </a:r>
          </a:p>
          <a:p>
            <a:pPr>
              <a:lnSpc>
                <a:spcPts val="1425"/>
              </a:lnSpc>
              <a:buNone/>
            </a:pPr>
            <a:r>
              <a:rPr lang="en-SG" sz="1000">
                <a:solidFill>
                  <a:srgbClr val="CCCCCC"/>
                </a:solidFill>
                <a:latin typeface="JetBrains Mono" panose="02000009000000000000" pitchFamily="49" charset="0"/>
              </a:rPr>
              <a:t>  </a:t>
            </a:r>
            <a:r>
              <a:rPr lang="en-SG" sz="1000">
                <a:solidFill>
                  <a:srgbClr val="4EC9B0"/>
                </a:solidFill>
                <a:latin typeface="JetBrains Mono" panose="02000009000000000000" pitchFamily="49" charset="0"/>
              </a:rPr>
              <a:t>std</a:t>
            </a:r>
            <a:r>
              <a:rPr lang="en-SG" sz="1000">
                <a:solidFill>
                  <a:srgbClr val="CCCCCC"/>
                </a:solidFill>
                <a:latin typeface="JetBrains Mono" panose="02000009000000000000" pitchFamily="49" charset="0"/>
              </a:rPr>
              <a:t>::deque</a:t>
            </a:r>
            <a:r>
              <a:rPr lang="en-SG" sz="1000">
                <a:solidFill>
                  <a:srgbClr val="D4D4D4"/>
                </a:solidFill>
                <a:latin typeface="JetBrains Mono" panose="02000009000000000000" pitchFamily="49" charset="0"/>
              </a:rPr>
              <a:t>&lt;</a:t>
            </a:r>
            <a:r>
              <a:rPr lang="en-SG" sz="1000">
                <a:solidFill>
                  <a:srgbClr val="CCCCCC"/>
                </a:solidFill>
                <a:latin typeface="JetBrains Mono" panose="02000009000000000000" pitchFamily="49" charset="0"/>
              </a:rPr>
              <a:t>Task</a:t>
            </a:r>
            <a:r>
              <a:rPr lang="en-SG" sz="1000">
                <a:solidFill>
                  <a:srgbClr val="D4D4D4"/>
                </a:solidFill>
                <a:latin typeface="JetBrains Mono" panose="02000009000000000000" pitchFamily="49" charset="0"/>
              </a:rPr>
              <a:t>&gt;</a:t>
            </a:r>
            <a:r>
              <a:rPr lang="en-SG" sz="1000">
                <a:solidFill>
                  <a:srgbClr val="CCCCCC"/>
                </a:solidFill>
                <a:latin typeface="JetBrains Mono" panose="02000009000000000000" pitchFamily="49" charset="0"/>
              </a:rPr>
              <a:t> tasks;</a:t>
            </a:r>
          </a:p>
          <a:p>
            <a:pPr>
              <a:lnSpc>
                <a:spcPts val="1425"/>
              </a:lnSpc>
              <a:buNone/>
            </a:pPr>
            <a:r>
              <a:rPr lang="en-SG" sz="1000">
                <a:solidFill>
                  <a:srgbClr val="569CD6"/>
                </a:solidFill>
                <a:latin typeface="JetBrains Mono" panose="02000009000000000000" pitchFamily="49" charset="0"/>
              </a:rPr>
              <a:t>public:</a:t>
            </a:r>
            <a:endParaRPr lang="en-SG" sz="1000">
              <a:solidFill>
                <a:srgbClr val="CCCCCC"/>
              </a:solidFill>
              <a:latin typeface="JetBrains Mono" panose="02000009000000000000" pitchFamily="49" charset="0"/>
            </a:endParaRPr>
          </a:p>
          <a:p>
            <a:pPr>
              <a:lnSpc>
                <a:spcPts val="1425"/>
              </a:lnSpc>
              <a:buNone/>
            </a:pPr>
            <a:r>
              <a:rPr lang="en-SG" sz="1000">
                <a:solidFill>
                  <a:srgbClr val="CCCCCC"/>
                </a:solidFill>
                <a:latin typeface="JetBrains Mono" panose="02000009000000000000" pitchFamily="49" charset="0"/>
              </a:rPr>
              <a:t>  </a:t>
            </a:r>
            <a:r>
              <a:rPr lang="en-SG" sz="1000">
                <a:solidFill>
                  <a:srgbClr val="569CD6"/>
                </a:solidFill>
                <a:latin typeface="JetBrains Mono" panose="02000009000000000000" pitchFamily="49" charset="0"/>
              </a:rPr>
              <a:t>void</a:t>
            </a:r>
            <a:r>
              <a:rPr lang="en-SG" sz="1000">
                <a:solidFill>
                  <a:srgbClr val="CCCCCC"/>
                </a:solidFill>
                <a:latin typeface="JetBrains Mono" panose="02000009000000000000" pitchFamily="49" charset="0"/>
              </a:rPr>
              <a:t> </a:t>
            </a:r>
            <a:r>
              <a:rPr lang="en-SG" sz="1000">
                <a:solidFill>
                  <a:srgbClr val="DCDCAA"/>
                </a:solidFill>
                <a:latin typeface="JetBrains Mono" panose="02000009000000000000" pitchFamily="49" charset="0"/>
              </a:rPr>
              <a:t>push</a:t>
            </a:r>
            <a:r>
              <a:rPr lang="en-SG" sz="1000">
                <a:solidFill>
                  <a:srgbClr val="CCCCCC"/>
                </a:solidFill>
                <a:latin typeface="JetBrains Mono" panose="02000009000000000000" pitchFamily="49" charset="0"/>
              </a:rPr>
              <a:t>(</a:t>
            </a:r>
            <a:r>
              <a:rPr lang="en-SG" sz="1000">
                <a:solidFill>
                  <a:srgbClr val="4EC9B0"/>
                </a:solidFill>
                <a:latin typeface="JetBrains Mono" panose="02000009000000000000" pitchFamily="49" charset="0"/>
              </a:rPr>
              <a:t>Task</a:t>
            </a:r>
            <a:r>
              <a:rPr lang="en-SG" sz="1000">
                <a:solidFill>
                  <a:srgbClr val="CCCCCC"/>
                </a:solidFill>
                <a:latin typeface="JetBrains Mono" panose="02000009000000000000" pitchFamily="49" charset="0"/>
              </a:rPr>
              <a:t> </a:t>
            </a:r>
            <a:r>
              <a:rPr lang="en-SG" sz="1000">
                <a:solidFill>
                  <a:srgbClr val="9CDCFE"/>
                </a:solidFill>
                <a:latin typeface="JetBrains Mono" panose="02000009000000000000" pitchFamily="49" charset="0"/>
              </a:rPr>
              <a:t>t</a:t>
            </a:r>
            <a:r>
              <a:rPr lang="en-SG" sz="1000">
                <a:solidFill>
                  <a:srgbClr val="CCCCCC"/>
                </a:solidFill>
                <a:latin typeface="JetBrains Mono" panose="02000009000000000000" pitchFamily="49" charset="0"/>
              </a:rPr>
              <a:t>) {</a:t>
            </a:r>
          </a:p>
          <a:p>
            <a:pPr>
              <a:lnSpc>
                <a:spcPts val="1425"/>
              </a:lnSpc>
              <a:buNone/>
            </a:pPr>
            <a:r>
              <a:rPr lang="en-SG" sz="1000">
                <a:solidFill>
                  <a:srgbClr val="CCCCCC"/>
                </a:solidFill>
                <a:latin typeface="JetBrains Mono" panose="02000009000000000000" pitchFamily="49" charset="0"/>
              </a:rPr>
              <a:t>    </a:t>
            </a:r>
            <a:r>
              <a:rPr lang="en-SG" sz="1000" err="1">
                <a:solidFill>
                  <a:srgbClr val="9CDCFE"/>
                </a:solidFill>
                <a:latin typeface="JetBrains Mono" panose="02000009000000000000" pitchFamily="49" charset="0"/>
              </a:rPr>
              <a:t>lock</a:t>
            </a:r>
            <a:r>
              <a:rPr lang="en-SG" sz="1000" err="1">
                <a:solidFill>
                  <a:srgbClr val="CCCCCC"/>
                </a:solidFill>
                <a:latin typeface="JetBrains Mono" panose="02000009000000000000" pitchFamily="49" charset="0"/>
              </a:rPr>
              <a:t>.</a:t>
            </a:r>
            <a:r>
              <a:rPr lang="en-SG" sz="1000" err="1">
                <a:solidFill>
                  <a:srgbClr val="DCDCAA"/>
                </a:solidFill>
                <a:latin typeface="JetBrains Mono" panose="02000009000000000000" pitchFamily="49" charset="0"/>
              </a:rPr>
              <a:t>lock</a:t>
            </a:r>
            <a:r>
              <a:rPr lang="en-SG" sz="1000">
                <a:solidFill>
                  <a:srgbClr val="CCCCCC"/>
                </a:solidFill>
                <a:latin typeface="JetBrains Mono" panose="02000009000000000000" pitchFamily="49" charset="0"/>
              </a:rPr>
              <a:t>();</a:t>
            </a:r>
          </a:p>
          <a:p>
            <a:pPr>
              <a:lnSpc>
                <a:spcPts val="1425"/>
              </a:lnSpc>
              <a:buNone/>
            </a:pPr>
            <a:r>
              <a:rPr lang="en-SG" sz="1000">
                <a:solidFill>
                  <a:srgbClr val="CCCCCC"/>
                </a:solidFill>
                <a:latin typeface="JetBrains Mono" panose="02000009000000000000" pitchFamily="49" charset="0"/>
              </a:rPr>
              <a:t>    </a:t>
            </a:r>
            <a:r>
              <a:rPr lang="en-SG" sz="1000" err="1">
                <a:solidFill>
                  <a:srgbClr val="9CDCFE"/>
                </a:solidFill>
                <a:latin typeface="JetBrains Mono" panose="02000009000000000000" pitchFamily="49" charset="0"/>
              </a:rPr>
              <a:t>tasks</a:t>
            </a:r>
            <a:r>
              <a:rPr lang="en-SG" sz="1000" err="1">
                <a:solidFill>
                  <a:srgbClr val="CCCCCC"/>
                </a:solidFill>
                <a:latin typeface="JetBrains Mono" panose="02000009000000000000" pitchFamily="49" charset="0"/>
              </a:rPr>
              <a:t>.</a:t>
            </a:r>
            <a:r>
              <a:rPr lang="en-SG" sz="1000" err="1">
                <a:solidFill>
                  <a:srgbClr val="DCDCAA"/>
                </a:solidFill>
                <a:latin typeface="JetBrains Mono" panose="02000009000000000000" pitchFamily="49" charset="0"/>
              </a:rPr>
              <a:t>push_back</a:t>
            </a:r>
            <a:r>
              <a:rPr lang="en-SG" sz="1000">
                <a:solidFill>
                  <a:srgbClr val="CCCCCC"/>
                </a:solidFill>
                <a:latin typeface="JetBrains Mono" panose="02000009000000000000" pitchFamily="49" charset="0"/>
              </a:rPr>
              <a:t>(</a:t>
            </a:r>
            <a:r>
              <a:rPr lang="en-SG" sz="1000">
                <a:solidFill>
                  <a:srgbClr val="9CDCFE"/>
                </a:solidFill>
                <a:latin typeface="JetBrains Mono" panose="02000009000000000000" pitchFamily="49" charset="0"/>
              </a:rPr>
              <a:t>t</a:t>
            </a:r>
            <a:r>
              <a:rPr lang="en-SG" sz="1000">
                <a:solidFill>
                  <a:srgbClr val="CCCCCC"/>
                </a:solidFill>
                <a:latin typeface="JetBrains Mono" panose="02000009000000000000" pitchFamily="49" charset="0"/>
              </a:rPr>
              <a:t>);</a:t>
            </a:r>
          </a:p>
          <a:p>
            <a:pPr>
              <a:lnSpc>
                <a:spcPts val="1425"/>
              </a:lnSpc>
              <a:buNone/>
            </a:pPr>
            <a:r>
              <a:rPr lang="en-SG" sz="1000">
                <a:solidFill>
                  <a:srgbClr val="CCCCCC"/>
                </a:solidFill>
                <a:latin typeface="JetBrains Mono" panose="02000009000000000000" pitchFamily="49" charset="0"/>
              </a:rPr>
              <a:t>    </a:t>
            </a:r>
            <a:r>
              <a:rPr lang="en-SG" sz="1000" err="1">
                <a:solidFill>
                  <a:srgbClr val="9CDCFE"/>
                </a:solidFill>
                <a:latin typeface="JetBrains Mono" panose="02000009000000000000" pitchFamily="49" charset="0"/>
              </a:rPr>
              <a:t>lock</a:t>
            </a:r>
            <a:r>
              <a:rPr lang="en-SG" sz="1000" err="1">
                <a:solidFill>
                  <a:srgbClr val="CCCCCC"/>
                </a:solidFill>
                <a:latin typeface="JetBrains Mono" panose="02000009000000000000" pitchFamily="49" charset="0"/>
              </a:rPr>
              <a:t>.</a:t>
            </a:r>
            <a:r>
              <a:rPr lang="en-SG" sz="1000" err="1">
                <a:solidFill>
                  <a:srgbClr val="DCDCAA"/>
                </a:solidFill>
                <a:latin typeface="JetBrains Mono" panose="02000009000000000000" pitchFamily="49" charset="0"/>
              </a:rPr>
              <a:t>unlock</a:t>
            </a:r>
            <a:r>
              <a:rPr lang="en-SG" sz="1000">
                <a:solidFill>
                  <a:srgbClr val="CCCCCC"/>
                </a:solidFill>
                <a:latin typeface="JetBrains Mono" panose="02000009000000000000" pitchFamily="49" charset="0"/>
              </a:rPr>
              <a:t>();</a:t>
            </a:r>
          </a:p>
          <a:p>
            <a:pPr>
              <a:lnSpc>
                <a:spcPts val="1425"/>
              </a:lnSpc>
              <a:buNone/>
            </a:pPr>
            <a:r>
              <a:rPr lang="en-SG" sz="1000">
                <a:solidFill>
                  <a:srgbClr val="CCCCCC"/>
                </a:solidFill>
                <a:latin typeface="JetBrains Mono" panose="02000009000000000000" pitchFamily="49" charset="0"/>
              </a:rPr>
              <a:t>  }</a:t>
            </a:r>
          </a:p>
          <a:p>
            <a:pPr>
              <a:lnSpc>
                <a:spcPts val="1425"/>
              </a:lnSpc>
              <a:buNone/>
            </a:pPr>
            <a:r>
              <a:rPr lang="en-SG" sz="1000">
                <a:solidFill>
                  <a:srgbClr val="CCCCCC"/>
                </a:solidFill>
                <a:latin typeface="JetBrains Mono" panose="02000009000000000000" pitchFamily="49" charset="0"/>
              </a:rPr>
              <a:t>};</a:t>
            </a:r>
          </a:p>
        </p:txBody>
      </p:sp>
      <p:sp>
        <p:nvSpPr>
          <p:cNvPr id="11" name="TextBox 10">
            <a:extLst>
              <a:ext uri="{FF2B5EF4-FFF2-40B4-BE49-F238E27FC236}">
                <a16:creationId xmlns:a16="http://schemas.microsoft.com/office/drawing/2014/main" id="{240BF65B-4FCC-926C-A57D-BEAB89CF6A5C}"/>
              </a:ext>
            </a:extLst>
          </p:cNvPr>
          <p:cNvSpPr txBox="1"/>
          <p:nvPr/>
        </p:nvSpPr>
        <p:spPr>
          <a:xfrm>
            <a:off x="233909" y="4189146"/>
            <a:ext cx="11253007" cy="2677656"/>
          </a:xfrm>
          <a:prstGeom prst="rect">
            <a:avLst/>
          </a:prstGeom>
          <a:noFill/>
        </p:spPr>
        <p:txBody>
          <a:bodyPr wrap="square">
            <a:spAutoFit/>
          </a:bodyPr>
          <a:lstStyle/>
          <a:p>
            <a:pPr algn="l">
              <a:buNone/>
            </a:pPr>
            <a:r>
              <a:rPr lang="en-US" sz="1200" b="1" i="0">
                <a:solidFill>
                  <a:srgbClr val="3333FF"/>
                </a:solidFill>
                <a:effectLst/>
                <a:latin typeface="Inter"/>
              </a:rPr>
              <a:t>User Intent:</a:t>
            </a:r>
            <a:r>
              <a:rPr lang="en-US" sz="1200" b="0" i="0">
                <a:solidFill>
                  <a:srgbClr val="3333FF"/>
                </a:solidFill>
                <a:effectLst/>
                <a:latin typeface="Inter"/>
              </a:rPr>
              <a:t> </a:t>
            </a:r>
            <a:r>
              <a:rPr lang="en-US" sz="1200" b="0" i="0">
                <a:effectLst/>
                <a:latin typeface="Inter"/>
              </a:rPr>
              <a:t>The programmer knows whether a lock is a "hot spot" (accessed by 100 threads constantly) or a "cold spot" (accessed once per hour).</a:t>
            </a:r>
          </a:p>
          <a:p>
            <a:pPr algn="l">
              <a:buFont typeface="Arial" panose="020B0604020202020204" pitchFamily="34" charset="0"/>
              <a:buChar char="•"/>
            </a:pPr>
            <a:r>
              <a:rPr lang="en-US" sz="1200" b="1" i="0">
                <a:effectLst/>
                <a:latin typeface="Inter"/>
              </a:rPr>
              <a:t>Annotation:</a:t>
            </a:r>
            <a:r>
              <a:rPr lang="en-US" sz="1200" b="0" i="0">
                <a:effectLst/>
                <a:latin typeface="Inter"/>
              </a:rPr>
              <a:t> </a:t>
            </a:r>
            <a:r>
              <a:rPr lang="en-US" sz="1200" b="0" i="0">
                <a:effectLst/>
                <a:latin typeface="DM Mono" panose="020B0509040201040103" pitchFamily="49" charset="0"/>
              </a:rPr>
              <a:t>[[sync::contention("high" | "low" | "bursty")]]</a:t>
            </a:r>
            <a:endParaRPr lang="en-US" sz="1200" b="0" i="0">
              <a:effectLst/>
              <a:latin typeface="Inter"/>
            </a:endParaRPr>
          </a:p>
          <a:p>
            <a:pPr algn="l">
              <a:buFont typeface="Arial" panose="020B0604020202020204" pitchFamily="34" charset="0"/>
              <a:buChar char="•"/>
            </a:pPr>
            <a:r>
              <a:rPr lang="en-US" sz="1200" b="1" i="0">
                <a:effectLst/>
                <a:latin typeface="Inter"/>
              </a:rPr>
              <a:t>Target:</a:t>
            </a:r>
            <a:r>
              <a:rPr lang="en-US" sz="1200" b="0" i="0">
                <a:effectLst/>
                <a:latin typeface="Inter"/>
              </a:rPr>
              <a:t> Locks, Atomic Variables, Critical Sections.</a:t>
            </a:r>
          </a:p>
          <a:p>
            <a:pPr algn="l">
              <a:buNone/>
            </a:pPr>
            <a:r>
              <a:rPr lang="en-US" sz="1200" b="1" i="0">
                <a:solidFill>
                  <a:srgbClr val="3333FF"/>
                </a:solidFill>
                <a:effectLst/>
                <a:latin typeface="Inter"/>
              </a:rPr>
              <a:t>Transformations:</a:t>
            </a:r>
          </a:p>
          <a:p>
            <a:pPr algn="l">
              <a:buFont typeface="Arial" panose="020B0604020202020204" pitchFamily="34" charset="0"/>
              <a:buChar char="•"/>
            </a:pPr>
            <a:r>
              <a:rPr lang="en-US" sz="1200" b="1" i="0">
                <a:effectLst/>
                <a:latin typeface="Inter"/>
              </a:rPr>
              <a:t>High Contention:</a:t>
            </a:r>
            <a:endParaRPr lang="en-US" sz="1200" b="0" i="0">
              <a:effectLst/>
              <a:latin typeface="Inter"/>
            </a:endParaRPr>
          </a:p>
          <a:p>
            <a:pPr marL="742950" lvl="1" indent="-285750" algn="l">
              <a:buFont typeface="Arial" panose="020B0604020202020204" pitchFamily="34" charset="0"/>
              <a:buChar char="•"/>
            </a:pPr>
            <a:r>
              <a:rPr lang="en-US" sz="1200" b="1" i="0">
                <a:effectLst/>
                <a:latin typeface="Inter"/>
              </a:rPr>
              <a:t>Mutex Substitution:</a:t>
            </a:r>
            <a:r>
              <a:rPr lang="en-US" sz="1200" b="0" i="0">
                <a:effectLst/>
                <a:latin typeface="Inter"/>
              </a:rPr>
              <a:t> Replace </a:t>
            </a:r>
            <a:r>
              <a:rPr lang="en-US" sz="1200" b="0" i="0">
                <a:effectLst/>
                <a:latin typeface="DM Mono" panose="020B0509040201040103" pitchFamily="49" charset="0"/>
              </a:rPr>
              <a:t>std::mutex</a:t>
            </a:r>
            <a:r>
              <a:rPr lang="en-US" sz="1200" b="0" i="0">
                <a:effectLst/>
                <a:latin typeface="Inter"/>
              </a:rPr>
              <a:t> (usually a simple </a:t>
            </a:r>
            <a:r>
              <a:rPr lang="en-US" sz="1200" b="0" i="0" err="1">
                <a:effectLst/>
                <a:latin typeface="Inter"/>
              </a:rPr>
              <a:t>futex</a:t>
            </a:r>
            <a:r>
              <a:rPr lang="en-US" sz="1200" b="0" i="0">
                <a:effectLst/>
                <a:latin typeface="Inter"/>
              </a:rPr>
              <a:t>) with </a:t>
            </a:r>
            <a:r>
              <a:rPr lang="en-US" sz="1200" b="1" i="0">
                <a:effectLst/>
                <a:latin typeface="Inter"/>
              </a:rPr>
              <a:t>MCS Lock</a:t>
            </a:r>
            <a:r>
              <a:rPr lang="en-US" sz="1200" b="0" i="0">
                <a:effectLst/>
                <a:latin typeface="Inter"/>
              </a:rPr>
              <a:t> or </a:t>
            </a:r>
            <a:r>
              <a:rPr lang="en-US" sz="1200" b="1" i="0">
                <a:effectLst/>
                <a:latin typeface="Inter"/>
              </a:rPr>
              <a:t>CLH Lock</a:t>
            </a:r>
            <a:r>
              <a:rPr lang="en-US" sz="1200" b="0" i="0">
                <a:effectLst/>
                <a:latin typeface="Inter"/>
              </a:rPr>
              <a:t> (queue-based locks). These spin on local cache lines, preventing "thundering herd" problems and bus saturation.</a:t>
            </a:r>
          </a:p>
          <a:p>
            <a:pPr marL="742950" lvl="1" indent="-285750" algn="l">
              <a:buFont typeface="Arial" panose="020B0604020202020204" pitchFamily="34" charset="0"/>
              <a:buChar char="•"/>
            </a:pPr>
            <a:r>
              <a:rPr lang="en-US" sz="1200" b="1" i="0">
                <a:effectLst/>
                <a:latin typeface="Inter"/>
              </a:rPr>
              <a:t>Flat Combining:</a:t>
            </a:r>
            <a:r>
              <a:rPr lang="en-US" sz="1200" b="0" i="0">
                <a:effectLst/>
                <a:latin typeface="Inter"/>
              </a:rPr>
              <a:t> If applied to a data structure, switch to a Flat Combining mode (one thread performs work for everyone).</a:t>
            </a:r>
          </a:p>
          <a:p>
            <a:pPr marL="742950" lvl="1" indent="-285750" algn="l">
              <a:buFont typeface="Arial" panose="020B0604020202020204" pitchFamily="34" charset="0"/>
              <a:buChar char="•"/>
            </a:pPr>
            <a:r>
              <a:rPr lang="en-US" sz="1200" b="1" i="0">
                <a:effectLst/>
                <a:latin typeface="Inter"/>
              </a:rPr>
              <a:t>Backoff Injection:</a:t>
            </a:r>
            <a:r>
              <a:rPr lang="en-US" sz="1200" b="0" i="0">
                <a:effectLst/>
                <a:latin typeface="Inter"/>
              </a:rPr>
              <a:t> Automatically inject exponential backoff logic into CAS loops.</a:t>
            </a:r>
          </a:p>
          <a:p>
            <a:pPr algn="l">
              <a:buFont typeface="Arial" panose="020B0604020202020204" pitchFamily="34" charset="0"/>
              <a:buChar char="•"/>
            </a:pPr>
            <a:r>
              <a:rPr lang="en-US" sz="1200" b="1" i="0">
                <a:effectLst/>
                <a:latin typeface="Inter"/>
              </a:rPr>
              <a:t>Low Contention:</a:t>
            </a:r>
            <a:endParaRPr lang="en-US" sz="1200" b="0" i="0">
              <a:effectLst/>
              <a:latin typeface="Inter"/>
            </a:endParaRPr>
          </a:p>
          <a:p>
            <a:pPr marL="742950" lvl="1" indent="-285750" algn="l">
              <a:buFont typeface="Arial" panose="020B0604020202020204" pitchFamily="34" charset="0"/>
              <a:buChar char="•"/>
            </a:pPr>
            <a:r>
              <a:rPr lang="en-US" sz="1200" b="1" i="0">
                <a:effectLst/>
                <a:latin typeface="Inter"/>
              </a:rPr>
              <a:t>Slim Locks:</a:t>
            </a:r>
            <a:r>
              <a:rPr lang="en-US" sz="1200" b="0" i="0">
                <a:effectLst/>
                <a:latin typeface="Inter"/>
              </a:rPr>
              <a:t> Use a simple </a:t>
            </a:r>
            <a:r>
              <a:rPr lang="en-US" sz="1200" b="1" i="0">
                <a:effectLst/>
                <a:latin typeface="Inter"/>
              </a:rPr>
              <a:t>Test-and-Set (TAS)</a:t>
            </a:r>
            <a:r>
              <a:rPr lang="en-US" sz="1200" b="0" i="0">
                <a:effectLst/>
                <a:latin typeface="Inter"/>
              </a:rPr>
              <a:t> spinlock or even a 1-byte flag. Minimizes memory footprint and instruction count (latency).</a:t>
            </a:r>
          </a:p>
          <a:p>
            <a:pPr marL="742950" lvl="1" indent="-285750" algn="l">
              <a:buFont typeface="Arial" panose="020B0604020202020204" pitchFamily="34" charset="0"/>
              <a:buChar char="•"/>
            </a:pPr>
            <a:r>
              <a:rPr lang="en-US" sz="1200" b="1" i="0">
                <a:effectLst/>
                <a:latin typeface="Inter"/>
              </a:rPr>
              <a:t>Inlining:</a:t>
            </a:r>
            <a:r>
              <a:rPr lang="en-US" sz="1200" b="0" i="0">
                <a:effectLst/>
                <a:latin typeface="Inter"/>
              </a:rPr>
              <a:t> Aggressively inline the critical section logic, assuming no collision.</a:t>
            </a:r>
          </a:p>
          <a:p>
            <a:pPr algn="l">
              <a:buFont typeface="Arial" panose="020B0604020202020204" pitchFamily="34" charset="0"/>
              <a:buChar char="•"/>
            </a:pPr>
            <a:r>
              <a:rPr lang="en-US" sz="1200" b="1" i="0">
                <a:effectLst/>
                <a:latin typeface="Inter"/>
              </a:rPr>
              <a:t>Bursty:</a:t>
            </a:r>
            <a:endParaRPr lang="en-US" sz="1200" b="0" i="0">
              <a:effectLst/>
              <a:latin typeface="Inter"/>
            </a:endParaRPr>
          </a:p>
          <a:p>
            <a:pPr marL="742950" lvl="1" indent="-285750" algn="l">
              <a:buFont typeface="Arial" panose="020B0604020202020204" pitchFamily="34" charset="0"/>
              <a:buChar char="•"/>
            </a:pPr>
            <a:r>
              <a:rPr lang="en-US" sz="1200" b="1" i="0">
                <a:effectLst/>
                <a:latin typeface="Inter"/>
              </a:rPr>
              <a:t>Adaptive Locks:</a:t>
            </a:r>
            <a:r>
              <a:rPr lang="en-US" sz="1200" b="0" i="0">
                <a:effectLst/>
                <a:latin typeface="Inter"/>
              </a:rPr>
              <a:t> Generate code that starts as a TAS lock but inflates to a Queue Lock if it detects a collision.</a:t>
            </a:r>
          </a:p>
        </p:txBody>
      </p:sp>
    </p:spTree>
    <p:extLst>
      <p:ext uri="{BB962C8B-B14F-4D97-AF65-F5344CB8AC3E}">
        <p14:creationId xmlns:p14="http://schemas.microsoft.com/office/powerpoint/2010/main" val="1619859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8C161-C723-8FBB-0FCE-949F89BB945C}"/>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264598BE-E0B9-0C93-29A0-7752DAEF9DA9}"/>
              </a:ext>
            </a:extLst>
          </p:cNvPr>
          <p:cNvSpPr txBox="1"/>
          <p:nvPr/>
        </p:nvSpPr>
        <p:spPr>
          <a:xfrm>
            <a:off x="233910" y="208621"/>
            <a:ext cx="4551450" cy="461665"/>
          </a:xfrm>
          <a:prstGeom prst="rect">
            <a:avLst/>
          </a:prstGeom>
          <a:solidFill>
            <a:schemeClr val="accent5">
              <a:lumMod val="50000"/>
            </a:schemeClr>
          </a:solidFill>
        </p:spPr>
        <p:txBody>
          <a:bodyPr wrap="square" rtlCol="0">
            <a:spAutoFit/>
          </a:bodyPr>
          <a:lstStyle/>
          <a:p>
            <a:r>
              <a:rPr lang="en-US" sz="2400">
                <a:solidFill>
                  <a:schemeClr val="bg1"/>
                </a:solidFill>
                <a:latin typeface="Ubuntu Condensed" panose="020B0506030602030204" pitchFamily="34" charset="0"/>
              </a:rPr>
              <a:t>Hints/annotations-based optimization</a:t>
            </a:r>
            <a:endParaRPr lang="ru-RU" sz="2400">
              <a:solidFill>
                <a:schemeClr val="bg1"/>
              </a:solidFill>
              <a:latin typeface="Ubuntu Condensed" panose="020B0506030602030204" pitchFamily="34" charset="0"/>
            </a:endParaRPr>
          </a:p>
        </p:txBody>
      </p:sp>
      <p:sp>
        <p:nvSpPr>
          <p:cNvPr id="7" name="Номер слайда 7">
            <a:extLst>
              <a:ext uri="{FF2B5EF4-FFF2-40B4-BE49-F238E27FC236}">
                <a16:creationId xmlns:a16="http://schemas.microsoft.com/office/drawing/2014/main" id="{EBC08E06-0C39-F184-0723-03CF0C09A57F}"/>
              </a:ext>
            </a:extLst>
          </p:cNvPr>
          <p:cNvSpPr>
            <a:spLocks noGrp="1"/>
          </p:cNvSpPr>
          <p:nvPr>
            <p:ph type="sldNum" sz="quarter" idx="12"/>
          </p:nvPr>
        </p:nvSpPr>
        <p:spPr>
          <a:xfrm>
            <a:off x="11725835" y="6402070"/>
            <a:ext cx="386155" cy="365125"/>
          </a:xfrm>
        </p:spPr>
        <p:txBody>
          <a:bodyPr/>
          <a:lstStyle/>
          <a:p>
            <a:pPr algn="ctr"/>
            <a:fld id="{E757BAED-F255-4CF1-96BA-8D7417A9C3BC}" type="slidenum">
              <a:rPr lang="ru-RU" sz="1800" smtClean="0">
                <a:latin typeface="Ubuntu Condensed" panose="020B0506030602030204" pitchFamily="34" charset="0"/>
              </a:rPr>
              <a:pPr algn="ctr"/>
              <a:t>11</a:t>
            </a:fld>
            <a:endParaRPr lang="ru-RU" sz="1800">
              <a:latin typeface="Ubuntu Condensed" panose="020B0506030602030204" pitchFamily="34" charset="0"/>
            </a:endParaRPr>
          </a:p>
        </p:txBody>
      </p:sp>
      <p:sp>
        <p:nvSpPr>
          <p:cNvPr id="2" name="TextBox 1">
            <a:extLst>
              <a:ext uri="{FF2B5EF4-FFF2-40B4-BE49-F238E27FC236}">
                <a16:creationId xmlns:a16="http://schemas.microsoft.com/office/drawing/2014/main" id="{81F521A1-BF5F-870B-5DAA-C679D3F6CF7F}"/>
              </a:ext>
            </a:extLst>
          </p:cNvPr>
          <p:cNvSpPr txBox="1"/>
          <p:nvPr/>
        </p:nvSpPr>
        <p:spPr>
          <a:xfrm>
            <a:off x="3741420" y="1201447"/>
            <a:ext cx="3853403" cy="276999"/>
          </a:xfrm>
          <a:prstGeom prst="rect">
            <a:avLst/>
          </a:prstGeom>
          <a:noFill/>
        </p:spPr>
        <p:txBody>
          <a:bodyPr wrap="square">
            <a:spAutoFit/>
          </a:bodyPr>
          <a:lstStyle/>
          <a:p>
            <a:r>
              <a:rPr lang="en-US" sz="1200" b="1"/>
              <a:t>Before</a:t>
            </a:r>
            <a:endParaRPr lang="en-US" sz="1200"/>
          </a:p>
        </p:txBody>
      </p:sp>
      <p:sp>
        <p:nvSpPr>
          <p:cNvPr id="3" name="TextBox 2">
            <a:extLst>
              <a:ext uri="{FF2B5EF4-FFF2-40B4-BE49-F238E27FC236}">
                <a16:creationId xmlns:a16="http://schemas.microsoft.com/office/drawing/2014/main" id="{69581DFE-5B2A-0637-52C1-E3494811134C}"/>
              </a:ext>
            </a:extLst>
          </p:cNvPr>
          <p:cNvSpPr txBox="1"/>
          <p:nvPr/>
        </p:nvSpPr>
        <p:spPr>
          <a:xfrm>
            <a:off x="3741420" y="1847778"/>
            <a:ext cx="3853404" cy="1877758"/>
          </a:xfrm>
          <a:prstGeom prst="rect">
            <a:avLst/>
          </a:prstGeom>
          <a:solidFill>
            <a:srgbClr val="1F1F1F"/>
          </a:solidFill>
        </p:spPr>
        <p:txBody>
          <a:bodyPr wrap="square">
            <a:spAutoFit/>
          </a:bodyPr>
          <a:lstStyle/>
          <a:p>
            <a:pPr>
              <a:lnSpc>
                <a:spcPts val="1425"/>
              </a:lnSpc>
              <a:buNone/>
            </a:pPr>
            <a:r>
              <a:rPr lang="en-SG" sz="900" b="0">
                <a:solidFill>
                  <a:srgbClr val="569CD6"/>
                </a:solidFill>
                <a:effectLst/>
                <a:latin typeface="JetBrains Mono" panose="02000009000000000000" pitchFamily="49" charset="0"/>
              </a:rPr>
              <a:t>struct</a:t>
            </a:r>
            <a:r>
              <a:rPr lang="en-SG" sz="900" b="0">
                <a:solidFill>
                  <a:srgbClr val="CCCCCC"/>
                </a:solidFill>
                <a:effectLst/>
                <a:latin typeface="JetBrains Mono" panose="02000009000000000000" pitchFamily="49" charset="0"/>
              </a:rPr>
              <a:t> [[</a:t>
            </a:r>
            <a:r>
              <a:rPr lang="en-SG" sz="900" b="0">
                <a:solidFill>
                  <a:srgbClr val="4EC9B0"/>
                </a:solidFill>
                <a:effectLst/>
                <a:latin typeface="JetBrains Mono" panose="02000009000000000000" pitchFamily="49" charset="0"/>
              </a:rPr>
              <a:t>sync</a:t>
            </a:r>
            <a:r>
              <a:rPr lang="en-SG" sz="900" b="0">
                <a:solidFill>
                  <a:srgbClr val="CCCCCC"/>
                </a:solidFill>
                <a:effectLst/>
                <a:latin typeface="JetBrains Mono" panose="02000009000000000000" pitchFamily="49" charset="0"/>
              </a:rPr>
              <a:t>::</a:t>
            </a:r>
            <a:r>
              <a:rPr lang="en-SG" sz="900" b="0" err="1">
                <a:solidFill>
                  <a:srgbClr val="4EC9B0"/>
                </a:solidFill>
                <a:effectLst/>
                <a:latin typeface="JetBrains Mono" panose="02000009000000000000" pitchFamily="49" charset="0"/>
              </a:rPr>
              <a:t>read_mostly</a:t>
            </a:r>
            <a:r>
              <a:rPr lang="en-SG" sz="900" b="0">
                <a:solidFill>
                  <a:srgbClr val="CCCCCC"/>
                </a:solidFill>
                <a:effectLst/>
                <a:latin typeface="JetBrains Mono" panose="02000009000000000000" pitchFamily="49" charset="0"/>
              </a:rPr>
              <a:t>]] </a:t>
            </a:r>
            <a:r>
              <a:rPr lang="en-SG" sz="900" b="0" err="1">
                <a:solidFill>
                  <a:srgbClr val="4EC9B0"/>
                </a:solidFill>
                <a:effectLst/>
                <a:latin typeface="JetBrains Mono" panose="02000009000000000000" pitchFamily="49" charset="0"/>
              </a:rPr>
              <a:t>ServerConfig</a:t>
            </a:r>
            <a:r>
              <a:rPr lang="en-SG" sz="900" b="0">
                <a:solidFill>
                  <a:srgbClr val="CCCCCC"/>
                </a:solidFill>
                <a:effectLst/>
                <a:latin typeface="JetBrains Mono" panose="02000009000000000000" pitchFamily="49" charset="0"/>
              </a:rPr>
              <a:t> {</a:t>
            </a:r>
          </a:p>
          <a:p>
            <a:pPr>
              <a:lnSpc>
                <a:spcPts val="1425"/>
              </a:lnSpc>
              <a:buNone/>
            </a:pPr>
            <a:r>
              <a:rPr lang="en-SG" sz="900" b="0">
                <a:solidFill>
                  <a:srgbClr val="CCCCCC"/>
                </a:solidFill>
                <a:effectLst/>
                <a:latin typeface="JetBrains Mono" panose="02000009000000000000" pitchFamily="49" charset="0"/>
              </a:rPr>
              <a:t>  </a:t>
            </a:r>
            <a:r>
              <a:rPr lang="en-SG" sz="900" b="0">
                <a:solidFill>
                  <a:srgbClr val="569CD6"/>
                </a:solidFill>
                <a:effectLst/>
                <a:latin typeface="JetBrains Mono" panose="02000009000000000000" pitchFamily="49" charset="0"/>
              </a:rPr>
              <a:t>int</a:t>
            </a:r>
            <a:r>
              <a:rPr lang="en-SG" sz="900" b="0">
                <a:solidFill>
                  <a:srgbClr val="CCCCCC"/>
                </a:solidFill>
                <a:effectLst/>
                <a:latin typeface="JetBrains Mono" panose="02000009000000000000" pitchFamily="49" charset="0"/>
              </a:rPr>
              <a:t> </a:t>
            </a:r>
            <a:r>
              <a:rPr lang="en-SG" sz="900" b="0" err="1">
                <a:solidFill>
                  <a:srgbClr val="9CDCFE"/>
                </a:solidFill>
                <a:effectLst/>
                <a:latin typeface="JetBrains Mono" panose="02000009000000000000" pitchFamily="49" charset="0"/>
              </a:rPr>
              <a:t>timeout_ms</a:t>
            </a:r>
            <a:r>
              <a:rPr lang="en-SG" sz="900" b="0">
                <a:solidFill>
                  <a:srgbClr val="CCCCCC"/>
                </a:solidFill>
                <a:effectLst/>
                <a:latin typeface="JetBrains Mono" panose="02000009000000000000" pitchFamily="49" charset="0"/>
              </a:rPr>
              <a:t>;</a:t>
            </a:r>
          </a:p>
          <a:p>
            <a:pPr>
              <a:lnSpc>
                <a:spcPts val="1425"/>
              </a:lnSpc>
              <a:buNone/>
            </a:pPr>
            <a:r>
              <a:rPr lang="en-SG" sz="900" b="0">
                <a:solidFill>
                  <a:srgbClr val="CCCCCC"/>
                </a:solidFill>
                <a:effectLst/>
                <a:latin typeface="JetBrains Mono" panose="02000009000000000000" pitchFamily="49" charset="0"/>
              </a:rPr>
              <a:t>  </a:t>
            </a:r>
            <a:r>
              <a:rPr lang="en-SG" sz="900" b="0">
                <a:solidFill>
                  <a:srgbClr val="569CD6"/>
                </a:solidFill>
                <a:effectLst/>
                <a:latin typeface="JetBrains Mono" panose="02000009000000000000" pitchFamily="49" charset="0"/>
              </a:rPr>
              <a:t>int</a:t>
            </a:r>
            <a:r>
              <a:rPr lang="en-SG" sz="900" b="0">
                <a:solidFill>
                  <a:srgbClr val="CCCCCC"/>
                </a:solidFill>
                <a:effectLst/>
                <a:latin typeface="JetBrains Mono" panose="02000009000000000000" pitchFamily="49" charset="0"/>
              </a:rPr>
              <a:t> </a:t>
            </a:r>
            <a:r>
              <a:rPr lang="en-SG" sz="900" b="0" err="1">
                <a:solidFill>
                  <a:srgbClr val="9CDCFE"/>
                </a:solidFill>
                <a:effectLst/>
                <a:latin typeface="JetBrains Mono" panose="02000009000000000000" pitchFamily="49" charset="0"/>
              </a:rPr>
              <a:t>max_retries</a:t>
            </a:r>
            <a:r>
              <a:rPr lang="en-SG" sz="900" b="0">
                <a:solidFill>
                  <a:srgbClr val="CCCCCC"/>
                </a:solidFill>
                <a:effectLst/>
                <a:latin typeface="JetBrains Mono" panose="02000009000000000000" pitchFamily="49" charset="0"/>
              </a:rPr>
              <a:t>;</a:t>
            </a:r>
          </a:p>
          <a:p>
            <a:pPr>
              <a:lnSpc>
                <a:spcPts val="1425"/>
              </a:lnSpc>
            </a:pPr>
            <a:r>
              <a:rPr lang="en-SG" sz="900" b="0">
                <a:solidFill>
                  <a:srgbClr val="6A9955"/>
                </a:solidFill>
                <a:effectLst/>
                <a:latin typeface="JetBrains Mono" panose="02000009000000000000" pitchFamily="49" charset="0"/>
              </a:rPr>
              <a:t>  </a:t>
            </a:r>
            <a:r>
              <a:rPr lang="en-SG" sz="900" b="0">
                <a:solidFill>
                  <a:srgbClr val="4EC9B0"/>
                </a:solidFill>
                <a:effectLst/>
                <a:latin typeface="JetBrains Mono" panose="02000009000000000000" pitchFamily="49" charset="0"/>
              </a:rPr>
              <a:t>std</a:t>
            </a:r>
            <a:r>
              <a:rPr lang="en-SG" sz="900" b="0">
                <a:solidFill>
                  <a:srgbClr val="CCCCCC"/>
                </a:solidFill>
                <a:effectLst/>
                <a:latin typeface="JetBrains Mono" panose="02000009000000000000" pitchFamily="49" charset="0"/>
              </a:rPr>
              <a:t>::mutex </a:t>
            </a:r>
            <a:r>
              <a:rPr lang="en-SG" sz="900" b="0" err="1">
                <a:solidFill>
                  <a:srgbClr val="9CDCFE"/>
                </a:solidFill>
                <a:effectLst/>
                <a:latin typeface="JetBrains Mono" panose="02000009000000000000" pitchFamily="49" charset="0"/>
              </a:rPr>
              <a:t>mtx</a:t>
            </a:r>
            <a:r>
              <a:rPr lang="en-SG" sz="900" b="0">
                <a:solidFill>
                  <a:srgbClr val="CCCCCC"/>
                </a:solidFill>
                <a:effectLst/>
                <a:latin typeface="JetBrains Mono" panose="02000009000000000000" pitchFamily="49" charset="0"/>
              </a:rPr>
              <a:t>; </a:t>
            </a:r>
            <a:r>
              <a:rPr lang="en-SG" sz="900">
                <a:solidFill>
                  <a:srgbClr val="6A9955"/>
                </a:solidFill>
                <a:latin typeface="JetBrains Mono" panose="02000009000000000000" pitchFamily="49" charset="0"/>
              </a:rPr>
              <a:t>// User writes standard mutex code</a:t>
            </a:r>
            <a:br>
              <a:rPr lang="en-SG" sz="900" b="0">
                <a:solidFill>
                  <a:srgbClr val="CCCCCC"/>
                </a:solidFill>
                <a:effectLst/>
                <a:latin typeface="JetBrains Mono" panose="02000009000000000000" pitchFamily="49" charset="0"/>
              </a:rPr>
            </a:br>
            <a:endParaRPr lang="en-SG" sz="900" b="0">
              <a:solidFill>
                <a:srgbClr val="CCCCCC"/>
              </a:solidFill>
              <a:effectLst/>
              <a:latin typeface="JetBrains Mono" panose="02000009000000000000" pitchFamily="49" charset="0"/>
            </a:endParaRPr>
          </a:p>
          <a:p>
            <a:pPr>
              <a:lnSpc>
                <a:spcPts val="1425"/>
              </a:lnSpc>
              <a:buNone/>
            </a:pPr>
            <a:r>
              <a:rPr lang="en-SG" sz="900" b="0">
                <a:solidFill>
                  <a:srgbClr val="CCCCCC"/>
                </a:solidFill>
                <a:effectLst/>
                <a:latin typeface="JetBrains Mono" panose="02000009000000000000" pitchFamily="49" charset="0"/>
              </a:rPr>
              <a:t>  </a:t>
            </a:r>
            <a:r>
              <a:rPr lang="en-SG" sz="900" b="0">
                <a:solidFill>
                  <a:srgbClr val="569CD6"/>
                </a:solidFill>
                <a:effectLst/>
                <a:latin typeface="JetBrains Mono" panose="02000009000000000000" pitchFamily="49" charset="0"/>
              </a:rPr>
              <a:t>int</a:t>
            </a:r>
            <a:r>
              <a:rPr lang="en-SG" sz="900" b="0">
                <a:solidFill>
                  <a:srgbClr val="CCCCCC"/>
                </a:solidFill>
                <a:effectLst/>
                <a:latin typeface="JetBrains Mono" panose="02000009000000000000" pitchFamily="49" charset="0"/>
              </a:rPr>
              <a:t> </a:t>
            </a:r>
            <a:r>
              <a:rPr lang="en-SG" sz="900" b="0" err="1">
                <a:solidFill>
                  <a:srgbClr val="DCDCAA"/>
                </a:solidFill>
                <a:effectLst/>
                <a:latin typeface="JetBrains Mono" panose="02000009000000000000" pitchFamily="49" charset="0"/>
              </a:rPr>
              <a:t>get_timeout</a:t>
            </a:r>
            <a:r>
              <a:rPr lang="en-SG" sz="900" b="0">
                <a:solidFill>
                  <a:srgbClr val="CCCCCC"/>
                </a:solidFill>
                <a:effectLst/>
                <a:latin typeface="JetBrains Mono" panose="02000009000000000000" pitchFamily="49" charset="0"/>
              </a:rPr>
              <a:t>() {</a:t>
            </a:r>
          </a:p>
          <a:p>
            <a:pPr>
              <a:lnSpc>
                <a:spcPts val="1425"/>
              </a:lnSpc>
              <a:buNone/>
            </a:pPr>
            <a:r>
              <a:rPr lang="en-SG" sz="900" b="0">
                <a:solidFill>
                  <a:srgbClr val="CCCCCC"/>
                </a:solidFill>
                <a:effectLst/>
                <a:latin typeface="JetBrains Mono" panose="02000009000000000000" pitchFamily="49" charset="0"/>
              </a:rPr>
              <a:t>    </a:t>
            </a:r>
            <a:r>
              <a:rPr lang="en-SG" sz="900" b="0">
                <a:solidFill>
                  <a:srgbClr val="4EC9B0"/>
                </a:solidFill>
                <a:effectLst/>
                <a:latin typeface="JetBrains Mono" panose="02000009000000000000" pitchFamily="49" charset="0"/>
              </a:rPr>
              <a:t>std</a:t>
            </a:r>
            <a:r>
              <a:rPr lang="en-SG" sz="900" b="0">
                <a:solidFill>
                  <a:srgbClr val="CCCCCC"/>
                </a:solidFill>
                <a:effectLst/>
                <a:latin typeface="JetBrains Mono" panose="02000009000000000000" pitchFamily="49" charset="0"/>
              </a:rPr>
              <a:t>::</a:t>
            </a:r>
            <a:r>
              <a:rPr lang="en-SG" sz="900" b="0" err="1">
                <a:solidFill>
                  <a:srgbClr val="CCCCCC"/>
                </a:solidFill>
                <a:effectLst/>
                <a:latin typeface="JetBrains Mono" panose="02000009000000000000" pitchFamily="49" charset="0"/>
              </a:rPr>
              <a:t>lock_guard</a:t>
            </a:r>
            <a:r>
              <a:rPr lang="en-SG" sz="900" b="0">
                <a:solidFill>
                  <a:srgbClr val="D4D4D4"/>
                </a:solidFill>
                <a:effectLst/>
                <a:latin typeface="JetBrains Mono" panose="02000009000000000000" pitchFamily="49" charset="0"/>
              </a:rPr>
              <a:t>&lt;</a:t>
            </a:r>
            <a:r>
              <a:rPr lang="en-SG" sz="900" b="0">
                <a:solidFill>
                  <a:srgbClr val="4EC9B0"/>
                </a:solidFill>
                <a:effectLst/>
                <a:latin typeface="JetBrains Mono" panose="02000009000000000000" pitchFamily="49" charset="0"/>
              </a:rPr>
              <a:t>std</a:t>
            </a:r>
            <a:r>
              <a:rPr lang="en-SG" sz="900" b="0">
                <a:solidFill>
                  <a:srgbClr val="CCCCCC"/>
                </a:solidFill>
                <a:effectLst/>
                <a:latin typeface="JetBrains Mono" panose="02000009000000000000" pitchFamily="49" charset="0"/>
              </a:rPr>
              <a:t>::mutex</a:t>
            </a:r>
            <a:r>
              <a:rPr lang="en-SG" sz="900" b="0">
                <a:solidFill>
                  <a:srgbClr val="D4D4D4"/>
                </a:solidFill>
                <a:effectLst/>
                <a:latin typeface="JetBrains Mono" panose="02000009000000000000" pitchFamily="49" charset="0"/>
              </a:rPr>
              <a:t>&gt;</a:t>
            </a:r>
            <a:r>
              <a:rPr lang="en-SG" sz="900" b="0">
                <a:solidFill>
                  <a:srgbClr val="CCCCCC"/>
                </a:solidFill>
                <a:effectLst/>
                <a:latin typeface="JetBrains Mono" panose="02000009000000000000" pitchFamily="49" charset="0"/>
              </a:rPr>
              <a:t> </a:t>
            </a:r>
            <a:r>
              <a:rPr lang="en-SG" sz="900" b="0">
                <a:solidFill>
                  <a:srgbClr val="DCDCAA"/>
                </a:solidFill>
                <a:effectLst/>
                <a:latin typeface="JetBrains Mono" panose="02000009000000000000" pitchFamily="49" charset="0"/>
              </a:rPr>
              <a:t>l</a:t>
            </a:r>
            <a:r>
              <a:rPr lang="en-SG" sz="900" b="0">
                <a:solidFill>
                  <a:srgbClr val="CCCCCC"/>
                </a:solidFill>
                <a:effectLst/>
                <a:latin typeface="JetBrains Mono" panose="02000009000000000000" pitchFamily="49" charset="0"/>
              </a:rPr>
              <a:t>(</a:t>
            </a:r>
            <a:r>
              <a:rPr lang="en-SG" sz="900" b="0" err="1">
                <a:solidFill>
                  <a:srgbClr val="9CDCFE"/>
                </a:solidFill>
                <a:effectLst/>
                <a:latin typeface="JetBrains Mono" panose="02000009000000000000" pitchFamily="49" charset="0"/>
              </a:rPr>
              <a:t>mtx</a:t>
            </a:r>
            <a:r>
              <a:rPr lang="en-SG" sz="900" b="0">
                <a:solidFill>
                  <a:srgbClr val="CCCCCC"/>
                </a:solidFill>
                <a:effectLst/>
                <a:latin typeface="JetBrains Mono" panose="02000009000000000000" pitchFamily="49" charset="0"/>
              </a:rPr>
              <a:t>);</a:t>
            </a:r>
          </a:p>
          <a:p>
            <a:pPr>
              <a:lnSpc>
                <a:spcPts val="1425"/>
              </a:lnSpc>
              <a:buNone/>
            </a:pPr>
            <a:r>
              <a:rPr lang="en-SG" sz="900" b="0">
                <a:solidFill>
                  <a:srgbClr val="CCCCCC"/>
                </a:solidFill>
                <a:effectLst/>
                <a:latin typeface="JetBrains Mono" panose="02000009000000000000" pitchFamily="49" charset="0"/>
              </a:rPr>
              <a:t>    </a:t>
            </a:r>
            <a:r>
              <a:rPr lang="en-SG" sz="900" b="0">
                <a:solidFill>
                  <a:srgbClr val="C586C0"/>
                </a:solidFill>
                <a:effectLst/>
                <a:latin typeface="JetBrains Mono" panose="02000009000000000000" pitchFamily="49" charset="0"/>
              </a:rPr>
              <a:t>return</a:t>
            </a:r>
            <a:r>
              <a:rPr lang="en-SG" sz="900" b="0">
                <a:solidFill>
                  <a:srgbClr val="CCCCCC"/>
                </a:solidFill>
                <a:effectLst/>
                <a:latin typeface="JetBrains Mono" panose="02000009000000000000" pitchFamily="49" charset="0"/>
              </a:rPr>
              <a:t> </a:t>
            </a:r>
            <a:r>
              <a:rPr lang="en-SG" sz="900" b="0" err="1">
                <a:solidFill>
                  <a:srgbClr val="9CDCFE"/>
                </a:solidFill>
                <a:effectLst/>
                <a:latin typeface="JetBrains Mono" panose="02000009000000000000" pitchFamily="49" charset="0"/>
              </a:rPr>
              <a:t>timeout_ms</a:t>
            </a:r>
            <a:r>
              <a:rPr lang="en-SG" sz="900" b="0">
                <a:solidFill>
                  <a:srgbClr val="CCCCCC"/>
                </a:solidFill>
                <a:effectLst/>
                <a:latin typeface="JetBrains Mono" panose="02000009000000000000" pitchFamily="49" charset="0"/>
              </a:rPr>
              <a:t>;</a:t>
            </a:r>
          </a:p>
          <a:p>
            <a:pPr>
              <a:lnSpc>
                <a:spcPts val="1425"/>
              </a:lnSpc>
              <a:buNone/>
            </a:pPr>
            <a:r>
              <a:rPr lang="en-SG" sz="900" b="0">
                <a:solidFill>
                  <a:srgbClr val="CCCCCC"/>
                </a:solidFill>
                <a:effectLst/>
                <a:latin typeface="JetBrains Mono" panose="02000009000000000000" pitchFamily="49" charset="0"/>
              </a:rPr>
              <a:t>  }</a:t>
            </a:r>
          </a:p>
          <a:p>
            <a:pPr>
              <a:lnSpc>
                <a:spcPts val="1425"/>
              </a:lnSpc>
              <a:buNone/>
            </a:pPr>
            <a:r>
              <a:rPr lang="en-SG" sz="900" b="0">
                <a:solidFill>
                  <a:srgbClr val="CCCCCC"/>
                </a:solidFill>
                <a:effectLst/>
                <a:latin typeface="JetBrains Mono" panose="02000009000000000000" pitchFamily="49" charset="0"/>
              </a:rPr>
              <a:t>};</a:t>
            </a:r>
          </a:p>
        </p:txBody>
      </p:sp>
      <p:sp>
        <p:nvSpPr>
          <p:cNvPr id="5" name="TextBox 4">
            <a:extLst>
              <a:ext uri="{FF2B5EF4-FFF2-40B4-BE49-F238E27FC236}">
                <a16:creationId xmlns:a16="http://schemas.microsoft.com/office/drawing/2014/main" id="{B40A2FFE-C8EA-57E8-C916-3534489BA6FE}"/>
              </a:ext>
            </a:extLst>
          </p:cNvPr>
          <p:cNvSpPr txBox="1"/>
          <p:nvPr/>
        </p:nvSpPr>
        <p:spPr>
          <a:xfrm>
            <a:off x="7733478" y="1201447"/>
            <a:ext cx="4101205" cy="646331"/>
          </a:xfrm>
          <a:prstGeom prst="rect">
            <a:avLst/>
          </a:prstGeom>
          <a:noFill/>
        </p:spPr>
        <p:txBody>
          <a:bodyPr wrap="square">
            <a:spAutoFit/>
          </a:bodyPr>
          <a:lstStyle>
            <a:defPPr>
              <a:defRPr lang="ru-RU"/>
            </a:defPPr>
            <a:lvl1pPr>
              <a:defRPr sz="1200" b="1"/>
            </a:lvl1pPr>
          </a:lstStyle>
          <a:p>
            <a:r>
              <a:rPr lang="en-US"/>
              <a:t>After</a:t>
            </a:r>
          </a:p>
          <a:p>
            <a:r>
              <a:rPr lang="en-US" b="0"/>
              <a:t>The compiler eliminates the mutex for readers entirely, replacing it with Sequential Locking (optimistic reading).</a:t>
            </a:r>
            <a:endParaRPr lang="en-SG"/>
          </a:p>
        </p:txBody>
      </p:sp>
      <p:sp>
        <p:nvSpPr>
          <p:cNvPr id="6" name="Rectangle 2">
            <a:extLst>
              <a:ext uri="{FF2B5EF4-FFF2-40B4-BE49-F238E27FC236}">
                <a16:creationId xmlns:a16="http://schemas.microsoft.com/office/drawing/2014/main" id="{D6A46A29-DBA2-61DF-E28B-9530CDB0A501}"/>
              </a:ext>
            </a:extLst>
          </p:cNvPr>
          <p:cNvSpPr>
            <a:spLocks noChangeArrowheads="1"/>
          </p:cNvSpPr>
          <p:nvPr/>
        </p:nvSpPr>
        <p:spPr bwMode="auto">
          <a:xfrm>
            <a:off x="233910" y="677632"/>
            <a:ext cx="1149192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fr-FR" b="1">
                <a:solidFill>
                  <a:srgbClr val="3333FF"/>
                </a:solidFill>
              </a:rPr>
              <a:t>2. </a:t>
            </a:r>
            <a:r>
              <a:rPr lang="en-US" b="1">
                <a:solidFill>
                  <a:srgbClr val="3333FF"/>
                </a:solidFill>
              </a:rPr>
              <a:t>Access Pattern Hints (sync::</a:t>
            </a:r>
            <a:r>
              <a:rPr lang="en-US" b="1" err="1">
                <a:solidFill>
                  <a:srgbClr val="3333FF"/>
                </a:solidFill>
              </a:rPr>
              <a:t>read_mostly</a:t>
            </a:r>
            <a:r>
              <a:rPr lang="en-US" b="1">
                <a:solidFill>
                  <a:srgbClr val="3333FF"/>
                </a:solidFill>
              </a:rPr>
              <a:t>)</a:t>
            </a:r>
            <a:endParaRPr lang="fr-FR" b="1">
              <a:solidFill>
                <a:srgbClr val="3333FF"/>
              </a:solidFill>
            </a:endParaRPr>
          </a:p>
          <a:p>
            <a:r>
              <a:rPr lang="en-US" sz="1400" b="1" i="0">
                <a:effectLst/>
                <a:latin typeface="Inter"/>
              </a:rPr>
              <a:t>Scenario:</a:t>
            </a:r>
            <a:r>
              <a:rPr lang="en-US" sz="1400" i="0">
                <a:effectLst/>
                <a:latin typeface="Inter"/>
              </a:rPr>
              <a:t> A configuration object that is read frequently by worker threads but updated rarely (e.g., once a day).</a:t>
            </a:r>
            <a:endParaRPr kumimoji="0" lang="en-US" altLang="en-US" sz="1050" i="0" u="none" strike="noStrike" cap="none" normalizeH="0" baseline="0">
              <a:ln>
                <a:noFill/>
              </a:ln>
              <a:effectLst/>
            </a:endParaRPr>
          </a:p>
        </p:txBody>
      </p:sp>
      <p:sp>
        <p:nvSpPr>
          <p:cNvPr id="8" name="TextBox 7">
            <a:extLst>
              <a:ext uri="{FF2B5EF4-FFF2-40B4-BE49-F238E27FC236}">
                <a16:creationId xmlns:a16="http://schemas.microsoft.com/office/drawing/2014/main" id="{85045CBB-53B0-E271-59BF-E2A39398BB9F}"/>
              </a:ext>
            </a:extLst>
          </p:cNvPr>
          <p:cNvSpPr txBox="1"/>
          <p:nvPr/>
        </p:nvSpPr>
        <p:spPr>
          <a:xfrm>
            <a:off x="7795260" y="1847778"/>
            <a:ext cx="4039423" cy="4719241"/>
          </a:xfrm>
          <a:prstGeom prst="rect">
            <a:avLst/>
          </a:prstGeom>
          <a:solidFill>
            <a:srgbClr val="1F1F1F"/>
          </a:solidFill>
        </p:spPr>
        <p:txBody>
          <a:bodyPr wrap="square">
            <a:spAutoFit/>
          </a:bodyPr>
          <a:lstStyle/>
          <a:p>
            <a:pPr>
              <a:lnSpc>
                <a:spcPts val="1425"/>
              </a:lnSpc>
              <a:buNone/>
            </a:pPr>
            <a:r>
              <a:rPr lang="en-SG" sz="900" b="0">
                <a:solidFill>
                  <a:srgbClr val="569CD6"/>
                </a:solidFill>
                <a:effectLst/>
                <a:latin typeface="JetBrains Mono" panose="02000009000000000000" pitchFamily="49" charset="0"/>
              </a:rPr>
              <a:t>struct</a:t>
            </a:r>
            <a:r>
              <a:rPr lang="en-SG" sz="900" b="0">
                <a:solidFill>
                  <a:srgbClr val="CCCCCC"/>
                </a:solidFill>
                <a:effectLst/>
                <a:latin typeface="JetBrains Mono" panose="02000009000000000000" pitchFamily="49" charset="0"/>
              </a:rPr>
              <a:t> </a:t>
            </a:r>
            <a:r>
              <a:rPr lang="en-SG" sz="900" b="0" err="1">
                <a:solidFill>
                  <a:srgbClr val="4EC9B0"/>
                </a:solidFill>
                <a:effectLst/>
                <a:latin typeface="JetBrains Mono" panose="02000009000000000000" pitchFamily="49" charset="0"/>
              </a:rPr>
              <a:t>ServerConfig</a:t>
            </a:r>
            <a:r>
              <a:rPr lang="en-SG" sz="900" b="0">
                <a:solidFill>
                  <a:srgbClr val="CCCCCC"/>
                </a:solidFill>
                <a:effectLst/>
                <a:latin typeface="JetBrains Mono" panose="02000009000000000000" pitchFamily="49" charset="0"/>
              </a:rPr>
              <a:t> {</a:t>
            </a:r>
          </a:p>
          <a:p>
            <a:pPr>
              <a:lnSpc>
                <a:spcPts val="1425"/>
              </a:lnSpc>
              <a:buNone/>
            </a:pPr>
            <a:r>
              <a:rPr lang="en-SG" sz="900" b="0">
                <a:solidFill>
                  <a:srgbClr val="CCCCCC"/>
                </a:solidFill>
                <a:effectLst/>
                <a:latin typeface="JetBrains Mono" panose="02000009000000000000" pitchFamily="49" charset="0"/>
              </a:rPr>
              <a:t>  </a:t>
            </a:r>
            <a:r>
              <a:rPr lang="en-SG" sz="900" b="0">
                <a:solidFill>
                  <a:srgbClr val="569CD6"/>
                </a:solidFill>
                <a:effectLst/>
                <a:latin typeface="JetBrains Mono" panose="02000009000000000000" pitchFamily="49" charset="0"/>
              </a:rPr>
              <a:t>int</a:t>
            </a:r>
            <a:r>
              <a:rPr lang="en-SG" sz="900" b="0">
                <a:solidFill>
                  <a:srgbClr val="CCCCCC"/>
                </a:solidFill>
                <a:effectLst/>
                <a:latin typeface="JetBrains Mono" panose="02000009000000000000" pitchFamily="49" charset="0"/>
              </a:rPr>
              <a:t> </a:t>
            </a:r>
            <a:r>
              <a:rPr lang="en-SG" sz="900" b="0" err="1">
                <a:solidFill>
                  <a:srgbClr val="9CDCFE"/>
                </a:solidFill>
                <a:effectLst/>
                <a:latin typeface="JetBrains Mono" panose="02000009000000000000" pitchFamily="49" charset="0"/>
              </a:rPr>
              <a:t>timeout_ms</a:t>
            </a:r>
            <a:r>
              <a:rPr lang="en-SG" sz="900" b="0">
                <a:solidFill>
                  <a:srgbClr val="CCCCCC"/>
                </a:solidFill>
                <a:effectLst/>
                <a:latin typeface="JetBrains Mono" panose="02000009000000000000" pitchFamily="49" charset="0"/>
              </a:rPr>
              <a:t>;</a:t>
            </a:r>
          </a:p>
          <a:p>
            <a:pPr>
              <a:lnSpc>
                <a:spcPts val="1425"/>
              </a:lnSpc>
              <a:buNone/>
            </a:pPr>
            <a:r>
              <a:rPr lang="en-SG" sz="900" b="0">
                <a:solidFill>
                  <a:srgbClr val="CCCCCC"/>
                </a:solidFill>
                <a:effectLst/>
                <a:latin typeface="JetBrains Mono" panose="02000009000000000000" pitchFamily="49" charset="0"/>
              </a:rPr>
              <a:t>  </a:t>
            </a:r>
            <a:r>
              <a:rPr lang="en-SG" sz="900" b="0">
                <a:solidFill>
                  <a:srgbClr val="569CD6"/>
                </a:solidFill>
                <a:effectLst/>
                <a:latin typeface="JetBrains Mono" panose="02000009000000000000" pitchFamily="49" charset="0"/>
              </a:rPr>
              <a:t>int</a:t>
            </a:r>
            <a:r>
              <a:rPr lang="en-SG" sz="900" b="0">
                <a:solidFill>
                  <a:srgbClr val="CCCCCC"/>
                </a:solidFill>
                <a:effectLst/>
                <a:latin typeface="JetBrains Mono" panose="02000009000000000000" pitchFamily="49" charset="0"/>
              </a:rPr>
              <a:t> </a:t>
            </a:r>
            <a:r>
              <a:rPr lang="en-SG" sz="900" b="0" err="1">
                <a:solidFill>
                  <a:srgbClr val="9CDCFE"/>
                </a:solidFill>
                <a:effectLst/>
                <a:latin typeface="JetBrains Mono" panose="02000009000000000000" pitchFamily="49" charset="0"/>
              </a:rPr>
              <a:t>max_retries</a:t>
            </a:r>
            <a:r>
              <a:rPr lang="en-SG" sz="900" b="0">
                <a:solidFill>
                  <a:srgbClr val="CCCCCC"/>
                </a:solidFill>
                <a:effectLst/>
                <a:latin typeface="JetBrains Mono" panose="02000009000000000000" pitchFamily="49" charset="0"/>
              </a:rPr>
              <a:t>;</a:t>
            </a:r>
          </a:p>
          <a:p>
            <a:pPr>
              <a:lnSpc>
                <a:spcPts val="1425"/>
              </a:lnSpc>
              <a:buNone/>
            </a:pPr>
            <a:r>
              <a:rPr lang="en-SG" sz="900" b="0">
                <a:solidFill>
                  <a:srgbClr val="CCCCCC"/>
                </a:solidFill>
                <a:effectLst/>
                <a:latin typeface="JetBrains Mono" panose="02000009000000000000" pitchFamily="49" charset="0"/>
              </a:rPr>
              <a:t>  </a:t>
            </a:r>
            <a:r>
              <a:rPr lang="en-SG" sz="900" b="0" err="1">
                <a:solidFill>
                  <a:srgbClr val="4EC9B0"/>
                </a:solidFill>
                <a:effectLst/>
                <a:latin typeface="JetBrains Mono" panose="02000009000000000000" pitchFamily="49" charset="0"/>
              </a:rPr>
              <a:t>atomic_size_t</a:t>
            </a:r>
            <a:r>
              <a:rPr lang="en-SG" sz="900" b="0">
                <a:solidFill>
                  <a:srgbClr val="CCCCCC"/>
                </a:solidFill>
                <a:effectLst/>
                <a:latin typeface="JetBrains Mono" panose="02000009000000000000" pitchFamily="49" charset="0"/>
              </a:rPr>
              <a:t> </a:t>
            </a:r>
            <a:r>
              <a:rPr lang="en-SG" sz="900" b="0" err="1">
                <a:solidFill>
                  <a:srgbClr val="9CDCFE"/>
                </a:solidFill>
                <a:effectLst/>
                <a:latin typeface="JetBrains Mono" panose="02000009000000000000" pitchFamily="49" charset="0"/>
              </a:rPr>
              <a:t>seq</a:t>
            </a:r>
            <a:r>
              <a:rPr lang="en-SG" sz="900" b="0">
                <a:solidFill>
                  <a:srgbClr val="CCCCCC"/>
                </a:solidFill>
                <a:effectLst/>
                <a:latin typeface="JetBrains Mono" panose="02000009000000000000" pitchFamily="49" charset="0"/>
              </a:rPr>
              <a:t>;</a:t>
            </a:r>
            <a:r>
              <a:rPr lang="en-SG" sz="900" b="0">
                <a:solidFill>
                  <a:srgbClr val="6A9955"/>
                </a:solidFill>
                <a:effectLst/>
                <a:latin typeface="JetBrains Mono" panose="02000009000000000000" pitchFamily="49" charset="0"/>
              </a:rPr>
              <a:t> // Version counter</a:t>
            </a:r>
            <a:endParaRPr lang="en-SG" sz="900" b="0">
              <a:solidFill>
                <a:srgbClr val="CCCCCC"/>
              </a:solidFill>
              <a:effectLst/>
              <a:latin typeface="JetBrains Mono" panose="02000009000000000000" pitchFamily="49" charset="0"/>
            </a:endParaRPr>
          </a:p>
          <a:p>
            <a:pPr>
              <a:lnSpc>
                <a:spcPts val="1425"/>
              </a:lnSpc>
              <a:buNone/>
            </a:pPr>
            <a:r>
              <a:rPr lang="en-SG" sz="900" b="0">
                <a:solidFill>
                  <a:srgbClr val="CCCCCC"/>
                </a:solidFill>
                <a:effectLst/>
                <a:latin typeface="JetBrains Mono" panose="02000009000000000000" pitchFamily="49" charset="0"/>
              </a:rPr>
              <a:t>};</a:t>
            </a:r>
          </a:p>
          <a:p>
            <a:pPr>
              <a:lnSpc>
                <a:spcPts val="1425"/>
              </a:lnSpc>
              <a:buNone/>
            </a:pPr>
            <a:endParaRPr lang="en-SG" sz="900" b="0">
              <a:solidFill>
                <a:srgbClr val="CCCCCC"/>
              </a:solidFill>
              <a:effectLst/>
              <a:latin typeface="JetBrains Mono" panose="02000009000000000000" pitchFamily="49" charset="0"/>
            </a:endParaRPr>
          </a:p>
          <a:p>
            <a:pPr>
              <a:lnSpc>
                <a:spcPts val="1425"/>
              </a:lnSpc>
              <a:buNone/>
            </a:pPr>
            <a:r>
              <a:rPr lang="en-SG" sz="900" b="0">
                <a:solidFill>
                  <a:srgbClr val="569CD6"/>
                </a:solidFill>
                <a:effectLst/>
                <a:latin typeface="JetBrains Mono" panose="02000009000000000000" pitchFamily="49" charset="0"/>
              </a:rPr>
              <a:t>int</a:t>
            </a:r>
            <a:r>
              <a:rPr lang="en-SG" sz="900" b="0">
                <a:solidFill>
                  <a:srgbClr val="CCCCCC"/>
                </a:solidFill>
                <a:effectLst/>
                <a:latin typeface="JetBrains Mono" panose="02000009000000000000" pitchFamily="49" charset="0"/>
              </a:rPr>
              <a:t> </a:t>
            </a:r>
            <a:r>
              <a:rPr lang="en-SG" sz="900" b="0" err="1">
                <a:solidFill>
                  <a:srgbClr val="DCDCAA"/>
                </a:solidFill>
                <a:effectLst/>
                <a:latin typeface="JetBrains Mono" panose="02000009000000000000" pitchFamily="49" charset="0"/>
              </a:rPr>
              <a:t>get_timeout_optimized</a:t>
            </a:r>
            <a:r>
              <a:rPr lang="en-SG" sz="900" b="0">
                <a:solidFill>
                  <a:srgbClr val="CCCCCC"/>
                </a:solidFill>
                <a:effectLst/>
                <a:latin typeface="JetBrains Mono" panose="02000009000000000000" pitchFamily="49" charset="0"/>
              </a:rPr>
              <a:t>(</a:t>
            </a:r>
            <a:r>
              <a:rPr lang="en-SG" sz="900" b="0" err="1">
                <a:solidFill>
                  <a:srgbClr val="4EC9B0"/>
                </a:solidFill>
                <a:effectLst/>
                <a:latin typeface="JetBrains Mono" panose="02000009000000000000" pitchFamily="49" charset="0"/>
              </a:rPr>
              <a:t>ServerConfig</a:t>
            </a:r>
            <a:r>
              <a:rPr lang="en-SG" sz="900" b="0">
                <a:solidFill>
                  <a:srgbClr val="CCCCCC"/>
                </a:solidFill>
                <a:effectLst/>
                <a:latin typeface="JetBrains Mono" panose="02000009000000000000" pitchFamily="49" charset="0"/>
              </a:rPr>
              <a:t> </a:t>
            </a:r>
            <a:r>
              <a:rPr lang="en-SG" sz="900" b="0">
                <a:solidFill>
                  <a:srgbClr val="569CD6"/>
                </a:solidFill>
                <a:effectLst/>
                <a:latin typeface="JetBrains Mono" panose="02000009000000000000" pitchFamily="49" charset="0"/>
              </a:rPr>
              <a:t>*</a:t>
            </a:r>
            <a:r>
              <a:rPr lang="en-SG" sz="900" b="0" err="1">
                <a:solidFill>
                  <a:srgbClr val="9CDCFE"/>
                </a:solidFill>
                <a:effectLst/>
                <a:latin typeface="JetBrains Mono" panose="02000009000000000000" pitchFamily="49" charset="0"/>
              </a:rPr>
              <a:t>cfg</a:t>
            </a:r>
            <a:r>
              <a:rPr lang="en-SG" sz="900" b="0">
                <a:solidFill>
                  <a:srgbClr val="CCCCCC"/>
                </a:solidFill>
                <a:effectLst/>
                <a:latin typeface="JetBrains Mono" panose="02000009000000000000" pitchFamily="49" charset="0"/>
              </a:rPr>
              <a:t>) {</a:t>
            </a:r>
          </a:p>
          <a:p>
            <a:pPr>
              <a:lnSpc>
                <a:spcPts val="1425"/>
              </a:lnSpc>
              <a:buNone/>
            </a:pPr>
            <a:r>
              <a:rPr lang="en-SG" sz="900" b="0">
                <a:solidFill>
                  <a:srgbClr val="CCCCCC"/>
                </a:solidFill>
                <a:effectLst/>
                <a:latin typeface="JetBrains Mono" panose="02000009000000000000" pitchFamily="49" charset="0"/>
              </a:rPr>
              <a:t>  </a:t>
            </a:r>
            <a:r>
              <a:rPr lang="en-SG" sz="900" b="0">
                <a:solidFill>
                  <a:srgbClr val="569CD6"/>
                </a:solidFill>
                <a:effectLst/>
                <a:latin typeface="JetBrains Mono" panose="02000009000000000000" pitchFamily="49" charset="0"/>
              </a:rPr>
              <a:t>int</a:t>
            </a:r>
            <a:r>
              <a:rPr lang="en-SG" sz="900" b="0">
                <a:solidFill>
                  <a:srgbClr val="CCCCCC"/>
                </a:solidFill>
                <a:effectLst/>
                <a:latin typeface="JetBrains Mono" panose="02000009000000000000" pitchFamily="49" charset="0"/>
              </a:rPr>
              <a:t> </a:t>
            </a:r>
            <a:r>
              <a:rPr lang="en-SG" sz="900" b="0" err="1">
                <a:solidFill>
                  <a:srgbClr val="9CDCFE"/>
                </a:solidFill>
                <a:effectLst/>
                <a:latin typeface="JetBrains Mono" panose="02000009000000000000" pitchFamily="49" charset="0"/>
              </a:rPr>
              <a:t>val</a:t>
            </a:r>
            <a:r>
              <a:rPr lang="en-SG" sz="900" b="0">
                <a:solidFill>
                  <a:srgbClr val="CCCCCC"/>
                </a:solidFill>
                <a:effectLst/>
                <a:latin typeface="JetBrains Mono" panose="02000009000000000000" pitchFamily="49" charset="0"/>
              </a:rPr>
              <a:t>;</a:t>
            </a:r>
          </a:p>
          <a:p>
            <a:pPr>
              <a:lnSpc>
                <a:spcPts val="1425"/>
              </a:lnSpc>
              <a:buNone/>
            </a:pPr>
            <a:r>
              <a:rPr lang="en-SG" sz="900" b="0">
                <a:solidFill>
                  <a:srgbClr val="CCCCCC"/>
                </a:solidFill>
                <a:effectLst/>
                <a:latin typeface="JetBrains Mono" panose="02000009000000000000" pitchFamily="49" charset="0"/>
              </a:rPr>
              <a:t>  </a:t>
            </a:r>
            <a:r>
              <a:rPr lang="en-SG" sz="900" b="0" err="1">
                <a:solidFill>
                  <a:srgbClr val="569CD6"/>
                </a:solidFill>
                <a:effectLst/>
                <a:latin typeface="JetBrains Mono" panose="02000009000000000000" pitchFamily="49" charset="0"/>
              </a:rPr>
              <a:t>size_t</a:t>
            </a:r>
            <a:r>
              <a:rPr lang="en-SG" sz="900" b="0">
                <a:solidFill>
                  <a:srgbClr val="CCCCCC"/>
                </a:solidFill>
                <a:effectLst/>
                <a:latin typeface="JetBrains Mono" panose="02000009000000000000" pitchFamily="49" charset="0"/>
              </a:rPr>
              <a:t> </a:t>
            </a:r>
            <a:r>
              <a:rPr lang="en-SG" sz="900" b="0">
                <a:solidFill>
                  <a:srgbClr val="9CDCFE"/>
                </a:solidFill>
                <a:effectLst/>
                <a:latin typeface="JetBrains Mono" panose="02000009000000000000" pitchFamily="49" charset="0"/>
              </a:rPr>
              <a:t>v1</a:t>
            </a:r>
            <a:r>
              <a:rPr lang="en-SG" sz="900" b="0">
                <a:solidFill>
                  <a:srgbClr val="CCCCCC"/>
                </a:solidFill>
                <a:effectLst/>
                <a:latin typeface="JetBrains Mono" panose="02000009000000000000" pitchFamily="49" charset="0"/>
              </a:rPr>
              <a:t>, </a:t>
            </a:r>
            <a:r>
              <a:rPr lang="en-SG" sz="900" b="0">
                <a:solidFill>
                  <a:srgbClr val="9CDCFE"/>
                </a:solidFill>
                <a:effectLst/>
                <a:latin typeface="JetBrains Mono" panose="02000009000000000000" pitchFamily="49" charset="0"/>
              </a:rPr>
              <a:t>v2</a:t>
            </a:r>
            <a:r>
              <a:rPr lang="en-SG" sz="900" b="0">
                <a:solidFill>
                  <a:srgbClr val="CCCCCC"/>
                </a:solidFill>
                <a:effectLst/>
                <a:latin typeface="JetBrains Mono" panose="02000009000000000000" pitchFamily="49" charset="0"/>
              </a:rPr>
              <a:t>;</a:t>
            </a:r>
          </a:p>
          <a:p>
            <a:pPr>
              <a:lnSpc>
                <a:spcPts val="1425"/>
              </a:lnSpc>
              <a:buNone/>
            </a:pPr>
            <a:r>
              <a:rPr lang="en-SG" sz="900" b="0">
                <a:solidFill>
                  <a:srgbClr val="CCCCCC"/>
                </a:solidFill>
                <a:effectLst/>
                <a:latin typeface="JetBrains Mono" panose="02000009000000000000" pitchFamily="49" charset="0"/>
              </a:rPr>
              <a:t>  </a:t>
            </a:r>
            <a:r>
              <a:rPr lang="en-SG" sz="900" b="0">
                <a:solidFill>
                  <a:srgbClr val="C586C0"/>
                </a:solidFill>
                <a:effectLst/>
                <a:latin typeface="JetBrains Mono" panose="02000009000000000000" pitchFamily="49" charset="0"/>
              </a:rPr>
              <a:t>do</a:t>
            </a:r>
            <a:r>
              <a:rPr lang="en-SG" sz="900" b="0">
                <a:solidFill>
                  <a:srgbClr val="CCCCCC"/>
                </a:solidFill>
                <a:effectLst/>
                <a:latin typeface="JetBrains Mono" panose="02000009000000000000" pitchFamily="49" charset="0"/>
              </a:rPr>
              <a:t> {</a:t>
            </a:r>
          </a:p>
          <a:p>
            <a:pPr>
              <a:lnSpc>
                <a:spcPts val="1425"/>
              </a:lnSpc>
              <a:buNone/>
            </a:pPr>
            <a:r>
              <a:rPr lang="en-SG" sz="900" b="0">
                <a:solidFill>
                  <a:srgbClr val="6A9955"/>
                </a:solidFill>
                <a:effectLst/>
                <a:latin typeface="JetBrains Mono" panose="02000009000000000000" pitchFamily="49" charset="0"/>
              </a:rPr>
              <a:t>    // 1. Read version (must be even)</a:t>
            </a:r>
            <a:endParaRPr lang="en-SG" sz="900" b="0">
              <a:solidFill>
                <a:srgbClr val="CCCCCC"/>
              </a:solidFill>
              <a:effectLst/>
              <a:latin typeface="JetBrains Mono" panose="02000009000000000000" pitchFamily="49" charset="0"/>
            </a:endParaRPr>
          </a:p>
          <a:p>
            <a:pPr>
              <a:lnSpc>
                <a:spcPts val="1425"/>
              </a:lnSpc>
              <a:buNone/>
            </a:pPr>
            <a:r>
              <a:rPr lang="en-SG" sz="900" b="0">
                <a:solidFill>
                  <a:srgbClr val="CCCCCC"/>
                </a:solidFill>
                <a:effectLst/>
                <a:latin typeface="JetBrains Mono" panose="02000009000000000000" pitchFamily="49" charset="0"/>
              </a:rPr>
              <a:t>    </a:t>
            </a:r>
            <a:r>
              <a:rPr lang="en-SG" sz="900" b="0">
                <a:solidFill>
                  <a:srgbClr val="9CDCFE"/>
                </a:solidFill>
                <a:effectLst/>
                <a:latin typeface="JetBrains Mono" panose="02000009000000000000" pitchFamily="49" charset="0"/>
              </a:rPr>
              <a:t>v1</a:t>
            </a:r>
            <a:r>
              <a:rPr lang="en-SG" sz="900" b="0">
                <a:solidFill>
                  <a:srgbClr val="CCCCCC"/>
                </a:solidFill>
                <a:effectLst/>
                <a:latin typeface="JetBrains Mono" panose="02000009000000000000" pitchFamily="49" charset="0"/>
              </a:rPr>
              <a:t> </a:t>
            </a:r>
            <a:r>
              <a:rPr lang="en-SG" sz="900" b="0">
                <a:solidFill>
                  <a:srgbClr val="D4D4D4"/>
                </a:solidFill>
                <a:effectLst/>
                <a:latin typeface="JetBrains Mono" panose="02000009000000000000" pitchFamily="49" charset="0"/>
              </a:rPr>
              <a:t>=</a:t>
            </a:r>
            <a:r>
              <a:rPr lang="en-SG" sz="900" b="0">
                <a:solidFill>
                  <a:srgbClr val="CCCCCC"/>
                </a:solidFill>
                <a:effectLst/>
                <a:latin typeface="JetBrains Mono" panose="02000009000000000000" pitchFamily="49" charset="0"/>
              </a:rPr>
              <a:t> </a:t>
            </a:r>
            <a:r>
              <a:rPr lang="en-SG" sz="900" b="0" err="1">
                <a:solidFill>
                  <a:srgbClr val="DCDCAA"/>
                </a:solidFill>
                <a:effectLst/>
                <a:latin typeface="JetBrains Mono" panose="02000009000000000000" pitchFamily="49" charset="0"/>
              </a:rPr>
              <a:t>atomic_load</a:t>
            </a:r>
            <a:r>
              <a:rPr lang="en-SG" sz="900" b="0">
                <a:solidFill>
                  <a:srgbClr val="CCCCCC"/>
                </a:solidFill>
                <a:effectLst/>
                <a:latin typeface="JetBrains Mono" panose="02000009000000000000" pitchFamily="49" charset="0"/>
              </a:rPr>
              <a:t>(</a:t>
            </a:r>
            <a:r>
              <a:rPr lang="en-SG" sz="900" b="0">
                <a:solidFill>
                  <a:srgbClr val="D4D4D4"/>
                </a:solidFill>
                <a:effectLst/>
                <a:latin typeface="JetBrains Mono" panose="02000009000000000000" pitchFamily="49" charset="0"/>
              </a:rPr>
              <a:t>&amp;</a:t>
            </a:r>
            <a:r>
              <a:rPr lang="en-SG" sz="900" b="0" err="1">
                <a:solidFill>
                  <a:srgbClr val="9CDCFE"/>
                </a:solidFill>
                <a:effectLst/>
                <a:latin typeface="JetBrains Mono" panose="02000009000000000000" pitchFamily="49" charset="0"/>
              </a:rPr>
              <a:t>cfg</a:t>
            </a:r>
            <a:r>
              <a:rPr lang="en-SG" sz="900" b="0">
                <a:solidFill>
                  <a:srgbClr val="CCCCCC"/>
                </a:solidFill>
                <a:effectLst/>
                <a:latin typeface="JetBrains Mono" panose="02000009000000000000" pitchFamily="49" charset="0"/>
              </a:rPr>
              <a:t>-&gt;</a:t>
            </a:r>
            <a:r>
              <a:rPr lang="en-SG" sz="900" b="0" err="1">
                <a:solidFill>
                  <a:srgbClr val="9CDCFE"/>
                </a:solidFill>
                <a:effectLst/>
                <a:latin typeface="JetBrains Mono" panose="02000009000000000000" pitchFamily="49" charset="0"/>
              </a:rPr>
              <a:t>seq</a:t>
            </a:r>
            <a:r>
              <a:rPr lang="en-SG" sz="900" b="0">
                <a:solidFill>
                  <a:srgbClr val="CCCCCC"/>
                </a:solidFill>
                <a:effectLst/>
                <a:latin typeface="JetBrains Mono" panose="02000009000000000000" pitchFamily="49" charset="0"/>
              </a:rPr>
              <a:t>, </a:t>
            </a:r>
            <a:r>
              <a:rPr lang="en-SG" sz="900" b="0" err="1">
                <a:solidFill>
                  <a:srgbClr val="CCCCCC"/>
                </a:solidFill>
                <a:effectLst/>
                <a:latin typeface="JetBrains Mono" panose="02000009000000000000" pitchFamily="49" charset="0"/>
              </a:rPr>
              <a:t>memory_order_acquire</a:t>
            </a:r>
            <a:r>
              <a:rPr lang="en-SG" sz="900" b="0">
                <a:solidFill>
                  <a:srgbClr val="CCCCCC"/>
                </a:solidFill>
                <a:effectLst/>
                <a:latin typeface="JetBrains Mono" panose="02000009000000000000" pitchFamily="49" charset="0"/>
              </a:rPr>
              <a:t>);</a:t>
            </a:r>
          </a:p>
          <a:p>
            <a:pPr>
              <a:lnSpc>
                <a:spcPts val="1425"/>
              </a:lnSpc>
              <a:buNone/>
            </a:pPr>
            <a:r>
              <a:rPr lang="en-SG" sz="900" b="0">
                <a:solidFill>
                  <a:srgbClr val="CCCCCC"/>
                </a:solidFill>
                <a:effectLst/>
                <a:latin typeface="JetBrains Mono" panose="02000009000000000000" pitchFamily="49" charset="0"/>
              </a:rPr>
              <a:t>    </a:t>
            </a:r>
            <a:r>
              <a:rPr lang="en-SG" sz="900" b="0">
                <a:solidFill>
                  <a:srgbClr val="C586C0"/>
                </a:solidFill>
                <a:effectLst/>
                <a:latin typeface="JetBrains Mono" panose="02000009000000000000" pitchFamily="49" charset="0"/>
              </a:rPr>
              <a:t>if</a:t>
            </a:r>
            <a:r>
              <a:rPr lang="en-SG" sz="900" b="0">
                <a:solidFill>
                  <a:srgbClr val="CCCCCC"/>
                </a:solidFill>
                <a:effectLst/>
                <a:latin typeface="JetBrains Mono" panose="02000009000000000000" pitchFamily="49" charset="0"/>
              </a:rPr>
              <a:t> (</a:t>
            </a:r>
            <a:r>
              <a:rPr lang="en-SG" sz="900" b="0">
                <a:solidFill>
                  <a:srgbClr val="9CDCFE"/>
                </a:solidFill>
                <a:effectLst/>
                <a:latin typeface="JetBrains Mono" panose="02000009000000000000" pitchFamily="49" charset="0"/>
              </a:rPr>
              <a:t>v1</a:t>
            </a:r>
            <a:r>
              <a:rPr lang="en-SG" sz="900" b="0">
                <a:solidFill>
                  <a:srgbClr val="CCCCCC"/>
                </a:solidFill>
                <a:effectLst/>
                <a:latin typeface="JetBrains Mono" panose="02000009000000000000" pitchFamily="49" charset="0"/>
              </a:rPr>
              <a:t> </a:t>
            </a:r>
            <a:r>
              <a:rPr lang="en-SG" sz="900" b="0">
                <a:solidFill>
                  <a:srgbClr val="D4D4D4"/>
                </a:solidFill>
                <a:effectLst/>
                <a:latin typeface="JetBrains Mono" panose="02000009000000000000" pitchFamily="49" charset="0"/>
              </a:rPr>
              <a:t>%</a:t>
            </a:r>
            <a:r>
              <a:rPr lang="en-SG" sz="900" b="0">
                <a:solidFill>
                  <a:srgbClr val="CCCCCC"/>
                </a:solidFill>
                <a:effectLst/>
                <a:latin typeface="JetBrains Mono" panose="02000009000000000000" pitchFamily="49" charset="0"/>
              </a:rPr>
              <a:t> </a:t>
            </a:r>
            <a:r>
              <a:rPr lang="en-SG" sz="900" b="0">
                <a:solidFill>
                  <a:srgbClr val="B5CEA8"/>
                </a:solidFill>
                <a:effectLst/>
                <a:latin typeface="JetBrains Mono" panose="02000009000000000000" pitchFamily="49" charset="0"/>
              </a:rPr>
              <a:t>2</a:t>
            </a:r>
            <a:r>
              <a:rPr lang="en-SG" sz="900" b="0">
                <a:solidFill>
                  <a:srgbClr val="CCCCCC"/>
                </a:solidFill>
                <a:effectLst/>
                <a:latin typeface="JetBrains Mono" panose="02000009000000000000" pitchFamily="49" charset="0"/>
              </a:rPr>
              <a:t> </a:t>
            </a:r>
            <a:r>
              <a:rPr lang="en-SG" sz="900" b="0">
                <a:solidFill>
                  <a:srgbClr val="D4D4D4"/>
                </a:solidFill>
                <a:effectLst/>
                <a:latin typeface="JetBrains Mono" panose="02000009000000000000" pitchFamily="49" charset="0"/>
              </a:rPr>
              <a:t>!=</a:t>
            </a:r>
            <a:r>
              <a:rPr lang="en-SG" sz="900" b="0">
                <a:solidFill>
                  <a:srgbClr val="CCCCCC"/>
                </a:solidFill>
                <a:effectLst/>
                <a:latin typeface="JetBrains Mono" panose="02000009000000000000" pitchFamily="49" charset="0"/>
              </a:rPr>
              <a:t> </a:t>
            </a:r>
            <a:r>
              <a:rPr lang="en-SG" sz="900" b="0">
                <a:solidFill>
                  <a:srgbClr val="B5CEA8"/>
                </a:solidFill>
                <a:effectLst/>
                <a:latin typeface="JetBrains Mono" panose="02000009000000000000" pitchFamily="49" charset="0"/>
              </a:rPr>
              <a:t>0</a:t>
            </a:r>
            <a:r>
              <a:rPr lang="en-SG" sz="900" b="0">
                <a:solidFill>
                  <a:srgbClr val="CCCCCC"/>
                </a:solidFill>
                <a:effectLst/>
                <a:latin typeface="JetBrains Mono" panose="02000009000000000000" pitchFamily="49" charset="0"/>
              </a:rPr>
              <a:t>) {</a:t>
            </a:r>
          </a:p>
          <a:p>
            <a:pPr>
              <a:lnSpc>
                <a:spcPts val="1425"/>
              </a:lnSpc>
              <a:buNone/>
            </a:pPr>
            <a:r>
              <a:rPr lang="en-SG" sz="900" b="0">
                <a:solidFill>
                  <a:srgbClr val="CCCCCC"/>
                </a:solidFill>
                <a:effectLst/>
                <a:latin typeface="JetBrains Mono" panose="02000009000000000000" pitchFamily="49" charset="0"/>
              </a:rPr>
              <a:t>      </a:t>
            </a:r>
            <a:r>
              <a:rPr lang="en-SG" sz="900" b="0">
                <a:solidFill>
                  <a:srgbClr val="DCDCAA"/>
                </a:solidFill>
                <a:effectLst/>
                <a:latin typeface="JetBrains Mono" panose="02000009000000000000" pitchFamily="49" charset="0"/>
              </a:rPr>
              <a:t>_</a:t>
            </a:r>
            <a:r>
              <a:rPr lang="en-SG" sz="900" b="0" err="1">
                <a:solidFill>
                  <a:srgbClr val="DCDCAA"/>
                </a:solidFill>
                <a:effectLst/>
                <a:latin typeface="JetBrains Mono" panose="02000009000000000000" pitchFamily="49" charset="0"/>
              </a:rPr>
              <a:t>mm_pause</a:t>
            </a:r>
            <a:r>
              <a:rPr lang="en-SG" sz="900" b="0">
                <a:solidFill>
                  <a:srgbClr val="CCCCCC"/>
                </a:solidFill>
                <a:effectLst/>
                <a:latin typeface="JetBrains Mono" panose="02000009000000000000" pitchFamily="49" charset="0"/>
              </a:rPr>
              <a:t>();</a:t>
            </a:r>
          </a:p>
          <a:p>
            <a:pPr>
              <a:lnSpc>
                <a:spcPts val="1425"/>
              </a:lnSpc>
              <a:buNone/>
            </a:pPr>
            <a:r>
              <a:rPr lang="en-SG" sz="900" b="0">
                <a:solidFill>
                  <a:srgbClr val="CCCCCC"/>
                </a:solidFill>
                <a:effectLst/>
                <a:latin typeface="JetBrains Mono" panose="02000009000000000000" pitchFamily="49" charset="0"/>
              </a:rPr>
              <a:t>      </a:t>
            </a:r>
            <a:r>
              <a:rPr lang="en-SG" sz="900" b="0">
                <a:solidFill>
                  <a:srgbClr val="C586C0"/>
                </a:solidFill>
                <a:effectLst/>
                <a:latin typeface="JetBrains Mono" panose="02000009000000000000" pitchFamily="49" charset="0"/>
              </a:rPr>
              <a:t>continue</a:t>
            </a:r>
            <a:r>
              <a:rPr lang="en-SG" sz="900" b="0">
                <a:solidFill>
                  <a:srgbClr val="CCCCCC"/>
                </a:solidFill>
                <a:effectLst/>
                <a:latin typeface="JetBrains Mono" panose="02000009000000000000" pitchFamily="49" charset="0"/>
              </a:rPr>
              <a:t>;</a:t>
            </a:r>
          </a:p>
          <a:p>
            <a:pPr>
              <a:lnSpc>
                <a:spcPts val="1425"/>
              </a:lnSpc>
              <a:buNone/>
            </a:pPr>
            <a:r>
              <a:rPr lang="en-SG" sz="900" b="0">
                <a:solidFill>
                  <a:srgbClr val="CCCCCC"/>
                </a:solidFill>
                <a:effectLst/>
                <a:latin typeface="JetBrains Mono" panose="02000009000000000000" pitchFamily="49" charset="0"/>
              </a:rPr>
              <a:t>    }</a:t>
            </a:r>
            <a:r>
              <a:rPr lang="en-SG" sz="900" b="0">
                <a:solidFill>
                  <a:srgbClr val="6A9955"/>
                </a:solidFill>
                <a:effectLst/>
                <a:latin typeface="JetBrains Mono" panose="02000009000000000000" pitchFamily="49" charset="0"/>
              </a:rPr>
              <a:t> // Writer is active</a:t>
            </a:r>
            <a:endParaRPr lang="en-SG" sz="900" b="0">
              <a:solidFill>
                <a:srgbClr val="CCCCCC"/>
              </a:solidFill>
              <a:effectLst/>
              <a:latin typeface="JetBrains Mono" panose="02000009000000000000" pitchFamily="49" charset="0"/>
            </a:endParaRPr>
          </a:p>
          <a:p>
            <a:pPr>
              <a:lnSpc>
                <a:spcPts val="1425"/>
              </a:lnSpc>
              <a:buNone/>
            </a:pPr>
            <a:endParaRPr lang="en-SG" sz="900" b="0">
              <a:solidFill>
                <a:srgbClr val="CCCCCC"/>
              </a:solidFill>
              <a:effectLst/>
              <a:latin typeface="JetBrains Mono" panose="02000009000000000000" pitchFamily="49" charset="0"/>
            </a:endParaRPr>
          </a:p>
          <a:p>
            <a:pPr>
              <a:lnSpc>
                <a:spcPts val="1425"/>
              </a:lnSpc>
              <a:buNone/>
            </a:pPr>
            <a:r>
              <a:rPr lang="en-SG" sz="900" b="0">
                <a:solidFill>
                  <a:srgbClr val="6A9955"/>
                </a:solidFill>
                <a:effectLst/>
                <a:latin typeface="JetBrains Mono" panose="02000009000000000000" pitchFamily="49" charset="0"/>
              </a:rPr>
              <a:t>    // 2. Optimistic Read (No lock!)</a:t>
            </a:r>
            <a:endParaRPr lang="en-SG" sz="900" b="0">
              <a:solidFill>
                <a:srgbClr val="CCCCCC"/>
              </a:solidFill>
              <a:effectLst/>
              <a:latin typeface="JetBrains Mono" panose="02000009000000000000" pitchFamily="49" charset="0"/>
            </a:endParaRPr>
          </a:p>
          <a:p>
            <a:pPr>
              <a:lnSpc>
                <a:spcPts val="1425"/>
              </a:lnSpc>
              <a:buNone/>
            </a:pPr>
            <a:r>
              <a:rPr lang="en-SG" sz="900" b="0">
                <a:solidFill>
                  <a:srgbClr val="CCCCCC"/>
                </a:solidFill>
                <a:effectLst/>
                <a:latin typeface="JetBrains Mono" panose="02000009000000000000" pitchFamily="49" charset="0"/>
              </a:rPr>
              <a:t>    </a:t>
            </a:r>
            <a:r>
              <a:rPr lang="en-SG" sz="900" b="0" err="1">
                <a:solidFill>
                  <a:srgbClr val="9CDCFE"/>
                </a:solidFill>
                <a:effectLst/>
                <a:latin typeface="JetBrains Mono" panose="02000009000000000000" pitchFamily="49" charset="0"/>
              </a:rPr>
              <a:t>val</a:t>
            </a:r>
            <a:r>
              <a:rPr lang="en-SG" sz="900" b="0">
                <a:solidFill>
                  <a:srgbClr val="CCCCCC"/>
                </a:solidFill>
                <a:effectLst/>
                <a:latin typeface="JetBrains Mono" panose="02000009000000000000" pitchFamily="49" charset="0"/>
              </a:rPr>
              <a:t> </a:t>
            </a:r>
            <a:r>
              <a:rPr lang="en-SG" sz="900" b="0">
                <a:solidFill>
                  <a:srgbClr val="D4D4D4"/>
                </a:solidFill>
                <a:effectLst/>
                <a:latin typeface="JetBrains Mono" panose="02000009000000000000" pitchFamily="49" charset="0"/>
              </a:rPr>
              <a:t>=</a:t>
            </a:r>
            <a:r>
              <a:rPr lang="en-SG" sz="900" b="0">
                <a:solidFill>
                  <a:srgbClr val="CCCCCC"/>
                </a:solidFill>
                <a:effectLst/>
                <a:latin typeface="JetBrains Mono" panose="02000009000000000000" pitchFamily="49" charset="0"/>
              </a:rPr>
              <a:t> </a:t>
            </a:r>
            <a:r>
              <a:rPr lang="en-SG" sz="900" b="0" err="1">
                <a:solidFill>
                  <a:srgbClr val="9CDCFE"/>
                </a:solidFill>
                <a:effectLst/>
                <a:latin typeface="JetBrains Mono" panose="02000009000000000000" pitchFamily="49" charset="0"/>
              </a:rPr>
              <a:t>cfg</a:t>
            </a:r>
            <a:r>
              <a:rPr lang="en-SG" sz="900" b="0">
                <a:solidFill>
                  <a:srgbClr val="CCCCCC"/>
                </a:solidFill>
                <a:effectLst/>
                <a:latin typeface="JetBrains Mono" panose="02000009000000000000" pitchFamily="49" charset="0"/>
              </a:rPr>
              <a:t>-&gt;</a:t>
            </a:r>
            <a:r>
              <a:rPr lang="en-SG" sz="900" b="0" err="1">
                <a:solidFill>
                  <a:srgbClr val="9CDCFE"/>
                </a:solidFill>
                <a:effectLst/>
                <a:latin typeface="JetBrains Mono" panose="02000009000000000000" pitchFamily="49" charset="0"/>
              </a:rPr>
              <a:t>timeout_ms</a:t>
            </a:r>
            <a:r>
              <a:rPr lang="en-SG" sz="900" b="0">
                <a:solidFill>
                  <a:srgbClr val="CCCCCC"/>
                </a:solidFill>
                <a:effectLst/>
                <a:latin typeface="JetBrains Mono" panose="02000009000000000000" pitchFamily="49" charset="0"/>
              </a:rPr>
              <a:t>;</a:t>
            </a:r>
          </a:p>
          <a:p>
            <a:pPr>
              <a:lnSpc>
                <a:spcPts val="1425"/>
              </a:lnSpc>
              <a:buNone/>
            </a:pPr>
            <a:endParaRPr lang="en-SG" sz="900" b="0">
              <a:solidFill>
                <a:srgbClr val="CCCCCC"/>
              </a:solidFill>
              <a:effectLst/>
              <a:latin typeface="JetBrains Mono" panose="02000009000000000000" pitchFamily="49" charset="0"/>
            </a:endParaRPr>
          </a:p>
          <a:p>
            <a:pPr>
              <a:lnSpc>
                <a:spcPts val="1425"/>
              </a:lnSpc>
              <a:buNone/>
            </a:pPr>
            <a:r>
              <a:rPr lang="en-SG" sz="900" b="0">
                <a:solidFill>
                  <a:srgbClr val="6A9955"/>
                </a:solidFill>
                <a:effectLst/>
                <a:latin typeface="JetBrains Mono" panose="02000009000000000000" pitchFamily="49" charset="0"/>
              </a:rPr>
              <a:t>    // 3. Verify version hasn't changed</a:t>
            </a:r>
            <a:endParaRPr lang="en-SG" sz="900" b="0">
              <a:solidFill>
                <a:srgbClr val="CCCCCC"/>
              </a:solidFill>
              <a:effectLst/>
              <a:latin typeface="JetBrains Mono" panose="02000009000000000000" pitchFamily="49" charset="0"/>
            </a:endParaRPr>
          </a:p>
          <a:p>
            <a:pPr>
              <a:lnSpc>
                <a:spcPts val="1425"/>
              </a:lnSpc>
              <a:buNone/>
            </a:pPr>
            <a:r>
              <a:rPr lang="en-SG" sz="900" b="0">
                <a:solidFill>
                  <a:srgbClr val="CCCCCC"/>
                </a:solidFill>
                <a:effectLst/>
                <a:latin typeface="JetBrains Mono" panose="02000009000000000000" pitchFamily="49" charset="0"/>
              </a:rPr>
              <a:t>    </a:t>
            </a:r>
            <a:r>
              <a:rPr lang="en-SG" sz="900" b="0" err="1">
                <a:solidFill>
                  <a:srgbClr val="DCDCAA"/>
                </a:solidFill>
                <a:effectLst/>
                <a:latin typeface="JetBrains Mono" panose="02000009000000000000" pitchFamily="49" charset="0"/>
              </a:rPr>
              <a:t>atomic_thread_fence</a:t>
            </a:r>
            <a:r>
              <a:rPr lang="en-SG" sz="900" b="0">
                <a:solidFill>
                  <a:srgbClr val="CCCCCC"/>
                </a:solidFill>
                <a:effectLst/>
                <a:latin typeface="JetBrains Mono" panose="02000009000000000000" pitchFamily="49" charset="0"/>
              </a:rPr>
              <a:t>(</a:t>
            </a:r>
            <a:r>
              <a:rPr lang="en-SG" sz="900" b="0" err="1">
                <a:solidFill>
                  <a:srgbClr val="CCCCCC"/>
                </a:solidFill>
                <a:effectLst/>
                <a:latin typeface="JetBrains Mono" panose="02000009000000000000" pitchFamily="49" charset="0"/>
              </a:rPr>
              <a:t>memory_order_acquire</a:t>
            </a:r>
            <a:r>
              <a:rPr lang="en-SG" sz="900" b="0">
                <a:solidFill>
                  <a:srgbClr val="CCCCCC"/>
                </a:solidFill>
                <a:effectLst/>
                <a:latin typeface="JetBrains Mono" panose="02000009000000000000" pitchFamily="49" charset="0"/>
              </a:rPr>
              <a:t>);</a:t>
            </a:r>
          </a:p>
          <a:p>
            <a:pPr>
              <a:lnSpc>
                <a:spcPts val="1425"/>
              </a:lnSpc>
              <a:buNone/>
            </a:pPr>
            <a:r>
              <a:rPr lang="en-SG" sz="900" b="0">
                <a:solidFill>
                  <a:srgbClr val="CCCCCC"/>
                </a:solidFill>
                <a:effectLst/>
                <a:latin typeface="JetBrains Mono" panose="02000009000000000000" pitchFamily="49" charset="0"/>
              </a:rPr>
              <a:t>    </a:t>
            </a:r>
            <a:r>
              <a:rPr lang="en-SG" sz="900" b="0">
                <a:solidFill>
                  <a:srgbClr val="9CDCFE"/>
                </a:solidFill>
                <a:effectLst/>
                <a:latin typeface="JetBrains Mono" panose="02000009000000000000" pitchFamily="49" charset="0"/>
              </a:rPr>
              <a:t>v2</a:t>
            </a:r>
            <a:r>
              <a:rPr lang="en-SG" sz="900" b="0">
                <a:solidFill>
                  <a:srgbClr val="CCCCCC"/>
                </a:solidFill>
                <a:effectLst/>
                <a:latin typeface="JetBrains Mono" panose="02000009000000000000" pitchFamily="49" charset="0"/>
              </a:rPr>
              <a:t> </a:t>
            </a:r>
            <a:r>
              <a:rPr lang="en-SG" sz="900" b="0">
                <a:solidFill>
                  <a:srgbClr val="D4D4D4"/>
                </a:solidFill>
                <a:effectLst/>
                <a:latin typeface="JetBrains Mono" panose="02000009000000000000" pitchFamily="49" charset="0"/>
              </a:rPr>
              <a:t>=</a:t>
            </a:r>
            <a:r>
              <a:rPr lang="en-SG" sz="900" b="0">
                <a:solidFill>
                  <a:srgbClr val="CCCCCC"/>
                </a:solidFill>
                <a:effectLst/>
                <a:latin typeface="JetBrains Mono" panose="02000009000000000000" pitchFamily="49" charset="0"/>
              </a:rPr>
              <a:t> </a:t>
            </a:r>
            <a:r>
              <a:rPr lang="en-SG" sz="900" b="0" err="1">
                <a:solidFill>
                  <a:srgbClr val="DCDCAA"/>
                </a:solidFill>
                <a:effectLst/>
                <a:latin typeface="JetBrains Mono" panose="02000009000000000000" pitchFamily="49" charset="0"/>
              </a:rPr>
              <a:t>atomic_load</a:t>
            </a:r>
            <a:r>
              <a:rPr lang="en-SG" sz="900" b="0">
                <a:solidFill>
                  <a:srgbClr val="CCCCCC"/>
                </a:solidFill>
                <a:effectLst/>
                <a:latin typeface="JetBrains Mono" panose="02000009000000000000" pitchFamily="49" charset="0"/>
              </a:rPr>
              <a:t>(</a:t>
            </a:r>
            <a:r>
              <a:rPr lang="en-SG" sz="900" b="0">
                <a:solidFill>
                  <a:srgbClr val="D4D4D4"/>
                </a:solidFill>
                <a:effectLst/>
                <a:latin typeface="JetBrains Mono" panose="02000009000000000000" pitchFamily="49" charset="0"/>
              </a:rPr>
              <a:t>&amp;</a:t>
            </a:r>
            <a:r>
              <a:rPr lang="en-SG" sz="900" b="0" err="1">
                <a:solidFill>
                  <a:srgbClr val="9CDCFE"/>
                </a:solidFill>
                <a:effectLst/>
                <a:latin typeface="JetBrains Mono" panose="02000009000000000000" pitchFamily="49" charset="0"/>
              </a:rPr>
              <a:t>cfg</a:t>
            </a:r>
            <a:r>
              <a:rPr lang="en-SG" sz="900" b="0">
                <a:solidFill>
                  <a:srgbClr val="CCCCCC"/>
                </a:solidFill>
                <a:effectLst/>
                <a:latin typeface="JetBrains Mono" panose="02000009000000000000" pitchFamily="49" charset="0"/>
              </a:rPr>
              <a:t>-&gt;</a:t>
            </a:r>
            <a:r>
              <a:rPr lang="en-SG" sz="900" b="0" err="1">
                <a:solidFill>
                  <a:srgbClr val="9CDCFE"/>
                </a:solidFill>
                <a:effectLst/>
                <a:latin typeface="JetBrains Mono" panose="02000009000000000000" pitchFamily="49" charset="0"/>
              </a:rPr>
              <a:t>seq</a:t>
            </a:r>
            <a:r>
              <a:rPr lang="en-SG" sz="900" b="0">
                <a:solidFill>
                  <a:srgbClr val="CCCCCC"/>
                </a:solidFill>
                <a:effectLst/>
                <a:latin typeface="JetBrains Mono" panose="02000009000000000000" pitchFamily="49" charset="0"/>
              </a:rPr>
              <a:t>, </a:t>
            </a:r>
            <a:r>
              <a:rPr lang="en-SG" sz="900" b="0" err="1">
                <a:solidFill>
                  <a:srgbClr val="CCCCCC"/>
                </a:solidFill>
                <a:effectLst/>
                <a:latin typeface="JetBrains Mono" panose="02000009000000000000" pitchFamily="49" charset="0"/>
              </a:rPr>
              <a:t>memory_order_relaxed</a:t>
            </a:r>
            <a:r>
              <a:rPr lang="en-SG" sz="900" b="0">
                <a:solidFill>
                  <a:srgbClr val="CCCCCC"/>
                </a:solidFill>
                <a:effectLst/>
                <a:latin typeface="JetBrains Mono" panose="02000009000000000000" pitchFamily="49" charset="0"/>
              </a:rPr>
              <a:t>);</a:t>
            </a:r>
          </a:p>
          <a:p>
            <a:pPr>
              <a:lnSpc>
                <a:spcPts val="1425"/>
              </a:lnSpc>
              <a:buNone/>
            </a:pPr>
            <a:r>
              <a:rPr lang="en-SG" sz="900" b="0">
                <a:solidFill>
                  <a:srgbClr val="CCCCCC"/>
                </a:solidFill>
                <a:effectLst/>
                <a:latin typeface="JetBrains Mono" panose="02000009000000000000" pitchFamily="49" charset="0"/>
              </a:rPr>
              <a:t>  } </a:t>
            </a:r>
            <a:r>
              <a:rPr lang="en-SG" sz="900" b="0">
                <a:solidFill>
                  <a:srgbClr val="C586C0"/>
                </a:solidFill>
                <a:effectLst/>
                <a:latin typeface="JetBrains Mono" panose="02000009000000000000" pitchFamily="49" charset="0"/>
              </a:rPr>
              <a:t>while</a:t>
            </a:r>
            <a:r>
              <a:rPr lang="en-SG" sz="900" b="0">
                <a:solidFill>
                  <a:srgbClr val="CCCCCC"/>
                </a:solidFill>
                <a:effectLst/>
                <a:latin typeface="JetBrains Mono" panose="02000009000000000000" pitchFamily="49" charset="0"/>
              </a:rPr>
              <a:t> (</a:t>
            </a:r>
            <a:r>
              <a:rPr lang="en-SG" sz="900" b="0">
                <a:solidFill>
                  <a:srgbClr val="9CDCFE"/>
                </a:solidFill>
                <a:effectLst/>
                <a:latin typeface="JetBrains Mono" panose="02000009000000000000" pitchFamily="49" charset="0"/>
              </a:rPr>
              <a:t>v1</a:t>
            </a:r>
            <a:r>
              <a:rPr lang="en-SG" sz="900" b="0">
                <a:solidFill>
                  <a:srgbClr val="CCCCCC"/>
                </a:solidFill>
                <a:effectLst/>
                <a:latin typeface="JetBrains Mono" panose="02000009000000000000" pitchFamily="49" charset="0"/>
              </a:rPr>
              <a:t> </a:t>
            </a:r>
            <a:r>
              <a:rPr lang="en-SG" sz="900" b="0">
                <a:solidFill>
                  <a:srgbClr val="D4D4D4"/>
                </a:solidFill>
                <a:effectLst/>
                <a:latin typeface="JetBrains Mono" panose="02000009000000000000" pitchFamily="49" charset="0"/>
              </a:rPr>
              <a:t>!=</a:t>
            </a:r>
            <a:r>
              <a:rPr lang="en-SG" sz="900" b="0">
                <a:solidFill>
                  <a:srgbClr val="CCCCCC"/>
                </a:solidFill>
                <a:effectLst/>
                <a:latin typeface="JetBrains Mono" panose="02000009000000000000" pitchFamily="49" charset="0"/>
              </a:rPr>
              <a:t> </a:t>
            </a:r>
            <a:r>
              <a:rPr lang="en-SG" sz="900" b="0">
                <a:solidFill>
                  <a:srgbClr val="9CDCFE"/>
                </a:solidFill>
                <a:effectLst/>
                <a:latin typeface="JetBrains Mono" panose="02000009000000000000" pitchFamily="49" charset="0"/>
              </a:rPr>
              <a:t>v2</a:t>
            </a:r>
            <a:r>
              <a:rPr lang="en-SG" sz="900" b="0">
                <a:solidFill>
                  <a:srgbClr val="CCCCCC"/>
                </a:solidFill>
                <a:effectLst/>
                <a:latin typeface="JetBrains Mono" panose="02000009000000000000" pitchFamily="49" charset="0"/>
              </a:rPr>
              <a:t>);</a:t>
            </a:r>
          </a:p>
          <a:p>
            <a:pPr>
              <a:lnSpc>
                <a:spcPts val="1425"/>
              </a:lnSpc>
              <a:buNone/>
            </a:pPr>
            <a:r>
              <a:rPr lang="en-SG" sz="900" b="0">
                <a:solidFill>
                  <a:srgbClr val="CCCCCC"/>
                </a:solidFill>
                <a:effectLst/>
                <a:latin typeface="JetBrains Mono" panose="02000009000000000000" pitchFamily="49" charset="0"/>
              </a:rPr>
              <a:t>  </a:t>
            </a:r>
            <a:r>
              <a:rPr lang="en-SG" sz="900" b="0">
                <a:solidFill>
                  <a:srgbClr val="C586C0"/>
                </a:solidFill>
                <a:effectLst/>
                <a:latin typeface="JetBrains Mono" panose="02000009000000000000" pitchFamily="49" charset="0"/>
              </a:rPr>
              <a:t>return</a:t>
            </a:r>
            <a:r>
              <a:rPr lang="en-SG" sz="900" b="0">
                <a:solidFill>
                  <a:srgbClr val="CCCCCC"/>
                </a:solidFill>
                <a:effectLst/>
                <a:latin typeface="JetBrains Mono" panose="02000009000000000000" pitchFamily="49" charset="0"/>
              </a:rPr>
              <a:t> </a:t>
            </a:r>
            <a:r>
              <a:rPr lang="en-SG" sz="900" b="0" err="1">
                <a:solidFill>
                  <a:srgbClr val="9CDCFE"/>
                </a:solidFill>
                <a:effectLst/>
                <a:latin typeface="JetBrains Mono" panose="02000009000000000000" pitchFamily="49" charset="0"/>
              </a:rPr>
              <a:t>val</a:t>
            </a:r>
            <a:r>
              <a:rPr lang="en-SG" sz="900" b="0">
                <a:solidFill>
                  <a:srgbClr val="CCCCCC"/>
                </a:solidFill>
                <a:effectLst/>
                <a:latin typeface="JetBrains Mono" panose="02000009000000000000" pitchFamily="49" charset="0"/>
              </a:rPr>
              <a:t>;</a:t>
            </a:r>
          </a:p>
          <a:p>
            <a:pPr>
              <a:buNone/>
            </a:pPr>
            <a:r>
              <a:rPr lang="en-SG" sz="900" b="0">
                <a:solidFill>
                  <a:srgbClr val="CCCCCC"/>
                </a:solidFill>
                <a:effectLst/>
                <a:latin typeface="JetBrains Mono" panose="02000009000000000000" pitchFamily="49" charset="0"/>
              </a:rPr>
              <a:t>}</a:t>
            </a:r>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45DE688A-7C09-4329-4058-53DA6FB4C8FD}"/>
                  </a:ext>
                </a:extLst>
              </p:cNvPr>
              <p:cNvSpPr txBox="1"/>
              <p:nvPr/>
            </p:nvSpPr>
            <p:spPr>
              <a:xfrm>
                <a:off x="233910" y="1240080"/>
                <a:ext cx="3368855" cy="5693866"/>
              </a:xfrm>
              <a:prstGeom prst="rect">
                <a:avLst/>
              </a:prstGeom>
              <a:noFill/>
            </p:spPr>
            <p:txBody>
              <a:bodyPr wrap="square">
                <a:spAutoFit/>
              </a:bodyPr>
              <a:lstStyle/>
              <a:p>
                <a:r>
                  <a:rPr lang="en-US" sz="1300" b="1">
                    <a:solidFill>
                      <a:srgbClr val="3333FF"/>
                    </a:solidFill>
                  </a:rPr>
                  <a:t>User Intent:</a:t>
                </a:r>
                <a:r>
                  <a:rPr lang="en-US" sz="1300">
                    <a:solidFill>
                      <a:srgbClr val="3333FF"/>
                    </a:solidFill>
                  </a:rPr>
                  <a:t> </a:t>
                </a:r>
                <a:r>
                  <a:rPr lang="en-US" sz="1300">
                    <a:solidFill>
                      <a:schemeClr val="tx1"/>
                    </a:solidFill>
                  </a:rPr>
                  <a:t>The programmer knows the ratio of reads to writes.</a:t>
                </a:r>
              </a:p>
              <a:p>
                <a:r>
                  <a:rPr lang="en-US" sz="1300" b="1">
                    <a:solidFill>
                      <a:schemeClr val="tx1"/>
                    </a:solidFill>
                  </a:rPr>
                  <a:t>Annotation:</a:t>
                </a:r>
                <a:r>
                  <a:rPr lang="en-US" sz="1300">
                    <a:solidFill>
                      <a:schemeClr val="tx1"/>
                    </a:solidFill>
                  </a:rPr>
                  <a:t> [[sync::</a:t>
                </a:r>
                <a:r>
                  <a:rPr lang="en-US" sz="1300" err="1">
                    <a:solidFill>
                      <a:schemeClr val="tx1"/>
                    </a:solidFill>
                  </a:rPr>
                  <a:t>read_mostly</a:t>
                </a:r>
                <a:r>
                  <a:rPr lang="en-US" sz="1300">
                    <a:solidFill>
                      <a:schemeClr val="tx1"/>
                    </a:solidFill>
                  </a:rPr>
                  <a:t>]] or [[sync::</a:t>
                </a:r>
                <a:r>
                  <a:rPr lang="en-US" sz="1300" err="1">
                    <a:solidFill>
                      <a:schemeClr val="tx1"/>
                    </a:solidFill>
                  </a:rPr>
                  <a:t>write_heavy</a:t>
                </a:r>
                <a:r>
                  <a:rPr lang="en-US" sz="1300">
                    <a:solidFill>
                      <a:schemeClr val="tx1"/>
                    </a:solidFill>
                  </a:rPr>
                  <a:t>]]</a:t>
                </a:r>
              </a:p>
              <a:p>
                <a:r>
                  <a:rPr lang="en-US" sz="1300" b="1">
                    <a:solidFill>
                      <a:schemeClr val="tx1"/>
                    </a:solidFill>
                  </a:rPr>
                  <a:t>Target:</a:t>
                </a:r>
                <a:r>
                  <a:rPr lang="en-US" sz="1300">
                    <a:solidFill>
                      <a:schemeClr val="tx1"/>
                    </a:solidFill>
                  </a:rPr>
                  <a:t> Data Structures, Locks</a:t>
                </a:r>
              </a:p>
              <a:p>
                <a:endParaRPr lang="en-US" sz="1300">
                  <a:solidFill>
                    <a:schemeClr val="tx1"/>
                  </a:solidFill>
                </a:endParaRPr>
              </a:p>
              <a:p>
                <a:r>
                  <a:rPr lang="en-US" sz="1300" b="1">
                    <a:solidFill>
                      <a:srgbClr val="3333FF"/>
                    </a:solidFill>
                  </a:rPr>
                  <a:t>Transformations</a:t>
                </a:r>
                <a:r>
                  <a:rPr lang="en-US" sz="1300" b="1">
                    <a:solidFill>
                      <a:schemeClr val="tx1"/>
                    </a:solidFill>
                  </a:rPr>
                  <a:t>:</a:t>
                </a:r>
              </a:p>
              <a:p>
                <a:r>
                  <a:rPr lang="en-US" sz="1300" b="1">
                    <a:solidFill>
                      <a:schemeClr val="tx1"/>
                    </a:solidFill>
                  </a:rPr>
                  <a:t>Read Mostly:</a:t>
                </a:r>
                <a:endParaRPr lang="en-US" sz="1300">
                  <a:solidFill>
                    <a:schemeClr val="tx1"/>
                  </a:solidFill>
                </a:endParaRPr>
              </a:p>
              <a:p>
                <a:pPr lvl="1"/>
                <a:r>
                  <a:rPr lang="en-US" sz="1300" b="1">
                    <a:solidFill>
                      <a:schemeClr val="tx1"/>
                    </a:solidFill>
                  </a:rPr>
                  <a:t>RCU (Read-Copy-Update):</a:t>
                </a:r>
                <a:r>
                  <a:rPr lang="en-US" sz="1300">
                    <a:solidFill>
                      <a:schemeClr val="tx1"/>
                    </a:solidFill>
                  </a:rPr>
                  <a:t> If the data structure supports it, switch to RCU. Readers become wait-free with zero overhead.</a:t>
                </a:r>
              </a:p>
              <a:p>
                <a:pPr lvl="1"/>
                <a:r>
                  <a:rPr lang="en-US" sz="1300" b="1" err="1">
                    <a:solidFill>
                      <a:schemeClr val="tx1"/>
                    </a:solidFill>
                  </a:rPr>
                  <a:t>SeqLock</a:t>
                </a:r>
                <a:r>
                  <a:rPr lang="en-US" sz="1300" b="1">
                    <a:solidFill>
                      <a:schemeClr val="tx1"/>
                    </a:solidFill>
                  </a:rPr>
                  <a:t> (Sequence Lock):</a:t>
                </a:r>
                <a:r>
                  <a:rPr lang="en-US" sz="1300">
                    <a:solidFill>
                      <a:schemeClr val="tx1"/>
                    </a:solidFill>
                  </a:rPr>
                  <a:t> For small structures (like a geometric point), use optimistic reading (check version -&gt; read -&gt; check version).</a:t>
                </a:r>
              </a:p>
              <a:p>
                <a:pPr lvl="1"/>
                <a:r>
                  <a:rPr lang="en-US" sz="1300" b="1">
                    <a:solidFill>
                      <a:schemeClr val="tx1"/>
                    </a:solidFill>
                  </a:rPr>
                  <a:t>Replication:</a:t>
                </a:r>
                <a:r>
                  <a:rPr lang="en-US" sz="1300">
                    <a:solidFill>
                      <a:schemeClr val="tx1"/>
                    </a:solidFill>
                  </a:rPr>
                  <a:t> Replicate the data across NUMA nodes. Writers update all copies; readers read the local copy.</a:t>
                </a:r>
              </a:p>
              <a:p>
                <a:pPr lvl="1"/>
                <a:endParaRPr lang="en-US" sz="1300">
                  <a:solidFill>
                    <a:schemeClr val="tx1"/>
                  </a:solidFill>
                </a:endParaRPr>
              </a:p>
              <a:p>
                <a:r>
                  <a:rPr lang="en-US" sz="1300" b="1">
                    <a:solidFill>
                      <a:schemeClr val="tx1"/>
                    </a:solidFill>
                  </a:rPr>
                  <a:t>Write Heavy:</a:t>
                </a:r>
                <a:endParaRPr lang="en-US" sz="1300">
                  <a:solidFill>
                    <a:schemeClr val="tx1"/>
                  </a:solidFill>
                </a:endParaRPr>
              </a:p>
              <a:p>
                <a:pPr lvl="1"/>
                <a:r>
                  <a:rPr lang="en-US" sz="1300" b="1">
                    <a:solidFill>
                      <a:schemeClr val="tx1"/>
                    </a:solidFill>
                  </a:rPr>
                  <a:t>Partitioning/Sharding:</a:t>
                </a:r>
                <a:r>
                  <a:rPr lang="en-US" sz="1300">
                    <a:solidFill>
                      <a:schemeClr val="tx1"/>
                    </a:solidFill>
                  </a:rPr>
                  <a:t> Automatically split a Map or Queue into </a:t>
                </a:r>
                <a14:m>
                  <m:oMath xmlns:m="http://schemas.openxmlformats.org/officeDocument/2006/math">
                    <m:r>
                      <a:rPr lang="en-US" sz="1300" i="1">
                        <a:solidFill>
                          <a:schemeClr val="tx1"/>
                        </a:solidFill>
                        <a:latin typeface="Cambria Math" panose="02040503050406030204" pitchFamily="18" charset="0"/>
                      </a:rPr>
                      <m:t>𝑁</m:t>
                    </m:r>
                  </m:oMath>
                </a14:m>
                <a:r>
                  <a:rPr lang="en-US" sz="1300">
                    <a:solidFill>
                      <a:schemeClr val="tx1"/>
                    </a:solidFill>
                  </a:rPr>
                  <a:t> shards (where </a:t>
                </a:r>
                <a14:m>
                  <m:oMath xmlns:m="http://schemas.openxmlformats.org/officeDocument/2006/math">
                    <m:r>
                      <a:rPr lang="en-US" sz="1300" i="1">
                        <a:solidFill>
                          <a:schemeClr val="tx1"/>
                        </a:solidFill>
                        <a:latin typeface="Cambria Math" panose="02040503050406030204" pitchFamily="18" charset="0"/>
                      </a:rPr>
                      <m:t>𝑁</m:t>
                    </m:r>
                  </m:oMath>
                </a14:m>
                <a:r>
                  <a:rPr lang="en-US" sz="1300">
                    <a:solidFill>
                      <a:schemeClr val="tx1"/>
                    </a:solidFill>
                  </a:rPr>
                  <a:t> = CPU cores).</a:t>
                </a:r>
              </a:p>
              <a:p>
                <a:pPr lvl="1"/>
                <a:r>
                  <a:rPr lang="en-US" sz="1300" b="1">
                    <a:solidFill>
                      <a:schemeClr val="tx1"/>
                    </a:solidFill>
                  </a:rPr>
                  <a:t>Padding:</a:t>
                </a:r>
                <a:r>
                  <a:rPr lang="en-US" sz="1300">
                    <a:solidFill>
                      <a:schemeClr val="tx1"/>
                    </a:solidFill>
                  </a:rPr>
                  <a:t> Add padding (cache line alignment) between atomic counters to prevent </a:t>
                </a:r>
                <a:r>
                  <a:rPr lang="en-US" sz="1300" b="1">
                    <a:solidFill>
                      <a:schemeClr val="tx1"/>
                    </a:solidFill>
                  </a:rPr>
                  <a:t>False Sharing</a:t>
                </a:r>
                <a:r>
                  <a:rPr lang="en-US" sz="1300">
                    <a:solidFill>
                      <a:schemeClr val="tx1"/>
                    </a:solidFill>
                  </a:rPr>
                  <a:t>.</a:t>
                </a:r>
              </a:p>
              <a:p>
                <a:pPr algn="l">
                  <a:buNone/>
                </a:pPr>
                <a:endParaRPr lang="en-US" sz="1300" b="0" i="0">
                  <a:solidFill>
                    <a:schemeClr val="tx1"/>
                  </a:solidFill>
                  <a:effectLst/>
                  <a:latin typeface="Inter"/>
                </a:endParaRPr>
              </a:p>
            </p:txBody>
          </p:sp>
        </mc:Choice>
        <mc:Fallback>
          <p:sp>
            <p:nvSpPr>
              <p:cNvPr id="13" name="TextBox 12">
                <a:extLst>
                  <a:ext uri="{FF2B5EF4-FFF2-40B4-BE49-F238E27FC236}">
                    <a16:creationId xmlns:a16="http://schemas.microsoft.com/office/drawing/2014/main" id="{45DE688A-7C09-4329-4058-53DA6FB4C8FD}"/>
                  </a:ext>
                </a:extLst>
              </p:cNvPr>
              <p:cNvSpPr txBox="1">
                <a:spLocks noRot="1" noChangeAspect="1" noMove="1" noResize="1" noEditPoints="1" noAdjustHandles="1" noChangeArrowheads="1" noChangeShapeType="1" noTextEdit="1"/>
              </p:cNvSpPr>
              <p:nvPr/>
            </p:nvSpPr>
            <p:spPr>
              <a:xfrm>
                <a:off x="233910" y="1240080"/>
                <a:ext cx="3368855" cy="5693866"/>
              </a:xfrm>
              <a:prstGeom prst="rect">
                <a:avLst/>
              </a:prstGeom>
              <a:blipFill>
                <a:blip r:embed="rId3"/>
                <a:stretch>
                  <a:fillRect l="-376" t="-223" r="-1504"/>
                </a:stretch>
              </a:blipFill>
            </p:spPr>
            <p:txBody>
              <a:bodyPr/>
              <a:lstStyle/>
              <a:p>
                <a:r>
                  <a:rPr lang="ru-SG">
                    <a:noFill/>
                  </a:rPr>
                  <a:t> </a:t>
                </a:r>
              </a:p>
            </p:txBody>
          </p:sp>
        </mc:Fallback>
      </mc:AlternateContent>
    </p:spTree>
    <p:extLst>
      <p:ext uri="{BB962C8B-B14F-4D97-AF65-F5344CB8AC3E}">
        <p14:creationId xmlns:p14="http://schemas.microsoft.com/office/powerpoint/2010/main" val="31732291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75BC3-7E80-01FF-7670-13D1EBC99F3F}"/>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189CE4CE-F651-0411-B76F-415BE1209A18}"/>
              </a:ext>
            </a:extLst>
          </p:cNvPr>
          <p:cNvSpPr txBox="1"/>
          <p:nvPr/>
        </p:nvSpPr>
        <p:spPr>
          <a:xfrm>
            <a:off x="233910" y="208621"/>
            <a:ext cx="4551450" cy="461665"/>
          </a:xfrm>
          <a:prstGeom prst="rect">
            <a:avLst/>
          </a:prstGeom>
          <a:solidFill>
            <a:schemeClr val="accent5">
              <a:lumMod val="50000"/>
            </a:schemeClr>
          </a:solidFill>
        </p:spPr>
        <p:txBody>
          <a:bodyPr wrap="square" rtlCol="0">
            <a:spAutoFit/>
          </a:bodyPr>
          <a:lstStyle/>
          <a:p>
            <a:r>
              <a:rPr lang="en-US" sz="2400">
                <a:solidFill>
                  <a:schemeClr val="bg1"/>
                </a:solidFill>
                <a:latin typeface="Ubuntu Condensed" panose="020B0506030602030204" pitchFamily="34" charset="0"/>
              </a:rPr>
              <a:t>Hints/annotations-based optimization</a:t>
            </a:r>
            <a:endParaRPr lang="ru-RU" sz="2400">
              <a:solidFill>
                <a:schemeClr val="bg1"/>
              </a:solidFill>
              <a:latin typeface="Ubuntu Condensed" panose="020B0506030602030204" pitchFamily="34" charset="0"/>
            </a:endParaRPr>
          </a:p>
        </p:txBody>
      </p:sp>
      <p:sp>
        <p:nvSpPr>
          <p:cNvPr id="7" name="Номер слайда 7">
            <a:extLst>
              <a:ext uri="{FF2B5EF4-FFF2-40B4-BE49-F238E27FC236}">
                <a16:creationId xmlns:a16="http://schemas.microsoft.com/office/drawing/2014/main" id="{F27667B3-99AD-D669-0DFB-DF7FC6DC7BAD}"/>
              </a:ext>
            </a:extLst>
          </p:cNvPr>
          <p:cNvSpPr>
            <a:spLocks noGrp="1"/>
          </p:cNvSpPr>
          <p:nvPr>
            <p:ph type="sldNum" sz="quarter" idx="12"/>
          </p:nvPr>
        </p:nvSpPr>
        <p:spPr>
          <a:xfrm>
            <a:off x="11725835" y="6402070"/>
            <a:ext cx="386155" cy="365125"/>
          </a:xfrm>
        </p:spPr>
        <p:txBody>
          <a:bodyPr/>
          <a:lstStyle/>
          <a:p>
            <a:pPr algn="ctr"/>
            <a:fld id="{E757BAED-F255-4CF1-96BA-8D7417A9C3BC}" type="slidenum">
              <a:rPr lang="ru-RU" sz="1800" smtClean="0">
                <a:latin typeface="Ubuntu Condensed" panose="020B0506030602030204" pitchFamily="34" charset="0"/>
              </a:rPr>
              <a:pPr algn="ctr"/>
              <a:t>12</a:t>
            </a:fld>
            <a:endParaRPr lang="ru-RU" sz="1800">
              <a:latin typeface="Ubuntu Condensed" panose="020B0506030602030204" pitchFamily="34" charset="0"/>
            </a:endParaRPr>
          </a:p>
        </p:txBody>
      </p:sp>
      <p:sp>
        <p:nvSpPr>
          <p:cNvPr id="2" name="TextBox 1">
            <a:extLst>
              <a:ext uri="{FF2B5EF4-FFF2-40B4-BE49-F238E27FC236}">
                <a16:creationId xmlns:a16="http://schemas.microsoft.com/office/drawing/2014/main" id="{37378D6E-5A4B-3259-7C19-8DE98DB8E772}"/>
              </a:ext>
            </a:extLst>
          </p:cNvPr>
          <p:cNvSpPr txBox="1"/>
          <p:nvPr/>
        </p:nvSpPr>
        <p:spPr>
          <a:xfrm>
            <a:off x="3040381" y="649367"/>
            <a:ext cx="4178075" cy="646331"/>
          </a:xfrm>
          <a:prstGeom prst="rect">
            <a:avLst/>
          </a:prstGeom>
          <a:noFill/>
        </p:spPr>
        <p:txBody>
          <a:bodyPr wrap="square">
            <a:spAutoFit/>
          </a:bodyPr>
          <a:lstStyle/>
          <a:p>
            <a:r>
              <a:rPr lang="en-US" sz="1200" b="1"/>
              <a:t>Before</a:t>
            </a:r>
          </a:p>
          <a:p>
            <a:r>
              <a:rPr lang="en-US" sz="1200">
                <a:latin typeface="Inter"/>
              </a:rPr>
              <a:t>A dedicated communication channel between a rendering thread and a logic thread</a:t>
            </a:r>
            <a:endParaRPr lang="en-US" sz="1200"/>
          </a:p>
        </p:txBody>
      </p:sp>
      <p:sp>
        <p:nvSpPr>
          <p:cNvPr id="3" name="TextBox 2">
            <a:extLst>
              <a:ext uri="{FF2B5EF4-FFF2-40B4-BE49-F238E27FC236}">
                <a16:creationId xmlns:a16="http://schemas.microsoft.com/office/drawing/2014/main" id="{54DF2E46-EFF6-87A0-8EF3-DC072847E000}"/>
              </a:ext>
            </a:extLst>
          </p:cNvPr>
          <p:cNvSpPr txBox="1"/>
          <p:nvPr/>
        </p:nvSpPr>
        <p:spPr>
          <a:xfrm>
            <a:off x="3040381" y="1295698"/>
            <a:ext cx="4178076" cy="822020"/>
          </a:xfrm>
          <a:prstGeom prst="rect">
            <a:avLst/>
          </a:prstGeom>
          <a:solidFill>
            <a:srgbClr val="1F1F1F"/>
          </a:solidFill>
        </p:spPr>
        <p:txBody>
          <a:bodyPr wrap="square">
            <a:spAutoFit/>
          </a:bodyPr>
          <a:lstStyle/>
          <a:p>
            <a:pPr>
              <a:lnSpc>
                <a:spcPct val="120000"/>
              </a:lnSpc>
              <a:buNone/>
            </a:pPr>
            <a:r>
              <a:rPr lang="en-SG" sz="800" b="0">
                <a:solidFill>
                  <a:srgbClr val="6A9955"/>
                </a:solidFill>
                <a:effectLst/>
                <a:latin typeface="JetBrains Mono" panose="02000009000000000000" pitchFamily="49" charset="0"/>
              </a:rPr>
              <a:t>// Hint: Single Producer, Single Consumer</a:t>
            </a:r>
            <a:endParaRPr lang="en-SG" sz="800" b="0">
              <a:solidFill>
                <a:srgbClr val="CCCCCC"/>
              </a:solidFill>
              <a:effectLst/>
              <a:latin typeface="JetBrains Mono" panose="02000009000000000000" pitchFamily="49" charset="0"/>
            </a:endParaRPr>
          </a:p>
          <a:p>
            <a:pPr>
              <a:lnSpc>
                <a:spcPct val="120000"/>
              </a:lnSpc>
              <a:buNone/>
            </a:pPr>
            <a:r>
              <a:rPr lang="en-SG" sz="800" b="0">
                <a:solidFill>
                  <a:srgbClr val="CCCCCC"/>
                </a:solidFill>
                <a:effectLst/>
                <a:latin typeface="JetBrains Mono" panose="02000009000000000000" pitchFamily="49" charset="0"/>
              </a:rPr>
              <a:t>[[</a:t>
            </a:r>
            <a:r>
              <a:rPr lang="en-SG" sz="800" b="0">
                <a:solidFill>
                  <a:srgbClr val="4EC9B0"/>
                </a:solidFill>
                <a:effectLst/>
                <a:latin typeface="JetBrains Mono" panose="02000009000000000000" pitchFamily="49" charset="0"/>
              </a:rPr>
              <a:t>sync</a:t>
            </a:r>
            <a:r>
              <a:rPr lang="en-SG" sz="800" b="0">
                <a:solidFill>
                  <a:srgbClr val="CCCCCC"/>
                </a:solidFill>
                <a:effectLst/>
                <a:latin typeface="JetBrains Mono" panose="02000009000000000000" pitchFamily="49" charset="0"/>
              </a:rPr>
              <a:t>::</a:t>
            </a:r>
            <a:r>
              <a:rPr lang="en-SG" sz="800" b="0">
                <a:solidFill>
                  <a:srgbClr val="4EC9B0"/>
                </a:solidFill>
                <a:effectLst/>
                <a:latin typeface="JetBrains Mono" panose="02000009000000000000" pitchFamily="49" charset="0"/>
              </a:rPr>
              <a:t>topology</a:t>
            </a:r>
            <a:r>
              <a:rPr lang="en-SG" sz="800" b="0">
                <a:solidFill>
                  <a:srgbClr val="CCCCCC"/>
                </a:solidFill>
                <a:effectLst/>
                <a:latin typeface="JetBrains Mono" panose="02000009000000000000" pitchFamily="49" charset="0"/>
              </a:rPr>
              <a:t>(</a:t>
            </a:r>
            <a:r>
              <a:rPr lang="en-SG" sz="800" b="0">
                <a:solidFill>
                  <a:srgbClr val="CE9178"/>
                </a:solidFill>
                <a:effectLst/>
                <a:latin typeface="JetBrains Mono" panose="02000009000000000000" pitchFamily="49" charset="0"/>
              </a:rPr>
              <a:t>"</a:t>
            </a:r>
            <a:r>
              <a:rPr lang="en-SG" sz="800" b="0" err="1">
                <a:solidFill>
                  <a:srgbClr val="CE9178"/>
                </a:solidFill>
                <a:effectLst/>
                <a:latin typeface="JetBrains Mono" panose="02000009000000000000" pitchFamily="49" charset="0"/>
              </a:rPr>
              <a:t>spsc</a:t>
            </a:r>
            <a:r>
              <a:rPr lang="en-SG" sz="800" b="0">
                <a:solidFill>
                  <a:srgbClr val="CE9178"/>
                </a:solidFill>
                <a:effectLst/>
                <a:latin typeface="JetBrains Mono" panose="02000009000000000000" pitchFamily="49" charset="0"/>
              </a:rPr>
              <a:t>"</a:t>
            </a:r>
            <a:r>
              <a:rPr lang="en-SG" sz="800" b="0">
                <a:solidFill>
                  <a:srgbClr val="CCCCCC"/>
                </a:solidFill>
                <a:effectLst/>
                <a:latin typeface="JetBrains Mono" panose="02000009000000000000" pitchFamily="49" charset="0"/>
              </a:rPr>
              <a:t>)]]</a:t>
            </a:r>
          </a:p>
          <a:p>
            <a:pPr>
              <a:lnSpc>
                <a:spcPct val="120000"/>
              </a:lnSpc>
              <a:buNone/>
            </a:pPr>
            <a:r>
              <a:rPr lang="en-SG" sz="800" b="0" err="1">
                <a:solidFill>
                  <a:srgbClr val="CCCCCC"/>
                </a:solidFill>
                <a:effectLst/>
                <a:latin typeface="JetBrains Mono" panose="02000009000000000000" pitchFamily="49" charset="0"/>
              </a:rPr>
              <a:t>ConcurrentQueue</a:t>
            </a:r>
            <a:r>
              <a:rPr lang="en-SG" sz="800" b="0">
                <a:solidFill>
                  <a:srgbClr val="D4D4D4"/>
                </a:solidFill>
                <a:effectLst/>
                <a:latin typeface="JetBrains Mono" panose="02000009000000000000" pitchFamily="49" charset="0"/>
              </a:rPr>
              <a:t>&lt;</a:t>
            </a:r>
            <a:r>
              <a:rPr lang="en-SG" sz="800" b="0">
                <a:solidFill>
                  <a:srgbClr val="CCCCCC"/>
                </a:solidFill>
                <a:effectLst/>
                <a:latin typeface="JetBrains Mono" panose="02000009000000000000" pitchFamily="49" charset="0"/>
              </a:rPr>
              <a:t>Frame </a:t>
            </a:r>
            <a:r>
              <a:rPr lang="en-SG" sz="800" b="0">
                <a:solidFill>
                  <a:srgbClr val="D4D4D4"/>
                </a:solidFill>
                <a:effectLst/>
                <a:latin typeface="JetBrains Mono" panose="02000009000000000000" pitchFamily="49" charset="0"/>
              </a:rPr>
              <a:t>*&gt;</a:t>
            </a:r>
            <a:r>
              <a:rPr lang="en-SG" sz="800" b="0">
                <a:solidFill>
                  <a:srgbClr val="CCCCCC"/>
                </a:solidFill>
                <a:effectLst/>
                <a:latin typeface="JetBrains Mono" panose="02000009000000000000" pitchFamily="49" charset="0"/>
              </a:rPr>
              <a:t> </a:t>
            </a:r>
            <a:r>
              <a:rPr lang="en-SG" sz="800" b="0" err="1">
                <a:solidFill>
                  <a:srgbClr val="9CDCFE"/>
                </a:solidFill>
                <a:effectLst/>
                <a:latin typeface="JetBrains Mono" panose="02000009000000000000" pitchFamily="49" charset="0"/>
              </a:rPr>
              <a:t>render_queue</a:t>
            </a:r>
            <a:r>
              <a:rPr lang="en-SG" sz="800" b="0">
                <a:solidFill>
                  <a:srgbClr val="CCCCCC"/>
                </a:solidFill>
                <a:effectLst/>
                <a:latin typeface="JetBrains Mono" panose="02000009000000000000" pitchFamily="49" charset="0"/>
              </a:rPr>
              <a:t>;</a:t>
            </a:r>
          </a:p>
          <a:p>
            <a:pPr>
              <a:lnSpc>
                <a:spcPct val="120000"/>
              </a:lnSpc>
              <a:buNone/>
            </a:pPr>
            <a:endParaRPr lang="en-SG" sz="800" b="0">
              <a:solidFill>
                <a:srgbClr val="CCCCCC"/>
              </a:solidFill>
              <a:effectLst/>
              <a:latin typeface="JetBrains Mono" panose="02000009000000000000" pitchFamily="49" charset="0"/>
            </a:endParaRPr>
          </a:p>
          <a:p>
            <a:pPr>
              <a:lnSpc>
                <a:spcPct val="120000"/>
              </a:lnSpc>
              <a:buNone/>
            </a:pPr>
            <a:r>
              <a:rPr lang="en-SG" sz="800" b="0">
                <a:solidFill>
                  <a:srgbClr val="569CD6"/>
                </a:solidFill>
                <a:effectLst/>
                <a:latin typeface="JetBrains Mono" panose="02000009000000000000" pitchFamily="49" charset="0"/>
              </a:rPr>
              <a:t>void</a:t>
            </a:r>
            <a:r>
              <a:rPr lang="en-SG" sz="800" b="0">
                <a:solidFill>
                  <a:srgbClr val="CCCCCC"/>
                </a:solidFill>
                <a:effectLst/>
                <a:latin typeface="JetBrains Mono" panose="02000009000000000000" pitchFamily="49" charset="0"/>
              </a:rPr>
              <a:t> </a:t>
            </a:r>
            <a:r>
              <a:rPr lang="en-SG" sz="800" b="0" err="1">
                <a:solidFill>
                  <a:srgbClr val="9CDCFE"/>
                </a:solidFill>
                <a:effectLst/>
                <a:latin typeface="JetBrains Mono" panose="02000009000000000000" pitchFamily="49" charset="0"/>
              </a:rPr>
              <a:t>submit_frame</a:t>
            </a:r>
            <a:r>
              <a:rPr lang="en-SG" sz="800" b="0">
                <a:solidFill>
                  <a:srgbClr val="CCCCCC"/>
                </a:solidFill>
                <a:effectLst/>
                <a:latin typeface="JetBrains Mono" panose="02000009000000000000" pitchFamily="49" charset="0"/>
              </a:rPr>
              <a:t>(</a:t>
            </a:r>
            <a:r>
              <a:rPr lang="en-SG" sz="800" b="0">
                <a:solidFill>
                  <a:srgbClr val="4EC9B0"/>
                </a:solidFill>
                <a:effectLst/>
                <a:latin typeface="JetBrains Mono" panose="02000009000000000000" pitchFamily="49" charset="0"/>
              </a:rPr>
              <a:t>Frame</a:t>
            </a:r>
            <a:r>
              <a:rPr lang="en-SG" sz="800" b="0">
                <a:solidFill>
                  <a:srgbClr val="CCCCCC"/>
                </a:solidFill>
                <a:effectLst/>
                <a:latin typeface="JetBrains Mono" panose="02000009000000000000" pitchFamily="49" charset="0"/>
              </a:rPr>
              <a:t> </a:t>
            </a:r>
            <a:r>
              <a:rPr lang="en-SG" sz="800" b="0">
                <a:solidFill>
                  <a:srgbClr val="569CD6"/>
                </a:solidFill>
                <a:effectLst/>
                <a:latin typeface="JetBrains Mono" panose="02000009000000000000" pitchFamily="49" charset="0"/>
              </a:rPr>
              <a:t>*</a:t>
            </a:r>
            <a:r>
              <a:rPr lang="en-SG" sz="800" b="0">
                <a:solidFill>
                  <a:srgbClr val="9CDCFE"/>
                </a:solidFill>
                <a:effectLst/>
                <a:latin typeface="JetBrains Mono" panose="02000009000000000000" pitchFamily="49" charset="0"/>
              </a:rPr>
              <a:t>f</a:t>
            </a:r>
            <a:r>
              <a:rPr lang="en-SG" sz="800" b="0">
                <a:solidFill>
                  <a:srgbClr val="CCCCCC"/>
                </a:solidFill>
                <a:effectLst/>
                <a:latin typeface="JetBrains Mono" panose="02000009000000000000" pitchFamily="49" charset="0"/>
              </a:rPr>
              <a:t>) { </a:t>
            </a:r>
            <a:r>
              <a:rPr lang="en-SG" sz="800" b="0" err="1">
                <a:solidFill>
                  <a:srgbClr val="9CDCFE"/>
                </a:solidFill>
                <a:effectLst/>
                <a:latin typeface="JetBrains Mono" panose="02000009000000000000" pitchFamily="49" charset="0"/>
              </a:rPr>
              <a:t>render_queue</a:t>
            </a:r>
            <a:r>
              <a:rPr lang="en-SG" sz="800" b="0" err="1">
                <a:solidFill>
                  <a:srgbClr val="CCCCCC"/>
                </a:solidFill>
                <a:effectLst/>
                <a:latin typeface="JetBrains Mono" panose="02000009000000000000" pitchFamily="49" charset="0"/>
              </a:rPr>
              <a:t>.</a:t>
            </a:r>
            <a:r>
              <a:rPr lang="en-SG" sz="800" b="0" err="1">
                <a:solidFill>
                  <a:srgbClr val="DCDCAA"/>
                </a:solidFill>
                <a:effectLst/>
                <a:latin typeface="JetBrains Mono" panose="02000009000000000000" pitchFamily="49" charset="0"/>
              </a:rPr>
              <a:t>push</a:t>
            </a:r>
            <a:r>
              <a:rPr lang="en-SG" sz="800" b="0">
                <a:solidFill>
                  <a:srgbClr val="CCCCCC"/>
                </a:solidFill>
                <a:effectLst/>
                <a:latin typeface="JetBrains Mono" panose="02000009000000000000" pitchFamily="49" charset="0"/>
              </a:rPr>
              <a:t>(f); }</a:t>
            </a:r>
          </a:p>
        </p:txBody>
      </p:sp>
      <p:sp>
        <p:nvSpPr>
          <p:cNvPr id="5" name="TextBox 4">
            <a:extLst>
              <a:ext uri="{FF2B5EF4-FFF2-40B4-BE49-F238E27FC236}">
                <a16:creationId xmlns:a16="http://schemas.microsoft.com/office/drawing/2014/main" id="{3489D8E1-EBCD-971B-3D23-4630F730BFE5}"/>
              </a:ext>
            </a:extLst>
          </p:cNvPr>
          <p:cNvSpPr txBox="1"/>
          <p:nvPr/>
        </p:nvSpPr>
        <p:spPr>
          <a:xfrm>
            <a:off x="7467599" y="646854"/>
            <a:ext cx="4490490" cy="461665"/>
          </a:xfrm>
          <a:prstGeom prst="rect">
            <a:avLst/>
          </a:prstGeom>
          <a:noFill/>
        </p:spPr>
        <p:txBody>
          <a:bodyPr wrap="square">
            <a:spAutoFit/>
          </a:bodyPr>
          <a:lstStyle>
            <a:defPPr>
              <a:defRPr lang="ru-RU"/>
            </a:defPPr>
            <a:lvl1pPr>
              <a:defRPr sz="1200" b="1"/>
            </a:lvl1pPr>
          </a:lstStyle>
          <a:p>
            <a:r>
              <a:rPr lang="en-US"/>
              <a:t>After (Lamport Ring)</a:t>
            </a:r>
          </a:p>
          <a:p>
            <a:r>
              <a:rPr lang="en-US" b="0"/>
              <a:t>The compiler removes LOCK XCHG or CAS instructions.</a:t>
            </a:r>
            <a:endParaRPr lang="en-SG"/>
          </a:p>
        </p:txBody>
      </p:sp>
      <p:sp>
        <p:nvSpPr>
          <p:cNvPr id="6" name="Rectangle 2">
            <a:extLst>
              <a:ext uri="{FF2B5EF4-FFF2-40B4-BE49-F238E27FC236}">
                <a16:creationId xmlns:a16="http://schemas.microsoft.com/office/drawing/2014/main" id="{F1731984-540A-AD79-31C0-81A4599BD0B8}"/>
              </a:ext>
            </a:extLst>
          </p:cNvPr>
          <p:cNvSpPr>
            <a:spLocks noChangeArrowheads="1"/>
          </p:cNvSpPr>
          <p:nvPr/>
        </p:nvSpPr>
        <p:spPr bwMode="auto">
          <a:xfrm>
            <a:off x="233911" y="646854"/>
            <a:ext cx="273027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fr-FR" b="1">
                <a:solidFill>
                  <a:srgbClr val="3333FF"/>
                </a:solidFill>
              </a:rPr>
              <a:t>3. </a:t>
            </a:r>
            <a:r>
              <a:rPr lang="en-US" b="1">
                <a:solidFill>
                  <a:srgbClr val="3333FF"/>
                </a:solidFill>
              </a:rPr>
              <a:t>Topology Hints (sync::topology)</a:t>
            </a:r>
            <a:endParaRPr lang="fr-FR" b="1">
              <a:solidFill>
                <a:srgbClr val="3333FF"/>
              </a:solidFill>
            </a:endParaRPr>
          </a:p>
        </p:txBody>
      </p:sp>
      <p:sp>
        <p:nvSpPr>
          <p:cNvPr id="8" name="TextBox 7">
            <a:extLst>
              <a:ext uri="{FF2B5EF4-FFF2-40B4-BE49-F238E27FC236}">
                <a16:creationId xmlns:a16="http://schemas.microsoft.com/office/drawing/2014/main" id="{FD742581-4D95-C0EA-F0DD-3A052B571094}"/>
              </a:ext>
            </a:extLst>
          </p:cNvPr>
          <p:cNvSpPr txBox="1"/>
          <p:nvPr/>
        </p:nvSpPr>
        <p:spPr>
          <a:xfrm>
            <a:off x="7467600" y="1108519"/>
            <a:ext cx="4490492" cy="1785361"/>
          </a:xfrm>
          <a:prstGeom prst="rect">
            <a:avLst/>
          </a:prstGeom>
          <a:solidFill>
            <a:srgbClr val="1F1F1F"/>
          </a:solidFill>
        </p:spPr>
        <p:txBody>
          <a:bodyPr wrap="square">
            <a:spAutoFit/>
          </a:bodyPr>
          <a:lstStyle/>
          <a:p>
            <a:pPr>
              <a:lnSpc>
                <a:spcPct val="120000"/>
              </a:lnSpc>
              <a:buNone/>
            </a:pPr>
            <a:r>
              <a:rPr lang="en-SG" sz="800" b="0">
                <a:solidFill>
                  <a:srgbClr val="569CD6"/>
                </a:solidFill>
                <a:effectLst/>
                <a:latin typeface="JetBrains Mono" panose="02000009000000000000" pitchFamily="49" charset="0"/>
              </a:rPr>
              <a:t>struct</a:t>
            </a:r>
            <a:r>
              <a:rPr lang="en-SG" sz="800" b="0">
                <a:solidFill>
                  <a:srgbClr val="CCCCCC"/>
                </a:solidFill>
                <a:effectLst/>
                <a:latin typeface="JetBrains Mono" panose="02000009000000000000" pitchFamily="49" charset="0"/>
              </a:rPr>
              <a:t> </a:t>
            </a:r>
            <a:r>
              <a:rPr lang="en-SG" sz="800" b="0" err="1">
                <a:solidFill>
                  <a:srgbClr val="4EC9B0"/>
                </a:solidFill>
                <a:effectLst/>
                <a:latin typeface="JetBrains Mono" panose="02000009000000000000" pitchFamily="49" charset="0"/>
              </a:rPr>
              <a:t>SPSCQueue</a:t>
            </a:r>
            <a:r>
              <a:rPr lang="en-SG" sz="800" b="0">
                <a:solidFill>
                  <a:srgbClr val="CCCCCC"/>
                </a:solidFill>
                <a:effectLst/>
                <a:latin typeface="JetBrains Mono" panose="02000009000000000000" pitchFamily="49" charset="0"/>
              </a:rPr>
              <a:t> {</a:t>
            </a:r>
          </a:p>
          <a:p>
            <a:pPr>
              <a:lnSpc>
                <a:spcPct val="120000"/>
              </a:lnSpc>
              <a:buNone/>
            </a:pPr>
            <a:r>
              <a:rPr lang="en-SG" sz="800" b="0">
                <a:solidFill>
                  <a:srgbClr val="CCCCCC"/>
                </a:solidFill>
                <a:effectLst/>
                <a:latin typeface="JetBrains Mono" panose="02000009000000000000" pitchFamily="49" charset="0"/>
              </a:rPr>
              <a:t>  </a:t>
            </a:r>
            <a:r>
              <a:rPr lang="en-SG" sz="800" b="0" err="1">
                <a:solidFill>
                  <a:srgbClr val="4EC9B0"/>
                </a:solidFill>
                <a:effectLst/>
                <a:latin typeface="JetBrains Mono" panose="02000009000000000000" pitchFamily="49" charset="0"/>
              </a:rPr>
              <a:t>atomic_size_t</a:t>
            </a:r>
            <a:r>
              <a:rPr lang="en-SG" sz="800" b="0">
                <a:solidFill>
                  <a:srgbClr val="CCCCCC"/>
                </a:solidFill>
                <a:effectLst/>
                <a:latin typeface="JetBrains Mono" panose="02000009000000000000" pitchFamily="49" charset="0"/>
              </a:rPr>
              <a:t> </a:t>
            </a:r>
            <a:r>
              <a:rPr lang="en-SG" sz="800" b="0">
                <a:solidFill>
                  <a:srgbClr val="9CDCFE"/>
                </a:solidFill>
                <a:effectLst/>
                <a:latin typeface="JetBrains Mono" panose="02000009000000000000" pitchFamily="49" charset="0"/>
              </a:rPr>
              <a:t>head, tail</a:t>
            </a:r>
            <a:r>
              <a:rPr lang="en-SG" sz="800" b="0">
                <a:solidFill>
                  <a:srgbClr val="CCCCCC"/>
                </a:solidFill>
                <a:effectLst/>
                <a:latin typeface="JetBrains Mono" panose="02000009000000000000" pitchFamily="49" charset="0"/>
              </a:rPr>
              <a:t>;</a:t>
            </a:r>
          </a:p>
          <a:p>
            <a:pPr>
              <a:lnSpc>
                <a:spcPct val="120000"/>
              </a:lnSpc>
              <a:buNone/>
            </a:pPr>
            <a:r>
              <a:rPr lang="en-SG" sz="800" b="0">
                <a:solidFill>
                  <a:srgbClr val="CCCCCC"/>
                </a:solidFill>
                <a:effectLst/>
                <a:latin typeface="JetBrains Mono" panose="02000009000000000000" pitchFamily="49" charset="0"/>
              </a:rPr>
              <a:t>  Frame </a:t>
            </a:r>
            <a:r>
              <a:rPr lang="en-SG" sz="800" b="0">
                <a:solidFill>
                  <a:srgbClr val="D4D4D4"/>
                </a:solidFill>
                <a:effectLst/>
                <a:latin typeface="JetBrains Mono" panose="02000009000000000000" pitchFamily="49" charset="0"/>
              </a:rPr>
              <a:t>*</a:t>
            </a:r>
            <a:r>
              <a:rPr lang="en-SG" sz="800" b="0">
                <a:solidFill>
                  <a:srgbClr val="9CDCFE"/>
                </a:solidFill>
                <a:effectLst/>
                <a:latin typeface="JetBrains Mono" panose="02000009000000000000" pitchFamily="49" charset="0"/>
              </a:rPr>
              <a:t>buffer</a:t>
            </a:r>
            <a:r>
              <a:rPr lang="en-SG" sz="800" b="0">
                <a:solidFill>
                  <a:srgbClr val="CCCCCC"/>
                </a:solidFill>
                <a:effectLst/>
                <a:latin typeface="JetBrains Mono" panose="02000009000000000000" pitchFamily="49" charset="0"/>
              </a:rPr>
              <a:t>[</a:t>
            </a:r>
            <a:r>
              <a:rPr lang="en-SG" sz="800" b="0">
                <a:solidFill>
                  <a:srgbClr val="B5CEA8"/>
                </a:solidFill>
                <a:effectLst/>
                <a:latin typeface="JetBrains Mono" panose="02000009000000000000" pitchFamily="49" charset="0"/>
              </a:rPr>
              <a:t>1024</a:t>
            </a:r>
            <a:r>
              <a:rPr lang="en-SG" sz="800" b="0">
                <a:solidFill>
                  <a:srgbClr val="CCCCCC"/>
                </a:solidFill>
                <a:effectLst/>
                <a:latin typeface="JetBrains Mono" panose="02000009000000000000" pitchFamily="49" charset="0"/>
              </a:rPr>
              <a:t>]; </a:t>
            </a:r>
          </a:p>
          <a:p>
            <a:pPr>
              <a:lnSpc>
                <a:spcPct val="120000"/>
              </a:lnSpc>
              <a:buNone/>
            </a:pPr>
            <a:r>
              <a:rPr lang="en-SG" sz="800" b="0">
                <a:solidFill>
                  <a:srgbClr val="CCCCCC"/>
                </a:solidFill>
                <a:effectLst/>
                <a:latin typeface="JetBrains Mono" panose="02000009000000000000" pitchFamily="49" charset="0"/>
              </a:rPr>
              <a:t>};</a:t>
            </a:r>
          </a:p>
          <a:p>
            <a:pPr>
              <a:lnSpc>
                <a:spcPct val="120000"/>
              </a:lnSpc>
              <a:spcBef>
                <a:spcPts val="600"/>
              </a:spcBef>
              <a:buNone/>
            </a:pPr>
            <a:r>
              <a:rPr lang="en-SG" sz="800" b="0">
                <a:solidFill>
                  <a:srgbClr val="569CD6"/>
                </a:solidFill>
                <a:effectLst/>
                <a:latin typeface="JetBrains Mono" panose="02000009000000000000" pitchFamily="49" charset="0"/>
              </a:rPr>
              <a:t>void</a:t>
            </a:r>
            <a:r>
              <a:rPr lang="en-SG" sz="800" b="0">
                <a:solidFill>
                  <a:srgbClr val="CCCCCC"/>
                </a:solidFill>
                <a:effectLst/>
                <a:latin typeface="JetBrains Mono" panose="02000009000000000000" pitchFamily="49" charset="0"/>
              </a:rPr>
              <a:t> </a:t>
            </a:r>
            <a:r>
              <a:rPr lang="en-SG" sz="800" b="0" err="1">
                <a:solidFill>
                  <a:srgbClr val="DCDCAA"/>
                </a:solidFill>
                <a:effectLst/>
                <a:latin typeface="JetBrains Mono" panose="02000009000000000000" pitchFamily="49" charset="0"/>
              </a:rPr>
              <a:t>submit_frame_optimized</a:t>
            </a:r>
            <a:r>
              <a:rPr lang="en-SG" sz="800" b="0">
                <a:solidFill>
                  <a:srgbClr val="CCCCCC"/>
                </a:solidFill>
                <a:effectLst/>
                <a:latin typeface="JetBrains Mono" panose="02000009000000000000" pitchFamily="49" charset="0"/>
              </a:rPr>
              <a:t>(</a:t>
            </a:r>
            <a:r>
              <a:rPr lang="en-SG" sz="800" b="0" err="1">
                <a:solidFill>
                  <a:srgbClr val="4EC9B0"/>
                </a:solidFill>
                <a:effectLst/>
                <a:latin typeface="JetBrains Mono" panose="02000009000000000000" pitchFamily="49" charset="0"/>
              </a:rPr>
              <a:t>SPSCQueue</a:t>
            </a:r>
            <a:r>
              <a:rPr lang="en-SG" sz="800" b="0">
                <a:solidFill>
                  <a:srgbClr val="CCCCCC"/>
                </a:solidFill>
                <a:effectLst/>
                <a:latin typeface="JetBrains Mono" panose="02000009000000000000" pitchFamily="49" charset="0"/>
              </a:rPr>
              <a:t> </a:t>
            </a:r>
            <a:r>
              <a:rPr lang="en-SG" sz="800" b="0">
                <a:solidFill>
                  <a:srgbClr val="569CD6"/>
                </a:solidFill>
                <a:effectLst/>
                <a:latin typeface="JetBrains Mono" panose="02000009000000000000" pitchFamily="49" charset="0"/>
              </a:rPr>
              <a:t>*</a:t>
            </a:r>
            <a:r>
              <a:rPr lang="en-SG" sz="800" b="0">
                <a:solidFill>
                  <a:srgbClr val="9CDCFE"/>
                </a:solidFill>
                <a:effectLst/>
                <a:latin typeface="JetBrains Mono" panose="02000009000000000000" pitchFamily="49" charset="0"/>
              </a:rPr>
              <a:t>q</a:t>
            </a:r>
            <a:r>
              <a:rPr lang="en-SG" sz="800" b="0">
                <a:solidFill>
                  <a:srgbClr val="CCCCCC"/>
                </a:solidFill>
                <a:effectLst/>
                <a:latin typeface="JetBrains Mono" panose="02000009000000000000" pitchFamily="49" charset="0"/>
              </a:rPr>
              <a:t>, </a:t>
            </a:r>
            <a:r>
              <a:rPr lang="en-SG" sz="800" b="0">
                <a:solidFill>
                  <a:srgbClr val="4EC9B0"/>
                </a:solidFill>
                <a:effectLst/>
                <a:latin typeface="JetBrains Mono" panose="02000009000000000000" pitchFamily="49" charset="0"/>
              </a:rPr>
              <a:t>Frame</a:t>
            </a:r>
            <a:r>
              <a:rPr lang="en-SG" sz="800" b="0">
                <a:solidFill>
                  <a:srgbClr val="CCCCCC"/>
                </a:solidFill>
                <a:effectLst/>
                <a:latin typeface="JetBrains Mono" panose="02000009000000000000" pitchFamily="49" charset="0"/>
              </a:rPr>
              <a:t> </a:t>
            </a:r>
            <a:r>
              <a:rPr lang="en-SG" sz="800" b="0">
                <a:solidFill>
                  <a:srgbClr val="569CD6"/>
                </a:solidFill>
                <a:effectLst/>
                <a:latin typeface="JetBrains Mono" panose="02000009000000000000" pitchFamily="49" charset="0"/>
              </a:rPr>
              <a:t>*</a:t>
            </a:r>
            <a:r>
              <a:rPr lang="en-SG" sz="800" b="0">
                <a:solidFill>
                  <a:srgbClr val="9CDCFE"/>
                </a:solidFill>
                <a:effectLst/>
                <a:latin typeface="JetBrains Mono" panose="02000009000000000000" pitchFamily="49" charset="0"/>
              </a:rPr>
              <a:t>f</a:t>
            </a:r>
            <a:r>
              <a:rPr lang="en-SG" sz="800" b="0">
                <a:solidFill>
                  <a:srgbClr val="CCCCCC"/>
                </a:solidFill>
                <a:effectLst/>
                <a:latin typeface="JetBrains Mono" panose="02000009000000000000" pitchFamily="49" charset="0"/>
              </a:rPr>
              <a:t>) {</a:t>
            </a:r>
          </a:p>
          <a:p>
            <a:pPr>
              <a:lnSpc>
                <a:spcPct val="120000"/>
              </a:lnSpc>
              <a:buNone/>
            </a:pPr>
            <a:r>
              <a:rPr lang="en-SG" sz="800" b="0">
                <a:solidFill>
                  <a:srgbClr val="CCCCCC"/>
                </a:solidFill>
                <a:effectLst/>
                <a:latin typeface="JetBrains Mono" panose="02000009000000000000" pitchFamily="49" charset="0"/>
              </a:rPr>
              <a:t>  </a:t>
            </a:r>
            <a:r>
              <a:rPr lang="en-SG" sz="800" b="0" err="1">
                <a:solidFill>
                  <a:srgbClr val="569CD6"/>
                </a:solidFill>
                <a:effectLst/>
                <a:latin typeface="JetBrains Mono" panose="02000009000000000000" pitchFamily="49" charset="0"/>
              </a:rPr>
              <a:t>size_t</a:t>
            </a:r>
            <a:r>
              <a:rPr lang="en-SG" sz="800" b="0">
                <a:solidFill>
                  <a:srgbClr val="CCCCCC"/>
                </a:solidFill>
                <a:effectLst/>
                <a:latin typeface="JetBrains Mono" panose="02000009000000000000" pitchFamily="49" charset="0"/>
              </a:rPr>
              <a:t> </a:t>
            </a:r>
            <a:r>
              <a:rPr lang="en-SG" sz="800" b="0">
                <a:solidFill>
                  <a:srgbClr val="9CDCFE"/>
                </a:solidFill>
                <a:effectLst/>
                <a:latin typeface="JetBrains Mono" panose="02000009000000000000" pitchFamily="49" charset="0"/>
              </a:rPr>
              <a:t>t</a:t>
            </a:r>
            <a:r>
              <a:rPr lang="en-SG" sz="800" b="0">
                <a:solidFill>
                  <a:srgbClr val="CCCCCC"/>
                </a:solidFill>
                <a:effectLst/>
                <a:latin typeface="JetBrains Mono" panose="02000009000000000000" pitchFamily="49" charset="0"/>
              </a:rPr>
              <a:t> </a:t>
            </a:r>
            <a:r>
              <a:rPr lang="en-SG" sz="800" b="0">
                <a:solidFill>
                  <a:srgbClr val="D4D4D4"/>
                </a:solidFill>
                <a:effectLst/>
                <a:latin typeface="JetBrains Mono" panose="02000009000000000000" pitchFamily="49" charset="0"/>
              </a:rPr>
              <a:t>=</a:t>
            </a:r>
            <a:r>
              <a:rPr lang="en-SG" sz="800" b="0">
                <a:solidFill>
                  <a:srgbClr val="CCCCCC"/>
                </a:solidFill>
                <a:effectLst/>
                <a:latin typeface="JetBrains Mono" panose="02000009000000000000" pitchFamily="49" charset="0"/>
              </a:rPr>
              <a:t> </a:t>
            </a:r>
            <a:r>
              <a:rPr lang="en-SG" sz="800" b="0" err="1">
                <a:solidFill>
                  <a:srgbClr val="DCDCAA"/>
                </a:solidFill>
                <a:effectLst/>
                <a:latin typeface="JetBrains Mono" panose="02000009000000000000" pitchFamily="49" charset="0"/>
              </a:rPr>
              <a:t>atomic_load</a:t>
            </a:r>
            <a:r>
              <a:rPr lang="en-SG" sz="800" b="0">
                <a:solidFill>
                  <a:srgbClr val="CCCCCC"/>
                </a:solidFill>
                <a:effectLst/>
                <a:latin typeface="JetBrains Mono" panose="02000009000000000000" pitchFamily="49" charset="0"/>
              </a:rPr>
              <a:t>(</a:t>
            </a:r>
            <a:r>
              <a:rPr lang="en-SG" sz="800" b="0">
                <a:solidFill>
                  <a:srgbClr val="D4D4D4"/>
                </a:solidFill>
                <a:effectLst/>
                <a:latin typeface="JetBrains Mono" panose="02000009000000000000" pitchFamily="49" charset="0"/>
              </a:rPr>
              <a:t>&amp;</a:t>
            </a:r>
            <a:r>
              <a:rPr lang="en-SG" sz="800" b="0">
                <a:solidFill>
                  <a:srgbClr val="9CDCFE"/>
                </a:solidFill>
                <a:effectLst/>
                <a:latin typeface="JetBrains Mono" panose="02000009000000000000" pitchFamily="49" charset="0"/>
              </a:rPr>
              <a:t>q</a:t>
            </a:r>
            <a:r>
              <a:rPr lang="en-SG" sz="800" b="0">
                <a:solidFill>
                  <a:srgbClr val="CCCCCC"/>
                </a:solidFill>
                <a:effectLst/>
                <a:latin typeface="JetBrains Mono" panose="02000009000000000000" pitchFamily="49" charset="0"/>
              </a:rPr>
              <a:t>-&gt;</a:t>
            </a:r>
            <a:r>
              <a:rPr lang="en-SG" sz="800" b="0">
                <a:solidFill>
                  <a:srgbClr val="9CDCFE"/>
                </a:solidFill>
                <a:effectLst/>
                <a:latin typeface="JetBrains Mono" panose="02000009000000000000" pitchFamily="49" charset="0"/>
              </a:rPr>
              <a:t>tail</a:t>
            </a:r>
            <a:r>
              <a:rPr lang="en-SG" sz="800" b="0">
                <a:solidFill>
                  <a:srgbClr val="CCCCCC"/>
                </a:solidFill>
                <a:effectLst/>
                <a:latin typeface="JetBrains Mono" panose="02000009000000000000" pitchFamily="49" charset="0"/>
              </a:rPr>
              <a:t>, </a:t>
            </a:r>
            <a:r>
              <a:rPr lang="en-SG" sz="800" b="0" err="1">
                <a:solidFill>
                  <a:srgbClr val="CCCCCC"/>
                </a:solidFill>
                <a:effectLst/>
                <a:latin typeface="JetBrains Mono" panose="02000009000000000000" pitchFamily="49" charset="0"/>
              </a:rPr>
              <a:t>memory_order_relaxed</a:t>
            </a:r>
            <a:r>
              <a:rPr lang="en-SG" sz="800" b="0">
                <a:solidFill>
                  <a:srgbClr val="CCCCCC"/>
                </a:solidFill>
                <a:effectLst/>
                <a:latin typeface="JetBrains Mono" panose="02000009000000000000" pitchFamily="49" charset="0"/>
              </a:rPr>
              <a:t>);</a:t>
            </a:r>
          </a:p>
          <a:p>
            <a:pPr>
              <a:lnSpc>
                <a:spcPct val="120000"/>
              </a:lnSpc>
              <a:buNone/>
            </a:pPr>
            <a:r>
              <a:rPr lang="en-SG" sz="800" b="0">
                <a:solidFill>
                  <a:srgbClr val="CCCCCC"/>
                </a:solidFill>
                <a:effectLst/>
                <a:latin typeface="JetBrains Mono" panose="02000009000000000000" pitchFamily="49" charset="0"/>
              </a:rPr>
              <a:t>  </a:t>
            </a:r>
            <a:r>
              <a:rPr lang="en-SG" sz="800" b="0" err="1">
                <a:solidFill>
                  <a:srgbClr val="569CD6"/>
                </a:solidFill>
                <a:effectLst/>
                <a:latin typeface="JetBrains Mono" panose="02000009000000000000" pitchFamily="49" charset="0"/>
              </a:rPr>
              <a:t>size_t</a:t>
            </a:r>
            <a:r>
              <a:rPr lang="en-SG" sz="800" b="0">
                <a:solidFill>
                  <a:srgbClr val="CCCCCC"/>
                </a:solidFill>
                <a:effectLst/>
                <a:latin typeface="JetBrains Mono" panose="02000009000000000000" pitchFamily="49" charset="0"/>
              </a:rPr>
              <a:t> </a:t>
            </a:r>
            <a:r>
              <a:rPr lang="en-SG" sz="800" b="0">
                <a:solidFill>
                  <a:srgbClr val="9CDCFE"/>
                </a:solidFill>
                <a:effectLst/>
                <a:latin typeface="JetBrains Mono" panose="02000009000000000000" pitchFamily="49" charset="0"/>
              </a:rPr>
              <a:t>h</a:t>
            </a:r>
            <a:r>
              <a:rPr lang="en-SG" sz="800" b="0">
                <a:solidFill>
                  <a:srgbClr val="CCCCCC"/>
                </a:solidFill>
                <a:effectLst/>
                <a:latin typeface="JetBrains Mono" panose="02000009000000000000" pitchFamily="49" charset="0"/>
              </a:rPr>
              <a:t> </a:t>
            </a:r>
            <a:r>
              <a:rPr lang="en-SG" sz="800" b="0">
                <a:solidFill>
                  <a:srgbClr val="D4D4D4"/>
                </a:solidFill>
                <a:effectLst/>
                <a:latin typeface="JetBrains Mono" panose="02000009000000000000" pitchFamily="49" charset="0"/>
              </a:rPr>
              <a:t>=</a:t>
            </a:r>
            <a:r>
              <a:rPr lang="en-SG" sz="800" b="0">
                <a:solidFill>
                  <a:srgbClr val="CCCCCC"/>
                </a:solidFill>
                <a:effectLst/>
                <a:latin typeface="JetBrains Mono" panose="02000009000000000000" pitchFamily="49" charset="0"/>
              </a:rPr>
              <a:t> </a:t>
            </a:r>
            <a:r>
              <a:rPr lang="en-SG" sz="800" b="0" err="1">
                <a:solidFill>
                  <a:srgbClr val="DCDCAA"/>
                </a:solidFill>
                <a:effectLst/>
                <a:latin typeface="JetBrains Mono" panose="02000009000000000000" pitchFamily="49" charset="0"/>
              </a:rPr>
              <a:t>atomic_load</a:t>
            </a:r>
            <a:r>
              <a:rPr lang="en-SG" sz="800" b="0">
                <a:solidFill>
                  <a:srgbClr val="CCCCCC"/>
                </a:solidFill>
                <a:effectLst/>
                <a:latin typeface="JetBrains Mono" panose="02000009000000000000" pitchFamily="49" charset="0"/>
              </a:rPr>
              <a:t>(</a:t>
            </a:r>
            <a:r>
              <a:rPr lang="en-SG" sz="800" b="0">
                <a:solidFill>
                  <a:srgbClr val="D4D4D4"/>
                </a:solidFill>
                <a:effectLst/>
                <a:latin typeface="JetBrains Mono" panose="02000009000000000000" pitchFamily="49" charset="0"/>
              </a:rPr>
              <a:t>&amp;</a:t>
            </a:r>
            <a:r>
              <a:rPr lang="en-SG" sz="800" b="0">
                <a:solidFill>
                  <a:srgbClr val="9CDCFE"/>
                </a:solidFill>
                <a:effectLst/>
                <a:latin typeface="JetBrains Mono" panose="02000009000000000000" pitchFamily="49" charset="0"/>
              </a:rPr>
              <a:t>q</a:t>
            </a:r>
            <a:r>
              <a:rPr lang="en-SG" sz="800" b="0">
                <a:solidFill>
                  <a:srgbClr val="CCCCCC"/>
                </a:solidFill>
                <a:effectLst/>
                <a:latin typeface="JetBrains Mono" panose="02000009000000000000" pitchFamily="49" charset="0"/>
              </a:rPr>
              <a:t>-&gt;</a:t>
            </a:r>
            <a:r>
              <a:rPr lang="en-SG" sz="800" b="0">
                <a:solidFill>
                  <a:srgbClr val="9CDCFE"/>
                </a:solidFill>
                <a:effectLst/>
                <a:latin typeface="JetBrains Mono" panose="02000009000000000000" pitchFamily="49" charset="0"/>
              </a:rPr>
              <a:t>head</a:t>
            </a:r>
            <a:r>
              <a:rPr lang="en-SG" sz="800" b="0">
                <a:solidFill>
                  <a:srgbClr val="CCCCCC"/>
                </a:solidFill>
                <a:effectLst/>
                <a:latin typeface="JetBrains Mono" panose="02000009000000000000" pitchFamily="49" charset="0"/>
              </a:rPr>
              <a:t>, </a:t>
            </a:r>
            <a:r>
              <a:rPr lang="en-SG" sz="800" b="0" err="1">
                <a:solidFill>
                  <a:srgbClr val="CCCCCC"/>
                </a:solidFill>
                <a:effectLst/>
                <a:latin typeface="JetBrains Mono" panose="02000009000000000000" pitchFamily="49" charset="0"/>
              </a:rPr>
              <a:t>memory_order_acquire</a:t>
            </a:r>
            <a:r>
              <a:rPr lang="en-SG" sz="800" b="0">
                <a:solidFill>
                  <a:srgbClr val="CCCCCC"/>
                </a:solidFill>
                <a:effectLst/>
                <a:latin typeface="JetBrains Mono" panose="02000009000000000000" pitchFamily="49" charset="0"/>
              </a:rPr>
              <a:t>);</a:t>
            </a:r>
          </a:p>
          <a:p>
            <a:pPr>
              <a:lnSpc>
                <a:spcPct val="120000"/>
              </a:lnSpc>
              <a:buNone/>
            </a:pPr>
            <a:r>
              <a:rPr lang="en-SG" sz="800" b="0">
                <a:solidFill>
                  <a:srgbClr val="CCCCCC"/>
                </a:solidFill>
                <a:effectLst/>
                <a:latin typeface="JetBrains Mono" panose="02000009000000000000" pitchFamily="49" charset="0"/>
              </a:rPr>
              <a:t>  </a:t>
            </a:r>
            <a:r>
              <a:rPr lang="en-SG" sz="800" b="0">
                <a:solidFill>
                  <a:srgbClr val="C586C0"/>
                </a:solidFill>
                <a:effectLst/>
                <a:latin typeface="JetBrains Mono" panose="02000009000000000000" pitchFamily="49" charset="0"/>
              </a:rPr>
              <a:t>if</a:t>
            </a:r>
            <a:r>
              <a:rPr lang="en-SG" sz="800" b="0">
                <a:solidFill>
                  <a:srgbClr val="CCCCCC"/>
                </a:solidFill>
                <a:effectLst/>
                <a:latin typeface="JetBrains Mono" panose="02000009000000000000" pitchFamily="49" charset="0"/>
              </a:rPr>
              <a:t> (</a:t>
            </a:r>
            <a:r>
              <a:rPr lang="en-SG" sz="800" b="0">
                <a:solidFill>
                  <a:srgbClr val="9CDCFE"/>
                </a:solidFill>
                <a:effectLst/>
                <a:latin typeface="JetBrains Mono" panose="02000009000000000000" pitchFamily="49" charset="0"/>
              </a:rPr>
              <a:t>t</a:t>
            </a:r>
            <a:r>
              <a:rPr lang="en-SG" sz="800" b="0">
                <a:solidFill>
                  <a:srgbClr val="CCCCCC"/>
                </a:solidFill>
                <a:effectLst/>
                <a:latin typeface="JetBrains Mono" panose="02000009000000000000" pitchFamily="49" charset="0"/>
              </a:rPr>
              <a:t> </a:t>
            </a:r>
            <a:r>
              <a:rPr lang="en-SG" sz="800" b="0">
                <a:solidFill>
                  <a:srgbClr val="D4D4D4"/>
                </a:solidFill>
                <a:effectLst/>
                <a:latin typeface="JetBrains Mono" panose="02000009000000000000" pitchFamily="49" charset="0"/>
              </a:rPr>
              <a:t>-</a:t>
            </a:r>
            <a:r>
              <a:rPr lang="en-SG" sz="800" b="0">
                <a:solidFill>
                  <a:srgbClr val="CCCCCC"/>
                </a:solidFill>
                <a:effectLst/>
                <a:latin typeface="JetBrains Mono" panose="02000009000000000000" pitchFamily="49" charset="0"/>
              </a:rPr>
              <a:t> </a:t>
            </a:r>
            <a:r>
              <a:rPr lang="en-SG" sz="800" b="0">
                <a:solidFill>
                  <a:srgbClr val="9CDCFE"/>
                </a:solidFill>
                <a:effectLst/>
                <a:latin typeface="JetBrains Mono" panose="02000009000000000000" pitchFamily="49" charset="0"/>
              </a:rPr>
              <a:t>h</a:t>
            </a:r>
            <a:r>
              <a:rPr lang="en-SG" sz="800" b="0">
                <a:solidFill>
                  <a:srgbClr val="CCCCCC"/>
                </a:solidFill>
                <a:effectLst/>
                <a:latin typeface="JetBrains Mono" panose="02000009000000000000" pitchFamily="49" charset="0"/>
              </a:rPr>
              <a:t> </a:t>
            </a:r>
            <a:r>
              <a:rPr lang="en-SG" sz="800" b="0">
                <a:solidFill>
                  <a:srgbClr val="D4D4D4"/>
                </a:solidFill>
                <a:effectLst/>
                <a:latin typeface="JetBrains Mono" panose="02000009000000000000" pitchFamily="49" charset="0"/>
              </a:rPr>
              <a:t>&gt;=</a:t>
            </a:r>
            <a:r>
              <a:rPr lang="en-SG" sz="800" b="0">
                <a:solidFill>
                  <a:srgbClr val="CCCCCC"/>
                </a:solidFill>
                <a:effectLst/>
                <a:latin typeface="JetBrains Mono" panose="02000009000000000000" pitchFamily="49" charset="0"/>
              </a:rPr>
              <a:t> </a:t>
            </a:r>
            <a:r>
              <a:rPr lang="en-SG" sz="800" b="0">
                <a:solidFill>
                  <a:srgbClr val="B5CEA8"/>
                </a:solidFill>
                <a:effectLst/>
                <a:latin typeface="JetBrains Mono" panose="02000009000000000000" pitchFamily="49" charset="0"/>
              </a:rPr>
              <a:t>1024</a:t>
            </a:r>
            <a:r>
              <a:rPr lang="en-SG" sz="800" b="0">
                <a:solidFill>
                  <a:srgbClr val="CCCCCC"/>
                </a:solidFill>
                <a:effectLst/>
                <a:latin typeface="JetBrains Mono" panose="02000009000000000000" pitchFamily="49" charset="0"/>
              </a:rPr>
              <a:t>) </a:t>
            </a:r>
            <a:r>
              <a:rPr lang="en-SG" sz="800" b="0">
                <a:solidFill>
                  <a:srgbClr val="C586C0"/>
                </a:solidFill>
                <a:effectLst/>
                <a:latin typeface="JetBrains Mono" panose="02000009000000000000" pitchFamily="49" charset="0"/>
              </a:rPr>
              <a:t>return</a:t>
            </a:r>
            <a:r>
              <a:rPr lang="en-SG" sz="800" b="0">
                <a:solidFill>
                  <a:srgbClr val="CCCCCC"/>
                </a:solidFill>
                <a:effectLst/>
                <a:latin typeface="JetBrains Mono" panose="02000009000000000000" pitchFamily="49" charset="0"/>
              </a:rPr>
              <a:t>;</a:t>
            </a:r>
            <a:r>
              <a:rPr lang="en-SG" sz="800" b="0">
                <a:solidFill>
                  <a:srgbClr val="6A9955"/>
                </a:solidFill>
                <a:effectLst/>
                <a:latin typeface="JetBrains Mono" panose="02000009000000000000" pitchFamily="49" charset="0"/>
              </a:rPr>
              <a:t> // Full</a:t>
            </a:r>
            <a:endParaRPr lang="en-SG" sz="800" b="0">
              <a:solidFill>
                <a:srgbClr val="CCCCCC"/>
              </a:solidFill>
              <a:effectLst/>
              <a:latin typeface="JetBrains Mono" panose="02000009000000000000" pitchFamily="49" charset="0"/>
            </a:endParaRPr>
          </a:p>
          <a:p>
            <a:pPr>
              <a:lnSpc>
                <a:spcPct val="120000"/>
              </a:lnSpc>
              <a:buNone/>
            </a:pPr>
            <a:r>
              <a:rPr lang="en-SG" sz="800" b="0">
                <a:solidFill>
                  <a:srgbClr val="CCCCCC"/>
                </a:solidFill>
                <a:effectLst/>
                <a:latin typeface="JetBrains Mono" panose="02000009000000000000" pitchFamily="49" charset="0"/>
              </a:rPr>
              <a:t>  </a:t>
            </a:r>
            <a:r>
              <a:rPr lang="en-SG" sz="800" b="0">
                <a:solidFill>
                  <a:srgbClr val="9CDCFE"/>
                </a:solidFill>
                <a:effectLst/>
                <a:latin typeface="JetBrains Mono" panose="02000009000000000000" pitchFamily="49" charset="0"/>
              </a:rPr>
              <a:t>q</a:t>
            </a:r>
            <a:r>
              <a:rPr lang="en-SG" sz="800" b="0">
                <a:solidFill>
                  <a:srgbClr val="CCCCCC"/>
                </a:solidFill>
                <a:effectLst/>
                <a:latin typeface="JetBrains Mono" panose="02000009000000000000" pitchFamily="49" charset="0"/>
              </a:rPr>
              <a:t>-&gt;</a:t>
            </a:r>
            <a:r>
              <a:rPr lang="en-SG" sz="800" b="0">
                <a:solidFill>
                  <a:srgbClr val="9CDCFE"/>
                </a:solidFill>
                <a:effectLst/>
                <a:latin typeface="JetBrains Mono" panose="02000009000000000000" pitchFamily="49" charset="0"/>
              </a:rPr>
              <a:t>buffer</a:t>
            </a:r>
            <a:r>
              <a:rPr lang="en-SG" sz="800" b="0">
                <a:solidFill>
                  <a:srgbClr val="CCCCCC"/>
                </a:solidFill>
                <a:effectLst/>
                <a:latin typeface="JetBrains Mono" panose="02000009000000000000" pitchFamily="49" charset="0"/>
              </a:rPr>
              <a:t>[</a:t>
            </a:r>
            <a:r>
              <a:rPr lang="en-SG" sz="800" b="0">
                <a:solidFill>
                  <a:srgbClr val="9CDCFE"/>
                </a:solidFill>
                <a:effectLst/>
                <a:latin typeface="JetBrains Mono" panose="02000009000000000000" pitchFamily="49" charset="0"/>
              </a:rPr>
              <a:t>t</a:t>
            </a:r>
            <a:r>
              <a:rPr lang="en-SG" sz="800" b="0">
                <a:solidFill>
                  <a:srgbClr val="CCCCCC"/>
                </a:solidFill>
                <a:effectLst/>
                <a:latin typeface="JetBrains Mono" panose="02000009000000000000" pitchFamily="49" charset="0"/>
              </a:rPr>
              <a:t> </a:t>
            </a:r>
            <a:r>
              <a:rPr lang="en-SG" sz="800" b="0">
                <a:solidFill>
                  <a:srgbClr val="D4D4D4"/>
                </a:solidFill>
                <a:effectLst/>
                <a:latin typeface="JetBrains Mono" panose="02000009000000000000" pitchFamily="49" charset="0"/>
              </a:rPr>
              <a:t>%</a:t>
            </a:r>
            <a:r>
              <a:rPr lang="en-SG" sz="800" b="0">
                <a:solidFill>
                  <a:srgbClr val="CCCCCC"/>
                </a:solidFill>
                <a:effectLst/>
                <a:latin typeface="JetBrains Mono" panose="02000009000000000000" pitchFamily="49" charset="0"/>
              </a:rPr>
              <a:t> </a:t>
            </a:r>
            <a:r>
              <a:rPr lang="en-SG" sz="800" b="0">
                <a:solidFill>
                  <a:srgbClr val="B5CEA8"/>
                </a:solidFill>
                <a:effectLst/>
                <a:latin typeface="JetBrains Mono" panose="02000009000000000000" pitchFamily="49" charset="0"/>
              </a:rPr>
              <a:t>1024</a:t>
            </a:r>
            <a:r>
              <a:rPr lang="en-SG" sz="800" b="0">
                <a:solidFill>
                  <a:srgbClr val="CCCCCC"/>
                </a:solidFill>
                <a:effectLst/>
                <a:latin typeface="JetBrains Mono" panose="02000009000000000000" pitchFamily="49" charset="0"/>
              </a:rPr>
              <a:t>] </a:t>
            </a:r>
            <a:r>
              <a:rPr lang="en-SG" sz="800" b="0">
                <a:solidFill>
                  <a:srgbClr val="D4D4D4"/>
                </a:solidFill>
                <a:effectLst/>
                <a:latin typeface="JetBrains Mono" panose="02000009000000000000" pitchFamily="49" charset="0"/>
              </a:rPr>
              <a:t>=</a:t>
            </a:r>
            <a:r>
              <a:rPr lang="en-SG" sz="800" b="0">
                <a:solidFill>
                  <a:srgbClr val="CCCCCC"/>
                </a:solidFill>
                <a:effectLst/>
                <a:latin typeface="JetBrains Mono" panose="02000009000000000000" pitchFamily="49" charset="0"/>
              </a:rPr>
              <a:t> </a:t>
            </a:r>
            <a:r>
              <a:rPr lang="en-SG" sz="800" b="0">
                <a:solidFill>
                  <a:srgbClr val="9CDCFE"/>
                </a:solidFill>
                <a:effectLst/>
                <a:latin typeface="JetBrains Mono" panose="02000009000000000000" pitchFamily="49" charset="0"/>
              </a:rPr>
              <a:t>f</a:t>
            </a:r>
            <a:r>
              <a:rPr lang="en-SG" sz="800" b="0">
                <a:solidFill>
                  <a:srgbClr val="CCCCCC"/>
                </a:solidFill>
                <a:effectLst/>
                <a:latin typeface="JetBrains Mono" panose="02000009000000000000" pitchFamily="49" charset="0"/>
              </a:rPr>
              <a:t>;</a:t>
            </a:r>
          </a:p>
          <a:p>
            <a:pPr>
              <a:lnSpc>
                <a:spcPct val="120000"/>
              </a:lnSpc>
              <a:buNone/>
            </a:pPr>
            <a:r>
              <a:rPr lang="en-SG" sz="800" b="0">
                <a:solidFill>
                  <a:srgbClr val="6A9955"/>
                </a:solidFill>
                <a:effectLst/>
                <a:latin typeface="JetBrains Mono" panose="02000009000000000000" pitchFamily="49" charset="0"/>
              </a:rPr>
              <a:t>  // Store-Release is sufficient! No atomic RMW needed.</a:t>
            </a:r>
            <a:endParaRPr lang="en-SG" sz="800" b="0">
              <a:solidFill>
                <a:srgbClr val="CCCCCC"/>
              </a:solidFill>
              <a:effectLst/>
              <a:latin typeface="JetBrains Mono" panose="02000009000000000000" pitchFamily="49" charset="0"/>
            </a:endParaRPr>
          </a:p>
          <a:p>
            <a:pPr>
              <a:lnSpc>
                <a:spcPct val="120000"/>
              </a:lnSpc>
              <a:buNone/>
            </a:pPr>
            <a:r>
              <a:rPr lang="en-SG" sz="800" b="0">
                <a:solidFill>
                  <a:srgbClr val="CCCCCC"/>
                </a:solidFill>
                <a:effectLst/>
                <a:latin typeface="JetBrains Mono" panose="02000009000000000000" pitchFamily="49" charset="0"/>
              </a:rPr>
              <a:t>  </a:t>
            </a:r>
            <a:r>
              <a:rPr lang="en-SG" sz="800" b="0" err="1">
                <a:solidFill>
                  <a:srgbClr val="DCDCAA"/>
                </a:solidFill>
                <a:effectLst/>
                <a:latin typeface="JetBrains Mono" panose="02000009000000000000" pitchFamily="49" charset="0"/>
              </a:rPr>
              <a:t>atomic_store</a:t>
            </a:r>
            <a:r>
              <a:rPr lang="en-SG" sz="800" b="0">
                <a:solidFill>
                  <a:srgbClr val="CCCCCC"/>
                </a:solidFill>
                <a:effectLst/>
                <a:latin typeface="JetBrains Mono" panose="02000009000000000000" pitchFamily="49" charset="0"/>
              </a:rPr>
              <a:t>(</a:t>
            </a:r>
            <a:r>
              <a:rPr lang="en-SG" sz="800" b="0">
                <a:solidFill>
                  <a:srgbClr val="D4D4D4"/>
                </a:solidFill>
                <a:effectLst/>
                <a:latin typeface="JetBrains Mono" panose="02000009000000000000" pitchFamily="49" charset="0"/>
              </a:rPr>
              <a:t>&amp;</a:t>
            </a:r>
            <a:r>
              <a:rPr lang="en-SG" sz="800" b="0">
                <a:solidFill>
                  <a:srgbClr val="9CDCFE"/>
                </a:solidFill>
                <a:effectLst/>
                <a:latin typeface="JetBrains Mono" panose="02000009000000000000" pitchFamily="49" charset="0"/>
              </a:rPr>
              <a:t>q</a:t>
            </a:r>
            <a:r>
              <a:rPr lang="en-SG" sz="800" b="0">
                <a:solidFill>
                  <a:srgbClr val="CCCCCC"/>
                </a:solidFill>
                <a:effectLst/>
                <a:latin typeface="JetBrains Mono" panose="02000009000000000000" pitchFamily="49" charset="0"/>
              </a:rPr>
              <a:t>-&gt;</a:t>
            </a:r>
            <a:r>
              <a:rPr lang="en-SG" sz="800" b="0">
                <a:solidFill>
                  <a:srgbClr val="9CDCFE"/>
                </a:solidFill>
                <a:effectLst/>
                <a:latin typeface="JetBrains Mono" panose="02000009000000000000" pitchFamily="49" charset="0"/>
              </a:rPr>
              <a:t>tail</a:t>
            </a:r>
            <a:r>
              <a:rPr lang="en-SG" sz="800" b="0">
                <a:solidFill>
                  <a:srgbClr val="CCCCCC"/>
                </a:solidFill>
                <a:effectLst/>
                <a:latin typeface="JetBrains Mono" panose="02000009000000000000" pitchFamily="49" charset="0"/>
              </a:rPr>
              <a:t>, </a:t>
            </a:r>
            <a:r>
              <a:rPr lang="en-SG" sz="800" b="0">
                <a:solidFill>
                  <a:srgbClr val="9CDCFE"/>
                </a:solidFill>
                <a:effectLst/>
                <a:latin typeface="JetBrains Mono" panose="02000009000000000000" pitchFamily="49" charset="0"/>
              </a:rPr>
              <a:t>t</a:t>
            </a:r>
            <a:r>
              <a:rPr lang="en-SG" sz="800" b="0">
                <a:solidFill>
                  <a:srgbClr val="CCCCCC"/>
                </a:solidFill>
                <a:effectLst/>
                <a:latin typeface="JetBrains Mono" panose="02000009000000000000" pitchFamily="49" charset="0"/>
              </a:rPr>
              <a:t> </a:t>
            </a:r>
            <a:r>
              <a:rPr lang="en-SG" sz="800" b="0">
                <a:solidFill>
                  <a:srgbClr val="D4D4D4"/>
                </a:solidFill>
                <a:effectLst/>
                <a:latin typeface="JetBrains Mono" panose="02000009000000000000" pitchFamily="49" charset="0"/>
              </a:rPr>
              <a:t>+</a:t>
            </a:r>
            <a:r>
              <a:rPr lang="en-SG" sz="800" b="0">
                <a:solidFill>
                  <a:srgbClr val="CCCCCC"/>
                </a:solidFill>
                <a:effectLst/>
                <a:latin typeface="JetBrains Mono" panose="02000009000000000000" pitchFamily="49" charset="0"/>
              </a:rPr>
              <a:t> </a:t>
            </a:r>
            <a:r>
              <a:rPr lang="en-SG" sz="800" b="0">
                <a:solidFill>
                  <a:srgbClr val="B5CEA8"/>
                </a:solidFill>
                <a:effectLst/>
                <a:latin typeface="JetBrains Mono" panose="02000009000000000000" pitchFamily="49" charset="0"/>
              </a:rPr>
              <a:t>1</a:t>
            </a:r>
            <a:r>
              <a:rPr lang="en-SG" sz="800" b="0">
                <a:solidFill>
                  <a:srgbClr val="CCCCCC"/>
                </a:solidFill>
                <a:effectLst/>
                <a:latin typeface="JetBrains Mono" panose="02000009000000000000" pitchFamily="49" charset="0"/>
              </a:rPr>
              <a:t>, </a:t>
            </a:r>
            <a:r>
              <a:rPr lang="en-SG" sz="800" b="0" err="1">
                <a:solidFill>
                  <a:srgbClr val="CCCCCC"/>
                </a:solidFill>
                <a:effectLst/>
                <a:latin typeface="JetBrains Mono" panose="02000009000000000000" pitchFamily="49" charset="0"/>
              </a:rPr>
              <a:t>memory_order_release</a:t>
            </a:r>
            <a:r>
              <a:rPr lang="en-SG" sz="800" b="0">
                <a:solidFill>
                  <a:srgbClr val="CCCCCC"/>
                </a:solidFill>
                <a:effectLst/>
                <a:latin typeface="JetBrains Mono" panose="02000009000000000000" pitchFamily="49" charset="0"/>
              </a:rPr>
              <a:t>);</a:t>
            </a:r>
          </a:p>
        </p:txBody>
      </p:sp>
      <p:sp>
        <p:nvSpPr>
          <p:cNvPr id="13" name="TextBox 12">
            <a:extLst>
              <a:ext uri="{FF2B5EF4-FFF2-40B4-BE49-F238E27FC236}">
                <a16:creationId xmlns:a16="http://schemas.microsoft.com/office/drawing/2014/main" id="{262C20D1-43BF-A8FC-4EA3-CF5A96431A09}"/>
              </a:ext>
            </a:extLst>
          </p:cNvPr>
          <p:cNvSpPr txBox="1"/>
          <p:nvPr/>
        </p:nvSpPr>
        <p:spPr>
          <a:xfrm>
            <a:off x="233911" y="1240080"/>
            <a:ext cx="2806469" cy="5557932"/>
          </a:xfrm>
          <a:prstGeom prst="rect">
            <a:avLst/>
          </a:prstGeom>
          <a:noFill/>
        </p:spPr>
        <p:txBody>
          <a:bodyPr wrap="square">
            <a:spAutoFit/>
          </a:bodyPr>
          <a:lstStyle/>
          <a:p>
            <a:pPr algn="l">
              <a:spcAft>
                <a:spcPts val="1350"/>
              </a:spcAft>
              <a:buNone/>
            </a:pPr>
            <a:r>
              <a:rPr lang="en-US" sz="1200" b="1" i="0">
                <a:solidFill>
                  <a:srgbClr val="3333FF"/>
                </a:solidFill>
                <a:effectLst/>
                <a:latin typeface="Inter"/>
              </a:rPr>
              <a:t>User Intent:</a:t>
            </a:r>
            <a:r>
              <a:rPr lang="en-US" sz="1200" b="0" i="0">
                <a:solidFill>
                  <a:srgbClr val="3333FF"/>
                </a:solidFill>
                <a:effectLst/>
                <a:latin typeface="Inter"/>
              </a:rPr>
              <a:t> </a:t>
            </a:r>
            <a:r>
              <a:rPr lang="en-US" sz="1200" b="0" i="0">
                <a:effectLst/>
                <a:latin typeface="Inter"/>
              </a:rPr>
              <a:t>The programmer knows which threads interact with which data.</a:t>
            </a:r>
          </a:p>
          <a:p>
            <a:pPr algn="l">
              <a:spcAft>
                <a:spcPts val="225"/>
              </a:spcAft>
              <a:buFont typeface="Arial" panose="020B0604020202020204" pitchFamily="34" charset="0"/>
              <a:buChar char="•"/>
            </a:pPr>
            <a:r>
              <a:rPr lang="en-US" sz="1200" b="1" i="0">
                <a:effectLst/>
                <a:latin typeface="Inter"/>
              </a:rPr>
              <a:t>Annotation:</a:t>
            </a:r>
            <a:r>
              <a:rPr lang="en-US" sz="1200" b="0" i="0">
                <a:effectLst/>
                <a:latin typeface="Inter"/>
              </a:rPr>
              <a:t> </a:t>
            </a:r>
            <a:r>
              <a:rPr lang="en-US" sz="1100" b="0" i="0">
                <a:effectLst/>
                <a:latin typeface="DM Mono" panose="020B0509040201040103" pitchFamily="49" charset="0"/>
              </a:rPr>
              <a:t>[[sync::</a:t>
            </a:r>
            <a:r>
              <a:rPr lang="en-US" sz="1100" b="0" i="0" err="1">
                <a:effectLst/>
                <a:latin typeface="DM Mono" panose="020B0509040201040103" pitchFamily="49" charset="0"/>
              </a:rPr>
              <a:t>single_producer</a:t>
            </a:r>
            <a:r>
              <a:rPr lang="en-US" sz="1100" b="0" i="0">
                <a:effectLst/>
                <a:latin typeface="DM Mono" panose="020B0509040201040103" pitchFamily="49" charset="0"/>
              </a:rPr>
              <a:t>]]</a:t>
            </a:r>
            <a:r>
              <a:rPr lang="en-US" sz="1100" b="0" i="0">
                <a:effectLst/>
                <a:latin typeface="Inter"/>
              </a:rPr>
              <a:t>, </a:t>
            </a:r>
            <a:r>
              <a:rPr lang="en-US" sz="1100" b="0" i="0">
                <a:effectLst/>
                <a:latin typeface="DM Mono" panose="020B0509040201040103" pitchFamily="49" charset="0"/>
              </a:rPr>
              <a:t>[[sync::</a:t>
            </a:r>
            <a:r>
              <a:rPr lang="en-US" sz="1100" b="0" i="0" err="1">
                <a:effectLst/>
                <a:latin typeface="DM Mono" panose="020B0509040201040103" pitchFamily="49" charset="0"/>
              </a:rPr>
              <a:t>single_consumer</a:t>
            </a:r>
            <a:r>
              <a:rPr lang="en-US" sz="1100" b="0" i="0">
                <a:effectLst/>
                <a:latin typeface="DM Mono" panose="020B0509040201040103" pitchFamily="49" charset="0"/>
              </a:rPr>
              <a:t>]]</a:t>
            </a:r>
            <a:r>
              <a:rPr lang="en-US" sz="1100" b="0" i="0">
                <a:effectLst/>
                <a:latin typeface="Inter"/>
              </a:rPr>
              <a:t>, </a:t>
            </a:r>
            <a:r>
              <a:rPr lang="en-US" sz="1100" b="0" i="0">
                <a:effectLst/>
                <a:latin typeface="DM Mono" panose="020B0509040201040103" pitchFamily="49" charset="0"/>
              </a:rPr>
              <a:t>[[sync::</a:t>
            </a:r>
            <a:r>
              <a:rPr lang="en-US" sz="1100" b="0" i="0" err="1">
                <a:effectLst/>
                <a:latin typeface="DM Mono" panose="020B0509040201040103" pitchFamily="49" charset="0"/>
              </a:rPr>
              <a:t>thread_local</a:t>
            </a:r>
            <a:r>
              <a:rPr lang="en-US" sz="1100" b="0" i="0">
                <a:effectLst/>
                <a:latin typeface="DM Mono" panose="020B0509040201040103" pitchFamily="49" charset="0"/>
              </a:rPr>
              <a:t>]]</a:t>
            </a:r>
            <a:r>
              <a:rPr lang="en-US" sz="1200" b="0" i="0">
                <a:effectLst/>
                <a:latin typeface="Inter"/>
              </a:rPr>
              <a:t>.</a:t>
            </a:r>
          </a:p>
          <a:p>
            <a:pPr algn="l">
              <a:spcAft>
                <a:spcPts val="225"/>
              </a:spcAft>
              <a:buFont typeface="Arial" panose="020B0604020202020204" pitchFamily="34" charset="0"/>
              <a:buChar char="•"/>
            </a:pPr>
            <a:endParaRPr lang="en-US" sz="1200" b="0" i="0">
              <a:effectLst/>
              <a:latin typeface="Inter"/>
            </a:endParaRPr>
          </a:p>
          <a:p>
            <a:pPr algn="l">
              <a:buNone/>
            </a:pPr>
            <a:r>
              <a:rPr lang="en-US" sz="1200" b="1" i="0">
                <a:solidFill>
                  <a:srgbClr val="3333FF"/>
                </a:solidFill>
                <a:effectLst/>
                <a:latin typeface="Inter"/>
              </a:rPr>
              <a:t>Transformations:</a:t>
            </a:r>
          </a:p>
          <a:p>
            <a:pPr algn="l">
              <a:spcAft>
                <a:spcPts val="225"/>
              </a:spcAft>
              <a:buFont typeface="Arial" panose="020B0604020202020204" pitchFamily="34" charset="0"/>
              <a:buChar char="•"/>
            </a:pPr>
            <a:r>
              <a:rPr lang="en-US" sz="1200" b="1" i="0">
                <a:effectLst/>
                <a:latin typeface="Inter"/>
              </a:rPr>
              <a:t>Single Producer / Single Consumer (SPSC):</a:t>
            </a:r>
            <a:endParaRPr lang="en-US" sz="1200" b="0" i="0">
              <a:effectLst/>
              <a:latin typeface="Inter"/>
            </a:endParaRPr>
          </a:p>
          <a:p>
            <a:pPr marL="742950" lvl="1" indent="-285750" algn="l">
              <a:spcAft>
                <a:spcPts val="225"/>
              </a:spcAft>
              <a:buFont typeface="Arial" panose="020B0604020202020204" pitchFamily="34" charset="0"/>
              <a:buChar char="•"/>
            </a:pPr>
            <a:r>
              <a:rPr lang="en-US" sz="1200" b="0" i="0">
                <a:effectLst/>
                <a:latin typeface="Inter"/>
              </a:rPr>
              <a:t>If a queue is marked </a:t>
            </a:r>
            <a:r>
              <a:rPr lang="en-US" sz="1200" b="0" i="0">
                <a:effectLst/>
                <a:latin typeface="DM Mono" panose="020B0509040201040103" pitchFamily="49" charset="0"/>
              </a:rPr>
              <a:t>SPSC</a:t>
            </a:r>
            <a:r>
              <a:rPr lang="en-US" sz="1200" b="0" i="0">
                <a:effectLst/>
                <a:latin typeface="Inter"/>
              </a:rPr>
              <a:t>, the compiler replaces the standard </a:t>
            </a:r>
            <a:r>
              <a:rPr lang="en-US" sz="1200" b="0" i="0">
                <a:effectLst/>
                <a:latin typeface="DM Mono" panose="020B0509040201040103" pitchFamily="49" charset="0"/>
              </a:rPr>
              <a:t>CAS</a:t>
            </a:r>
            <a:r>
              <a:rPr lang="en-US" sz="1200" b="0" i="0">
                <a:effectLst/>
                <a:latin typeface="Inter"/>
              </a:rPr>
              <a:t>-based queue with a </a:t>
            </a:r>
            <a:r>
              <a:rPr lang="en-US" sz="1200" b="1" i="0">
                <a:effectLst/>
                <a:latin typeface="Inter"/>
              </a:rPr>
              <a:t>Lamport Ring Buffer</a:t>
            </a:r>
            <a:r>
              <a:rPr lang="en-US" sz="1200" b="0" i="0">
                <a:effectLst/>
                <a:latin typeface="Inter"/>
              </a:rPr>
              <a:t> (requires only memory barriers, no heavy atomic RMW instructions). This is 2-3x faster.</a:t>
            </a:r>
          </a:p>
          <a:p>
            <a:pPr algn="l">
              <a:spcAft>
                <a:spcPts val="225"/>
              </a:spcAft>
              <a:buFont typeface="Arial" panose="020B0604020202020204" pitchFamily="34" charset="0"/>
              <a:buChar char="•"/>
            </a:pPr>
            <a:r>
              <a:rPr lang="en-US" sz="1200" b="1" i="0">
                <a:effectLst/>
                <a:latin typeface="Inter"/>
              </a:rPr>
              <a:t>Thread Local (Escaping):</a:t>
            </a:r>
            <a:endParaRPr lang="en-US" sz="1200" b="0" i="0">
              <a:effectLst/>
              <a:latin typeface="Inter"/>
            </a:endParaRPr>
          </a:p>
          <a:p>
            <a:pPr marL="742950" lvl="1" indent="-285750" algn="l">
              <a:spcAft>
                <a:spcPts val="225"/>
              </a:spcAft>
              <a:buFont typeface="Arial" panose="020B0604020202020204" pitchFamily="34" charset="0"/>
              <a:buChar char="•"/>
            </a:pPr>
            <a:r>
              <a:rPr lang="en-US" sz="1200" b="0" i="0">
                <a:effectLst/>
                <a:latin typeface="Inter"/>
              </a:rPr>
              <a:t>If an object is marked as "mostly thread local", the compiler can use </a:t>
            </a:r>
            <a:r>
              <a:rPr lang="en-US" sz="1200" b="1" i="0">
                <a:effectLst/>
                <a:latin typeface="Inter"/>
              </a:rPr>
              <a:t>Biased Locking</a:t>
            </a:r>
            <a:r>
              <a:rPr lang="en-US" sz="1200" b="0" i="0">
                <a:effectLst/>
                <a:latin typeface="Inter"/>
              </a:rPr>
              <a:t>. The lock is "biased" to the creating thread (zero atomic cost). If another thread tries to touch it, the lock is "revoked" (expensive, but rare).</a:t>
            </a:r>
          </a:p>
          <a:p>
            <a:pPr algn="l">
              <a:buNone/>
            </a:pPr>
            <a:endParaRPr lang="en-US" sz="1050" b="0" i="0">
              <a:effectLst/>
              <a:latin typeface="Inter"/>
            </a:endParaRPr>
          </a:p>
        </p:txBody>
      </p:sp>
      <p:sp>
        <p:nvSpPr>
          <p:cNvPr id="4" name="TextBox 3">
            <a:extLst>
              <a:ext uri="{FF2B5EF4-FFF2-40B4-BE49-F238E27FC236}">
                <a16:creationId xmlns:a16="http://schemas.microsoft.com/office/drawing/2014/main" id="{B4D67C1C-5053-F2FD-B3AE-8054C4D962E7}"/>
              </a:ext>
            </a:extLst>
          </p:cNvPr>
          <p:cNvSpPr txBox="1"/>
          <p:nvPr/>
        </p:nvSpPr>
        <p:spPr>
          <a:xfrm>
            <a:off x="3040380" y="2854722"/>
            <a:ext cx="4178075" cy="646331"/>
          </a:xfrm>
          <a:prstGeom prst="rect">
            <a:avLst/>
          </a:prstGeom>
          <a:noFill/>
        </p:spPr>
        <p:txBody>
          <a:bodyPr wrap="square">
            <a:spAutoFit/>
          </a:bodyPr>
          <a:lstStyle/>
          <a:p>
            <a:r>
              <a:rPr lang="en-US" sz="1200" b="1"/>
              <a:t>Before</a:t>
            </a:r>
          </a:p>
          <a:p>
            <a:r>
              <a:rPr lang="en-US" sz="1200">
                <a:latin typeface="Inter"/>
              </a:rPr>
              <a:t>A Session object is created by a worker thread and processed almost exclusively by that same thread</a:t>
            </a:r>
            <a:endParaRPr lang="en-US" sz="1200"/>
          </a:p>
        </p:txBody>
      </p:sp>
      <p:sp>
        <p:nvSpPr>
          <p:cNvPr id="9" name="TextBox 8">
            <a:extLst>
              <a:ext uri="{FF2B5EF4-FFF2-40B4-BE49-F238E27FC236}">
                <a16:creationId xmlns:a16="http://schemas.microsoft.com/office/drawing/2014/main" id="{4666C05A-0C24-A68F-8FFE-8ECF7B2DBAF9}"/>
              </a:ext>
            </a:extLst>
          </p:cNvPr>
          <p:cNvSpPr txBox="1"/>
          <p:nvPr/>
        </p:nvSpPr>
        <p:spPr>
          <a:xfrm>
            <a:off x="3040380" y="3501053"/>
            <a:ext cx="4178076" cy="3038011"/>
          </a:xfrm>
          <a:prstGeom prst="rect">
            <a:avLst/>
          </a:prstGeom>
          <a:solidFill>
            <a:srgbClr val="1F1F1F"/>
          </a:solidFill>
        </p:spPr>
        <p:txBody>
          <a:bodyPr wrap="square">
            <a:spAutoFit/>
          </a:bodyPr>
          <a:lstStyle/>
          <a:p>
            <a:pPr>
              <a:lnSpc>
                <a:spcPct val="120000"/>
              </a:lnSpc>
              <a:buNone/>
            </a:pPr>
            <a:r>
              <a:rPr lang="en-US" sz="800" b="0">
                <a:solidFill>
                  <a:srgbClr val="6A9955"/>
                </a:solidFill>
                <a:effectLst/>
                <a:latin typeface="JetBrains Mono" panose="02000009000000000000" pitchFamily="49" charset="0"/>
              </a:rPr>
              <a:t>// Hint: This object mostly stays on one thread, but might be accessed by</a:t>
            </a:r>
            <a:endParaRPr lang="en-US" sz="800" b="0">
              <a:solidFill>
                <a:srgbClr val="CCCCCC"/>
              </a:solidFill>
              <a:effectLst/>
              <a:latin typeface="JetBrains Mono" panose="02000009000000000000" pitchFamily="49" charset="0"/>
            </a:endParaRPr>
          </a:p>
          <a:p>
            <a:pPr>
              <a:lnSpc>
                <a:spcPct val="120000"/>
              </a:lnSpc>
              <a:buNone/>
            </a:pPr>
            <a:r>
              <a:rPr lang="en-US" sz="800" b="0">
                <a:solidFill>
                  <a:srgbClr val="6A9955"/>
                </a:solidFill>
                <a:effectLst/>
                <a:latin typeface="JetBrains Mono" panose="02000009000000000000" pitchFamily="49" charset="0"/>
              </a:rPr>
              <a:t>// others.</a:t>
            </a:r>
            <a:endParaRPr lang="en-US" sz="800" b="0">
              <a:solidFill>
                <a:srgbClr val="CCCCCC"/>
              </a:solidFill>
              <a:effectLst/>
              <a:latin typeface="JetBrains Mono" panose="02000009000000000000" pitchFamily="49" charset="0"/>
            </a:endParaRPr>
          </a:p>
          <a:p>
            <a:pPr>
              <a:lnSpc>
                <a:spcPct val="120000"/>
              </a:lnSpc>
              <a:buNone/>
            </a:pPr>
            <a:r>
              <a:rPr lang="en-US" sz="800" b="0">
                <a:solidFill>
                  <a:srgbClr val="CCCCCC"/>
                </a:solidFill>
                <a:effectLst/>
                <a:latin typeface="JetBrains Mono" panose="02000009000000000000" pitchFamily="49" charset="0"/>
              </a:rPr>
              <a:t>[[</a:t>
            </a:r>
            <a:r>
              <a:rPr lang="en-US" sz="800" b="0">
                <a:solidFill>
                  <a:srgbClr val="4EC9B0"/>
                </a:solidFill>
                <a:effectLst/>
                <a:latin typeface="JetBrains Mono" panose="02000009000000000000" pitchFamily="49" charset="0"/>
              </a:rPr>
              <a:t>sync</a:t>
            </a:r>
            <a:r>
              <a:rPr lang="en-US" sz="800" b="0">
                <a:solidFill>
                  <a:srgbClr val="CCCCCC"/>
                </a:solidFill>
                <a:effectLst/>
                <a:latin typeface="JetBrains Mono" panose="02000009000000000000" pitchFamily="49" charset="0"/>
              </a:rPr>
              <a:t>::</a:t>
            </a:r>
            <a:r>
              <a:rPr lang="en-US" sz="800" b="0">
                <a:solidFill>
                  <a:srgbClr val="4EC9B0"/>
                </a:solidFill>
                <a:effectLst/>
                <a:latin typeface="JetBrains Mono" panose="02000009000000000000" pitchFamily="49" charset="0"/>
              </a:rPr>
              <a:t>locality</a:t>
            </a:r>
            <a:r>
              <a:rPr lang="en-US" sz="800" b="0">
                <a:solidFill>
                  <a:srgbClr val="CCCCCC"/>
                </a:solidFill>
                <a:effectLst/>
                <a:latin typeface="JetBrains Mono" panose="02000009000000000000" pitchFamily="49" charset="0"/>
              </a:rPr>
              <a:t>(</a:t>
            </a:r>
            <a:r>
              <a:rPr lang="en-US" sz="800" b="0">
                <a:solidFill>
                  <a:srgbClr val="CE9178"/>
                </a:solidFill>
                <a:effectLst/>
                <a:latin typeface="JetBrains Mono" panose="02000009000000000000" pitchFamily="49" charset="0"/>
              </a:rPr>
              <a:t>"biased"</a:t>
            </a:r>
            <a:r>
              <a:rPr lang="en-US" sz="800" b="0">
                <a:solidFill>
                  <a:srgbClr val="CCCCCC"/>
                </a:solidFill>
                <a:effectLst/>
                <a:latin typeface="JetBrains Mono" panose="02000009000000000000" pitchFamily="49" charset="0"/>
              </a:rPr>
              <a:t>)]]</a:t>
            </a:r>
          </a:p>
          <a:p>
            <a:pPr>
              <a:lnSpc>
                <a:spcPct val="120000"/>
              </a:lnSpc>
              <a:buNone/>
            </a:pPr>
            <a:r>
              <a:rPr lang="en-US" sz="800" b="0">
                <a:solidFill>
                  <a:srgbClr val="4EC9B0"/>
                </a:solidFill>
                <a:effectLst/>
                <a:latin typeface="JetBrains Mono" panose="02000009000000000000" pitchFamily="49" charset="0"/>
              </a:rPr>
              <a:t>std</a:t>
            </a:r>
            <a:r>
              <a:rPr lang="en-US" sz="800" b="0">
                <a:solidFill>
                  <a:srgbClr val="CCCCCC"/>
                </a:solidFill>
                <a:effectLst/>
                <a:latin typeface="JetBrains Mono" panose="02000009000000000000" pitchFamily="49" charset="0"/>
              </a:rPr>
              <a:t>::mutex </a:t>
            </a:r>
            <a:r>
              <a:rPr lang="en-US" sz="800" b="0" err="1">
                <a:solidFill>
                  <a:srgbClr val="9CDCFE"/>
                </a:solidFill>
                <a:effectLst/>
                <a:latin typeface="JetBrains Mono" panose="02000009000000000000" pitchFamily="49" charset="0"/>
              </a:rPr>
              <a:t>mtx</a:t>
            </a:r>
            <a:r>
              <a:rPr lang="en-US" sz="800" b="0">
                <a:solidFill>
                  <a:srgbClr val="CCCCCC"/>
                </a:solidFill>
                <a:effectLst/>
                <a:latin typeface="JetBrains Mono" panose="02000009000000000000" pitchFamily="49" charset="0"/>
              </a:rPr>
              <a:t>;</a:t>
            </a:r>
          </a:p>
          <a:p>
            <a:pPr>
              <a:lnSpc>
                <a:spcPct val="120000"/>
              </a:lnSpc>
              <a:buNone/>
            </a:pPr>
            <a:r>
              <a:rPr lang="en-US" sz="800" b="0">
                <a:solidFill>
                  <a:srgbClr val="569CD6"/>
                </a:solidFill>
                <a:effectLst/>
                <a:latin typeface="JetBrains Mono" panose="02000009000000000000" pitchFamily="49" charset="0"/>
              </a:rPr>
              <a:t>int</a:t>
            </a:r>
            <a:r>
              <a:rPr lang="en-US" sz="800" b="0">
                <a:solidFill>
                  <a:srgbClr val="CCCCCC"/>
                </a:solidFill>
                <a:effectLst/>
                <a:latin typeface="JetBrains Mono" panose="02000009000000000000" pitchFamily="49" charset="0"/>
              </a:rPr>
              <a:t> </a:t>
            </a:r>
            <a:r>
              <a:rPr lang="en-US" sz="800" b="0" err="1">
                <a:solidFill>
                  <a:srgbClr val="9CDCFE"/>
                </a:solidFill>
                <a:effectLst/>
                <a:latin typeface="JetBrains Mono" panose="02000009000000000000" pitchFamily="49" charset="0"/>
              </a:rPr>
              <a:t>request_count</a:t>
            </a:r>
            <a:r>
              <a:rPr lang="en-US" sz="800" b="0">
                <a:solidFill>
                  <a:srgbClr val="CCCCCC"/>
                </a:solidFill>
                <a:effectLst/>
                <a:latin typeface="JetBrains Mono" panose="02000009000000000000" pitchFamily="49" charset="0"/>
              </a:rPr>
              <a:t> </a:t>
            </a:r>
            <a:r>
              <a:rPr lang="en-US" sz="800" b="0">
                <a:solidFill>
                  <a:srgbClr val="D4D4D4"/>
                </a:solidFill>
                <a:effectLst/>
                <a:latin typeface="JetBrains Mono" panose="02000009000000000000" pitchFamily="49" charset="0"/>
              </a:rPr>
              <a:t>=</a:t>
            </a:r>
            <a:r>
              <a:rPr lang="en-US" sz="800" b="0">
                <a:solidFill>
                  <a:srgbClr val="CCCCCC"/>
                </a:solidFill>
                <a:effectLst/>
                <a:latin typeface="JetBrains Mono" panose="02000009000000000000" pitchFamily="49" charset="0"/>
              </a:rPr>
              <a:t> </a:t>
            </a:r>
            <a:r>
              <a:rPr lang="en-US" sz="800" b="0">
                <a:solidFill>
                  <a:srgbClr val="B5CEA8"/>
                </a:solidFill>
                <a:effectLst/>
                <a:latin typeface="JetBrains Mono" panose="02000009000000000000" pitchFamily="49" charset="0"/>
              </a:rPr>
              <a:t>0</a:t>
            </a:r>
            <a:r>
              <a:rPr lang="en-US" sz="800" b="0">
                <a:solidFill>
                  <a:srgbClr val="CCCCCC"/>
                </a:solidFill>
                <a:effectLst/>
                <a:latin typeface="JetBrains Mono" panose="02000009000000000000" pitchFamily="49" charset="0"/>
              </a:rPr>
              <a:t>;</a:t>
            </a:r>
          </a:p>
          <a:p>
            <a:pPr>
              <a:lnSpc>
                <a:spcPct val="120000"/>
              </a:lnSpc>
              <a:buNone/>
            </a:pPr>
            <a:endParaRPr lang="en-US" sz="800" b="0">
              <a:solidFill>
                <a:srgbClr val="CCCCCC"/>
              </a:solidFill>
              <a:effectLst/>
              <a:latin typeface="JetBrains Mono" panose="02000009000000000000" pitchFamily="49" charset="0"/>
            </a:endParaRPr>
          </a:p>
          <a:p>
            <a:pPr>
              <a:lnSpc>
                <a:spcPct val="120000"/>
              </a:lnSpc>
              <a:buNone/>
            </a:pPr>
            <a:r>
              <a:rPr lang="en-US" sz="800" b="0">
                <a:solidFill>
                  <a:srgbClr val="569CD6"/>
                </a:solidFill>
                <a:effectLst/>
                <a:latin typeface="JetBrains Mono" panose="02000009000000000000" pitchFamily="49" charset="0"/>
              </a:rPr>
              <a:t>void</a:t>
            </a:r>
            <a:r>
              <a:rPr lang="en-US" sz="800" b="0">
                <a:solidFill>
                  <a:srgbClr val="CCCCCC"/>
                </a:solidFill>
                <a:effectLst/>
                <a:latin typeface="JetBrains Mono" panose="02000009000000000000" pitchFamily="49" charset="0"/>
              </a:rPr>
              <a:t> </a:t>
            </a:r>
            <a:r>
              <a:rPr lang="en-US" sz="800" b="0" err="1">
                <a:solidFill>
                  <a:srgbClr val="DCDCAA"/>
                </a:solidFill>
                <a:effectLst/>
                <a:latin typeface="JetBrains Mono" panose="02000009000000000000" pitchFamily="49" charset="0"/>
              </a:rPr>
              <a:t>process_request</a:t>
            </a:r>
            <a:r>
              <a:rPr lang="en-US" sz="800" b="0">
                <a:solidFill>
                  <a:srgbClr val="CCCCCC"/>
                </a:solidFill>
                <a:effectLst/>
                <a:latin typeface="JetBrains Mono" panose="02000009000000000000" pitchFamily="49" charset="0"/>
              </a:rPr>
              <a:t>() {</a:t>
            </a:r>
          </a:p>
          <a:p>
            <a:pPr>
              <a:lnSpc>
                <a:spcPct val="120000"/>
              </a:lnSpc>
              <a:buNone/>
            </a:pPr>
            <a:r>
              <a:rPr lang="en-US" sz="800" b="0">
                <a:solidFill>
                  <a:srgbClr val="6A9955"/>
                </a:solidFill>
                <a:effectLst/>
                <a:latin typeface="JetBrains Mono" panose="02000009000000000000" pitchFamily="49" charset="0"/>
              </a:rPr>
              <a:t>  // The owner calls this millions of times.</a:t>
            </a:r>
            <a:endParaRPr lang="en-US" sz="800" b="0">
              <a:solidFill>
                <a:srgbClr val="CCCCCC"/>
              </a:solidFill>
              <a:effectLst/>
              <a:latin typeface="JetBrains Mono" panose="02000009000000000000" pitchFamily="49" charset="0"/>
            </a:endParaRPr>
          </a:p>
          <a:p>
            <a:pPr>
              <a:lnSpc>
                <a:spcPct val="120000"/>
              </a:lnSpc>
              <a:buNone/>
            </a:pPr>
            <a:r>
              <a:rPr lang="en-US" sz="800" b="0">
                <a:solidFill>
                  <a:srgbClr val="6A9955"/>
                </a:solidFill>
                <a:effectLst/>
                <a:latin typeface="JetBrains Mono" panose="02000009000000000000" pitchFamily="49" charset="0"/>
              </a:rPr>
              <a:t>  // Standard mutex would execute millions of atomic CAS instructions.</a:t>
            </a:r>
            <a:endParaRPr lang="en-US" sz="800" b="0">
              <a:solidFill>
                <a:srgbClr val="CCCCCC"/>
              </a:solidFill>
              <a:effectLst/>
              <a:latin typeface="JetBrains Mono" panose="02000009000000000000" pitchFamily="49" charset="0"/>
            </a:endParaRPr>
          </a:p>
          <a:p>
            <a:pPr>
              <a:lnSpc>
                <a:spcPct val="120000"/>
              </a:lnSpc>
              <a:buNone/>
            </a:pPr>
            <a:r>
              <a:rPr lang="en-US" sz="800" b="0">
                <a:solidFill>
                  <a:srgbClr val="CCCCCC"/>
                </a:solidFill>
                <a:effectLst/>
                <a:latin typeface="JetBrains Mono" panose="02000009000000000000" pitchFamily="49" charset="0"/>
              </a:rPr>
              <a:t>  </a:t>
            </a:r>
            <a:r>
              <a:rPr lang="en-US" sz="800" b="0">
                <a:solidFill>
                  <a:srgbClr val="4EC9B0"/>
                </a:solidFill>
                <a:effectLst/>
                <a:latin typeface="JetBrains Mono" panose="02000009000000000000" pitchFamily="49" charset="0"/>
              </a:rPr>
              <a:t>std</a:t>
            </a:r>
            <a:r>
              <a:rPr lang="en-US" sz="800" b="0">
                <a:solidFill>
                  <a:srgbClr val="CCCCCC"/>
                </a:solidFill>
                <a:effectLst/>
                <a:latin typeface="JetBrains Mono" panose="02000009000000000000" pitchFamily="49" charset="0"/>
              </a:rPr>
              <a:t>::</a:t>
            </a:r>
            <a:r>
              <a:rPr lang="en-US" sz="800" b="0" err="1">
                <a:solidFill>
                  <a:srgbClr val="CCCCCC"/>
                </a:solidFill>
                <a:effectLst/>
                <a:latin typeface="JetBrains Mono" panose="02000009000000000000" pitchFamily="49" charset="0"/>
              </a:rPr>
              <a:t>lock_guard</a:t>
            </a:r>
            <a:r>
              <a:rPr lang="en-US" sz="800" b="0">
                <a:solidFill>
                  <a:srgbClr val="D4D4D4"/>
                </a:solidFill>
                <a:effectLst/>
                <a:latin typeface="JetBrains Mono" panose="02000009000000000000" pitchFamily="49" charset="0"/>
              </a:rPr>
              <a:t>&lt;</a:t>
            </a:r>
            <a:r>
              <a:rPr lang="en-US" sz="800" b="0">
                <a:solidFill>
                  <a:srgbClr val="4EC9B0"/>
                </a:solidFill>
                <a:effectLst/>
                <a:latin typeface="JetBrains Mono" panose="02000009000000000000" pitchFamily="49" charset="0"/>
              </a:rPr>
              <a:t>std</a:t>
            </a:r>
            <a:r>
              <a:rPr lang="en-US" sz="800" b="0">
                <a:solidFill>
                  <a:srgbClr val="CCCCCC"/>
                </a:solidFill>
                <a:effectLst/>
                <a:latin typeface="JetBrains Mono" panose="02000009000000000000" pitchFamily="49" charset="0"/>
              </a:rPr>
              <a:t>::mutex</a:t>
            </a:r>
            <a:r>
              <a:rPr lang="en-US" sz="800" b="0">
                <a:solidFill>
                  <a:srgbClr val="D4D4D4"/>
                </a:solidFill>
                <a:effectLst/>
                <a:latin typeface="JetBrains Mono" panose="02000009000000000000" pitchFamily="49" charset="0"/>
              </a:rPr>
              <a:t>&gt;</a:t>
            </a:r>
            <a:r>
              <a:rPr lang="en-US" sz="800" b="0">
                <a:solidFill>
                  <a:srgbClr val="CCCCCC"/>
                </a:solidFill>
                <a:effectLst/>
                <a:latin typeface="JetBrains Mono" panose="02000009000000000000" pitchFamily="49" charset="0"/>
              </a:rPr>
              <a:t> </a:t>
            </a:r>
            <a:r>
              <a:rPr lang="en-US" sz="800" b="0">
                <a:solidFill>
                  <a:srgbClr val="DCDCAA"/>
                </a:solidFill>
                <a:effectLst/>
                <a:latin typeface="JetBrains Mono" panose="02000009000000000000" pitchFamily="49" charset="0"/>
              </a:rPr>
              <a:t>lock</a:t>
            </a:r>
            <a:r>
              <a:rPr lang="en-US" sz="800" b="0">
                <a:solidFill>
                  <a:srgbClr val="CCCCCC"/>
                </a:solidFill>
                <a:effectLst/>
                <a:latin typeface="JetBrains Mono" panose="02000009000000000000" pitchFamily="49" charset="0"/>
              </a:rPr>
              <a:t>(</a:t>
            </a:r>
            <a:r>
              <a:rPr lang="en-US" sz="800" b="0" err="1">
                <a:solidFill>
                  <a:srgbClr val="9CDCFE"/>
                </a:solidFill>
                <a:effectLst/>
                <a:latin typeface="JetBrains Mono" panose="02000009000000000000" pitchFamily="49" charset="0"/>
              </a:rPr>
              <a:t>mtx</a:t>
            </a:r>
            <a:r>
              <a:rPr lang="en-US" sz="800" b="0">
                <a:solidFill>
                  <a:srgbClr val="CCCCCC"/>
                </a:solidFill>
                <a:effectLst/>
                <a:latin typeface="JetBrains Mono" panose="02000009000000000000" pitchFamily="49" charset="0"/>
              </a:rPr>
              <a:t>);</a:t>
            </a:r>
          </a:p>
          <a:p>
            <a:pPr>
              <a:lnSpc>
                <a:spcPct val="120000"/>
              </a:lnSpc>
              <a:buNone/>
            </a:pPr>
            <a:r>
              <a:rPr lang="en-US" sz="800" b="0">
                <a:solidFill>
                  <a:srgbClr val="CCCCCC"/>
                </a:solidFill>
                <a:effectLst/>
                <a:latin typeface="JetBrains Mono" panose="02000009000000000000" pitchFamily="49" charset="0"/>
              </a:rPr>
              <a:t>  </a:t>
            </a:r>
            <a:r>
              <a:rPr lang="en-US" sz="800" b="0" err="1">
                <a:solidFill>
                  <a:srgbClr val="9CDCFE"/>
                </a:solidFill>
                <a:effectLst/>
                <a:latin typeface="JetBrains Mono" panose="02000009000000000000" pitchFamily="49" charset="0"/>
              </a:rPr>
              <a:t>request_count</a:t>
            </a:r>
            <a:r>
              <a:rPr lang="en-US" sz="800" b="0">
                <a:solidFill>
                  <a:srgbClr val="D4D4D4"/>
                </a:solidFill>
                <a:effectLst/>
                <a:latin typeface="JetBrains Mono" panose="02000009000000000000" pitchFamily="49" charset="0"/>
              </a:rPr>
              <a:t>++</a:t>
            </a:r>
            <a:r>
              <a:rPr lang="en-US" sz="800" b="0">
                <a:solidFill>
                  <a:srgbClr val="CCCCCC"/>
                </a:solidFill>
                <a:effectLst/>
                <a:latin typeface="JetBrains Mono" panose="02000009000000000000" pitchFamily="49" charset="0"/>
              </a:rPr>
              <a:t>;</a:t>
            </a:r>
          </a:p>
          <a:p>
            <a:pPr>
              <a:lnSpc>
                <a:spcPct val="120000"/>
              </a:lnSpc>
              <a:buNone/>
            </a:pPr>
            <a:r>
              <a:rPr lang="en-US" sz="800" b="0">
                <a:solidFill>
                  <a:srgbClr val="CCCCCC"/>
                </a:solidFill>
                <a:effectLst/>
                <a:latin typeface="JetBrains Mono" panose="02000009000000000000" pitchFamily="49" charset="0"/>
              </a:rPr>
              <a:t>}</a:t>
            </a:r>
          </a:p>
          <a:p>
            <a:pPr>
              <a:lnSpc>
                <a:spcPct val="120000"/>
              </a:lnSpc>
              <a:buNone/>
            </a:pPr>
            <a:endParaRPr lang="en-US" sz="800" b="0">
              <a:solidFill>
                <a:srgbClr val="CCCCCC"/>
              </a:solidFill>
              <a:effectLst/>
              <a:latin typeface="JetBrains Mono" panose="02000009000000000000" pitchFamily="49" charset="0"/>
            </a:endParaRPr>
          </a:p>
          <a:p>
            <a:pPr>
              <a:lnSpc>
                <a:spcPct val="120000"/>
              </a:lnSpc>
              <a:buNone/>
            </a:pPr>
            <a:r>
              <a:rPr lang="en-US" sz="800" b="0">
                <a:solidFill>
                  <a:srgbClr val="6A9955"/>
                </a:solidFill>
                <a:effectLst/>
                <a:latin typeface="JetBrains Mono" panose="02000009000000000000" pitchFamily="49" charset="0"/>
              </a:rPr>
              <a:t>// Called rarely by a background thread</a:t>
            </a:r>
            <a:endParaRPr lang="en-US" sz="800" b="0">
              <a:solidFill>
                <a:srgbClr val="CCCCCC"/>
              </a:solidFill>
              <a:effectLst/>
              <a:latin typeface="JetBrains Mono" panose="02000009000000000000" pitchFamily="49" charset="0"/>
            </a:endParaRPr>
          </a:p>
          <a:p>
            <a:pPr>
              <a:lnSpc>
                <a:spcPct val="120000"/>
              </a:lnSpc>
              <a:buNone/>
            </a:pPr>
            <a:r>
              <a:rPr lang="en-US" sz="800" b="0">
                <a:solidFill>
                  <a:srgbClr val="569CD6"/>
                </a:solidFill>
                <a:effectLst/>
                <a:latin typeface="JetBrains Mono" panose="02000009000000000000" pitchFamily="49" charset="0"/>
              </a:rPr>
              <a:t>int</a:t>
            </a:r>
            <a:r>
              <a:rPr lang="en-US" sz="800" b="0">
                <a:solidFill>
                  <a:srgbClr val="CCCCCC"/>
                </a:solidFill>
                <a:effectLst/>
                <a:latin typeface="JetBrains Mono" panose="02000009000000000000" pitchFamily="49" charset="0"/>
              </a:rPr>
              <a:t> </a:t>
            </a:r>
            <a:r>
              <a:rPr lang="en-US" sz="800" b="0" err="1">
                <a:solidFill>
                  <a:srgbClr val="DCDCAA"/>
                </a:solidFill>
                <a:effectLst/>
                <a:latin typeface="JetBrains Mono" panose="02000009000000000000" pitchFamily="49" charset="0"/>
              </a:rPr>
              <a:t>get_count</a:t>
            </a:r>
            <a:r>
              <a:rPr lang="en-US" sz="800" b="0">
                <a:solidFill>
                  <a:srgbClr val="CCCCCC"/>
                </a:solidFill>
                <a:effectLst/>
                <a:latin typeface="JetBrains Mono" panose="02000009000000000000" pitchFamily="49" charset="0"/>
              </a:rPr>
              <a:t>() {</a:t>
            </a:r>
          </a:p>
          <a:p>
            <a:pPr>
              <a:lnSpc>
                <a:spcPct val="120000"/>
              </a:lnSpc>
              <a:buNone/>
            </a:pPr>
            <a:r>
              <a:rPr lang="en-US" sz="800" b="0">
                <a:solidFill>
                  <a:srgbClr val="CCCCCC"/>
                </a:solidFill>
                <a:effectLst/>
                <a:latin typeface="JetBrains Mono" panose="02000009000000000000" pitchFamily="49" charset="0"/>
              </a:rPr>
              <a:t>  </a:t>
            </a:r>
            <a:r>
              <a:rPr lang="en-US" sz="800" b="0">
                <a:solidFill>
                  <a:srgbClr val="4EC9B0"/>
                </a:solidFill>
                <a:effectLst/>
                <a:latin typeface="JetBrains Mono" panose="02000009000000000000" pitchFamily="49" charset="0"/>
              </a:rPr>
              <a:t>std</a:t>
            </a:r>
            <a:r>
              <a:rPr lang="en-US" sz="800" b="0">
                <a:solidFill>
                  <a:srgbClr val="CCCCCC"/>
                </a:solidFill>
                <a:effectLst/>
                <a:latin typeface="JetBrains Mono" panose="02000009000000000000" pitchFamily="49" charset="0"/>
              </a:rPr>
              <a:t>::</a:t>
            </a:r>
            <a:r>
              <a:rPr lang="en-US" sz="800" b="0" err="1">
                <a:solidFill>
                  <a:srgbClr val="CCCCCC"/>
                </a:solidFill>
                <a:effectLst/>
                <a:latin typeface="JetBrains Mono" panose="02000009000000000000" pitchFamily="49" charset="0"/>
              </a:rPr>
              <a:t>lock_guard</a:t>
            </a:r>
            <a:r>
              <a:rPr lang="en-US" sz="800" b="0">
                <a:solidFill>
                  <a:srgbClr val="D4D4D4"/>
                </a:solidFill>
                <a:effectLst/>
                <a:latin typeface="JetBrains Mono" panose="02000009000000000000" pitchFamily="49" charset="0"/>
              </a:rPr>
              <a:t>&lt;</a:t>
            </a:r>
            <a:r>
              <a:rPr lang="en-US" sz="800" b="0">
                <a:solidFill>
                  <a:srgbClr val="4EC9B0"/>
                </a:solidFill>
                <a:effectLst/>
                <a:latin typeface="JetBrains Mono" panose="02000009000000000000" pitchFamily="49" charset="0"/>
              </a:rPr>
              <a:t>std</a:t>
            </a:r>
            <a:r>
              <a:rPr lang="en-US" sz="800" b="0">
                <a:solidFill>
                  <a:srgbClr val="CCCCCC"/>
                </a:solidFill>
                <a:effectLst/>
                <a:latin typeface="JetBrains Mono" panose="02000009000000000000" pitchFamily="49" charset="0"/>
              </a:rPr>
              <a:t>::mutex</a:t>
            </a:r>
            <a:r>
              <a:rPr lang="en-US" sz="800" b="0">
                <a:solidFill>
                  <a:srgbClr val="D4D4D4"/>
                </a:solidFill>
                <a:effectLst/>
                <a:latin typeface="JetBrains Mono" panose="02000009000000000000" pitchFamily="49" charset="0"/>
              </a:rPr>
              <a:t>&gt;</a:t>
            </a:r>
            <a:r>
              <a:rPr lang="en-US" sz="800" b="0">
                <a:solidFill>
                  <a:srgbClr val="CCCCCC"/>
                </a:solidFill>
                <a:effectLst/>
                <a:latin typeface="JetBrains Mono" panose="02000009000000000000" pitchFamily="49" charset="0"/>
              </a:rPr>
              <a:t> </a:t>
            </a:r>
            <a:r>
              <a:rPr lang="en-US" sz="800" b="0">
                <a:solidFill>
                  <a:srgbClr val="DCDCAA"/>
                </a:solidFill>
                <a:effectLst/>
                <a:latin typeface="JetBrains Mono" panose="02000009000000000000" pitchFamily="49" charset="0"/>
              </a:rPr>
              <a:t>lock</a:t>
            </a:r>
            <a:r>
              <a:rPr lang="en-US" sz="800" b="0">
                <a:solidFill>
                  <a:srgbClr val="CCCCCC"/>
                </a:solidFill>
                <a:effectLst/>
                <a:latin typeface="JetBrains Mono" panose="02000009000000000000" pitchFamily="49" charset="0"/>
              </a:rPr>
              <a:t>(</a:t>
            </a:r>
            <a:r>
              <a:rPr lang="en-US" sz="800" b="0" err="1">
                <a:solidFill>
                  <a:srgbClr val="9CDCFE"/>
                </a:solidFill>
                <a:effectLst/>
                <a:latin typeface="JetBrains Mono" panose="02000009000000000000" pitchFamily="49" charset="0"/>
              </a:rPr>
              <a:t>mtx</a:t>
            </a:r>
            <a:r>
              <a:rPr lang="en-US" sz="800" b="0">
                <a:solidFill>
                  <a:srgbClr val="CCCCCC"/>
                </a:solidFill>
                <a:effectLst/>
                <a:latin typeface="JetBrains Mono" panose="02000009000000000000" pitchFamily="49" charset="0"/>
              </a:rPr>
              <a:t>);</a:t>
            </a:r>
          </a:p>
          <a:p>
            <a:pPr>
              <a:lnSpc>
                <a:spcPct val="120000"/>
              </a:lnSpc>
              <a:buNone/>
            </a:pPr>
            <a:r>
              <a:rPr lang="en-US" sz="800" b="0">
                <a:solidFill>
                  <a:srgbClr val="CCCCCC"/>
                </a:solidFill>
                <a:effectLst/>
                <a:latin typeface="JetBrains Mono" panose="02000009000000000000" pitchFamily="49" charset="0"/>
              </a:rPr>
              <a:t>  </a:t>
            </a:r>
            <a:r>
              <a:rPr lang="en-US" sz="800" b="0">
                <a:solidFill>
                  <a:srgbClr val="C586C0"/>
                </a:solidFill>
                <a:effectLst/>
                <a:latin typeface="JetBrains Mono" panose="02000009000000000000" pitchFamily="49" charset="0"/>
              </a:rPr>
              <a:t>return</a:t>
            </a:r>
            <a:r>
              <a:rPr lang="en-US" sz="800" b="0">
                <a:solidFill>
                  <a:srgbClr val="CCCCCC"/>
                </a:solidFill>
                <a:effectLst/>
                <a:latin typeface="JetBrains Mono" panose="02000009000000000000" pitchFamily="49" charset="0"/>
              </a:rPr>
              <a:t> </a:t>
            </a:r>
            <a:r>
              <a:rPr lang="en-US" sz="800" b="0" err="1">
                <a:solidFill>
                  <a:srgbClr val="9CDCFE"/>
                </a:solidFill>
                <a:effectLst/>
                <a:latin typeface="JetBrains Mono" panose="02000009000000000000" pitchFamily="49" charset="0"/>
              </a:rPr>
              <a:t>request_count</a:t>
            </a:r>
            <a:r>
              <a:rPr lang="en-US" sz="800" b="0">
                <a:solidFill>
                  <a:srgbClr val="CCCCCC"/>
                </a:solidFill>
                <a:effectLst/>
                <a:latin typeface="JetBrains Mono" panose="02000009000000000000" pitchFamily="49" charset="0"/>
              </a:rPr>
              <a:t>;</a:t>
            </a:r>
          </a:p>
          <a:p>
            <a:pPr>
              <a:lnSpc>
                <a:spcPct val="120000"/>
              </a:lnSpc>
              <a:buNone/>
            </a:pPr>
            <a:r>
              <a:rPr lang="en-US" sz="800" b="0">
                <a:solidFill>
                  <a:srgbClr val="CCCCCC"/>
                </a:solidFill>
                <a:effectLst/>
                <a:latin typeface="JetBrains Mono" panose="02000009000000000000" pitchFamily="49" charset="0"/>
              </a:rPr>
              <a:t>}</a:t>
            </a:r>
          </a:p>
        </p:txBody>
      </p:sp>
      <p:sp>
        <p:nvSpPr>
          <p:cNvPr id="10" name="TextBox 9">
            <a:extLst>
              <a:ext uri="{FF2B5EF4-FFF2-40B4-BE49-F238E27FC236}">
                <a16:creationId xmlns:a16="http://schemas.microsoft.com/office/drawing/2014/main" id="{7E88B9D2-72DF-FACF-969B-1297B403AD50}"/>
              </a:ext>
            </a:extLst>
          </p:cNvPr>
          <p:cNvSpPr txBox="1"/>
          <p:nvPr/>
        </p:nvSpPr>
        <p:spPr>
          <a:xfrm>
            <a:off x="7467599" y="2854722"/>
            <a:ext cx="4178075" cy="276999"/>
          </a:xfrm>
          <a:prstGeom prst="rect">
            <a:avLst/>
          </a:prstGeom>
          <a:noFill/>
        </p:spPr>
        <p:txBody>
          <a:bodyPr wrap="square">
            <a:spAutoFit/>
          </a:bodyPr>
          <a:lstStyle/>
          <a:p>
            <a:r>
              <a:rPr lang="en-US" sz="1200" b="1"/>
              <a:t>After (Biased locking)</a:t>
            </a:r>
          </a:p>
        </p:txBody>
      </p:sp>
      <p:sp>
        <p:nvSpPr>
          <p:cNvPr id="11" name="TextBox 10">
            <a:extLst>
              <a:ext uri="{FF2B5EF4-FFF2-40B4-BE49-F238E27FC236}">
                <a16:creationId xmlns:a16="http://schemas.microsoft.com/office/drawing/2014/main" id="{1120CEF9-A4CA-12CD-FF5C-53D66852DA13}"/>
              </a:ext>
            </a:extLst>
          </p:cNvPr>
          <p:cNvSpPr txBox="1"/>
          <p:nvPr/>
        </p:nvSpPr>
        <p:spPr>
          <a:xfrm>
            <a:off x="7467599" y="3131721"/>
            <a:ext cx="4490489" cy="3628942"/>
          </a:xfrm>
          <a:prstGeom prst="rect">
            <a:avLst/>
          </a:prstGeom>
          <a:solidFill>
            <a:srgbClr val="1F1F1F"/>
          </a:solidFill>
        </p:spPr>
        <p:txBody>
          <a:bodyPr wrap="square">
            <a:spAutoFit/>
          </a:bodyPr>
          <a:lstStyle/>
          <a:p>
            <a:pPr>
              <a:lnSpc>
                <a:spcPct val="120000"/>
              </a:lnSpc>
              <a:buNone/>
            </a:pPr>
            <a:r>
              <a:rPr lang="en-US" sz="800" b="0">
                <a:solidFill>
                  <a:srgbClr val="569CD6"/>
                </a:solidFill>
                <a:effectLst/>
                <a:latin typeface="JetBrains Mono" panose="02000009000000000000" pitchFamily="49" charset="0"/>
              </a:rPr>
              <a:t>struct</a:t>
            </a:r>
            <a:r>
              <a:rPr lang="en-US" sz="800" b="0">
                <a:solidFill>
                  <a:srgbClr val="CCCCCC"/>
                </a:solidFill>
                <a:effectLst/>
                <a:latin typeface="JetBrains Mono" panose="02000009000000000000" pitchFamily="49" charset="0"/>
              </a:rPr>
              <a:t> </a:t>
            </a:r>
            <a:r>
              <a:rPr lang="en-US" sz="800" b="0" err="1">
                <a:solidFill>
                  <a:srgbClr val="4EC9B0"/>
                </a:solidFill>
                <a:effectLst/>
                <a:latin typeface="JetBrains Mono" panose="02000009000000000000" pitchFamily="49" charset="0"/>
              </a:rPr>
              <a:t>BiasedLock</a:t>
            </a:r>
            <a:r>
              <a:rPr lang="en-US" sz="800" b="0">
                <a:solidFill>
                  <a:srgbClr val="CCCCCC"/>
                </a:solidFill>
                <a:effectLst/>
                <a:latin typeface="JetBrains Mono" panose="02000009000000000000" pitchFamily="49" charset="0"/>
              </a:rPr>
              <a:t> {</a:t>
            </a:r>
          </a:p>
          <a:p>
            <a:pPr>
              <a:lnSpc>
                <a:spcPct val="120000"/>
              </a:lnSpc>
              <a:buNone/>
            </a:pPr>
            <a:r>
              <a:rPr lang="en-US" sz="800" b="0">
                <a:solidFill>
                  <a:srgbClr val="CCCCCC"/>
                </a:solidFill>
                <a:effectLst/>
                <a:latin typeface="JetBrains Mono" panose="02000009000000000000" pitchFamily="49" charset="0"/>
              </a:rPr>
              <a:t>  </a:t>
            </a:r>
            <a:r>
              <a:rPr lang="en-US" sz="800" b="0">
                <a:solidFill>
                  <a:srgbClr val="569CD6"/>
                </a:solidFill>
                <a:effectLst/>
                <a:latin typeface="JetBrains Mono" panose="02000009000000000000" pitchFamily="49" charset="0"/>
              </a:rPr>
              <a:t>uint64_t</a:t>
            </a:r>
            <a:r>
              <a:rPr lang="en-US" sz="800" b="0">
                <a:solidFill>
                  <a:srgbClr val="CCCCCC"/>
                </a:solidFill>
                <a:effectLst/>
                <a:latin typeface="JetBrains Mono" panose="02000009000000000000" pitchFamily="49" charset="0"/>
              </a:rPr>
              <a:t> </a:t>
            </a:r>
            <a:r>
              <a:rPr lang="en-US" sz="800" b="0">
                <a:solidFill>
                  <a:srgbClr val="9CDCFE"/>
                </a:solidFill>
                <a:effectLst/>
                <a:latin typeface="JetBrains Mono" panose="02000009000000000000" pitchFamily="49" charset="0"/>
              </a:rPr>
              <a:t>header</a:t>
            </a:r>
            <a:r>
              <a:rPr lang="en-US" sz="800" b="0">
                <a:solidFill>
                  <a:srgbClr val="CCCCCC"/>
                </a:solidFill>
                <a:effectLst/>
                <a:latin typeface="JetBrains Mono" panose="02000009000000000000" pitchFamily="49" charset="0"/>
              </a:rPr>
              <a:t>;</a:t>
            </a:r>
            <a:r>
              <a:rPr lang="en-US" sz="800" b="0">
                <a:solidFill>
                  <a:srgbClr val="6A9955"/>
                </a:solidFill>
                <a:effectLst/>
                <a:latin typeface="JetBrains Mono" panose="02000009000000000000" pitchFamily="49" charset="0"/>
              </a:rPr>
              <a:t> // Contains: </a:t>
            </a:r>
            <a:r>
              <a:rPr lang="en-US" sz="800" b="0" err="1">
                <a:solidFill>
                  <a:srgbClr val="6A9955"/>
                </a:solidFill>
                <a:effectLst/>
                <a:latin typeface="JetBrains Mono" panose="02000009000000000000" pitchFamily="49" charset="0"/>
              </a:rPr>
              <a:t>ThreadID</a:t>
            </a:r>
            <a:r>
              <a:rPr lang="en-US" sz="800" b="0">
                <a:solidFill>
                  <a:srgbClr val="6A9955"/>
                </a:solidFill>
                <a:effectLst/>
                <a:latin typeface="JetBrains Mono" panose="02000009000000000000" pitchFamily="49" charset="0"/>
              </a:rPr>
              <a:t> (54 bits) | </a:t>
            </a:r>
          </a:p>
          <a:p>
            <a:pPr>
              <a:lnSpc>
                <a:spcPct val="120000"/>
              </a:lnSpc>
              <a:buNone/>
            </a:pPr>
            <a:r>
              <a:rPr lang="en-US" sz="800">
                <a:solidFill>
                  <a:srgbClr val="6A9955"/>
                </a:solidFill>
                <a:latin typeface="JetBrains Mono" panose="02000009000000000000" pitchFamily="49" charset="0"/>
              </a:rPr>
              <a:t>                   // </a:t>
            </a:r>
            <a:r>
              <a:rPr lang="en-US" sz="800" b="0">
                <a:solidFill>
                  <a:srgbClr val="6A9955"/>
                </a:solidFill>
                <a:effectLst/>
                <a:latin typeface="JetBrains Mono" panose="02000009000000000000" pitchFamily="49" charset="0"/>
              </a:rPr>
              <a:t>Locked (1 bit) | </a:t>
            </a:r>
            <a:r>
              <a:rPr lang="en-US" sz="800" b="0" err="1">
                <a:solidFill>
                  <a:srgbClr val="6A9955"/>
                </a:solidFill>
                <a:effectLst/>
                <a:latin typeface="JetBrains Mono" panose="02000009000000000000" pitchFamily="49" charset="0"/>
              </a:rPr>
              <a:t>Bias_Enabled</a:t>
            </a:r>
            <a:r>
              <a:rPr lang="en-US" sz="800" b="0">
                <a:solidFill>
                  <a:srgbClr val="6A9955"/>
                </a:solidFill>
                <a:effectLst/>
                <a:latin typeface="JetBrains Mono" panose="02000009000000000000" pitchFamily="49" charset="0"/>
              </a:rPr>
              <a:t> (1 bit)</a:t>
            </a:r>
            <a:r>
              <a:rPr lang="en-US" sz="800">
                <a:solidFill>
                  <a:srgbClr val="CCCCCC"/>
                </a:solidFill>
                <a:latin typeface="JetBrains Mono" panose="02000009000000000000" pitchFamily="49" charset="0"/>
              </a:rPr>
              <a:t> </a:t>
            </a:r>
            <a:r>
              <a:rPr lang="en-US" sz="800" b="0">
                <a:solidFill>
                  <a:srgbClr val="CCCCCC"/>
                </a:solidFill>
                <a:effectLst/>
                <a:latin typeface="JetBrains Mono" panose="02000009000000000000" pitchFamily="49" charset="0"/>
              </a:rPr>
              <a:t>};</a:t>
            </a:r>
          </a:p>
          <a:p>
            <a:pPr>
              <a:lnSpc>
                <a:spcPct val="120000"/>
              </a:lnSpc>
              <a:buNone/>
            </a:pPr>
            <a:r>
              <a:rPr lang="en-US" sz="800" b="0">
                <a:solidFill>
                  <a:srgbClr val="569CD6"/>
                </a:solidFill>
                <a:effectLst/>
                <a:latin typeface="JetBrains Mono" panose="02000009000000000000" pitchFamily="49" charset="0"/>
              </a:rPr>
              <a:t>void</a:t>
            </a:r>
            <a:r>
              <a:rPr lang="en-US" sz="800" b="0">
                <a:solidFill>
                  <a:srgbClr val="CCCCCC"/>
                </a:solidFill>
                <a:effectLst/>
                <a:latin typeface="JetBrains Mono" panose="02000009000000000000" pitchFamily="49" charset="0"/>
              </a:rPr>
              <a:t> </a:t>
            </a:r>
            <a:r>
              <a:rPr lang="en-US" sz="800" b="0" err="1">
                <a:solidFill>
                  <a:srgbClr val="9CDCFE"/>
                </a:solidFill>
                <a:effectLst/>
                <a:latin typeface="JetBrains Mono" panose="02000009000000000000" pitchFamily="49" charset="0"/>
              </a:rPr>
              <a:t>process_request_optimized</a:t>
            </a:r>
            <a:r>
              <a:rPr lang="en-US" sz="800" b="0">
                <a:solidFill>
                  <a:srgbClr val="CCCCCC"/>
                </a:solidFill>
                <a:effectLst/>
                <a:latin typeface="JetBrains Mono" panose="02000009000000000000" pitchFamily="49" charset="0"/>
              </a:rPr>
              <a:t>(</a:t>
            </a:r>
            <a:r>
              <a:rPr lang="en-US" sz="800" b="0">
                <a:solidFill>
                  <a:srgbClr val="4EC9B0"/>
                </a:solidFill>
                <a:effectLst/>
                <a:latin typeface="JetBrains Mono" panose="02000009000000000000" pitchFamily="49" charset="0"/>
              </a:rPr>
              <a:t>Session</a:t>
            </a:r>
            <a:r>
              <a:rPr lang="en-US" sz="800" b="0">
                <a:solidFill>
                  <a:srgbClr val="CCCCCC"/>
                </a:solidFill>
                <a:effectLst/>
                <a:latin typeface="JetBrains Mono" panose="02000009000000000000" pitchFamily="49" charset="0"/>
              </a:rPr>
              <a:t> </a:t>
            </a:r>
            <a:r>
              <a:rPr lang="en-US" sz="800" b="0">
                <a:solidFill>
                  <a:srgbClr val="569CD6"/>
                </a:solidFill>
                <a:effectLst/>
                <a:latin typeface="JetBrains Mono" panose="02000009000000000000" pitchFamily="49" charset="0"/>
              </a:rPr>
              <a:t>*</a:t>
            </a:r>
            <a:r>
              <a:rPr lang="en-US" sz="800" b="0">
                <a:solidFill>
                  <a:srgbClr val="9CDCFE"/>
                </a:solidFill>
                <a:effectLst/>
                <a:latin typeface="JetBrains Mono" panose="02000009000000000000" pitchFamily="49" charset="0"/>
              </a:rPr>
              <a:t>s</a:t>
            </a:r>
            <a:r>
              <a:rPr lang="en-US" sz="800" b="0">
                <a:solidFill>
                  <a:srgbClr val="CCCCCC"/>
                </a:solidFill>
                <a:effectLst/>
                <a:latin typeface="JetBrains Mono" panose="02000009000000000000" pitchFamily="49" charset="0"/>
              </a:rPr>
              <a:t>) {</a:t>
            </a:r>
          </a:p>
          <a:p>
            <a:pPr>
              <a:lnSpc>
                <a:spcPct val="120000"/>
              </a:lnSpc>
              <a:buNone/>
            </a:pPr>
            <a:r>
              <a:rPr lang="en-US" sz="800" b="0">
                <a:solidFill>
                  <a:srgbClr val="CCCCCC"/>
                </a:solidFill>
                <a:effectLst/>
                <a:latin typeface="JetBrains Mono" panose="02000009000000000000" pitchFamily="49" charset="0"/>
              </a:rPr>
              <a:t>  </a:t>
            </a:r>
            <a:r>
              <a:rPr lang="en-US" sz="800" b="0">
                <a:solidFill>
                  <a:srgbClr val="569CD6"/>
                </a:solidFill>
                <a:effectLst/>
                <a:latin typeface="JetBrains Mono" panose="02000009000000000000" pitchFamily="49" charset="0"/>
              </a:rPr>
              <a:t>uint64_t</a:t>
            </a:r>
            <a:r>
              <a:rPr lang="en-US" sz="800" b="0">
                <a:solidFill>
                  <a:srgbClr val="CCCCCC"/>
                </a:solidFill>
                <a:effectLst/>
                <a:latin typeface="JetBrains Mono" panose="02000009000000000000" pitchFamily="49" charset="0"/>
              </a:rPr>
              <a:t> </a:t>
            </a:r>
            <a:r>
              <a:rPr lang="en-US" sz="800" b="0" err="1">
                <a:solidFill>
                  <a:srgbClr val="CCCCCC"/>
                </a:solidFill>
                <a:effectLst/>
                <a:latin typeface="JetBrains Mono" panose="02000009000000000000" pitchFamily="49" charset="0"/>
              </a:rPr>
              <a:t>current_tid</a:t>
            </a:r>
            <a:r>
              <a:rPr lang="en-US" sz="800" b="0">
                <a:solidFill>
                  <a:srgbClr val="CCCCCC"/>
                </a:solidFill>
                <a:effectLst/>
                <a:latin typeface="JetBrains Mono" panose="02000009000000000000" pitchFamily="49" charset="0"/>
              </a:rPr>
              <a:t> </a:t>
            </a:r>
            <a:r>
              <a:rPr lang="en-US" sz="800" b="0">
                <a:solidFill>
                  <a:srgbClr val="D4D4D4"/>
                </a:solidFill>
                <a:effectLst/>
                <a:latin typeface="JetBrains Mono" panose="02000009000000000000" pitchFamily="49" charset="0"/>
              </a:rPr>
              <a:t>=</a:t>
            </a:r>
            <a:r>
              <a:rPr lang="en-US" sz="800" b="0">
                <a:solidFill>
                  <a:srgbClr val="CCCCCC"/>
                </a:solidFill>
                <a:effectLst/>
                <a:latin typeface="JetBrains Mono" panose="02000009000000000000" pitchFamily="49" charset="0"/>
              </a:rPr>
              <a:t> </a:t>
            </a:r>
            <a:r>
              <a:rPr lang="en-US" sz="800" b="0" err="1">
                <a:solidFill>
                  <a:srgbClr val="DCDCAA"/>
                </a:solidFill>
                <a:effectLst/>
                <a:latin typeface="JetBrains Mono" panose="02000009000000000000" pitchFamily="49" charset="0"/>
              </a:rPr>
              <a:t>get_thread_id</a:t>
            </a:r>
            <a:r>
              <a:rPr lang="en-US" sz="800" b="0">
                <a:solidFill>
                  <a:srgbClr val="CCCCCC"/>
                </a:solidFill>
                <a:effectLst/>
                <a:latin typeface="JetBrains Mono" panose="02000009000000000000" pitchFamily="49" charset="0"/>
              </a:rPr>
              <a:t>();</a:t>
            </a:r>
          </a:p>
          <a:p>
            <a:pPr>
              <a:lnSpc>
                <a:spcPct val="120000"/>
              </a:lnSpc>
              <a:buNone/>
            </a:pPr>
            <a:r>
              <a:rPr lang="en-US" sz="800" b="0">
                <a:solidFill>
                  <a:srgbClr val="6A9955"/>
                </a:solidFill>
                <a:effectLst/>
                <a:latin typeface="JetBrains Mono" panose="02000009000000000000" pitchFamily="49" charset="0"/>
              </a:rPr>
              <a:t>  // 1. Check if the lock is biased towards US</a:t>
            </a:r>
            <a:endParaRPr lang="en-US" sz="800" b="0">
              <a:solidFill>
                <a:srgbClr val="CCCCCC"/>
              </a:solidFill>
              <a:effectLst/>
              <a:latin typeface="JetBrains Mono" panose="02000009000000000000" pitchFamily="49" charset="0"/>
            </a:endParaRPr>
          </a:p>
          <a:p>
            <a:pPr>
              <a:lnSpc>
                <a:spcPct val="120000"/>
              </a:lnSpc>
              <a:buNone/>
            </a:pPr>
            <a:r>
              <a:rPr lang="en-US" sz="800" b="0">
                <a:solidFill>
                  <a:srgbClr val="6A9955"/>
                </a:solidFill>
                <a:effectLst/>
                <a:latin typeface="JetBrains Mono" panose="02000009000000000000" pitchFamily="49" charset="0"/>
              </a:rPr>
              <a:t>  // This is a plain LOAD. No cache coherency traffic.</a:t>
            </a:r>
            <a:endParaRPr lang="en-US" sz="800" b="0">
              <a:solidFill>
                <a:srgbClr val="CCCCCC"/>
              </a:solidFill>
              <a:effectLst/>
              <a:latin typeface="JetBrains Mono" panose="02000009000000000000" pitchFamily="49" charset="0"/>
            </a:endParaRPr>
          </a:p>
          <a:p>
            <a:pPr>
              <a:lnSpc>
                <a:spcPct val="120000"/>
              </a:lnSpc>
              <a:buNone/>
            </a:pPr>
            <a:r>
              <a:rPr lang="en-US" sz="800" b="0">
                <a:solidFill>
                  <a:srgbClr val="CCCCCC"/>
                </a:solidFill>
                <a:effectLst/>
                <a:latin typeface="JetBrains Mono" panose="02000009000000000000" pitchFamily="49" charset="0"/>
              </a:rPr>
              <a:t>  </a:t>
            </a:r>
            <a:r>
              <a:rPr lang="en-US" sz="800" b="0">
                <a:solidFill>
                  <a:srgbClr val="569CD6"/>
                </a:solidFill>
                <a:effectLst/>
                <a:latin typeface="JetBrains Mono" panose="02000009000000000000" pitchFamily="49" charset="0"/>
              </a:rPr>
              <a:t>uint64_t</a:t>
            </a:r>
            <a:r>
              <a:rPr lang="en-US" sz="800" b="0">
                <a:solidFill>
                  <a:srgbClr val="CCCCCC"/>
                </a:solidFill>
                <a:effectLst/>
                <a:latin typeface="JetBrains Mono" panose="02000009000000000000" pitchFamily="49" charset="0"/>
              </a:rPr>
              <a:t> </a:t>
            </a:r>
            <a:r>
              <a:rPr lang="en-US" sz="800" b="0" err="1">
                <a:solidFill>
                  <a:srgbClr val="CCCCCC"/>
                </a:solidFill>
                <a:effectLst/>
                <a:latin typeface="JetBrains Mono" panose="02000009000000000000" pitchFamily="49" charset="0"/>
              </a:rPr>
              <a:t>hdr</a:t>
            </a:r>
            <a:r>
              <a:rPr lang="en-US" sz="800" b="0">
                <a:solidFill>
                  <a:srgbClr val="CCCCCC"/>
                </a:solidFill>
                <a:effectLst/>
                <a:latin typeface="JetBrains Mono" panose="02000009000000000000" pitchFamily="49" charset="0"/>
              </a:rPr>
              <a:t> </a:t>
            </a:r>
            <a:r>
              <a:rPr lang="en-US" sz="800" b="0">
                <a:solidFill>
                  <a:srgbClr val="D4D4D4"/>
                </a:solidFill>
                <a:effectLst/>
                <a:latin typeface="JetBrains Mono" panose="02000009000000000000" pitchFamily="49" charset="0"/>
              </a:rPr>
              <a:t>=</a:t>
            </a:r>
            <a:r>
              <a:rPr lang="en-US" sz="800" b="0">
                <a:solidFill>
                  <a:srgbClr val="CCCCCC"/>
                </a:solidFill>
                <a:effectLst/>
                <a:latin typeface="JetBrains Mono" panose="02000009000000000000" pitchFamily="49" charset="0"/>
              </a:rPr>
              <a:t> </a:t>
            </a:r>
            <a:r>
              <a:rPr lang="en-US" sz="800" b="0">
                <a:solidFill>
                  <a:srgbClr val="9CDCFE"/>
                </a:solidFill>
                <a:effectLst/>
                <a:latin typeface="JetBrains Mono" panose="02000009000000000000" pitchFamily="49" charset="0"/>
              </a:rPr>
              <a:t>s</a:t>
            </a:r>
            <a:r>
              <a:rPr lang="en-US" sz="800" b="0">
                <a:solidFill>
                  <a:srgbClr val="CCCCCC"/>
                </a:solidFill>
                <a:effectLst/>
                <a:latin typeface="JetBrains Mono" panose="02000009000000000000" pitchFamily="49" charset="0"/>
              </a:rPr>
              <a:t>-&gt;</a:t>
            </a:r>
            <a:r>
              <a:rPr lang="en-US" sz="800" b="0" err="1">
                <a:solidFill>
                  <a:srgbClr val="9CDCFE"/>
                </a:solidFill>
                <a:effectLst/>
                <a:latin typeface="JetBrains Mono" panose="02000009000000000000" pitchFamily="49" charset="0"/>
              </a:rPr>
              <a:t>mtx</a:t>
            </a:r>
            <a:r>
              <a:rPr lang="en-US" sz="800" b="0" err="1">
                <a:solidFill>
                  <a:srgbClr val="CCCCCC"/>
                </a:solidFill>
                <a:effectLst/>
                <a:latin typeface="JetBrains Mono" panose="02000009000000000000" pitchFamily="49" charset="0"/>
              </a:rPr>
              <a:t>.</a:t>
            </a:r>
            <a:r>
              <a:rPr lang="en-US" sz="800" b="0" err="1">
                <a:solidFill>
                  <a:srgbClr val="9CDCFE"/>
                </a:solidFill>
                <a:effectLst/>
                <a:latin typeface="JetBrains Mono" panose="02000009000000000000" pitchFamily="49" charset="0"/>
              </a:rPr>
              <a:t>header</a:t>
            </a:r>
            <a:r>
              <a:rPr lang="en-US" sz="800" b="0">
                <a:solidFill>
                  <a:srgbClr val="CCCCCC"/>
                </a:solidFill>
                <a:effectLst/>
                <a:latin typeface="JetBrains Mono" panose="02000009000000000000" pitchFamily="49" charset="0"/>
              </a:rPr>
              <a:t>;</a:t>
            </a:r>
          </a:p>
          <a:p>
            <a:pPr>
              <a:lnSpc>
                <a:spcPct val="120000"/>
              </a:lnSpc>
              <a:buNone/>
            </a:pPr>
            <a:r>
              <a:rPr lang="en-US" sz="800" b="0">
                <a:solidFill>
                  <a:srgbClr val="CCCCCC"/>
                </a:solidFill>
                <a:effectLst/>
                <a:latin typeface="JetBrains Mono" panose="02000009000000000000" pitchFamily="49" charset="0"/>
              </a:rPr>
              <a:t>  </a:t>
            </a:r>
            <a:r>
              <a:rPr lang="en-US" sz="800" b="0">
                <a:solidFill>
                  <a:srgbClr val="C586C0"/>
                </a:solidFill>
                <a:effectLst/>
                <a:latin typeface="JetBrains Mono" panose="02000009000000000000" pitchFamily="49" charset="0"/>
              </a:rPr>
              <a:t>if</a:t>
            </a:r>
            <a:r>
              <a:rPr lang="en-US" sz="800" b="0">
                <a:solidFill>
                  <a:srgbClr val="CCCCCC"/>
                </a:solidFill>
                <a:effectLst/>
                <a:latin typeface="JetBrains Mono" panose="02000009000000000000" pitchFamily="49" charset="0"/>
              </a:rPr>
              <a:t> ((</a:t>
            </a:r>
            <a:r>
              <a:rPr lang="en-US" sz="800" b="0" err="1">
                <a:solidFill>
                  <a:srgbClr val="CCCCCC"/>
                </a:solidFill>
                <a:effectLst/>
                <a:latin typeface="JetBrains Mono" panose="02000009000000000000" pitchFamily="49" charset="0"/>
              </a:rPr>
              <a:t>hdr</a:t>
            </a:r>
            <a:r>
              <a:rPr lang="en-US" sz="800" b="0">
                <a:solidFill>
                  <a:srgbClr val="CCCCCC"/>
                </a:solidFill>
                <a:effectLst/>
                <a:latin typeface="JetBrains Mono" panose="02000009000000000000" pitchFamily="49" charset="0"/>
              </a:rPr>
              <a:t> </a:t>
            </a:r>
            <a:r>
              <a:rPr lang="en-US" sz="800" b="0">
                <a:solidFill>
                  <a:srgbClr val="D4D4D4"/>
                </a:solidFill>
                <a:effectLst/>
                <a:latin typeface="JetBrains Mono" panose="02000009000000000000" pitchFamily="49" charset="0"/>
              </a:rPr>
              <a:t>&amp;</a:t>
            </a:r>
            <a:r>
              <a:rPr lang="en-US" sz="800" b="0">
                <a:solidFill>
                  <a:srgbClr val="CCCCCC"/>
                </a:solidFill>
                <a:effectLst/>
                <a:latin typeface="JetBrains Mono" panose="02000009000000000000" pitchFamily="49" charset="0"/>
              </a:rPr>
              <a:t> BIAS_MASK) </a:t>
            </a:r>
            <a:r>
              <a:rPr lang="en-US" sz="800" b="0">
                <a:solidFill>
                  <a:srgbClr val="D4D4D4"/>
                </a:solidFill>
                <a:effectLst/>
                <a:latin typeface="JetBrains Mono" panose="02000009000000000000" pitchFamily="49" charset="0"/>
              </a:rPr>
              <a:t>==</a:t>
            </a:r>
            <a:r>
              <a:rPr lang="en-US" sz="800" b="0">
                <a:solidFill>
                  <a:srgbClr val="CCCCCC"/>
                </a:solidFill>
                <a:effectLst/>
                <a:latin typeface="JetBrains Mono" panose="02000009000000000000" pitchFamily="49" charset="0"/>
              </a:rPr>
              <a:t> </a:t>
            </a:r>
            <a:r>
              <a:rPr lang="en-US" sz="800" b="0" err="1">
                <a:solidFill>
                  <a:srgbClr val="CCCCCC"/>
                </a:solidFill>
                <a:effectLst/>
                <a:latin typeface="JetBrains Mono" panose="02000009000000000000" pitchFamily="49" charset="0"/>
              </a:rPr>
              <a:t>current_tid</a:t>
            </a:r>
            <a:r>
              <a:rPr lang="en-US" sz="800" b="0">
                <a:solidFill>
                  <a:srgbClr val="CCCCCC"/>
                </a:solidFill>
                <a:effectLst/>
                <a:latin typeface="JetBrains Mono" panose="02000009000000000000" pitchFamily="49" charset="0"/>
              </a:rPr>
              <a:t>) {</a:t>
            </a:r>
          </a:p>
          <a:p>
            <a:pPr>
              <a:lnSpc>
                <a:spcPct val="120000"/>
              </a:lnSpc>
              <a:buNone/>
            </a:pPr>
            <a:r>
              <a:rPr lang="en-US" sz="800" b="0">
                <a:solidFill>
                  <a:srgbClr val="6A9955"/>
                </a:solidFill>
                <a:effectLst/>
                <a:latin typeface="JetBrains Mono" panose="02000009000000000000" pitchFamily="49" charset="0"/>
              </a:rPr>
              <a:t>    // --- FAST PATH (Owner) ---</a:t>
            </a:r>
            <a:endParaRPr lang="en-US" sz="800" b="0">
              <a:solidFill>
                <a:srgbClr val="CCCCCC"/>
              </a:solidFill>
              <a:effectLst/>
              <a:latin typeface="JetBrains Mono" panose="02000009000000000000" pitchFamily="49" charset="0"/>
            </a:endParaRPr>
          </a:p>
          <a:p>
            <a:pPr>
              <a:lnSpc>
                <a:spcPct val="120000"/>
              </a:lnSpc>
              <a:buNone/>
            </a:pPr>
            <a:r>
              <a:rPr lang="en-US" sz="800" b="0">
                <a:solidFill>
                  <a:srgbClr val="6A9955"/>
                </a:solidFill>
                <a:effectLst/>
                <a:latin typeface="JetBrains Mono" panose="02000009000000000000" pitchFamily="49" charset="0"/>
              </a:rPr>
              <a:t>    // We own the bias! Just set the "Locked" bit.</a:t>
            </a:r>
            <a:endParaRPr lang="en-US" sz="800" b="0">
              <a:solidFill>
                <a:srgbClr val="CCCCCC"/>
              </a:solidFill>
              <a:effectLst/>
              <a:latin typeface="JetBrains Mono" panose="02000009000000000000" pitchFamily="49" charset="0"/>
            </a:endParaRPr>
          </a:p>
          <a:p>
            <a:pPr>
              <a:lnSpc>
                <a:spcPct val="120000"/>
              </a:lnSpc>
              <a:buNone/>
            </a:pPr>
            <a:r>
              <a:rPr lang="en-US" sz="800" b="0">
                <a:solidFill>
                  <a:srgbClr val="6A9955"/>
                </a:solidFill>
                <a:effectLst/>
                <a:latin typeface="JetBrains Mono" panose="02000009000000000000" pitchFamily="49" charset="0"/>
              </a:rPr>
              <a:t>    // NO ATOMIC INSTRUCTIONS. Just a plain store.</a:t>
            </a:r>
            <a:endParaRPr lang="en-US" sz="800" b="0">
              <a:solidFill>
                <a:srgbClr val="CCCCCC"/>
              </a:solidFill>
              <a:effectLst/>
              <a:latin typeface="JetBrains Mono" panose="02000009000000000000" pitchFamily="49" charset="0"/>
            </a:endParaRPr>
          </a:p>
          <a:p>
            <a:pPr>
              <a:lnSpc>
                <a:spcPct val="120000"/>
              </a:lnSpc>
              <a:buNone/>
            </a:pPr>
            <a:r>
              <a:rPr lang="en-US" sz="800" b="0">
                <a:solidFill>
                  <a:srgbClr val="CCCCCC"/>
                </a:solidFill>
                <a:effectLst/>
                <a:latin typeface="JetBrains Mono" panose="02000009000000000000" pitchFamily="49" charset="0"/>
              </a:rPr>
              <a:t>    </a:t>
            </a:r>
            <a:r>
              <a:rPr lang="en-US" sz="800" b="0">
                <a:solidFill>
                  <a:srgbClr val="9CDCFE"/>
                </a:solidFill>
                <a:effectLst/>
                <a:latin typeface="JetBrains Mono" panose="02000009000000000000" pitchFamily="49" charset="0"/>
              </a:rPr>
              <a:t>s</a:t>
            </a:r>
            <a:r>
              <a:rPr lang="en-US" sz="800" b="0">
                <a:solidFill>
                  <a:srgbClr val="CCCCCC"/>
                </a:solidFill>
                <a:effectLst/>
                <a:latin typeface="JetBrains Mono" panose="02000009000000000000" pitchFamily="49" charset="0"/>
              </a:rPr>
              <a:t>-&gt;</a:t>
            </a:r>
            <a:r>
              <a:rPr lang="en-US" sz="800" b="0" err="1">
                <a:solidFill>
                  <a:srgbClr val="9CDCFE"/>
                </a:solidFill>
                <a:effectLst/>
                <a:latin typeface="JetBrains Mono" panose="02000009000000000000" pitchFamily="49" charset="0"/>
              </a:rPr>
              <a:t>mtx</a:t>
            </a:r>
            <a:r>
              <a:rPr lang="en-US" sz="800" b="0" err="1">
                <a:solidFill>
                  <a:srgbClr val="CCCCCC"/>
                </a:solidFill>
                <a:effectLst/>
                <a:latin typeface="JetBrains Mono" panose="02000009000000000000" pitchFamily="49" charset="0"/>
              </a:rPr>
              <a:t>.</a:t>
            </a:r>
            <a:r>
              <a:rPr lang="en-US" sz="800" b="0" err="1">
                <a:solidFill>
                  <a:srgbClr val="9CDCFE"/>
                </a:solidFill>
                <a:effectLst/>
                <a:latin typeface="JetBrains Mono" panose="02000009000000000000" pitchFamily="49" charset="0"/>
              </a:rPr>
              <a:t>header</a:t>
            </a:r>
            <a:r>
              <a:rPr lang="en-US" sz="800" b="0">
                <a:solidFill>
                  <a:srgbClr val="CCCCCC"/>
                </a:solidFill>
                <a:effectLst/>
                <a:latin typeface="JetBrains Mono" panose="02000009000000000000" pitchFamily="49" charset="0"/>
              </a:rPr>
              <a:t> </a:t>
            </a:r>
            <a:r>
              <a:rPr lang="en-US" sz="800" b="0">
                <a:solidFill>
                  <a:srgbClr val="D4D4D4"/>
                </a:solidFill>
                <a:effectLst/>
                <a:latin typeface="JetBrains Mono" panose="02000009000000000000" pitchFamily="49" charset="0"/>
              </a:rPr>
              <a:t>=</a:t>
            </a:r>
            <a:r>
              <a:rPr lang="en-US" sz="800" b="0">
                <a:solidFill>
                  <a:srgbClr val="CCCCCC"/>
                </a:solidFill>
                <a:effectLst/>
                <a:latin typeface="JetBrains Mono" panose="02000009000000000000" pitchFamily="49" charset="0"/>
              </a:rPr>
              <a:t> </a:t>
            </a:r>
            <a:r>
              <a:rPr lang="en-US" sz="800" b="0" err="1">
                <a:solidFill>
                  <a:srgbClr val="CCCCCC"/>
                </a:solidFill>
                <a:effectLst/>
                <a:latin typeface="JetBrains Mono" panose="02000009000000000000" pitchFamily="49" charset="0"/>
              </a:rPr>
              <a:t>hdr</a:t>
            </a:r>
            <a:r>
              <a:rPr lang="en-US" sz="800" b="0">
                <a:solidFill>
                  <a:srgbClr val="CCCCCC"/>
                </a:solidFill>
                <a:effectLst/>
                <a:latin typeface="JetBrains Mono" panose="02000009000000000000" pitchFamily="49" charset="0"/>
              </a:rPr>
              <a:t> </a:t>
            </a:r>
            <a:r>
              <a:rPr lang="en-US" sz="800" b="0">
                <a:solidFill>
                  <a:srgbClr val="D4D4D4"/>
                </a:solidFill>
                <a:effectLst/>
                <a:latin typeface="JetBrains Mono" panose="02000009000000000000" pitchFamily="49" charset="0"/>
              </a:rPr>
              <a:t>|</a:t>
            </a:r>
            <a:r>
              <a:rPr lang="en-US" sz="800" b="0">
                <a:solidFill>
                  <a:srgbClr val="CCCCCC"/>
                </a:solidFill>
                <a:effectLst/>
                <a:latin typeface="JetBrains Mono" panose="02000009000000000000" pitchFamily="49" charset="0"/>
              </a:rPr>
              <a:t> LOCKED_BIT;</a:t>
            </a:r>
          </a:p>
          <a:p>
            <a:pPr>
              <a:lnSpc>
                <a:spcPct val="120000"/>
              </a:lnSpc>
            </a:pPr>
            <a:r>
              <a:rPr lang="en-US" sz="800" b="0">
                <a:solidFill>
                  <a:srgbClr val="CCCCCC"/>
                </a:solidFill>
                <a:effectLst/>
                <a:latin typeface="JetBrains Mono" panose="02000009000000000000" pitchFamily="49" charset="0"/>
              </a:rPr>
              <a:t>    </a:t>
            </a:r>
            <a:r>
              <a:rPr lang="en-US" sz="800" b="0">
                <a:solidFill>
                  <a:srgbClr val="9CDCFE"/>
                </a:solidFill>
                <a:effectLst/>
                <a:latin typeface="JetBrains Mono" panose="02000009000000000000" pitchFamily="49" charset="0"/>
              </a:rPr>
              <a:t>s</a:t>
            </a:r>
            <a:r>
              <a:rPr lang="en-US" sz="800" b="0">
                <a:solidFill>
                  <a:srgbClr val="CCCCCC"/>
                </a:solidFill>
                <a:effectLst/>
                <a:latin typeface="JetBrains Mono" panose="02000009000000000000" pitchFamily="49" charset="0"/>
              </a:rPr>
              <a:t>-&gt;</a:t>
            </a:r>
            <a:r>
              <a:rPr lang="en-US" sz="800" b="0" err="1">
                <a:solidFill>
                  <a:srgbClr val="9CDCFE"/>
                </a:solidFill>
                <a:effectLst/>
                <a:latin typeface="JetBrains Mono" panose="02000009000000000000" pitchFamily="49" charset="0"/>
              </a:rPr>
              <a:t>request_count</a:t>
            </a:r>
            <a:r>
              <a:rPr lang="en-US" sz="800" b="0">
                <a:solidFill>
                  <a:srgbClr val="D4D4D4"/>
                </a:solidFill>
                <a:effectLst/>
                <a:latin typeface="JetBrains Mono" panose="02000009000000000000" pitchFamily="49" charset="0"/>
              </a:rPr>
              <a:t>++</a:t>
            </a:r>
            <a:r>
              <a:rPr lang="en-US" sz="800" b="0">
                <a:solidFill>
                  <a:srgbClr val="CCCCCC"/>
                </a:solidFill>
                <a:effectLst/>
                <a:latin typeface="JetBrains Mono" panose="02000009000000000000" pitchFamily="49" charset="0"/>
              </a:rPr>
              <a:t>; </a:t>
            </a:r>
            <a:r>
              <a:rPr lang="en-US" sz="800">
                <a:solidFill>
                  <a:srgbClr val="6A9955"/>
                </a:solidFill>
                <a:latin typeface="JetBrains Mono" panose="02000009000000000000" pitchFamily="49" charset="0"/>
              </a:rPr>
              <a:t>    // Critical Section</a:t>
            </a:r>
            <a:endParaRPr lang="en-US" sz="800" b="0">
              <a:solidFill>
                <a:srgbClr val="CCCCCC"/>
              </a:solidFill>
              <a:effectLst/>
              <a:latin typeface="JetBrains Mono" panose="02000009000000000000" pitchFamily="49" charset="0"/>
            </a:endParaRPr>
          </a:p>
          <a:p>
            <a:pPr>
              <a:lnSpc>
                <a:spcPct val="120000"/>
              </a:lnSpc>
              <a:buNone/>
            </a:pPr>
            <a:r>
              <a:rPr lang="en-US" sz="800" b="0">
                <a:solidFill>
                  <a:srgbClr val="CCCCCC"/>
                </a:solidFill>
                <a:effectLst/>
                <a:latin typeface="JetBrains Mono" panose="02000009000000000000" pitchFamily="49" charset="0"/>
              </a:rPr>
              <a:t>    </a:t>
            </a:r>
            <a:r>
              <a:rPr lang="en-US" sz="800" b="0">
                <a:solidFill>
                  <a:srgbClr val="9CDCFE"/>
                </a:solidFill>
                <a:effectLst/>
                <a:latin typeface="JetBrains Mono" panose="02000009000000000000" pitchFamily="49" charset="0"/>
              </a:rPr>
              <a:t>s</a:t>
            </a:r>
            <a:r>
              <a:rPr lang="en-US" sz="800" b="0">
                <a:solidFill>
                  <a:srgbClr val="CCCCCC"/>
                </a:solidFill>
                <a:effectLst/>
                <a:latin typeface="JetBrains Mono" panose="02000009000000000000" pitchFamily="49" charset="0"/>
              </a:rPr>
              <a:t>-&gt;</a:t>
            </a:r>
            <a:r>
              <a:rPr lang="en-US" sz="800" b="0" err="1">
                <a:solidFill>
                  <a:srgbClr val="9CDCFE"/>
                </a:solidFill>
                <a:effectLst/>
                <a:latin typeface="JetBrains Mono" panose="02000009000000000000" pitchFamily="49" charset="0"/>
              </a:rPr>
              <a:t>mtx</a:t>
            </a:r>
            <a:r>
              <a:rPr lang="en-US" sz="800" b="0" err="1">
                <a:solidFill>
                  <a:srgbClr val="CCCCCC"/>
                </a:solidFill>
                <a:effectLst/>
                <a:latin typeface="JetBrains Mono" panose="02000009000000000000" pitchFamily="49" charset="0"/>
              </a:rPr>
              <a:t>.</a:t>
            </a:r>
            <a:r>
              <a:rPr lang="en-US" sz="800" b="0" err="1">
                <a:solidFill>
                  <a:srgbClr val="9CDCFE"/>
                </a:solidFill>
                <a:effectLst/>
                <a:latin typeface="JetBrains Mono" panose="02000009000000000000" pitchFamily="49" charset="0"/>
              </a:rPr>
              <a:t>header</a:t>
            </a:r>
            <a:r>
              <a:rPr lang="en-US" sz="800" b="0">
                <a:solidFill>
                  <a:srgbClr val="CCCCCC"/>
                </a:solidFill>
                <a:effectLst/>
                <a:latin typeface="JetBrains Mono" panose="02000009000000000000" pitchFamily="49" charset="0"/>
              </a:rPr>
              <a:t> </a:t>
            </a:r>
            <a:r>
              <a:rPr lang="en-US" sz="800" b="0">
                <a:solidFill>
                  <a:srgbClr val="D4D4D4"/>
                </a:solidFill>
                <a:effectLst/>
                <a:latin typeface="JetBrains Mono" panose="02000009000000000000" pitchFamily="49" charset="0"/>
              </a:rPr>
              <a:t>=</a:t>
            </a:r>
            <a:r>
              <a:rPr lang="en-US" sz="800" b="0">
                <a:solidFill>
                  <a:srgbClr val="CCCCCC"/>
                </a:solidFill>
                <a:effectLst/>
                <a:latin typeface="JetBrains Mono" panose="02000009000000000000" pitchFamily="49" charset="0"/>
              </a:rPr>
              <a:t> </a:t>
            </a:r>
            <a:r>
              <a:rPr lang="en-US" sz="800" b="0" err="1">
                <a:solidFill>
                  <a:srgbClr val="CCCCCC"/>
                </a:solidFill>
                <a:effectLst/>
                <a:latin typeface="JetBrains Mono" panose="02000009000000000000" pitchFamily="49" charset="0"/>
              </a:rPr>
              <a:t>hdr</a:t>
            </a:r>
            <a:r>
              <a:rPr lang="en-US" sz="800" b="0">
                <a:solidFill>
                  <a:srgbClr val="CCCCCC"/>
                </a:solidFill>
                <a:effectLst/>
                <a:latin typeface="JetBrains Mono" panose="02000009000000000000" pitchFamily="49" charset="0"/>
              </a:rPr>
              <a:t> </a:t>
            </a:r>
            <a:r>
              <a:rPr lang="en-US" sz="800" b="0">
                <a:solidFill>
                  <a:srgbClr val="D4D4D4"/>
                </a:solidFill>
                <a:effectLst/>
                <a:latin typeface="JetBrains Mono" panose="02000009000000000000" pitchFamily="49" charset="0"/>
              </a:rPr>
              <a:t>&amp;</a:t>
            </a:r>
            <a:r>
              <a:rPr lang="en-US" sz="800" b="0">
                <a:solidFill>
                  <a:srgbClr val="CCCCCC"/>
                </a:solidFill>
                <a:effectLst/>
                <a:latin typeface="JetBrains Mono" panose="02000009000000000000" pitchFamily="49" charset="0"/>
              </a:rPr>
              <a:t> </a:t>
            </a:r>
            <a:r>
              <a:rPr lang="en-US" sz="800" b="0">
                <a:solidFill>
                  <a:srgbClr val="D4D4D4"/>
                </a:solidFill>
                <a:effectLst/>
                <a:latin typeface="JetBrains Mono" panose="02000009000000000000" pitchFamily="49" charset="0"/>
              </a:rPr>
              <a:t>~</a:t>
            </a:r>
            <a:r>
              <a:rPr lang="en-US" sz="800" b="0">
                <a:solidFill>
                  <a:srgbClr val="CCCCCC"/>
                </a:solidFill>
                <a:effectLst/>
                <a:latin typeface="JetBrains Mono" panose="02000009000000000000" pitchFamily="49" charset="0"/>
              </a:rPr>
              <a:t>LOCKED_BIT; </a:t>
            </a:r>
            <a:r>
              <a:rPr lang="en-US" sz="800">
                <a:solidFill>
                  <a:srgbClr val="6A9955"/>
                </a:solidFill>
                <a:latin typeface="JetBrains Mono" panose="02000009000000000000" pitchFamily="49" charset="0"/>
              </a:rPr>
              <a:t>// Unlock</a:t>
            </a:r>
            <a:endParaRPr lang="en-US" sz="800" b="0">
              <a:solidFill>
                <a:srgbClr val="CCCCCC"/>
              </a:solidFill>
              <a:effectLst/>
              <a:latin typeface="JetBrains Mono" panose="02000009000000000000" pitchFamily="49" charset="0"/>
            </a:endParaRPr>
          </a:p>
          <a:p>
            <a:pPr>
              <a:lnSpc>
                <a:spcPct val="120000"/>
              </a:lnSpc>
              <a:buNone/>
            </a:pPr>
            <a:r>
              <a:rPr lang="en-US" sz="800" b="0">
                <a:solidFill>
                  <a:srgbClr val="CCCCCC"/>
                </a:solidFill>
                <a:effectLst/>
                <a:latin typeface="JetBrains Mono" panose="02000009000000000000" pitchFamily="49" charset="0"/>
              </a:rPr>
              <a:t>  } </a:t>
            </a:r>
            <a:r>
              <a:rPr lang="en-US" sz="800" b="0">
                <a:solidFill>
                  <a:srgbClr val="C586C0"/>
                </a:solidFill>
                <a:effectLst/>
                <a:latin typeface="JetBrains Mono" panose="02000009000000000000" pitchFamily="49" charset="0"/>
              </a:rPr>
              <a:t>else</a:t>
            </a:r>
            <a:r>
              <a:rPr lang="en-US" sz="800" b="0">
                <a:solidFill>
                  <a:srgbClr val="CCCCCC"/>
                </a:solidFill>
                <a:effectLst/>
                <a:latin typeface="JetBrains Mono" panose="02000009000000000000" pitchFamily="49" charset="0"/>
              </a:rPr>
              <a:t> {</a:t>
            </a:r>
          </a:p>
          <a:p>
            <a:pPr>
              <a:lnSpc>
                <a:spcPct val="120000"/>
              </a:lnSpc>
              <a:buNone/>
            </a:pPr>
            <a:r>
              <a:rPr lang="en-US" sz="800" b="0">
                <a:solidFill>
                  <a:srgbClr val="6A9955"/>
                </a:solidFill>
                <a:effectLst/>
                <a:latin typeface="JetBrains Mono" panose="02000009000000000000" pitchFamily="49" charset="0"/>
              </a:rPr>
              <a:t>    // --- SLOW PATH (Contender / Revocation) ---</a:t>
            </a:r>
            <a:endParaRPr lang="en-US" sz="800" b="0">
              <a:solidFill>
                <a:srgbClr val="CCCCCC"/>
              </a:solidFill>
              <a:effectLst/>
              <a:latin typeface="JetBrains Mono" panose="02000009000000000000" pitchFamily="49" charset="0"/>
            </a:endParaRPr>
          </a:p>
          <a:p>
            <a:pPr>
              <a:lnSpc>
                <a:spcPct val="120000"/>
              </a:lnSpc>
              <a:buNone/>
            </a:pPr>
            <a:r>
              <a:rPr lang="en-US" sz="800" b="0">
                <a:solidFill>
                  <a:srgbClr val="6A9955"/>
                </a:solidFill>
                <a:effectLst/>
                <a:latin typeface="JetBrains Mono" panose="02000009000000000000" pitchFamily="49" charset="0"/>
              </a:rPr>
              <a:t>    // Either the lock is unbiased, or biased to someone else.</a:t>
            </a:r>
            <a:endParaRPr lang="en-US" sz="800" b="0">
              <a:solidFill>
                <a:srgbClr val="CCCCCC"/>
              </a:solidFill>
              <a:effectLst/>
              <a:latin typeface="JetBrains Mono" panose="02000009000000000000" pitchFamily="49" charset="0"/>
            </a:endParaRPr>
          </a:p>
          <a:p>
            <a:pPr>
              <a:lnSpc>
                <a:spcPct val="120000"/>
              </a:lnSpc>
              <a:buNone/>
            </a:pPr>
            <a:r>
              <a:rPr lang="en-US" sz="800" b="0">
                <a:solidFill>
                  <a:srgbClr val="6A9955"/>
                </a:solidFill>
                <a:effectLst/>
                <a:latin typeface="JetBrains Mono" panose="02000009000000000000" pitchFamily="49" charset="0"/>
              </a:rPr>
              <a:t>    // We must atomically revoke the bias and upgrade to a full lock.</a:t>
            </a:r>
            <a:endParaRPr lang="en-US" sz="800" b="0">
              <a:solidFill>
                <a:srgbClr val="CCCCCC"/>
              </a:solidFill>
              <a:effectLst/>
              <a:latin typeface="JetBrains Mono" panose="02000009000000000000" pitchFamily="49" charset="0"/>
            </a:endParaRPr>
          </a:p>
          <a:p>
            <a:pPr>
              <a:lnSpc>
                <a:spcPct val="120000"/>
              </a:lnSpc>
              <a:buNone/>
            </a:pPr>
            <a:r>
              <a:rPr lang="en-US" sz="800" b="0">
                <a:solidFill>
                  <a:srgbClr val="CCCCCC"/>
                </a:solidFill>
                <a:effectLst/>
                <a:latin typeface="JetBrains Mono" panose="02000009000000000000" pitchFamily="49" charset="0"/>
              </a:rPr>
              <a:t>    </a:t>
            </a:r>
            <a:r>
              <a:rPr lang="en-US" sz="800" b="0" err="1">
                <a:solidFill>
                  <a:srgbClr val="DCDCAA"/>
                </a:solidFill>
                <a:effectLst/>
                <a:latin typeface="JetBrains Mono" panose="02000009000000000000" pitchFamily="49" charset="0"/>
              </a:rPr>
              <a:t>slow_path_lock</a:t>
            </a:r>
            <a:r>
              <a:rPr lang="en-US" sz="800" b="0">
                <a:solidFill>
                  <a:srgbClr val="CCCCCC"/>
                </a:solidFill>
                <a:effectLst/>
                <a:latin typeface="JetBrains Mono" panose="02000009000000000000" pitchFamily="49" charset="0"/>
              </a:rPr>
              <a:t>(</a:t>
            </a:r>
            <a:r>
              <a:rPr lang="en-US" sz="800" b="0">
                <a:solidFill>
                  <a:srgbClr val="D4D4D4"/>
                </a:solidFill>
                <a:effectLst/>
                <a:latin typeface="JetBrains Mono" panose="02000009000000000000" pitchFamily="49" charset="0"/>
              </a:rPr>
              <a:t>&amp;</a:t>
            </a:r>
            <a:r>
              <a:rPr lang="en-US" sz="800" b="0">
                <a:solidFill>
                  <a:srgbClr val="9CDCFE"/>
                </a:solidFill>
                <a:effectLst/>
                <a:latin typeface="JetBrains Mono" panose="02000009000000000000" pitchFamily="49" charset="0"/>
              </a:rPr>
              <a:t>s</a:t>
            </a:r>
            <a:r>
              <a:rPr lang="en-US" sz="800" b="0">
                <a:solidFill>
                  <a:srgbClr val="CCCCCC"/>
                </a:solidFill>
                <a:effectLst/>
                <a:latin typeface="JetBrains Mono" panose="02000009000000000000" pitchFamily="49" charset="0"/>
              </a:rPr>
              <a:t>-&gt;</a:t>
            </a:r>
            <a:r>
              <a:rPr lang="en-US" sz="800" b="0" err="1">
                <a:solidFill>
                  <a:srgbClr val="9CDCFE"/>
                </a:solidFill>
                <a:effectLst/>
                <a:latin typeface="JetBrains Mono" panose="02000009000000000000" pitchFamily="49" charset="0"/>
              </a:rPr>
              <a:t>mtx</a:t>
            </a:r>
            <a:r>
              <a:rPr lang="en-US" sz="800" b="0">
                <a:solidFill>
                  <a:srgbClr val="CCCCCC"/>
                </a:solidFill>
                <a:effectLst/>
                <a:latin typeface="JetBrains Mono" panose="02000009000000000000" pitchFamily="49" charset="0"/>
              </a:rPr>
              <a:t>);</a:t>
            </a:r>
          </a:p>
          <a:p>
            <a:pPr>
              <a:lnSpc>
                <a:spcPct val="120000"/>
              </a:lnSpc>
              <a:buNone/>
            </a:pPr>
            <a:r>
              <a:rPr lang="en-US" sz="800" b="0">
                <a:solidFill>
                  <a:srgbClr val="CCCCCC"/>
                </a:solidFill>
                <a:effectLst/>
                <a:latin typeface="JetBrains Mono" panose="02000009000000000000" pitchFamily="49" charset="0"/>
              </a:rPr>
              <a:t>    </a:t>
            </a:r>
            <a:r>
              <a:rPr lang="en-US" sz="800" b="0">
                <a:solidFill>
                  <a:srgbClr val="9CDCFE"/>
                </a:solidFill>
                <a:effectLst/>
                <a:latin typeface="JetBrains Mono" panose="02000009000000000000" pitchFamily="49" charset="0"/>
              </a:rPr>
              <a:t>s</a:t>
            </a:r>
            <a:r>
              <a:rPr lang="en-US" sz="800" b="0">
                <a:solidFill>
                  <a:srgbClr val="CCCCCC"/>
                </a:solidFill>
                <a:effectLst/>
                <a:latin typeface="JetBrains Mono" panose="02000009000000000000" pitchFamily="49" charset="0"/>
              </a:rPr>
              <a:t>-&gt;</a:t>
            </a:r>
            <a:r>
              <a:rPr lang="en-US" sz="800" b="0" err="1">
                <a:solidFill>
                  <a:srgbClr val="9CDCFE"/>
                </a:solidFill>
                <a:effectLst/>
                <a:latin typeface="JetBrains Mono" panose="02000009000000000000" pitchFamily="49" charset="0"/>
              </a:rPr>
              <a:t>request_count</a:t>
            </a:r>
            <a:r>
              <a:rPr lang="en-US" sz="800" b="0">
                <a:solidFill>
                  <a:srgbClr val="D4D4D4"/>
                </a:solidFill>
                <a:effectLst/>
                <a:latin typeface="JetBrains Mono" panose="02000009000000000000" pitchFamily="49" charset="0"/>
              </a:rPr>
              <a:t>++</a:t>
            </a:r>
            <a:r>
              <a:rPr lang="en-US" sz="800" b="0">
                <a:solidFill>
                  <a:srgbClr val="CCCCCC"/>
                </a:solidFill>
                <a:effectLst/>
                <a:latin typeface="JetBrains Mono" panose="02000009000000000000" pitchFamily="49" charset="0"/>
              </a:rPr>
              <a:t>;</a:t>
            </a:r>
          </a:p>
          <a:p>
            <a:pPr>
              <a:lnSpc>
                <a:spcPct val="120000"/>
              </a:lnSpc>
              <a:buNone/>
            </a:pPr>
            <a:r>
              <a:rPr lang="en-US" sz="800" b="0">
                <a:solidFill>
                  <a:srgbClr val="CCCCCC"/>
                </a:solidFill>
                <a:effectLst/>
                <a:latin typeface="JetBrains Mono" panose="02000009000000000000" pitchFamily="49" charset="0"/>
              </a:rPr>
              <a:t>    </a:t>
            </a:r>
            <a:r>
              <a:rPr lang="en-US" sz="800" b="0" err="1">
                <a:solidFill>
                  <a:srgbClr val="9CDCFE"/>
                </a:solidFill>
                <a:effectLst/>
                <a:latin typeface="JetBrains Mono" panose="02000009000000000000" pitchFamily="49" charset="0"/>
              </a:rPr>
              <a:t>slow_path_unlock</a:t>
            </a:r>
            <a:r>
              <a:rPr lang="en-US" sz="800" b="0">
                <a:solidFill>
                  <a:srgbClr val="CCCCCC"/>
                </a:solidFill>
                <a:effectLst/>
                <a:latin typeface="JetBrains Mono" panose="02000009000000000000" pitchFamily="49" charset="0"/>
              </a:rPr>
              <a:t>(</a:t>
            </a:r>
            <a:r>
              <a:rPr lang="en-US" sz="800" b="0">
                <a:solidFill>
                  <a:srgbClr val="D4D4D4"/>
                </a:solidFill>
                <a:effectLst/>
                <a:latin typeface="JetBrains Mono" panose="02000009000000000000" pitchFamily="49" charset="0"/>
              </a:rPr>
              <a:t>&amp;</a:t>
            </a:r>
            <a:r>
              <a:rPr lang="en-US" sz="800" b="0">
                <a:solidFill>
                  <a:srgbClr val="9CDCFE"/>
                </a:solidFill>
                <a:effectLst/>
                <a:latin typeface="JetBrains Mono" panose="02000009000000000000" pitchFamily="49" charset="0"/>
              </a:rPr>
              <a:t>s</a:t>
            </a:r>
            <a:r>
              <a:rPr lang="en-US" sz="800" b="0">
                <a:solidFill>
                  <a:srgbClr val="CCCCCC"/>
                </a:solidFill>
                <a:effectLst/>
                <a:latin typeface="JetBrains Mono" panose="02000009000000000000" pitchFamily="49" charset="0"/>
              </a:rPr>
              <a:t>-&gt;</a:t>
            </a:r>
            <a:r>
              <a:rPr lang="en-US" sz="800" b="0" err="1">
                <a:solidFill>
                  <a:srgbClr val="9CDCFE"/>
                </a:solidFill>
                <a:effectLst/>
                <a:latin typeface="JetBrains Mono" panose="02000009000000000000" pitchFamily="49" charset="0"/>
              </a:rPr>
              <a:t>mtx</a:t>
            </a:r>
            <a:r>
              <a:rPr lang="en-US" sz="800" b="0">
                <a:solidFill>
                  <a:srgbClr val="CCCCCC"/>
                </a:solidFill>
                <a:effectLst/>
                <a:latin typeface="JetBrains Mono" panose="02000009000000000000" pitchFamily="49" charset="0"/>
              </a:rPr>
              <a:t>);</a:t>
            </a:r>
          </a:p>
          <a:p>
            <a:pPr>
              <a:lnSpc>
                <a:spcPct val="120000"/>
              </a:lnSpc>
              <a:buNone/>
            </a:pPr>
            <a:r>
              <a:rPr lang="en-US" sz="800" b="0">
                <a:solidFill>
                  <a:srgbClr val="CCCCCC"/>
                </a:solidFill>
                <a:effectLst/>
                <a:latin typeface="JetBrains Mono" panose="02000009000000000000" pitchFamily="49" charset="0"/>
              </a:rPr>
              <a:t>  }</a:t>
            </a:r>
          </a:p>
          <a:p>
            <a:pPr>
              <a:lnSpc>
                <a:spcPct val="120000"/>
              </a:lnSpc>
              <a:buNone/>
            </a:pPr>
            <a:r>
              <a:rPr lang="en-US" sz="800" b="0">
                <a:solidFill>
                  <a:srgbClr val="CCCCCC"/>
                </a:solidFill>
                <a:effectLst/>
                <a:latin typeface="JetBrains Mono" panose="02000009000000000000" pitchFamily="49" charset="0"/>
              </a:rPr>
              <a:t>}</a:t>
            </a:r>
          </a:p>
        </p:txBody>
      </p:sp>
    </p:spTree>
    <p:extLst>
      <p:ext uri="{BB962C8B-B14F-4D97-AF65-F5344CB8AC3E}">
        <p14:creationId xmlns:p14="http://schemas.microsoft.com/office/powerpoint/2010/main" val="1584983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26ECF-C1CE-CC36-6C52-10B28B3FF990}"/>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EFF6F1EF-7314-83C2-2698-DAC7F0D4B127}"/>
              </a:ext>
            </a:extLst>
          </p:cNvPr>
          <p:cNvSpPr txBox="1"/>
          <p:nvPr/>
        </p:nvSpPr>
        <p:spPr>
          <a:xfrm>
            <a:off x="233910" y="208621"/>
            <a:ext cx="4551450" cy="461665"/>
          </a:xfrm>
          <a:prstGeom prst="rect">
            <a:avLst/>
          </a:prstGeom>
          <a:solidFill>
            <a:schemeClr val="accent5">
              <a:lumMod val="50000"/>
            </a:schemeClr>
          </a:solidFill>
        </p:spPr>
        <p:txBody>
          <a:bodyPr wrap="square" rtlCol="0">
            <a:spAutoFit/>
          </a:bodyPr>
          <a:lstStyle/>
          <a:p>
            <a:r>
              <a:rPr lang="en-US" sz="2400">
                <a:solidFill>
                  <a:schemeClr val="bg1"/>
                </a:solidFill>
                <a:latin typeface="Ubuntu Condensed" panose="020B0506030602030204" pitchFamily="34" charset="0"/>
              </a:rPr>
              <a:t>Hints/annotations-based optimization</a:t>
            </a:r>
            <a:endParaRPr lang="ru-RU" sz="2400">
              <a:solidFill>
                <a:schemeClr val="bg1"/>
              </a:solidFill>
              <a:latin typeface="Ubuntu Condensed" panose="020B0506030602030204" pitchFamily="34" charset="0"/>
            </a:endParaRPr>
          </a:p>
        </p:txBody>
      </p:sp>
      <p:sp>
        <p:nvSpPr>
          <p:cNvPr id="7" name="Номер слайда 7">
            <a:extLst>
              <a:ext uri="{FF2B5EF4-FFF2-40B4-BE49-F238E27FC236}">
                <a16:creationId xmlns:a16="http://schemas.microsoft.com/office/drawing/2014/main" id="{8C090586-DC59-BFE9-419D-D134105D930E}"/>
              </a:ext>
            </a:extLst>
          </p:cNvPr>
          <p:cNvSpPr>
            <a:spLocks noGrp="1"/>
          </p:cNvSpPr>
          <p:nvPr>
            <p:ph type="sldNum" sz="quarter" idx="12"/>
          </p:nvPr>
        </p:nvSpPr>
        <p:spPr>
          <a:xfrm>
            <a:off x="11725835" y="6402070"/>
            <a:ext cx="386155" cy="365125"/>
          </a:xfrm>
        </p:spPr>
        <p:txBody>
          <a:bodyPr/>
          <a:lstStyle/>
          <a:p>
            <a:pPr algn="ctr"/>
            <a:fld id="{E757BAED-F255-4CF1-96BA-8D7417A9C3BC}" type="slidenum">
              <a:rPr lang="ru-RU" sz="1800" smtClean="0">
                <a:latin typeface="Ubuntu Condensed" panose="020B0506030602030204" pitchFamily="34" charset="0"/>
              </a:rPr>
              <a:pPr algn="ctr"/>
              <a:t>13</a:t>
            </a:fld>
            <a:endParaRPr lang="ru-RU" sz="1800">
              <a:latin typeface="Ubuntu Condensed" panose="020B0506030602030204" pitchFamily="34" charset="0"/>
            </a:endParaRPr>
          </a:p>
        </p:txBody>
      </p:sp>
      <p:sp>
        <p:nvSpPr>
          <p:cNvPr id="2" name="TextBox 1">
            <a:extLst>
              <a:ext uri="{FF2B5EF4-FFF2-40B4-BE49-F238E27FC236}">
                <a16:creationId xmlns:a16="http://schemas.microsoft.com/office/drawing/2014/main" id="{4C453F42-5A96-020A-02FC-DB0A0E791F25}"/>
              </a:ext>
            </a:extLst>
          </p:cNvPr>
          <p:cNvSpPr txBox="1"/>
          <p:nvPr/>
        </p:nvSpPr>
        <p:spPr>
          <a:xfrm>
            <a:off x="3741420" y="1201447"/>
            <a:ext cx="3853403" cy="646331"/>
          </a:xfrm>
          <a:prstGeom prst="rect">
            <a:avLst/>
          </a:prstGeom>
          <a:noFill/>
        </p:spPr>
        <p:txBody>
          <a:bodyPr wrap="square">
            <a:spAutoFit/>
          </a:bodyPr>
          <a:lstStyle/>
          <a:p>
            <a:r>
              <a:rPr lang="en-US" sz="1200" b="1"/>
              <a:t>Before</a:t>
            </a:r>
          </a:p>
          <a:p>
            <a:r>
              <a:rPr lang="en-US" sz="1200">
                <a:latin typeface="Inter"/>
              </a:rPr>
              <a:t>High-Frequency Trading (HFT) or Audio Processing callback. Waiting for the OS scheduler is unacceptable.</a:t>
            </a:r>
            <a:endParaRPr lang="en-US" sz="1200"/>
          </a:p>
        </p:txBody>
      </p:sp>
      <p:sp>
        <p:nvSpPr>
          <p:cNvPr id="3" name="TextBox 2">
            <a:extLst>
              <a:ext uri="{FF2B5EF4-FFF2-40B4-BE49-F238E27FC236}">
                <a16:creationId xmlns:a16="http://schemas.microsoft.com/office/drawing/2014/main" id="{136EB7D3-0DDB-1C3B-0CB6-4AD988A5AB3C}"/>
              </a:ext>
            </a:extLst>
          </p:cNvPr>
          <p:cNvSpPr txBox="1"/>
          <p:nvPr/>
        </p:nvSpPr>
        <p:spPr>
          <a:xfrm>
            <a:off x="3741420" y="1847778"/>
            <a:ext cx="3853404" cy="1515223"/>
          </a:xfrm>
          <a:prstGeom prst="rect">
            <a:avLst/>
          </a:prstGeom>
          <a:solidFill>
            <a:srgbClr val="1F1F1F"/>
          </a:solidFill>
        </p:spPr>
        <p:txBody>
          <a:bodyPr wrap="square">
            <a:spAutoFit/>
          </a:bodyPr>
          <a:lstStyle/>
          <a:p>
            <a:pPr>
              <a:lnSpc>
                <a:spcPts val="1425"/>
              </a:lnSpc>
              <a:buNone/>
            </a:pPr>
            <a:r>
              <a:rPr lang="en-SG" sz="900" b="0">
                <a:solidFill>
                  <a:srgbClr val="569CD6"/>
                </a:solidFill>
                <a:effectLst/>
                <a:latin typeface="JetBrains Mono" panose="02000009000000000000" pitchFamily="49" charset="0"/>
              </a:rPr>
              <a:t>void</a:t>
            </a:r>
            <a:r>
              <a:rPr lang="en-SG" sz="900" b="0">
                <a:solidFill>
                  <a:srgbClr val="CCCCCC"/>
                </a:solidFill>
                <a:effectLst/>
                <a:latin typeface="JetBrains Mono" panose="02000009000000000000" pitchFamily="49" charset="0"/>
              </a:rPr>
              <a:t> </a:t>
            </a:r>
            <a:r>
              <a:rPr lang="en-SG" sz="900" b="0" err="1">
                <a:solidFill>
                  <a:srgbClr val="DCDCAA"/>
                </a:solidFill>
                <a:effectLst/>
                <a:latin typeface="JetBrains Mono" panose="02000009000000000000" pitchFamily="49" charset="0"/>
              </a:rPr>
              <a:t>on_market_data</a:t>
            </a:r>
            <a:r>
              <a:rPr lang="en-SG" sz="900" b="0">
                <a:solidFill>
                  <a:srgbClr val="CCCCCC"/>
                </a:solidFill>
                <a:effectLst/>
                <a:latin typeface="JetBrains Mono" panose="02000009000000000000" pitchFamily="49" charset="0"/>
              </a:rPr>
              <a:t>() {</a:t>
            </a:r>
          </a:p>
          <a:p>
            <a:pPr>
              <a:lnSpc>
                <a:spcPts val="1425"/>
              </a:lnSpc>
              <a:buNone/>
            </a:pPr>
            <a:r>
              <a:rPr lang="en-SG" sz="900" b="0">
                <a:solidFill>
                  <a:srgbClr val="6A9955"/>
                </a:solidFill>
                <a:effectLst/>
                <a:latin typeface="JetBrains Mono" panose="02000009000000000000" pitchFamily="49" charset="0"/>
              </a:rPr>
              <a:t>  // Hint: Do not yield/sleep. </a:t>
            </a:r>
          </a:p>
          <a:p>
            <a:pPr>
              <a:lnSpc>
                <a:spcPts val="1425"/>
              </a:lnSpc>
              <a:buNone/>
            </a:pPr>
            <a:r>
              <a:rPr lang="en-SG" sz="900">
                <a:solidFill>
                  <a:srgbClr val="6A9955"/>
                </a:solidFill>
                <a:latin typeface="JetBrains Mono" panose="02000009000000000000" pitchFamily="49" charset="0"/>
              </a:rPr>
              <a:t>  // </a:t>
            </a:r>
            <a:r>
              <a:rPr lang="en-SG" sz="900" b="0">
                <a:solidFill>
                  <a:srgbClr val="6A9955"/>
                </a:solidFill>
                <a:effectLst/>
                <a:latin typeface="JetBrains Mono" panose="02000009000000000000" pitchFamily="49" charset="0"/>
              </a:rPr>
              <a:t>Burn CPU cycles if needed.</a:t>
            </a:r>
            <a:endParaRPr lang="en-SG" sz="900" b="0">
              <a:solidFill>
                <a:srgbClr val="CCCCCC"/>
              </a:solidFill>
              <a:effectLst/>
              <a:latin typeface="JetBrains Mono" panose="02000009000000000000" pitchFamily="49" charset="0"/>
            </a:endParaRPr>
          </a:p>
          <a:p>
            <a:pPr>
              <a:lnSpc>
                <a:spcPts val="1425"/>
              </a:lnSpc>
              <a:buNone/>
            </a:pPr>
            <a:r>
              <a:rPr lang="en-SG" sz="900" b="0">
                <a:solidFill>
                  <a:srgbClr val="CCCCCC"/>
                </a:solidFill>
                <a:effectLst/>
                <a:latin typeface="JetBrains Mono" panose="02000009000000000000" pitchFamily="49" charset="0"/>
              </a:rPr>
              <a:t>  [[</a:t>
            </a:r>
            <a:r>
              <a:rPr lang="en-SG" sz="900" b="0">
                <a:solidFill>
                  <a:srgbClr val="4EC9B0"/>
                </a:solidFill>
                <a:effectLst/>
                <a:latin typeface="JetBrains Mono" panose="02000009000000000000" pitchFamily="49" charset="0"/>
              </a:rPr>
              <a:t>sync</a:t>
            </a:r>
            <a:r>
              <a:rPr lang="en-SG" sz="900" b="0">
                <a:solidFill>
                  <a:srgbClr val="CCCCCC"/>
                </a:solidFill>
                <a:effectLst/>
                <a:latin typeface="JetBrains Mono" panose="02000009000000000000" pitchFamily="49" charset="0"/>
              </a:rPr>
              <a:t>::</a:t>
            </a:r>
            <a:r>
              <a:rPr lang="en-SG" sz="900" b="0">
                <a:solidFill>
                  <a:srgbClr val="4EC9B0"/>
                </a:solidFill>
                <a:effectLst/>
                <a:latin typeface="JetBrains Mono" panose="02000009000000000000" pitchFamily="49" charset="0"/>
              </a:rPr>
              <a:t>latency</a:t>
            </a:r>
            <a:r>
              <a:rPr lang="en-SG" sz="900" b="0">
                <a:solidFill>
                  <a:srgbClr val="CCCCCC"/>
                </a:solidFill>
                <a:effectLst/>
                <a:latin typeface="JetBrains Mono" panose="02000009000000000000" pitchFamily="49" charset="0"/>
              </a:rPr>
              <a:t>(</a:t>
            </a:r>
            <a:r>
              <a:rPr lang="en-SG" sz="900" b="0">
                <a:solidFill>
                  <a:srgbClr val="CE9178"/>
                </a:solidFill>
                <a:effectLst/>
                <a:latin typeface="JetBrains Mono" panose="02000009000000000000" pitchFamily="49" charset="0"/>
              </a:rPr>
              <a:t>"critical"</a:t>
            </a:r>
            <a:r>
              <a:rPr lang="en-SG" sz="900" b="0">
                <a:solidFill>
                  <a:srgbClr val="CCCCCC"/>
                </a:solidFill>
                <a:effectLst/>
                <a:latin typeface="JetBrains Mono" panose="02000009000000000000" pitchFamily="49" charset="0"/>
              </a:rPr>
              <a:t>)]]</a:t>
            </a:r>
          </a:p>
          <a:p>
            <a:pPr>
              <a:lnSpc>
                <a:spcPts val="1425"/>
              </a:lnSpc>
              <a:buNone/>
            </a:pPr>
            <a:r>
              <a:rPr lang="en-SG" sz="900" b="0">
                <a:solidFill>
                  <a:srgbClr val="CCCCCC"/>
                </a:solidFill>
                <a:effectLst/>
                <a:latin typeface="JetBrains Mono" panose="02000009000000000000" pitchFamily="49" charset="0"/>
              </a:rPr>
              <a:t>  </a:t>
            </a:r>
            <a:r>
              <a:rPr lang="en-SG" sz="900" b="0">
                <a:solidFill>
                  <a:srgbClr val="4EC9B0"/>
                </a:solidFill>
                <a:effectLst/>
                <a:latin typeface="JetBrains Mono" panose="02000009000000000000" pitchFamily="49" charset="0"/>
              </a:rPr>
              <a:t>std</a:t>
            </a:r>
            <a:r>
              <a:rPr lang="en-SG" sz="900" b="0">
                <a:solidFill>
                  <a:srgbClr val="CCCCCC"/>
                </a:solidFill>
                <a:effectLst/>
                <a:latin typeface="JetBrains Mono" panose="02000009000000000000" pitchFamily="49" charset="0"/>
              </a:rPr>
              <a:t>::</a:t>
            </a:r>
            <a:r>
              <a:rPr lang="en-SG" sz="900" b="0" err="1">
                <a:solidFill>
                  <a:srgbClr val="CCCCCC"/>
                </a:solidFill>
                <a:effectLst/>
                <a:latin typeface="JetBrains Mono" panose="02000009000000000000" pitchFamily="49" charset="0"/>
              </a:rPr>
              <a:t>lock_guard</a:t>
            </a:r>
            <a:r>
              <a:rPr lang="en-SG" sz="900" b="0">
                <a:solidFill>
                  <a:srgbClr val="D4D4D4"/>
                </a:solidFill>
                <a:effectLst/>
                <a:latin typeface="JetBrains Mono" panose="02000009000000000000" pitchFamily="49" charset="0"/>
              </a:rPr>
              <a:t>&lt;</a:t>
            </a:r>
            <a:r>
              <a:rPr lang="en-SG" sz="900" b="0">
                <a:solidFill>
                  <a:srgbClr val="4EC9B0"/>
                </a:solidFill>
                <a:effectLst/>
                <a:latin typeface="JetBrains Mono" panose="02000009000000000000" pitchFamily="49" charset="0"/>
              </a:rPr>
              <a:t>std</a:t>
            </a:r>
            <a:r>
              <a:rPr lang="en-SG" sz="900" b="0">
                <a:solidFill>
                  <a:srgbClr val="CCCCCC"/>
                </a:solidFill>
                <a:effectLst/>
                <a:latin typeface="JetBrains Mono" panose="02000009000000000000" pitchFamily="49" charset="0"/>
              </a:rPr>
              <a:t>::mutex</a:t>
            </a:r>
            <a:r>
              <a:rPr lang="en-SG" sz="900" b="0">
                <a:solidFill>
                  <a:srgbClr val="D4D4D4"/>
                </a:solidFill>
                <a:effectLst/>
                <a:latin typeface="JetBrains Mono" panose="02000009000000000000" pitchFamily="49" charset="0"/>
              </a:rPr>
              <a:t>&gt;</a:t>
            </a:r>
            <a:r>
              <a:rPr lang="en-SG" sz="900" b="0">
                <a:solidFill>
                  <a:srgbClr val="CCCCCC"/>
                </a:solidFill>
                <a:effectLst/>
                <a:latin typeface="JetBrains Mono" panose="02000009000000000000" pitchFamily="49" charset="0"/>
              </a:rPr>
              <a:t> </a:t>
            </a:r>
            <a:r>
              <a:rPr lang="en-SG" sz="900" b="0">
                <a:solidFill>
                  <a:srgbClr val="DCDCAA"/>
                </a:solidFill>
                <a:effectLst/>
                <a:latin typeface="JetBrains Mono" panose="02000009000000000000" pitchFamily="49" charset="0"/>
              </a:rPr>
              <a:t>lock</a:t>
            </a:r>
            <a:r>
              <a:rPr lang="en-SG" sz="900" b="0">
                <a:solidFill>
                  <a:srgbClr val="CCCCCC"/>
                </a:solidFill>
                <a:effectLst/>
                <a:latin typeface="JetBrains Mono" panose="02000009000000000000" pitchFamily="49" charset="0"/>
              </a:rPr>
              <a:t>(</a:t>
            </a:r>
            <a:r>
              <a:rPr lang="en-SG" sz="900" b="0" err="1">
                <a:solidFill>
                  <a:srgbClr val="CCCCCC"/>
                </a:solidFill>
                <a:effectLst/>
                <a:latin typeface="JetBrains Mono" panose="02000009000000000000" pitchFamily="49" charset="0"/>
              </a:rPr>
              <a:t>order_book_mutex</a:t>
            </a:r>
            <a:r>
              <a:rPr lang="en-SG" sz="900" b="0">
                <a:solidFill>
                  <a:srgbClr val="CCCCCC"/>
                </a:solidFill>
                <a:effectLst/>
                <a:latin typeface="JetBrains Mono" panose="02000009000000000000" pitchFamily="49" charset="0"/>
              </a:rPr>
              <a:t>);</a:t>
            </a:r>
          </a:p>
          <a:p>
            <a:pPr>
              <a:lnSpc>
                <a:spcPts val="1425"/>
              </a:lnSpc>
              <a:buNone/>
            </a:pPr>
            <a:endParaRPr lang="en-SG" sz="900" b="0">
              <a:solidFill>
                <a:srgbClr val="CCCCCC"/>
              </a:solidFill>
              <a:effectLst/>
              <a:latin typeface="JetBrains Mono" panose="02000009000000000000" pitchFamily="49" charset="0"/>
            </a:endParaRPr>
          </a:p>
          <a:p>
            <a:pPr>
              <a:lnSpc>
                <a:spcPts val="1425"/>
              </a:lnSpc>
              <a:buNone/>
            </a:pPr>
            <a:r>
              <a:rPr lang="en-SG" sz="900" b="0">
                <a:solidFill>
                  <a:srgbClr val="CCCCCC"/>
                </a:solidFill>
                <a:effectLst/>
                <a:latin typeface="JetBrains Mono" panose="02000009000000000000" pitchFamily="49" charset="0"/>
              </a:rPr>
              <a:t>  </a:t>
            </a:r>
            <a:r>
              <a:rPr lang="en-SG" sz="900" b="0" err="1">
                <a:solidFill>
                  <a:srgbClr val="DCDCAA"/>
                </a:solidFill>
                <a:effectLst/>
                <a:latin typeface="JetBrains Mono" panose="02000009000000000000" pitchFamily="49" charset="0"/>
              </a:rPr>
              <a:t>process_tick</a:t>
            </a:r>
            <a:r>
              <a:rPr lang="en-SG" sz="900" b="0">
                <a:solidFill>
                  <a:srgbClr val="CCCCCC"/>
                </a:solidFill>
                <a:effectLst/>
                <a:latin typeface="JetBrains Mono" panose="02000009000000000000" pitchFamily="49" charset="0"/>
              </a:rPr>
              <a:t>();</a:t>
            </a:r>
          </a:p>
          <a:p>
            <a:pPr>
              <a:lnSpc>
                <a:spcPts val="1425"/>
              </a:lnSpc>
              <a:buNone/>
            </a:pPr>
            <a:r>
              <a:rPr lang="en-SG" sz="900" b="0">
                <a:solidFill>
                  <a:srgbClr val="CCCCCC"/>
                </a:solidFill>
                <a:effectLst/>
                <a:latin typeface="JetBrains Mono" panose="02000009000000000000" pitchFamily="49" charset="0"/>
              </a:rPr>
              <a:t>}</a:t>
            </a:r>
          </a:p>
        </p:txBody>
      </p:sp>
      <p:sp>
        <p:nvSpPr>
          <p:cNvPr id="5" name="TextBox 4">
            <a:extLst>
              <a:ext uri="{FF2B5EF4-FFF2-40B4-BE49-F238E27FC236}">
                <a16:creationId xmlns:a16="http://schemas.microsoft.com/office/drawing/2014/main" id="{B29DF3F1-7EF1-00DF-17FD-8E94CAF70119}"/>
              </a:ext>
            </a:extLst>
          </p:cNvPr>
          <p:cNvSpPr txBox="1"/>
          <p:nvPr/>
        </p:nvSpPr>
        <p:spPr>
          <a:xfrm>
            <a:off x="7733478" y="1201447"/>
            <a:ext cx="4101205" cy="646331"/>
          </a:xfrm>
          <a:prstGeom prst="rect">
            <a:avLst/>
          </a:prstGeom>
          <a:noFill/>
        </p:spPr>
        <p:txBody>
          <a:bodyPr wrap="square">
            <a:spAutoFit/>
          </a:bodyPr>
          <a:lstStyle>
            <a:defPPr>
              <a:defRPr lang="ru-RU"/>
            </a:defPPr>
            <a:lvl1pPr>
              <a:defRPr sz="1200" b="1"/>
            </a:lvl1pPr>
          </a:lstStyle>
          <a:p>
            <a:r>
              <a:rPr lang="en-US"/>
              <a:t>After</a:t>
            </a:r>
          </a:p>
          <a:p>
            <a:r>
              <a:rPr lang="en-US" b="0"/>
              <a:t>The compiler generates a busy-wait loop that never calls </a:t>
            </a:r>
            <a:r>
              <a:rPr lang="en-US" b="0" err="1"/>
              <a:t>syscall</a:t>
            </a:r>
            <a:r>
              <a:rPr lang="en-US" b="0"/>
              <a:t>(FUTEX_WAIT).</a:t>
            </a:r>
            <a:endParaRPr lang="en-SG"/>
          </a:p>
        </p:txBody>
      </p:sp>
      <p:sp>
        <p:nvSpPr>
          <p:cNvPr id="6" name="Rectangle 2">
            <a:extLst>
              <a:ext uri="{FF2B5EF4-FFF2-40B4-BE49-F238E27FC236}">
                <a16:creationId xmlns:a16="http://schemas.microsoft.com/office/drawing/2014/main" id="{C91FD0B4-9878-8242-D15C-5DD987219350}"/>
              </a:ext>
            </a:extLst>
          </p:cNvPr>
          <p:cNvSpPr>
            <a:spLocks noChangeArrowheads="1"/>
          </p:cNvSpPr>
          <p:nvPr/>
        </p:nvSpPr>
        <p:spPr bwMode="auto">
          <a:xfrm>
            <a:off x="233910" y="785353"/>
            <a:ext cx="1149192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fr-FR" b="1">
                <a:solidFill>
                  <a:srgbClr val="3333FF"/>
                </a:solidFill>
              </a:rPr>
              <a:t>4. </a:t>
            </a:r>
            <a:r>
              <a:rPr lang="en-US" b="1">
                <a:solidFill>
                  <a:srgbClr val="3333FF"/>
                </a:solidFill>
              </a:rPr>
              <a:t>Temporal Hints (</a:t>
            </a:r>
            <a:r>
              <a:rPr lang="en-US" b="1" err="1">
                <a:solidFill>
                  <a:srgbClr val="3333FF"/>
                </a:solidFill>
              </a:rPr>
              <a:t>sync.latency</a:t>
            </a:r>
            <a:r>
              <a:rPr lang="en-US" b="1">
                <a:solidFill>
                  <a:srgbClr val="3333FF"/>
                </a:solidFill>
              </a:rPr>
              <a:t>)</a:t>
            </a:r>
            <a:endParaRPr lang="fr-FR" b="1">
              <a:solidFill>
                <a:srgbClr val="3333FF"/>
              </a:solidFill>
            </a:endParaRPr>
          </a:p>
        </p:txBody>
      </p:sp>
      <p:sp>
        <p:nvSpPr>
          <p:cNvPr id="8" name="TextBox 7">
            <a:extLst>
              <a:ext uri="{FF2B5EF4-FFF2-40B4-BE49-F238E27FC236}">
                <a16:creationId xmlns:a16="http://schemas.microsoft.com/office/drawing/2014/main" id="{BBBAAE80-61AA-5DB8-4E22-863B1FAB0329}"/>
              </a:ext>
            </a:extLst>
          </p:cNvPr>
          <p:cNvSpPr txBox="1"/>
          <p:nvPr/>
        </p:nvSpPr>
        <p:spPr>
          <a:xfrm>
            <a:off x="7795260" y="1847778"/>
            <a:ext cx="4178077" cy="1515223"/>
          </a:xfrm>
          <a:prstGeom prst="rect">
            <a:avLst/>
          </a:prstGeom>
          <a:solidFill>
            <a:srgbClr val="1F1F1F"/>
          </a:solidFill>
        </p:spPr>
        <p:txBody>
          <a:bodyPr wrap="square">
            <a:spAutoFit/>
          </a:bodyPr>
          <a:lstStyle/>
          <a:p>
            <a:pPr>
              <a:lnSpc>
                <a:spcPts val="1425"/>
              </a:lnSpc>
              <a:buNone/>
            </a:pPr>
            <a:r>
              <a:rPr lang="en-US" sz="900" b="0">
                <a:solidFill>
                  <a:srgbClr val="569CD6"/>
                </a:solidFill>
                <a:effectLst/>
                <a:latin typeface="JetBrains Mono" panose="02000009000000000000" pitchFamily="49" charset="0"/>
              </a:rPr>
              <a:t>void</a:t>
            </a:r>
            <a:r>
              <a:rPr lang="en-US" sz="900" b="0">
                <a:solidFill>
                  <a:srgbClr val="CCCCCC"/>
                </a:solidFill>
                <a:effectLst/>
                <a:latin typeface="JetBrains Mono" panose="02000009000000000000" pitchFamily="49" charset="0"/>
              </a:rPr>
              <a:t> </a:t>
            </a:r>
            <a:r>
              <a:rPr lang="en-US" sz="900" b="0" err="1">
                <a:solidFill>
                  <a:srgbClr val="DCDCAA"/>
                </a:solidFill>
                <a:effectLst/>
                <a:latin typeface="JetBrains Mono" panose="02000009000000000000" pitchFamily="49" charset="0"/>
              </a:rPr>
              <a:t>on_market_data</a:t>
            </a:r>
            <a:r>
              <a:rPr lang="en-US" sz="900" b="0">
                <a:solidFill>
                  <a:srgbClr val="CCCCCC"/>
                </a:solidFill>
                <a:effectLst/>
                <a:latin typeface="JetBrains Mono" panose="02000009000000000000" pitchFamily="49" charset="0"/>
              </a:rPr>
              <a:t>() {</a:t>
            </a:r>
          </a:p>
          <a:p>
            <a:pPr>
              <a:lnSpc>
                <a:spcPts val="1425"/>
              </a:lnSpc>
              <a:buNone/>
            </a:pPr>
            <a:r>
              <a:rPr lang="en-US" sz="900" b="0">
                <a:solidFill>
                  <a:srgbClr val="6A9955"/>
                </a:solidFill>
                <a:effectLst/>
                <a:latin typeface="JetBrains Mono" panose="02000009000000000000" pitchFamily="49" charset="0"/>
              </a:rPr>
              <a:t>  // Hint: Do not yield/sleep. </a:t>
            </a:r>
            <a:endParaRPr lang="en-US" sz="900" b="0">
              <a:solidFill>
                <a:srgbClr val="CCCCCC"/>
              </a:solidFill>
              <a:effectLst/>
              <a:latin typeface="JetBrains Mono" panose="02000009000000000000" pitchFamily="49" charset="0"/>
            </a:endParaRPr>
          </a:p>
          <a:p>
            <a:pPr>
              <a:lnSpc>
                <a:spcPts val="1425"/>
              </a:lnSpc>
              <a:buNone/>
            </a:pPr>
            <a:r>
              <a:rPr lang="en-US" sz="900" b="0">
                <a:solidFill>
                  <a:srgbClr val="6A9955"/>
                </a:solidFill>
                <a:effectLst/>
                <a:latin typeface="JetBrains Mono" panose="02000009000000000000" pitchFamily="49" charset="0"/>
              </a:rPr>
              <a:t>  // Burn CPU cycles if needed.</a:t>
            </a:r>
            <a:endParaRPr lang="en-US" sz="900" b="0">
              <a:solidFill>
                <a:srgbClr val="CCCCCC"/>
              </a:solidFill>
              <a:effectLst/>
              <a:latin typeface="JetBrains Mono" panose="02000009000000000000" pitchFamily="49" charset="0"/>
            </a:endParaRPr>
          </a:p>
          <a:p>
            <a:pPr>
              <a:lnSpc>
                <a:spcPts val="1425"/>
              </a:lnSpc>
              <a:buNone/>
            </a:pPr>
            <a:r>
              <a:rPr lang="en-US" sz="900" b="0">
                <a:solidFill>
                  <a:srgbClr val="CCCCCC"/>
                </a:solidFill>
                <a:effectLst/>
                <a:latin typeface="JetBrains Mono" panose="02000009000000000000" pitchFamily="49" charset="0"/>
              </a:rPr>
              <a:t>  [[</a:t>
            </a:r>
            <a:r>
              <a:rPr lang="en-US" sz="900" b="0">
                <a:solidFill>
                  <a:srgbClr val="4EC9B0"/>
                </a:solidFill>
                <a:effectLst/>
                <a:latin typeface="JetBrains Mono" panose="02000009000000000000" pitchFamily="49" charset="0"/>
              </a:rPr>
              <a:t>sync</a:t>
            </a:r>
            <a:r>
              <a:rPr lang="en-US" sz="900" b="0">
                <a:solidFill>
                  <a:srgbClr val="CCCCCC"/>
                </a:solidFill>
                <a:effectLst/>
                <a:latin typeface="JetBrains Mono" panose="02000009000000000000" pitchFamily="49" charset="0"/>
              </a:rPr>
              <a:t>::</a:t>
            </a:r>
            <a:r>
              <a:rPr lang="en-US" sz="900" b="0">
                <a:solidFill>
                  <a:srgbClr val="4EC9B0"/>
                </a:solidFill>
                <a:effectLst/>
                <a:latin typeface="JetBrains Mono" panose="02000009000000000000" pitchFamily="49" charset="0"/>
              </a:rPr>
              <a:t>latency</a:t>
            </a:r>
            <a:r>
              <a:rPr lang="en-US" sz="900" b="0">
                <a:solidFill>
                  <a:srgbClr val="CCCCCC"/>
                </a:solidFill>
                <a:effectLst/>
                <a:latin typeface="JetBrains Mono" panose="02000009000000000000" pitchFamily="49" charset="0"/>
              </a:rPr>
              <a:t>(</a:t>
            </a:r>
            <a:r>
              <a:rPr lang="en-US" sz="900" b="0">
                <a:solidFill>
                  <a:srgbClr val="CE9178"/>
                </a:solidFill>
                <a:effectLst/>
                <a:latin typeface="JetBrains Mono" panose="02000009000000000000" pitchFamily="49" charset="0"/>
              </a:rPr>
              <a:t>"critical"</a:t>
            </a:r>
            <a:r>
              <a:rPr lang="en-US" sz="900" b="0">
                <a:solidFill>
                  <a:srgbClr val="CCCCCC"/>
                </a:solidFill>
                <a:effectLst/>
                <a:latin typeface="JetBrains Mono" panose="02000009000000000000" pitchFamily="49" charset="0"/>
              </a:rPr>
              <a:t>)]]</a:t>
            </a:r>
          </a:p>
          <a:p>
            <a:pPr>
              <a:lnSpc>
                <a:spcPts val="1425"/>
              </a:lnSpc>
              <a:buNone/>
            </a:pPr>
            <a:r>
              <a:rPr lang="en-US" sz="900" b="0">
                <a:solidFill>
                  <a:srgbClr val="CCCCCC"/>
                </a:solidFill>
                <a:effectLst/>
                <a:latin typeface="JetBrains Mono" panose="02000009000000000000" pitchFamily="49" charset="0"/>
              </a:rPr>
              <a:t>  </a:t>
            </a:r>
            <a:r>
              <a:rPr lang="en-US" sz="900" b="0">
                <a:solidFill>
                  <a:srgbClr val="4EC9B0"/>
                </a:solidFill>
                <a:effectLst/>
                <a:latin typeface="JetBrains Mono" panose="02000009000000000000" pitchFamily="49" charset="0"/>
              </a:rPr>
              <a:t>std</a:t>
            </a:r>
            <a:r>
              <a:rPr lang="en-US" sz="900" b="0">
                <a:solidFill>
                  <a:srgbClr val="CCCCCC"/>
                </a:solidFill>
                <a:effectLst/>
                <a:latin typeface="JetBrains Mono" panose="02000009000000000000" pitchFamily="49" charset="0"/>
              </a:rPr>
              <a:t>::</a:t>
            </a:r>
            <a:r>
              <a:rPr lang="en-US" sz="900" b="0" err="1">
                <a:solidFill>
                  <a:srgbClr val="CCCCCC"/>
                </a:solidFill>
                <a:effectLst/>
                <a:latin typeface="JetBrains Mono" panose="02000009000000000000" pitchFamily="49" charset="0"/>
              </a:rPr>
              <a:t>lock_guard</a:t>
            </a:r>
            <a:r>
              <a:rPr lang="en-US" sz="900" b="0">
                <a:solidFill>
                  <a:srgbClr val="D4D4D4"/>
                </a:solidFill>
                <a:effectLst/>
                <a:latin typeface="JetBrains Mono" panose="02000009000000000000" pitchFamily="49" charset="0"/>
              </a:rPr>
              <a:t>&lt;</a:t>
            </a:r>
            <a:r>
              <a:rPr lang="en-US" sz="900" b="0" err="1">
                <a:solidFill>
                  <a:srgbClr val="CCCCCC"/>
                </a:solidFill>
                <a:effectLst/>
                <a:latin typeface="JetBrains Mono" panose="02000009000000000000" pitchFamily="49" charset="0"/>
              </a:rPr>
              <a:t>TTSLock</a:t>
            </a:r>
            <a:r>
              <a:rPr lang="en-US" sz="900" b="0">
                <a:solidFill>
                  <a:srgbClr val="D4D4D4"/>
                </a:solidFill>
                <a:effectLst/>
                <a:latin typeface="JetBrains Mono" panose="02000009000000000000" pitchFamily="49" charset="0"/>
              </a:rPr>
              <a:t>&gt;</a:t>
            </a:r>
            <a:r>
              <a:rPr lang="en-US" sz="900" b="0">
                <a:solidFill>
                  <a:srgbClr val="CCCCCC"/>
                </a:solidFill>
                <a:effectLst/>
                <a:latin typeface="JetBrains Mono" panose="02000009000000000000" pitchFamily="49" charset="0"/>
              </a:rPr>
              <a:t> </a:t>
            </a:r>
            <a:r>
              <a:rPr lang="en-US" sz="900" b="0">
                <a:solidFill>
                  <a:srgbClr val="DCDCAA"/>
                </a:solidFill>
                <a:effectLst/>
                <a:latin typeface="JetBrains Mono" panose="02000009000000000000" pitchFamily="49" charset="0"/>
              </a:rPr>
              <a:t>lock</a:t>
            </a:r>
            <a:r>
              <a:rPr lang="en-US" sz="900" b="0">
                <a:solidFill>
                  <a:srgbClr val="CCCCCC"/>
                </a:solidFill>
                <a:effectLst/>
                <a:latin typeface="JetBrains Mono" panose="02000009000000000000" pitchFamily="49" charset="0"/>
              </a:rPr>
              <a:t>(</a:t>
            </a:r>
            <a:r>
              <a:rPr lang="en-US" sz="900" b="0" err="1">
                <a:solidFill>
                  <a:srgbClr val="CCCCCC"/>
                </a:solidFill>
                <a:effectLst/>
                <a:latin typeface="JetBrains Mono" panose="02000009000000000000" pitchFamily="49" charset="0"/>
              </a:rPr>
              <a:t>order_book_mutex</a:t>
            </a:r>
            <a:r>
              <a:rPr lang="en-US" sz="900" b="0">
                <a:solidFill>
                  <a:srgbClr val="CCCCCC"/>
                </a:solidFill>
                <a:effectLst/>
                <a:latin typeface="JetBrains Mono" panose="02000009000000000000" pitchFamily="49" charset="0"/>
              </a:rPr>
              <a:t>);</a:t>
            </a:r>
          </a:p>
          <a:p>
            <a:pPr>
              <a:lnSpc>
                <a:spcPts val="1425"/>
              </a:lnSpc>
              <a:buNone/>
            </a:pPr>
            <a:endParaRPr lang="en-US" sz="900" b="0">
              <a:solidFill>
                <a:srgbClr val="CCCCCC"/>
              </a:solidFill>
              <a:effectLst/>
              <a:latin typeface="JetBrains Mono" panose="02000009000000000000" pitchFamily="49" charset="0"/>
            </a:endParaRPr>
          </a:p>
          <a:p>
            <a:pPr>
              <a:lnSpc>
                <a:spcPts val="1425"/>
              </a:lnSpc>
              <a:buNone/>
            </a:pPr>
            <a:r>
              <a:rPr lang="en-US" sz="900" b="0">
                <a:solidFill>
                  <a:srgbClr val="CCCCCC"/>
                </a:solidFill>
                <a:effectLst/>
                <a:latin typeface="JetBrains Mono" panose="02000009000000000000" pitchFamily="49" charset="0"/>
              </a:rPr>
              <a:t>  </a:t>
            </a:r>
            <a:r>
              <a:rPr lang="en-US" sz="900" b="0" err="1">
                <a:solidFill>
                  <a:srgbClr val="DCDCAA"/>
                </a:solidFill>
                <a:effectLst/>
                <a:latin typeface="JetBrains Mono" panose="02000009000000000000" pitchFamily="49" charset="0"/>
              </a:rPr>
              <a:t>process_tick</a:t>
            </a:r>
            <a:r>
              <a:rPr lang="en-US" sz="900" b="0">
                <a:solidFill>
                  <a:srgbClr val="CCCCCC"/>
                </a:solidFill>
                <a:effectLst/>
                <a:latin typeface="JetBrains Mono" panose="02000009000000000000" pitchFamily="49" charset="0"/>
              </a:rPr>
              <a:t>();</a:t>
            </a:r>
          </a:p>
          <a:p>
            <a:pPr>
              <a:lnSpc>
                <a:spcPts val="1425"/>
              </a:lnSpc>
              <a:buNone/>
            </a:pPr>
            <a:r>
              <a:rPr lang="en-US" sz="900" b="0">
                <a:solidFill>
                  <a:srgbClr val="CCCCCC"/>
                </a:solidFill>
                <a:effectLst/>
                <a:latin typeface="JetBrains Mono" panose="02000009000000000000" pitchFamily="49" charset="0"/>
              </a:rPr>
              <a:t>}</a:t>
            </a:r>
          </a:p>
        </p:txBody>
      </p:sp>
      <p:sp>
        <p:nvSpPr>
          <p:cNvPr id="13" name="TextBox 12">
            <a:extLst>
              <a:ext uri="{FF2B5EF4-FFF2-40B4-BE49-F238E27FC236}">
                <a16:creationId xmlns:a16="http://schemas.microsoft.com/office/drawing/2014/main" id="{CBEEB44B-2738-38F3-FEAE-B31AA1AD3E45}"/>
              </a:ext>
            </a:extLst>
          </p:cNvPr>
          <p:cNvSpPr txBox="1"/>
          <p:nvPr/>
        </p:nvSpPr>
        <p:spPr>
          <a:xfrm>
            <a:off x="233910" y="1240080"/>
            <a:ext cx="3368855" cy="4950073"/>
          </a:xfrm>
          <a:prstGeom prst="rect">
            <a:avLst/>
          </a:prstGeom>
          <a:noFill/>
        </p:spPr>
        <p:txBody>
          <a:bodyPr wrap="square">
            <a:spAutoFit/>
          </a:bodyPr>
          <a:lstStyle/>
          <a:p>
            <a:pPr algn="l">
              <a:spcAft>
                <a:spcPts val="1350"/>
              </a:spcAft>
              <a:buNone/>
            </a:pPr>
            <a:r>
              <a:rPr lang="en-US" sz="1400" b="1" i="0">
                <a:solidFill>
                  <a:srgbClr val="3333FF"/>
                </a:solidFill>
                <a:effectLst/>
                <a:latin typeface="Inter"/>
              </a:rPr>
              <a:t>User Intent:</a:t>
            </a:r>
            <a:r>
              <a:rPr lang="en-US" sz="1400" b="0" i="0">
                <a:solidFill>
                  <a:srgbClr val="3333FF"/>
                </a:solidFill>
                <a:effectLst/>
                <a:latin typeface="Inter"/>
              </a:rPr>
              <a:t> </a:t>
            </a:r>
            <a:r>
              <a:rPr lang="en-US" sz="1400" b="0" i="0">
                <a:effectLst/>
                <a:latin typeface="Inter"/>
              </a:rPr>
              <a:t>Does this operation need to finish NOW, or can it wait?</a:t>
            </a:r>
          </a:p>
          <a:p>
            <a:pPr algn="l">
              <a:spcAft>
                <a:spcPts val="225"/>
              </a:spcAft>
              <a:buFont typeface="Arial" panose="020B0604020202020204" pitchFamily="34" charset="0"/>
              <a:buChar char="•"/>
            </a:pPr>
            <a:r>
              <a:rPr lang="en-US" sz="1400" b="1" i="0">
                <a:effectLst/>
                <a:latin typeface="Inter"/>
              </a:rPr>
              <a:t>Annotation:</a:t>
            </a:r>
            <a:r>
              <a:rPr lang="en-US" sz="1400" b="0" i="0">
                <a:effectLst/>
                <a:latin typeface="Inter"/>
              </a:rPr>
              <a:t> </a:t>
            </a:r>
            <a:r>
              <a:rPr lang="en-US" sz="1400" b="0" i="0">
                <a:effectLst/>
                <a:latin typeface="DM Mono" panose="020B0509040201040103" pitchFamily="49" charset="0"/>
              </a:rPr>
              <a:t>[[sync::</a:t>
            </a:r>
            <a:r>
              <a:rPr lang="en-US" sz="1400" b="0" i="0" err="1">
                <a:effectLst/>
                <a:latin typeface="DM Mono" panose="020B0509040201040103" pitchFamily="49" charset="0"/>
              </a:rPr>
              <a:t>latency_critical</a:t>
            </a:r>
            <a:r>
              <a:rPr lang="en-US" sz="1400" b="0" i="0">
                <a:effectLst/>
                <a:latin typeface="DM Mono" panose="020B0509040201040103" pitchFamily="49" charset="0"/>
              </a:rPr>
              <a:t>]]</a:t>
            </a:r>
            <a:r>
              <a:rPr lang="en-US" sz="1400" b="0" i="0">
                <a:effectLst/>
                <a:latin typeface="Inter"/>
              </a:rPr>
              <a:t> vs </a:t>
            </a:r>
            <a:r>
              <a:rPr lang="en-US" sz="1400" b="0" i="0">
                <a:effectLst/>
                <a:latin typeface="DM Mono" panose="020B0509040201040103" pitchFamily="49" charset="0"/>
              </a:rPr>
              <a:t>[[sync::</a:t>
            </a:r>
            <a:r>
              <a:rPr lang="en-US" sz="1400" b="0" i="0" err="1">
                <a:effectLst/>
                <a:latin typeface="DM Mono" panose="020B0509040201040103" pitchFamily="49" charset="0"/>
              </a:rPr>
              <a:t>throughput_oriented</a:t>
            </a:r>
            <a:r>
              <a:rPr lang="en-US" sz="1400" b="0" i="0">
                <a:effectLst/>
                <a:latin typeface="DM Mono" panose="020B0509040201040103" pitchFamily="49" charset="0"/>
              </a:rPr>
              <a:t>]]</a:t>
            </a:r>
          </a:p>
          <a:p>
            <a:pPr algn="l">
              <a:spcAft>
                <a:spcPts val="225"/>
              </a:spcAft>
              <a:buFont typeface="Arial" panose="020B0604020202020204" pitchFamily="34" charset="0"/>
              <a:buChar char="•"/>
            </a:pPr>
            <a:endParaRPr lang="en-US" sz="1400" b="0" i="0">
              <a:effectLst/>
              <a:latin typeface="Inter"/>
            </a:endParaRPr>
          </a:p>
          <a:p>
            <a:pPr algn="l">
              <a:buNone/>
            </a:pPr>
            <a:r>
              <a:rPr lang="en-US" sz="1400" b="1" i="0">
                <a:solidFill>
                  <a:srgbClr val="3333FF"/>
                </a:solidFill>
                <a:effectLst/>
                <a:latin typeface="Inter"/>
              </a:rPr>
              <a:t>Transformations:</a:t>
            </a:r>
          </a:p>
          <a:p>
            <a:pPr algn="l">
              <a:spcAft>
                <a:spcPts val="225"/>
              </a:spcAft>
              <a:buFont typeface="Arial" panose="020B0604020202020204" pitchFamily="34" charset="0"/>
              <a:buChar char="•"/>
            </a:pPr>
            <a:r>
              <a:rPr lang="en-US" sz="1400" b="1" i="0">
                <a:effectLst/>
                <a:latin typeface="Inter"/>
              </a:rPr>
              <a:t>Latency Critical:</a:t>
            </a:r>
            <a:endParaRPr lang="en-US" sz="1400" b="0" i="0">
              <a:effectLst/>
              <a:latin typeface="Inter"/>
            </a:endParaRPr>
          </a:p>
          <a:p>
            <a:pPr marL="742950" lvl="1" indent="-285750" algn="l">
              <a:spcAft>
                <a:spcPts val="225"/>
              </a:spcAft>
              <a:buFont typeface="Arial" panose="020B0604020202020204" pitchFamily="34" charset="0"/>
              <a:buChar char="•"/>
            </a:pPr>
            <a:r>
              <a:rPr lang="en-US" sz="1400" b="1" i="0">
                <a:effectLst/>
                <a:latin typeface="Inter"/>
              </a:rPr>
              <a:t>Busy Wait:</a:t>
            </a:r>
            <a:r>
              <a:rPr lang="en-US" sz="1400" b="0" i="0">
                <a:effectLst/>
                <a:latin typeface="Inter"/>
              </a:rPr>
              <a:t> Use spinlocks. Never put the thread to sleep (</a:t>
            </a:r>
            <a:r>
              <a:rPr lang="en-US" sz="1400" b="0" i="0" err="1">
                <a:effectLst/>
                <a:latin typeface="Inter"/>
              </a:rPr>
              <a:t>syscall</a:t>
            </a:r>
            <a:r>
              <a:rPr lang="en-US" sz="1400" b="0" i="0">
                <a:effectLst/>
                <a:latin typeface="Inter"/>
              </a:rPr>
              <a:t> </a:t>
            </a:r>
            <a:r>
              <a:rPr lang="en-US" sz="1400" b="0" i="0" err="1">
                <a:effectLst/>
                <a:latin typeface="DM Mono" panose="020B0509040201040103" pitchFamily="49" charset="0"/>
              </a:rPr>
              <a:t>futex_wait</a:t>
            </a:r>
            <a:r>
              <a:rPr lang="en-US" sz="1400" b="0" i="0">
                <a:effectLst/>
                <a:latin typeface="Inter"/>
              </a:rPr>
              <a:t>), because waking up takes 10-20 microseconds.</a:t>
            </a:r>
          </a:p>
          <a:p>
            <a:pPr marL="742950" lvl="1" indent="-285750" algn="l">
              <a:spcAft>
                <a:spcPts val="225"/>
              </a:spcAft>
              <a:buFont typeface="Arial" panose="020B0604020202020204" pitchFamily="34" charset="0"/>
              <a:buChar char="•"/>
            </a:pPr>
            <a:r>
              <a:rPr lang="en-US" sz="1400" b="1" i="0">
                <a:effectLst/>
                <a:latin typeface="Inter"/>
              </a:rPr>
              <a:t>Prefetching:</a:t>
            </a:r>
            <a:r>
              <a:rPr lang="en-US" sz="1400" b="0" i="0">
                <a:effectLst/>
                <a:latin typeface="Inter"/>
              </a:rPr>
              <a:t> Issue </a:t>
            </a:r>
            <a:r>
              <a:rPr lang="en-US" sz="1400" b="0" i="0" err="1">
                <a:effectLst/>
                <a:latin typeface="DM Mono" panose="020B0509040201040103" pitchFamily="49" charset="0"/>
              </a:rPr>
              <a:t>prefetchw</a:t>
            </a:r>
            <a:r>
              <a:rPr lang="en-US" sz="1400" b="0" i="0">
                <a:effectLst/>
                <a:latin typeface="Inter"/>
              </a:rPr>
              <a:t> (prefetch for write) instructions well before the lock acquisition.</a:t>
            </a:r>
          </a:p>
          <a:p>
            <a:pPr algn="l">
              <a:spcAft>
                <a:spcPts val="225"/>
              </a:spcAft>
              <a:buFont typeface="Arial" panose="020B0604020202020204" pitchFamily="34" charset="0"/>
              <a:buChar char="•"/>
            </a:pPr>
            <a:r>
              <a:rPr lang="en-US" sz="1400" b="1" i="0">
                <a:effectLst/>
                <a:latin typeface="Inter"/>
              </a:rPr>
              <a:t>Throughput Oriented:</a:t>
            </a:r>
            <a:endParaRPr lang="en-US" sz="1400" b="0" i="0">
              <a:effectLst/>
              <a:latin typeface="Inter"/>
            </a:endParaRPr>
          </a:p>
          <a:p>
            <a:pPr marL="742950" lvl="1" indent="-285750" algn="l">
              <a:spcAft>
                <a:spcPts val="225"/>
              </a:spcAft>
              <a:buFont typeface="Arial" panose="020B0604020202020204" pitchFamily="34" charset="0"/>
              <a:buChar char="•"/>
            </a:pPr>
            <a:r>
              <a:rPr lang="en-US" sz="1400" b="1" i="0">
                <a:effectLst/>
                <a:latin typeface="Inter"/>
              </a:rPr>
              <a:t>Combining:</a:t>
            </a:r>
            <a:r>
              <a:rPr lang="en-US" sz="1400" b="0" i="0">
                <a:effectLst/>
                <a:latin typeface="Inter"/>
              </a:rPr>
              <a:t> Use </a:t>
            </a:r>
            <a:r>
              <a:rPr lang="en-US" sz="1400" b="1" i="0">
                <a:effectLst/>
                <a:latin typeface="Inter"/>
              </a:rPr>
              <a:t>Flat Combining</a:t>
            </a:r>
            <a:r>
              <a:rPr lang="en-US" sz="1400" b="0" i="0">
                <a:effectLst/>
                <a:latin typeface="Inter"/>
              </a:rPr>
              <a:t> or </a:t>
            </a:r>
            <a:r>
              <a:rPr lang="en-US" sz="1400" b="1" i="0">
                <a:effectLst/>
                <a:latin typeface="Inter"/>
              </a:rPr>
              <a:t>Scheduler-based locking</a:t>
            </a:r>
            <a:r>
              <a:rPr lang="en-US" sz="1400" b="0" i="0">
                <a:effectLst/>
                <a:latin typeface="Inter"/>
              </a:rPr>
              <a:t>. Allow threads to sleep and batch their requests.</a:t>
            </a:r>
          </a:p>
        </p:txBody>
      </p:sp>
    </p:spTree>
    <p:extLst>
      <p:ext uri="{BB962C8B-B14F-4D97-AF65-F5344CB8AC3E}">
        <p14:creationId xmlns:p14="http://schemas.microsoft.com/office/powerpoint/2010/main" val="17783018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4B63FA80-9FFD-9E1D-709C-63C2E912708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9BE5AD3-39E8-F18A-0579-5C5CE8140428}"/>
              </a:ext>
            </a:extLst>
          </p:cNvPr>
          <p:cNvSpPr txBox="1"/>
          <p:nvPr/>
        </p:nvSpPr>
        <p:spPr>
          <a:xfrm>
            <a:off x="1252331" y="1160747"/>
            <a:ext cx="8726556" cy="1938992"/>
          </a:xfrm>
          <a:prstGeom prst="rect">
            <a:avLst/>
          </a:prstGeom>
          <a:noFill/>
        </p:spPr>
        <p:txBody>
          <a:bodyPr wrap="square">
            <a:spAutoFit/>
          </a:bodyPr>
          <a:lstStyle/>
          <a:p>
            <a:r>
              <a:rPr lang="en-US" sz="6000">
                <a:solidFill>
                  <a:schemeClr val="bg1"/>
                </a:solidFill>
                <a:latin typeface="Ubuntu Condensed" panose="020B0506030602030204" pitchFamily="34" charset="0"/>
              </a:rPr>
              <a:t>Optimizations around critical sections</a:t>
            </a:r>
            <a:endParaRPr lang="ru-RU" sz="6000">
              <a:solidFill>
                <a:schemeClr val="bg1"/>
              </a:solidFill>
              <a:latin typeface="Ubuntu Condensed" panose="020B0506030602030204" pitchFamily="34" charset="0"/>
            </a:endParaRPr>
          </a:p>
        </p:txBody>
      </p:sp>
    </p:spTree>
    <p:extLst>
      <p:ext uri="{BB962C8B-B14F-4D97-AF65-F5344CB8AC3E}">
        <p14:creationId xmlns:p14="http://schemas.microsoft.com/office/powerpoint/2010/main" val="3366098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FE29A-1E80-F229-D5AD-F31F67D4A711}"/>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3698552E-3C0C-0A5E-5CF9-49172A91FABE}"/>
              </a:ext>
            </a:extLst>
          </p:cNvPr>
          <p:cNvSpPr txBox="1"/>
          <p:nvPr/>
        </p:nvSpPr>
        <p:spPr>
          <a:xfrm>
            <a:off x="233910" y="208621"/>
            <a:ext cx="7073670" cy="461665"/>
          </a:xfrm>
          <a:prstGeom prst="rect">
            <a:avLst/>
          </a:prstGeom>
          <a:solidFill>
            <a:srgbClr val="002060"/>
          </a:solidFill>
        </p:spPr>
        <p:txBody>
          <a:bodyPr wrap="square" rtlCol="0">
            <a:spAutoFit/>
          </a:bodyPr>
          <a:lstStyle/>
          <a:p>
            <a:r>
              <a:rPr lang="en-US" sz="2400">
                <a:solidFill>
                  <a:schemeClr val="bg1"/>
                </a:solidFill>
                <a:latin typeface="Ubuntu Condensed" panose="020B0506030602030204" pitchFamily="34" charset="0"/>
              </a:rPr>
              <a:t>Critical Section Coarsening</a:t>
            </a:r>
            <a:endParaRPr lang="ru-RU" sz="2400">
              <a:solidFill>
                <a:schemeClr val="bg1"/>
              </a:solidFill>
              <a:latin typeface="Ubuntu Condensed" panose="020B0506030602030204" pitchFamily="34" charset="0"/>
            </a:endParaRPr>
          </a:p>
        </p:txBody>
      </p:sp>
      <p:sp>
        <p:nvSpPr>
          <p:cNvPr id="7" name="Номер слайда 7">
            <a:extLst>
              <a:ext uri="{FF2B5EF4-FFF2-40B4-BE49-F238E27FC236}">
                <a16:creationId xmlns:a16="http://schemas.microsoft.com/office/drawing/2014/main" id="{CE0ECB00-861E-3A4F-5BFD-658D2F5D1AEC}"/>
              </a:ext>
            </a:extLst>
          </p:cNvPr>
          <p:cNvSpPr>
            <a:spLocks noGrp="1"/>
          </p:cNvSpPr>
          <p:nvPr>
            <p:ph type="sldNum" sz="quarter" idx="12"/>
          </p:nvPr>
        </p:nvSpPr>
        <p:spPr>
          <a:xfrm>
            <a:off x="11725835" y="6402070"/>
            <a:ext cx="386155" cy="365125"/>
          </a:xfrm>
        </p:spPr>
        <p:txBody>
          <a:bodyPr/>
          <a:lstStyle/>
          <a:p>
            <a:pPr algn="ctr"/>
            <a:fld id="{E757BAED-F255-4CF1-96BA-8D7417A9C3BC}" type="slidenum">
              <a:rPr lang="ru-RU" sz="1800" smtClean="0">
                <a:latin typeface="Ubuntu Condensed" panose="020B0506030602030204" pitchFamily="34" charset="0"/>
              </a:rPr>
              <a:pPr algn="ctr"/>
              <a:t>15</a:t>
            </a:fld>
            <a:endParaRPr lang="ru-RU" sz="1800">
              <a:latin typeface="Ubuntu Condensed" panose="020B0506030602030204" pitchFamily="34" charset="0"/>
            </a:endParaRPr>
          </a:p>
        </p:txBody>
      </p:sp>
      <p:sp>
        <p:nvSpPr>
          <p:cNvPr id="2" name="TextBox 1">
            <a:extLst>
              <a:ext uri="{FF2B5EF4-FFF2-40B4-BE49-F238E27FC236}">
                <a16:creationId xmlns:a16="http://schemas.microsoft.com/office/drawing/2014/main" id="{40BDCB83-669E-74D1-A01C-4CA8FAAB4995}"/>
              </a:ext>
            </a:extLst>
          </p:cNvPr>
          <p:cNvSpPr txBox="1"/>
          <p:nvPr/>
        </p:nvSpPr>
        <p:spPr>
          <a:xfrm>
            <a:off x="233910" y="1128469"/>
            <a:ext cx="5138978" cy="276999"/>
          </a:xfrm>
          <a:prstGeom prst="rect">
            <a:avLst/>
          </a:prstGeom>
          <a:noFill/>
        </p:spPr>
        <p:txBody>
          <a:bodyPr wrap="square">
            <a:spAutoFit/>
          </a:bodyPr>
          <a:lstStyle/>
          <a:p>
            <a:r>
              <a:rPr lang="en-US" sz="1200" b="1"/>
              <a:t>Before</a:t>
            </a:r>
          </a:p>
        </p:txBody>
      </p:sp>
      <p:sp>
        <p:nvSpPr>
          <p:cNvPr id="3" name="TextBox 2">
            <a:extLst>
              <a:ext uri="{FF2B5EF4-FFF2-40B4-BE49-F238E27FC236}">
                <a16:creationId xmlns:a16="http://schemas.microsoft.com/office/drawing/2014/main" id="{839296F0-63A2-6EDA-7183-279F3C8409F1}"/>
              </a:ext>
            </a:extLst>
          </p:cNvPr>
          <p:cNvSpPr txBox="1"/>
          <p:nvPr/>
        </p:nvSpPr>
        <p:spPr>
          <a:xfrm>
            <a:off x="233909" y="1762443"/>
            <a:ext cx="5138979" cy="2416367"/>
          </a:xfrm>
          <a:prstGeom prst="rect">
            <a:avLst/>
          </a:prstGeom>
          <a:solidFill>
            <a:srgbClr val="1F1F1F"/>
          </a:solidFill>
        </p:spPr>
        <p:txBody>
          <a:bodyPr wrap="square">
            <a:spAutoFit/>
          </a:bodyPr>
          <a:lstStyle/>
          <a:p>
            <a:pPr>
              <a:lnSpc>
                <a:spcPts val="1425"/>
              </a:lnSpc>
              <a:buNone/>
            </a:pPr>
            <a:r>
              <a:rPr lang="en-SG" sz="1000" b="0">
                <a:solidFill>
                  <a:srgbClr val="6A9955"/>
                </a:solidFill>
                <a:effectLst/>
                <a:latin typeface="JetBrains Mono" panose="02000009000000000000" pitchFamily="49" charset="0"/>
              </a:rPr>
              <a:t>// Updating a global histogram from a thread</a:t>
            </a: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569CD6"/>
                </a:solidFill>
                <a:effectLst/>
                <a:latin typeface="JetBrains Mono" panose="02000009000000000000" pitchFamily="49" charset="0"/>
              </a:rPr>
              <a:t>void</a:t>
            </a:r>
            <a:r>
              <a:rPr lang="en-SG" sz="1000" b="0">
                <a:solidFill>
                  <a:srgbClr val="CCCCCC"/>
                </a:solidFill>
                <a:effectLst/>
                <a:latin typeface="JetBrains Mono" panose="02000009000000000000" pitchFamily="49" charset="0"/>
              </a:rPr>
              <a:t> </a:t>
            </a:r>
            <a:r>
              <a:rPr lang="en-SG" sz="1000" b="0" err="1">
                <a:solidFill>
                  <a:srgbClr val="DCDCAA"/>
                </a:solidFill>
                <a:effectLst/>
                <a:latin typeface="JetBrains Mono" panose="02000009000000000000" pitchFamily="49" charset="0"/>
              </a:rPr>
              <a:t>update_histogram</a:t>
            </a:r>
            <a:r>
              <a:rPr lang="en-SG" sz="1000" b="0">
                <a:solidFill>
                  <a:srgbClr val="CCCCCC"/>
                </a:solidFill>
                <a:effectLst/>
                <a:latin typeface="JetBrains Mono" panose="02000009000000000000" pitchFamily="49" charset="0"/>
              </a:rPr>
              <a:t>(</a:t>
            </a:r>
            <a:r>
              <a:rPr lang="en-SG" sz="1000" b="0">
                <a:solidFill>
                  <a:srgbClr val="569CD6"/>
                </a:solidFill>
                <a:effectLst/>
                <a:latin typeface="JetBrains Mono" panose="02000009000000000000" pitchFamily="49" charset="0"/>
              </a:rPr>
              <a:t>int</a:t>
            </a:r>
            <a:r>
              <a:rPr lang="en-SG" sz="1000" b="0">
                <a:solidFill>
                  <a:srgbClr val="CCCCCC"/>
                </a:solidFill>
                <a:effectLst/>
                <a:latin typeface="JetBrains Mono" panose="02000009000000000000" pitchFamily="49" charset="0"/>
              </a:rPr>
              <a:t> </a:t>
            </a:r>
            <a:r>
              <a:rPr lang="en-SG" sz="1000" b="0">
                <a:solidFill>
                  <a:srgbClr val="569CD6"/>
                </a:solidFill>
                <a:effectLst/>
                <a:latin typeface="JetBrains Mono" panose="02000009000000000000" pitchFamily="49" charset="0"/>
              </a:rPr>
              <a:t>*</a:t>
            </a:r>
            <a:r>
              <a:rPr lang="en-SG" sz="1000" b="0">
                <a:solidFill>
                  <a:srgbClr val="9CDCFE"/>
                </a:solidFill>
                <a:effectLst/>
                <a:latin typeface="JetBrains Mono" panose="02000009000000000000" pitchFamily="49" charset="0"/>
              </a:rPr>
              <a:t>data</a:t>
            </a:r>
            <a:r>
              <a:rPr lang="en-SG" sz="1000" b="0">
                <a:solidFill>
                  <a:srgbClr val="CCCCCC"/>
                </a:solidFill>
                <a:effectLst/>
                <a:latin typeface="JetBrains Mono" panose="02000009000000000000" pitchFamily="49" charset="0"/>
              </a:rPr>
              <a:t>, </a:t>
            </a:r>
            <a:r>
              <a:rPr lang="en-SG" sz="1000" b="0">
                <a:solidFill>
                  <a:srgbClr val="569CD6"/>
                </a:solidFill>
                <a:effectLst/>
                <a:latin typeface="JetBrains Mono" panose="02000009000000000000" pitchFamily="49" charset="0"/>
              </a:rPr>
              <a:t>int</a:t>
            </a:r>
            <a:r>
              <a:rPr lang="en-SG" sz="1000" b="0">
                <a:solidFill>
                  <a:srgbClr val="CCCCCC"/>
                </a:solidFill>
                <a:effectLst/>
                <a:latin typeface="JetBrains Mono" panose="02000009000000000000" pitchFamily="49" charset="0"/>
              </a:rPr>
              <a:t> </a:t>
            </a:r>
            <a:r>
              <a:rPr lang="en-SG" sz="1000" b="0">
                <a:solidFill>
                  <a:srgbClr val="9CDCFE"/>
                </a:solidFill>
                <a:effectLst/>
                <a:latin typeface="JetBrains Mono" panose="02000009000000000000" pitchFamily="49" charset="0"/>
              </a:rPr>
              <a:t>count</a:t>
            </a:r>
            <a:r>
              <a:rPr lang="en-SG" sz="1000" b="0">
                <a:solidFill>
                  <a:srgbClr val="CCCCCC"/>
                </a:solidFill>
                <a:effectLst/>
                <a:latin typeface="JetBrains Mono" panose="02000009000000000000" pitchFamily="49" charset="0"/>
              </a:rPr>
              <a:t>, </a:t>
            </a:r>
            <a:r>
              <a:rPr lang="en-SG" sz="1000" b="0" err="1">
                <a:solidFill>
                  <a:srgbClr val="4EC9B0"/>
                </a:solidFill>
                <a:effectLst/>
                <a:latin typeface="JetBrains Mono" panose="02000009000000000000" pitchFamily="49" charset="0"/>
              </a:rPr>
              <a:t>GlobalStats</a:t>
            </a:r>
            <a:r>
              <a:rPr lang="en-SG" sz="1000" b="0">
                <a:solidFill>
                  <a:srgbClr val="CCCCCC"/>
                </a:solidFill>
                <a:effectLst/>
                <a:latin typeface="JetBrains Mono" panose="02000009000000000000" pitchFamily="49" charset="0"/>
              </a:rPr>
              <a:t> </a:t>
            </a:r>
            <a:r>
              <a:rPr lang="en-SG" sz="1000" b="0">
                <a:solidFill>
                  <a:srgbClr val="569CD6"/>
                </a:solidFill>
                <a:effectLst/>
                <a:latin typeface="JetBrains Mono" panose="02000009000000000000" pitchFamily="49" charset="0"/>
              </a:rPr>
              <a:t>*</a:t>
            </a:r>
            <a:r>
              <a:rPr lang="en-SG" sz="1000" b="0">
                <a:solidFill>
                  <a:srgbClr val="9CDCFE"/>
                </a:solidFill>
                <a:effectLst/>
                <a:latin typeface="JetBrains Mono" panose="02000009000000000000" pitchFamily="49" charset="0"/>
              </a:rPr>
              <a:t>stats</a:t>
            </a:r>
            <a:r>
              <a:rPr lang="en-SG" sz="1000" b="0">
                <a:solidFill>
                  <a:srgbClr val="CCCCCC"/>
                </a:solidFill>
                <a:effectLst/>
                <a:latin typeface="JetBrains Mono" panose="02000009000000000000" pitchFamily="49" charset="0"/>
              </a:rPr>
              <a:t>) {</a:t>
            </a:r>
          </a:p>
          <a:p>
            <a:pPr>
              <a:lnSpc>
                <a:spcPts val="1425"/>
              </a:lnSpc>
              <a:buNone/>
            </a:pPr>
            <a:r>
              <a:rPr lang="en-SG" sz="1000" b="0">
                <a:solidFill>
                  <a:srgbClr val="CCCCCC"/>
                </a:solidFill>
                <a:effectLst/>
                <a:latin typeface="JetBrains Mono" panose="02000009000000000000" pitchFamily="49" charset="0"/>
              </a:rPr>
              <a:t>  </a:t>
            </a:r>
            <a:r>
              <a:rPr lang="en-SG" sz="1000" b="0">
                <a:solidFill>
                  <a:srgbClr val="C586C0"/>
                </a:solidFill>
                <a:effectLst/>
                <a:latin typeface="JetBrains Mono" panose="02000009000000000000" pitchFamily="49" charset="0"/>
              </a:rPr>
              <a:t>for</a:t>
            </a:r>
            <a:r>
              <a:rPr lang="en-SG" sz="1000" b="0">
                <a:solidFill>
                  <a:srgbClr val="CCCCCC"/>
                </a:solidFill>
                <a:effectLst/>
                <a:latin typeface="JetBrains Mono" panose="02000009000000000000" pitchFamily="49" charset="0"/>
              </a:rPr>
              <a:t> (</a:t>
            </a:r>
            <a:r>
              <a:rPr lang="en-SG" sz="1000" b="0">
                <a:solidFill>
                  <a:srgbClr val="569CD6"/>
                </a:solidFill>
                <a:effectLst/>
                <a:latin typeface="JetBrains Mono" panose="02000009000000000000" pitchFamily="49" charset="0"/>
              </a:rPr>
              <a:t>int</a:t>
            </a:r>
            <a:r>
              <a:rPr lang="en-SG" sz="1000" b="0">
                <a:solidFill>
                  <a:srgbClr val="CCCCCC"/>
                </a:solidFill>
                <a:effectLst/>
                <a:latin typeface="JetBrains Mono" panose="02000009000000000000" pitchFamily="49" charset="0"/>
              </a:rPr>
              <a:t> </a:t>
            </a:r>
            <a:r>
              <a:rPr lang="en-SG" sz="1000" b="0" err="1">
                <a:solidFill>
                  <a:srgbClr val="9CDCFE"/>
                </a:solidFill>
                <a:effectLst/>
                <a:latin typeface="JetBrains Mono" panose="02000009000000000000" pitchFamily="49" charset="0"/>
              </a:rPr>
              <a:t>i</a:t>
            </a:r>
            <a:r>
              <a:rPr lang="en-SG" sz="1000" b="0">
                <a:solidFill>
                  <a:srgbClr val="CCCCCC"/>
                </a:solidFill>
                <a:effectLst/>
                <a:latin typeface="JetBrains Mono" panose="02000009000000000000" pitchFamily="49" charset="0"/>
              </a:rPr>
              <a:t> </a:t>
            </a:r>
            <a:r>
              <a:rPr lang="en-SG" sz="1000" b="0">
                <a:solidFill>
                  <a:srgbClr val="D4D4D4"/>
                </a:solidFill>
                <a:effectLst/>
                <a:latin typeface="JetBrains Mono" panose="02000009000000000000" pitchFamily="49" charset="0"/>
              </a:rPr>
              <a:t>=</a:t>
            </a:r>
            <a:r>
              <a:rPr lang="en-SG" sz="1000" b="0">
                <a:solidFill>
                  <a:srgbClr val="CCCCCC"/>
                </a:solidFill>
                <a:effectLst/>
                <a:latin typeface="JetBrains Mono" panose="02000009000000000000" pitchFamily="49" charset="0"/>
              </a:rPr>
              <a:t> </a:t>
            </a:r>
            <a:r>
              <a:rPr lang="en-SG" sz="1000" b="0">
                <a:solidFill>
                  <a:srgbClr val="B5CEA8"/>
                </a:solidFill>
                <a:effectLst/>
                <a:latin typeface="JetBrains Mono" panose="02000009000000000000" pitchFamily="49" charset="0"/>
              </a:rPr>
              <a:t>0</a:t>
            </a:r>
            <a:r>
              <a:rPr lang="en-SG" sz="1000" b="0">
                <a:solidFill>
                  <a:srgbClr val="CCCCCC"/>
                </a:solidFill>
                <a:effectLst/>
                <a:latin typeface="JetBrains Mono" panose="02000009000000000000" pitchFamily="49" charset="0"/>
              </a:rPr>
              <a:t>; </a:t>
            </a:r>
            <a:r>
              <a:rPr lang="en-SG" sz="1000" b="0" err="1">
                <a:solidFill>
                  <a:srgbClr val="9CDCFE"/>
                </a:solidFill>
                <a:effectLst/>
                <a:latin typeface="JetBrains Mono" panose="02000009000000000000" pitchFamily="49" charset="0"/>
              </a:rPr>
              <a:t>i</a:t>
            </a:r>
            <a:r>
              <a:rPr lang="en-SG" sz="1000" b="0">
                <a:solidFill>
                  <a:srgbClr val="CCCCCC"/>
                </a:solidFill>
                <a:effectLst/>
                <a:latin typeface="JetBrains Mono" panose="02000009000000000000" pitchFamily="49" charset="0"/>
              </a:rPr>
              <a:t> </a:t>
            </a:r>
            <a:r>
              <a:rPr lang="en-SG" sz="1000" b="0">
                <a:solidFill>
                  <a:srgbClr val="D4D4D4"/>
                </a:solidFill>
                <a:effectLst/>
                <a:latin typeface="JetBrains Mono" panose="02000009000000000000" pitchFamily="49" charset="0"/>
              </a:rPr>
              <a:t>&lt;</a:t>
            </a:r>
            <a:r>
              <a:rPr lang="en-SG" sz="1000" b="0">
                <a:solidFill>
                  <a:srgbClr val="CCCCCC"/>
                </a:solidFill>
                <a:effectLst/>
                <a:latin typeface="JetBrains Mono" panose="02000009000000000000" pitchFamily="49" charset="0"/>
              </a:rPr>
              <a:t> </a:t>
            </a:r>
            <a:r>
              <a:rPr lang="en-SG" sz="1000" b="0">
                <a:solidFill>
                  <a:srgbClr val="9CDCFE"/>
                </a:solidFill>
                <a:effectLst/>
                <a:latin typeface="JetBrains Mono" panose="02000009000000000000" pitchFamily="49" charset="0"/>
              </a:rPr>
              <a:t>count</a:t>
            </a:r>
            <a:r>
              <a:rPr lang="en-SG" sz="1000" b="0">
                <a:solidFill>
                  <a:srgbClr val="CCCCCC"/>
                </a:solidFill>
                <a:effectLst/>
                <a:latin typeface="JetBrains Mono" panose="02000009000000000000" pitchFamily="49" charset="0"/>
              </a:rPr>
              <a:t>; </a:t>
            </a:r>
            <a:r>
              <a:rPr lang="en-SG" sz="1000" b="0">
                <a:solidFill>
                  <a:srgbClr val="D4D4D4"/>
                </a:solidFill>
                <a:effectLst/>
                <a:latin typeface="JetBrains Mono" panose="02000009000000000000" pitchFamily="49" charset="0"/>
              </a:rPr>
              <a:t>++</a:t>
            </a:r>
            <a:r>
              <a:rPr lang="en-SG" sz="1000" b="0" err="1">
                <a:solidFill>
                  <a:srgbClr val="9CDCFE"/>
                </a:solidFill>
                <a:effectLst/>
                <a:latin typeface="JetBrains Mono" panose="02000009000000000000" pitchFamily="49" charset="0"/>
              </a:rPr>
              <a:t>i</a:t>
            </a:r>
            <a:r>
              <a:rPr lang="en-SG" sz="1000" b="0">
                <a:solidFill>
                  <a:srgbClr val="CCCCCC"/>
                </a:solidFill>
                <a:effectLst/>
                <a:latin typeface="JetBrains Mono" panose="02000009000000000000" pitchFamily="49" charset="0"/>
              </a:rPr>
              <a:t>) {</a:t>
            </a:r>
          </a:p>
          <a:p>
            <a:pPr>
              <a:lnSpc>
                <a:spcPts val="1425"/>
              </a:lnSpc>
              <a:buNone/>
            </a:pPr>
            <a:r>
              <a:rPr lang="en-SG" sz="1000" b="0">
                <a:solidFill>
                  <a:srgbClr val="CCCCCC"/>
                </a:solidFill>
                <a:effectLst/>
                <a:latin typeface="JetBrains Mono" panose="02000009000000000000" pitchFamily="49" charset="0"/>
              </a:rPr>
              <a:t>    </a:t>
            </a:r>
            <a:r>
              <a:rPr lang="en-SG" sz="1000" b="0">
                <a:solidFill>
                  <a:srgbClr val="569CD6"/>
                </a:solidFill>
                <a:effectLst/>
                <a:latin typeface="JetBrains Mono" panose="02000009000000000000" pitchFamily="49" charset="0"/>
              </a:rPr>
              <a:t>int</a:t>
            </a:r>
            <a:r>
              <a:rPr lang="en-SG" sz="1000" b="0">
                <a:solidFill>
                  <a:srgbClr val="CCCCCC"/>
                </a:solidFill>
                <a:effectLst/>
                <a:latin typeface="JetBrains Mono" panose="02000009000000000000" pitchFamily="49" charset="0"/>
              </a:rPr>
              <a:t> </a:t>
            </a:r>
            <a:r>
              <a:rPr lang="en-SG" sz="1000" b="0">
                <a:solidFill>
                  <a:srgbClr val="9CDCFE"/>
                </a:solidFill>
                <a:effectLst/>
                <a:latin typeface="JetBrains Mono" panose="02000009000000000000" pitchFamily="49" charset="0"/>
              </a:rPr>
              <a:t>bin</a:t>
            </a:r>
            <a:r>
              <a:rPr lang="en-SG" sz="1000" b="0">
                <a:solidFill>
                  <a:srgbClr val="CCCCCC"/>
                </a:solidFill>
                <a:effectLst/>
                <a:latin typeface="JetBrains Mono" panose="02000009000000000000" pitchFamily="49" charset="0"/>
              </a:rPr>
              <a:t> </a:t>
            </a:r>
            <a:r>
              <a:rPr lang="en-SG" sz="1000" b="0">
                <a:solidFill>
                  <a:srgbClr val="D4D4D4"/>
                </a:solidFill>
                <a:effectLst/>
                <a:latin typeface="JetBrains Mono" panose="02000009000000000000" pitchFamily="49" charset="0"/>
              </a:rPr>
              <a:t>=</a:t>
            </a:r>
            <a:r>
              <a:rPr lang="en-SG" sz="1000" b="0">
                <a:solidFill>
                  <a:srgbClr val="CCCCCC"/>
                </a:solidFill>
                <a:effectLst/>
                <a:latin typeface="JetBrains Mono" panose="02000009000000000000" pitchFamily="49" charset="0"/>
              </a:rPr>
              <a:t> </a:t>
            </a:r>
            <a:r>
              <a:rPr lang="en-SG" sz="1000" b="0" err="1">
                <a:solidFill>
                  <a:srgbClr val="DCDCAA"/>
                </a:solidFill>
                <a:effectLst/>
                <a:latin typeface="JetBrains Mono" panose="02000009000000000000" pitchFamily="49" charset="0"/>
              </a:rPr>
              <a:t>compute_bin</a:t>
            </a:r>
            <a:r>
              <a:rPr lang="en-SG" sz="1000" b="0">
                <a:solidFill>
                  <a:srgbClr val="CCCCCC"/>
                </a:solidFill>
                <a:effectLst/>
                <a:latin typeface="JetBrains Mono" panose="02000009000000000000" pitchFamily="49" charset="0"/>
              </a:rPr>
              <a:t>(</a:t>
            </a:r>
            <a:r>
              <a:rPr lang="en-SG" sz="1000" b="0">
                <a:solidFill>
                  <a:srgbClr val="9CDCFE"/>
                </a:solidFill>
                <a:effectLst/>
                <a:latin typeface="JetBrains Mono" panose="02000009000000000000" pitchFamily="49" charset="0"/>
              </a:rPr>
              <a:t>data</a:t>
            </a:r>
            <a:r>
              <a:rPr lang="en-SG" sz="1000" b="0">
                <a:solidFill>
                  <a:srgbClr val="CCCCCC"/>
                </a:solidFill>
                <a:effectLst/>
                <a:latin typeface="JetBrains Mono" panose="02000009000000000000" pitchFamily="49" charset="0"/>
              </a:rPr>
              <a:t>[</a:t>
            </a:r>
            <a:r>
              <a:rPr lang="en-SG" sz="1000" b="0" err="1">
                <a:solidFill>
                  <a:srgbClr val="9CDCFE"/>
                </a:solidFill>
                <a:effectLst/>
                <a:latin typeface="JetBrains Mono" panose="02000009000000000000" pitchFamily="49" charset="0"/>
              </a:rPr>
              <a:t>i</a:t>
            </a:r>
            <a:r>
              <a:rPr lang="en-SG" sz="1000" b="0">
                <a:solidFill>
                  <a:srgbClr val="CCCCCC"/>
                </a:solidFill>
                <a:effectLst/>
                <a:latin typeface="JetBrains Mono" panose="02000009000000000000" pitchFamily="49" charset="0"/>
              </a:rPr>
              <a:t>]);</a:t>
            </a:r>
          </a:p>
          <a:p>
            <a:pPr>
              <a:lnSpc>
                <a:spcPts val="1425"/>
              </a:lnSpc>
              <a:buNone/>
            </a:pP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6A9955"/>
                </a:solidFill>
                <a:effectLst/>
                <a:latin typeface="JetBrains Mono" panose="02000009000000000000" pitchFamily="49" charset="0"/>
              </a:rPr>
              <a:t>    // Entering the critical section on every iteration.</a:t>
            </a: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6A9955"/>
                </a:solidFill>
                <a:effectLst/>
                <a:latin typeface="JetBrains Mono" panose="02000009000000000000" pitchFamily="49" charset="0"/>
              </a:rPr>
              <a:t>    // This causes cache-line bouncing of the mutex between cores.</a:t>
            </a: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CCCCCC"/>
                </a:solidFill>
                <a:effectLst/>
                <a:latin typeface="JetBrains Mono" panose="02000009000000000000" pitchFamily="49" charset="0"/>
              </a:rPr>
              <a:t>    </a:t>
            </a:r>
            <a:r>
              <a:rPr lang="en-SG" sz="1000" b="0" err="1">
                <a:solidFill>
                  <a:srgbClr val="DCDCAA"/>
                </a:solidFill>
                <a:effectLst/>
                <a:latin typeface="JetBrains Mono" panose="02000009000000000000" pitchFamily="49" charset="0"/>
              </a:rPr>
              <a:t>pthread_mutex_lock</a:t>
            </a:r>
            <a:r>
              <a:rPr lang="en-SG" sz="1000" b="0">
                <a:solidFill>
                  <a:srgbClr val="CCCCCC"/>
                </a:solidFill>
                <a:effectLst/>
                <a:latin typeface="JetBrains Mono" panose="02000009000000000000" pitchFamily="49" charset="0"/>
              </a:rPr>
              <a:t>(</a:t>
            </a:r>
            <a:r>
              <a:rPr lang="en-SG" sz="1000" b="0">
                <a:solidFill>
                  <a:srgbClr val="D4D4D4"/>
                </a:solidFill>
                <a:effectLst/>
                <a:latin typeface="JetBrains Mono" panose="02000009000000000000" pitchFamily="49" charset="0"/>
              </a:rPr>
              <a:t>&amp;</a:t>
            </a:r>
            <a:r>
              <a:rPr lang="en-SG" sz="1000" b="0">
                <a:solidFill>
                  <a:srgbClr val="9CDCFE"/>
                </a:solidFill>
                <a:effectLst/>
                <a:latin typeface="JetBrains Mono" panose="02000009000000000000" pitchFamily="49" charset="0"/>
              </a:rPr>
              <a:t>stats</a:t>
            </a:r>
            <a:r>
              <a:rPr lang="en-SG" sz="1000" b="0">
                <a:solidFill>
                  <a:srgbClr val="CCCCCC"/>
                </a:solidFill>
                <a:effectLst/>
                <a:latin typeface="JetBrains Mono" panose="02000009000000000000" pitchFamily="49" charset="0"/>
              </a:rPr>
              <a:t>-&gt;</a:t>
            </a:r>
            <a:r>
              <a:rPr lang="en-SG" sz="1000" b="0">
                <a:solidFill>
                  <a:srgbClr val="9CDCFE"/>
                </a:solidFill>
                <a:effectLst/>
                <a:latin typeface="JetBrains Mono" panose="02000009000000000000" pitchFamily="49" charset="0"/>
              </a:rPr>
              <a:t>mutex</a:t>
            </a:r>
            <a:r>
              <a:rPr lang="en-SG" sz="1000" b="0">
                <a:solidFill>
                  <a:srgbClr val="CCCCCC"/>
                </a:solidFill>
                <a:effectLst/>
                <a:latin typeface="JetBrains Mono" panose="02000009000000000000" pitchFamily="49" charset="0"/>
              </a:rPr>
              <a:t>);</a:t>
            </a:r>
          </a:p>
          <a:p>
            <a:pPr>
              <a:lnSpc>
                <a:spcPts val="1425"/>
              </a:lnSpc>
              <a:buNone/>
            </a:pPr>
            <a:r>
              <a:rPr lang="en-SG" sz="1000" b="0">
                <a:solidFill>
                  <a:srgbClr val="CCCCCC"/>
                </a:solidFill>
                <a:effectLst/>
                <a:latin typeface="JetBrains Mono" panose="02000009000000000000" pitchFamily="49" charset="0"/>
              </a:rPr>
              <a:t>    </a:t>
            </a:r>
            <a:r>
              <a:rPr lang="en-SG" sz="1000" b="0">
                <a:solidFill>
                  <a:srgbClr val="9CDCFE"/>
                </a:solidFill>
                <a:effectLst/>
                <a:latin typeface="JetBrains Mono" panose="02000009000000000000" pitchFamily="49" charset="0"/>
              </a:rPr>
              <a:t>stats</a:t>
            </a:r>
            <a:r>
              <a:rPr lang="en-SG" sz="1000" b="0">
                <a:solidFill>
                  <a:srgbClr val="CCCCCC"/>
                </a:solidFill>
                <a:effectLst/>
                <a:latin typeface="JetBrains Mono" panose="02000009000000000000" pitchFamily="49" charset="0"/>
              </a:rPr>
              <a:t>-&gt;</a:t>
            </a:r>
            <a:r>
              <a:rPr lang="en-SG" sz="1000" b="0">
                <a:solidFill>
                  <a:srgbClr val="9CDCFE"/>
                </a:solidFill>
                <a:effectLst/>
                <a:latin typeface="JetBrains Mono" panose="02000009000000000000" pitchFamily="49" charset="0"/>
              </a:rPr>
              <a:t>bins</a:t>
            </a:r>
            <a:r>
              <a:rPr lang="en-SG" sz="1000" b="0">
                <a:solidFill>
                  <a:srgbClr val="CCCCCC"/>
                </a:solidFill>
                <a:effectLst/>
                <a:latin typeface="JetBrains Mono" panose="02000009000000000000" pitchFamily="49" charset="0"/>
              </a:rPr>
              <a:t>[</a:t>
            </a:r>
            <a:r>
              <a:rPr lang="en-SG" sz="1000" b="0">
                <a:solidFill>
                  <a:srgbClr val="9CDCFE"/>
                </a:solidFill>
                <a:effectLst/>
                <a:latin typeface="JetBrains Mono" panose="02000009000000000000" pitchFamily="49" charset="0"/>
              </a:rPr>
              <a:t>bin</a:t>
            </a:r>
            <a:r>
              <a:rPr lang="en-SG" sz="1000" b="0">
                <a:solidFill>
                  <a:srgbClr val="CCCCCC"/>
                </a:solidFill>
                <a:effectLst/>
                <a:latin typeface="JetBrains Mono" panose="02000009000000000000" pitchFamily="49" charset="0"/>
              </a:rPr>
              <a:t>]</a:t>
            </a:r>
            <a:r>
              <a:rPr lang="en-SG" sz="1000" b="0">
                <a:solidFill>
                  <a:srgbClr val="D4D4D4"/>
                </a:solidFill>
                <a:effectLst/>
                <a:latin typeface="JetBrains Mono" panose="02000009000000000000" pitchFamily="49" charset="0"/>
              </a:rPr>
              <a:t>++</a:t>
            </a:r>
            <a:r>
              <a:rPr lang="en-SG" sz="1000" b="0">
                <a:solidFill>
                  <a:srgbClr val="CCCCCC"/>
                </a:solidFill>
                <a:effectLst/>
                <a:latin typeface="JetBrains Mono" panose="02000009000000000000" pitchFamily="49" charset="0"/>
              </a:rPr>
              <a:t>;</a:t>
            </a:r>
          </a:p>
          <a:p>
            <a:pPr>
              <a:lnSpc>
                <a:spcPts val="1425"/>
              </a:lnSpc>
              <a:buNone/>
            </a:pPr>
            <a:r>
              <a:rPr lang="en-SG" sz="1000" b="0">
                <a:solidFill>
                  <a:srgbClr val="CCCCCC"/>
                </a:solidFill>
                <a:effectLst/>
                <a:latin typeface="JetBrains Mono" panose="02000009000000000000" pitchFamily="49" charset="0"/>
              </a:rPr>
              <a:t>    </a:t>
            </a:r>
            <a:r>
              <a:rPr lang="en-SG" sz="1000" b="0" err="1">
                <a:solidFill>
                  <a:srgbClr val="DCDCAA"/>
                </a:solidFill>
                <a:effectLst/>
                <a:latin typeface="JetBrains Mono" panose="02000009000000000000" pitchFamily="49" charset="0"/>
              </a:rPr>
              <a:t>pthread_mutex_unlock</a:t>
            </a:r>
            <a:r>
              <a:rPr lang="en-SG" sz="1000" b="0">
                <a:solidFill>
                  <a:srgbClr val="CCCCCC"/>
                </a:solidFill>
                <a:effectLst/>
                <a:latin typeface="JetBrains Mono" panose="02000009000000000000" pitchFamily="49" charset="0"/>
              </a:rPr>
              <a:t>(</a:t>
            </a:r>
            <a:r>
              <a:rPr lang="en-SG" sz="1000" b="0">
                <a:solidFill>
                  <a:srgbClr val="D4D4D4"/>
                </a:solidFill>
                <a:effectLst/>
                <a:latin typeface="JetBrains Mono" panose="02000009000000000000" pitchFamily="49" charset="0"/>
              </a:rPr>
              <a:t>&amp;</a:t>
            </a:r>
            <a:r>
              <a:rPr lang="en-SG" sz="1000" b="0">
                <a:solidFill>
                  <a:srgbClr val="9CDCFE"/>
                </a:solidFill>
                <a:effectLst/>
                <a:latin typeface="JetBrains Mono" panose="02000009000000000000" pitchFamily="49" charset="0"/>
              </a:rPr>
              <a:t>stats</a:t>
            </a:r>
            <a:r>
              <a:rPr lang="en-SG" sz="1000" b="0">
                <a:solidFill>
                  <a:srgbClr val="CCCCCC"/>
                </a:solidFill>
                <a:effectLst/>
                <a:latin typeface="JetBrains Mono" panose="02000009000000000000" pitchFamily="49" charset="0"/>
              </a:rPr>
              <a:t>-&gt;</a:t>
            </a:r>
            <a:r>
              <a:rPr lang="en-SG" sz="1000" b="0">
                <a:solidFill>
                  <a:srgbClr val="9CDCFE"/>
                </a:solidFill>
                <a:effectLst/>
                <a:latin typeface="JetBrains Mono" panose="02000009000000000000" pitchFamily="49" charset="0"/>
              </a:rPr>
              <a:t>mutex</a:t>
            </a:r>
            <a:r>
              <a:rPr lang="en-SG" sz="1000" b="0">
                <a:solidFill>
                  <a:srgbClr val="CCCCCC"/>
                </a:solidFill>
                <a:effectLst/>
                <a:latin typeface="JetBrains Mono" panose="02000009000000000000" pitchFamily="49" charset="0"/>
              </a:rPr>
              <a:t>);</a:t>
            </a:r>
          </a:p>
          <a:p>
            <a:pPr>
              <a:lnSpc>
                <a:spcPts val="1425"/>
              </a:lnSpc>
              <a:buNone/>
            </a:pPr>
            <a:r>
              <a:rPr lang="en-SG" sz="1000" b="0">
                <a:solidFill>
                  <a:srgbClr val="CCCCCC"/>
                </a:solidFill>
                <a:effectLst/>
                <a:latin typeface="JetBrains Mono" panose="02000009000000000000" pitchFamily="49" charset="0"/>
              </a:rPr>
              <a:t>  }</a:t>
            </a:r>
          </a:p>
          <a:p>
            <a:pPr>
              <a:lnSpc>
                <a:spcPts val="1425"/>
              </a:lnSpc>
              <a:buNone/>
            </a:pPr>
            <a:r>
              <a:rPr lang="en-SG" sz="1000" b="0">
                <a:solidFill>
                  <a:srgbClr val="CCCCCC"/>
                </a:solidFill>
                <a:effectLst/>
                <a:latin typeface="JetBrains Mono" panose="02000009000000000000" pitchFamily="49" charset="0"/>
              </a:rPr>
              <a:t>}</a:t>
            </a:r>
          </a:p>
        </p:txBody>
      </p:sp>
      <p:sp>
        <p:nvSpPr>
          <p:cNvPr id="4" name="TextBox 3">
            <a:extLst>
              <a:ext uri="{FF2B5EF4-FFF2-40B4-BE49-F238E27FC236}">
                <a16:creationId xmlns:a16="http://schemas.microsoft.com/office/drawing/2014/main" id="{20CF86ED-ADDE-B195-D1B6-82465D67AB46}"/>
              </a:ext>
            </a:extLst>
          </p:cNvPr>
          <p:cNvSpPr txBox="1"/>
          <p:nvPr/>
        </p:nvSpPr>
        <p:spPr>
          <a:xfrm>
            <a:off x="5580642" y="1762443"/>
            <a:ext cx="6531348" cy="1877758"/>
          </a:xfrm>
          <a:prstGeom prst="rect">
            <a:avLst/>
          </a:prstGeom>
          <a:solidFill>
            <a:srgbClr val="1F1F1F"/>
          </a:solidFill>
        </p:spPr>
        <p:txBody>
          <a:bodyPr wrap="square">
            <a:spAutoFit/>
          </a:bodyPr>
          <a:lstStyle/>
          <a:p>
            <a:pPr>
              <a:lnSpc>
                <a:spcPts val="1425"/>
              </a:lnSpc>
              <a:buNone/>
            </a:pPr>
            <a:r>
              <a:rPr lang="en-SG" sz="1000" b="0">
                <a:solidFill>
                  <a:srgbClr val="569CD6"/>
                </a:solidFill>
                <a:effectLst/>
                <a:latin typeface="JetBrains Mono" panose="02000009000000000000" pitchFamily="49" charset="0"/>
              </a:rPr>
              <a:t>void</a:t>
            </a:r>
            <a:r>
              <a:rPr lang="en-SG" sz="1000" b="0">
                <a:solidFill>
                  <a:srgbClr val="CCCCCC"/>
                </a:solidFill>
                <a:effectLst/>
                <a:latin typeface="JetBrains Mono" panose="02000009000000000000" pitchFamily="49" charset="0"/>
              </a:rPr>
              <a:t> </a:t>
            </a:r>
            <a:r>
              <a:rPr lang="en-SG" sz="1000" b="0" err="1">
                <a:solidFill>
                  <a:srgbClr val="DCDCAA"/>
                </a:solidFill>
                <a:effectLst/>
                <a:latin typeface="JetBrains Mono" panose="02000009000000000000" pitchFamily="49" charset="0"/>
              </a:rPr>
              <a:t>update_histogram</a:t>
            </a:r>
            <a:r>
              <a:rPr lang="en-SG" sz="1000" b="0">
                <a:solidFill>
                  <a:srgbClr val="CCCCCC"/>
                </a:solidFill>
                <a:effectLst/>
                <a:latin typeface="JetBrains Mono" panose="02000009000000000000" pitchFamily="49" charset="0"/>
              </a:rPr>
              <a:t>(</a:t>
            </a:r>
            <a:r>
              <a:rPr lang="en-SG" sz="1000" b="0">
                <a:solidFill>
                  <a:srgbClr val="569CD6"/>
                </a:solidFill>
                <a:effectLst/>
                <a:latin typeface="JetBrains Mono" panose="02000009000000000000" pitchFamily="49" charset="0"/>
              </a:rPr>
              <a:t>int</a:t>
            </a:r>
            <a:r>
              <a:rPr lang="en-SG" sz="1000" b="0">
                <a:solidFill>
                  <a:srgbClr val="CCCCCC"/>
                </a:solidFill>
                <a:effectLst/>
                <a:latin typeface="JetBrains Mono" panose="02000009000000000000" pitchFamily="49" charset="0"/>
              </a:rPr>
              <a:t> </a:t>
            </a:r>
            <a:r>
              <a:rPr lang="en-SG" sz="1000" b="0">
                <a:solidFill>
                  <a:srgbClr val="569CD6"/>
                </a:solidFill>
                <a:effectLst/>
                <a:latin typeface="JetBrains Mono" panose="02000009000000000000" pitchFamily="49" charset="0"/>
              </a:rPr>
              <a:t>*</a:t>
            </a:r>
            <a:r>
              <a:rPr lang="en-SG" sz="1000" b="0">
                <a:solidFill>
                  <a:srgbClr val="9CDCFE"/>
                </a:solidFill>
                <a:effectLst/>
                <a:latin typeface="JetBrains Mono" panose="02000009000000000000" pitchFamily="49" charset="0"/>
              </a:rPr>
              <a:t>data</a:t>
            </a:r>
            <a:r>
              <a:rPr lang="en-SG" sz="1000" b="0">
                <a:solidFill>
                  <a:srgbClr val="CCCCCC"/>
                </a:solidFill>
                <a:effectLst/>
                <a:latin typeface="JetBrains Mono" panose="02000009000000000000" pitchFamily="49" charset="0"/>
              </a:rPr>
              <a:t>, </a:t>
            </a:r>
            <a:r>
              <a:rPr lang="en-SG" sz="1000" b="0">
                <a:solidFill>
                  <a:srgbClr val="569CD6"/>
                </a:solidFill>
                <a:effectLst/>
                <a:latin typeface="JetBrains Mono" panose="02000009000000000000" pitchFamily="49" charset="0"/>
              </a:rPr>
              <a:t>int</a:t>
            </a:r>
            <a:r>
              <a:rPr lang="en-SG" sz="1000" b="0">
                <a:solidFill>
                  <a:srgbClr val="CCCCCC"/>
                </a:solidFill>
                <a:effectLst/>
                <a:latin typeface="JetBrains Mono" panose="02000009000000000000" pitchFamily="49" charset="0"/>
              </a:rPr>
              <a:t> </a:t>
            </a:r>
            <a:r>
              <a:rPr lang="en-SG" sz="1000" b="0">
                <a:solidFill>
                  <a:srgbClr val="9CDCFE"/>
                </a:solidFill>
                <a:effectLst/>
                <a:latin typeface="JetBrains Mono" panose="02000009000000000000" pitchFamily="49" charset="0"/>
              </a:rPr>
              <a:t>count</a:t>
            </a:r>
            <a:r>
              <a:rPr lang="en-SG" sz="1000" b="0">
                <a:solidFill>
                  <a:srgbClr val="CCCCCC"/>
                </a:solidFill>
                <a:effectLst/>
                <a:latin typeface="JetBrains Mono" panose="02000009000000000000" pitchFamily="49" charset="0"/>
              </a:rPr>
              <a:t>, </a:t>
            </a:r>
            <a:r>
              <a:rPr lang="en-SG" sz="1000" b="0" err="1">
                <a:solidFill>
                  <a:srgbClr val="4EC9B0"/>
                </a:solidFill>
                <a:effectLst/>
                <a:latin typeface="JetBrains Mono" panose="02000009000000000000" pitchFamily="49" charset="0"/>
              </a:rPr>
              <a:t>GlobalStats</a:t>
            </a:r>
            <a:r>
              <a:rPr lang="en-SG" sz="1000" b="0">
                <a:solidFill>
                  <a:srgbClr val="CCCCCC"/>
                </a:solidFill>
                <a:effectLst/>
                <a:latin typeface="JetBrains Mono" panose="02000009000000000000" pitchFamily="49" charset="0"/>
              </a:rPr>
              <a:t> </a:t>
            </a:r>
            <a:r>
              <a:rPr lang="en-SG" sz="1000" b="0">
                <a:solidFill>
                  <a:srgbClr val="569CD6"/>
                </a:solidFill>
                <a:effectLst/>
                <a:latin typeface="JetBrains Mono" panose="02000009000000000000" pitchFamily="49" charset="0"/>
              </a:rPr>
              <a:t>*</a:t>
            </a:r>
            <a:r>
              <a:rPr lang="en-SG" sz="1000" b="0">
                <a:solidFill>
                  <a:srgbClr val="9CDCFE"/>
                </a:solidFill>
                <a:effectLst/>
                <a:latin typeface="JetBrains Mono" panose="02000009000000000000" pitchFamily="49" charset="0"/>
              </a:rPr>
              <a:t>stats</a:t>
            </a:r>
            <a:r>
              <a:rPr lang="en-SG" sz="1000" b="0">
                <a:solidFill>
                  <a:srgbClr val="CCCCCC"/>
                </a:solidFill>
                <a:effectLst/>
                <a:latin typeface="JetBrains Mono" panose="02000009000000000000" pitchFamily="49" charset="0"/>
              </a:rPr>
              <a:t>) {</a:t>
            </a:r>
          </a:p>
          <a:p>
            <a:pPr>
              <a:lnSpc>
                <a:spcPts val="1425"/>
              </a:lnSpc>
              <a:buNone/>
            </a:pPr>
            <a:r>
              <a:rPr lang="en-SG" sz="1000" b="0">
                <a:solidFill>
                  <a:srgbClr val="6A9955"/>
                </a:solidFill>
                <a:effectLst/>
                <a:latin typeface="JetBrains Mono" panose="02000009000000000000" pitchFamily="49" charset="0"/>
              </a:rPr>
              <a:t>  // Lock once. Yes, the lock is held longer,</a:t>
            </a: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6A9955"/>
                </a:solidFill>
                <a:effectLst/>
                <a:latin typeface="JetBrains Mono" panose="02000009000000000000" pitchFamily="49" charset="0"/>
              </a:rPr>
              <a:t>  // but throughput increases manifold.</a:t>
            </a: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CCCCCC"/>
                </a:solidFill>
                <a:effectLst/>
                <a:latin typeface="JetBrains Mono" panose="02000009000000000000" pitchFamily="49" charset="0"/>
              </a:rPr>
              <a:t>  </a:t>
            </a:r>
            <a:r>
              <a:rPr lang="en-SG" sz="1000" b="0" err="1">
                <a:solidFill>
                  <a:srgbClr val="DCDCAA"/>
                </a:solidFill>
                <a:effectLst/>
                <a:latin typeface="JetBrains Mono" panose="02000009000000000000" pitchFamily="49" charset="0"/>
              </a:rPr>
              <a:t>pthread_mutex_lock</a:t>
            </a:r>
            <a:r>
              <a:rPr lang="en-SG" sz="1000" b="0">
                <a:solidFill>
                  <a:srgbClr val="CCCCCC"/>
                </a:solidFill>
                <a:effectLst/>
                <a:latin typeface="JetBrains Mono" panose="02000009000000000000" pitchFamily="49" charset="0"/>
              </a:rPr>
              <a:t>(</a:t>
            </a:r>
            <a:r>
              <a:rPr lang="en-SG" sz="1000" b="0">
                <a:solidFill>
                  <a:srgbClr val="D4D4D4"/>
                </a:solidFill>
                <a:effectLst/>
                <a:latin typeface="JetBrains Mono" panose="02000009000000000000" pitchFamily="49" charset="0"/>
              </a:rPr>
              <a:t>&amp;</a:t>
            </a:r>
            <a:r>
              <a:rPr lang="en-SG" sz="1000" b="0">
                <a:solidFill>
                  <a:srgbClr val="9CDCFE"/>
                </a:solidFill>
                <a:effectLst/>
                <a:latin typeface="JetBrains Mono" panose="02000009000000000000" pitchFamily="49" charset="0"/>
              </a:rPr>
              <a:t>stats</a:t>
            </a:r>
            <a:r>
              <a:rPr lang="en-SG" sz="1000" b="0">
                <a:solidFill>
                  <a:srgbClr val="CCCCCC"/>
                </a:solidFill>
                <a:effectLst/>
                <a:latin typeface="JetBrains Mono" panose="02000009000000000000" pitchFamily="49" charset="0"/>
              </a:rPr>
              <a:t>-&gt;</a:t>
            </a:r>
            <a:r>
              <a:rPr lang="en-SG" sz="1000" b="0">
                <a:solidFill>
                  <a:srgbClr val="9CDCFE"/>
                </a:solidFill>
                <a:effectLst/>
                <a:latin typeface="JetBrains Mono" panose="02000009000000000000" pitchFamily="49" charset="0"/>
              </a:rPr>
              <a:t>mutex</a:t>
            </a:r>
            <a:r>
              <a:rPr lang="en-SG" sz="1000" b="0">
                <a:solidFill>
                  <a:srgbClr val="CCCCCC"/>
                </a:solidFill>
                <a:effectLst/>
                <a:latin typeface="JetBrains Mono" panose="02000009000000000000" pitchFamily="49" charset="0"/>
              </a:rPr>
              <a:t>);</a:t>
            </a:r>
          </a:p>
          <a:p>
            <a:pPr>
              <a:lnSpc>
                <a:spcPts val="1425"/>
              </a:lnSpc>
              <a:buNone/>
            </a:pPr>
            <a:r>
              <a:rPr lang="en-SG" sz="1000" b="0">
                <a:solidFill>
                  <a:srgbClr val="CCCCCC"/>
                </a:solidFill>
                <a:effectLst/>
                <a:latin typeface="JetBrains Mono" panose="02000009000000000000" pitchFamily="49" charset="0"/>
              </a:rPr>
              <a:t>  </a:t>
            </a:r>
            <a:r>
              <a:rPr lang="en-SG" sz="1000" b="0">
                <a:solidFill>
                  <a:srgbClr val="C586C0"/>
                </a:solidFill>
                <a:effectLst/>
                <a:latin typeface="JetBrains Mono" panose="02000009000000000000" pitchFamily="49" charset="0"/>
              </a:rPr>
              <a:t>for</a:t>
            </a:r>
            <a:r>
              <a:rPr lang="en-SG" sz="1000" b="0">
                <a:solidFill>
                  <a:srgbClr val="CCCCCC"/>
                </a:solidFill>
                <a:effectLst/>
                <a:latin typeface="JetBrains Mono" panose="02000009000000000000" pitchFamily="49" charset="0"/>
              </a:rPr>
              <a:t> (</a:t>
            </a:r>
            <a:r>
              <a:rPr lang="en-SG" sz="1000" b="0">
                <a:solidFill>
                  <a:srgbClr val="569CD6"/>
                </a:solidFill>
                <a:effectLst/>
                <a:latin typeface="JetBrains Mono" panose="02000009000000000000" pitchFamily="49" charset="0"/>
              </a:rPr>
              <a:t>int</a:t>
            </a:r>
            <a:r>
              <a:rPr lang="en-SG" sz="1000" b="0">
                <a:solidFill>
                  <a:srgbClr val="CCCCCC"/>
                </a:solidFill>
                <a:effectLst/>
                <a:latin typeface="JetBrains Mono" panose="02000009000000000000" pitchFamily="49" charset="0"/>
              </a:rPr>
              <a:t> </a:t>
            </a:r>
            <a:r>
              <a:rPr lang="en-SG" sz="1000" b="0" err="1">
                <a:solidFill>
                  <a:srgbClr val="9CDCFE"/>
                </a:solidFill>
                <a:effectLst/>
                <a:latin typeface="JetBrains Mono" panose="02000009000000000000" pitchFamily="49" charset="0"/>
              </a:rPr>
              <a:t>i</a:t>
            </a:r>
            <a:r>
              <a:rPr lang="en-SG" sz="1000" b="0">
                <a:solidFill>
                  <a:srgbClr val="CCCCCC"/>
                </a:solidFill>
                <a:effectLst/>
                <a:latin typeface="JetBrains Mono" panose="02000009000000000000" pitchFamily="49" charset="0"/>
              </a:rPr>
              <a:t> </a:t>
            </a:r>
            <a:r>
              <a:rPr lang="en-SG" sz="1000" b="0">
                <a:solidFill>
                  <a:srgbClr val="D4D4D4"/>
                </a:solidFill>
                <a:effectLst/>
                <a:latin typeface="JetBrains Mono" panose="02000009000000000000" pitchFamily="49" charset="0"/>
              </a:rPr>
              <a:t>=</a:t>
            </a:r>
            <a:r>
              <a:rPr lang="en-SG" sz="1000" b="0">
                <a:solidFill>
                  <a:srgbClr val="CCCCCC"/>
                </a:solidFill>
                <a:effectLst/>
                <a:latin typeface="JetBrains Mono" panose="02000009000000000000" pitchFamily="49" charset="0"/>
              </a:rPr>
              <a:t> </a:t>
            </a:r>
            <a:r>
              <a:rPr lang="en-SG" sz="1000" b="0">
                <a:solidFill>
                  <a:srgbClr val="B5CEA8"/>
                </a:solidFill>
                <a:effectLst/>
                <a:latin typeface="JetBrains Mono" panose="02000009000000000000" pitchFamily="49" charset="0"/>
              </a:rPr>
              <a:t>0</a:t>
            </a:r>
            <a:r>
              <a:rPr lang="en-SG" sz="1000" b="0">
                <a:solidFill>
                  <a:srgbClr val="CCCCCC"/>
                </a:solidFill>
                <a:effectLst/>
                <a:latin typeface="JetBrains Mono" panose="02000009000000000000" pitchFamily="49" charset="0"/>
              </a:rPr>
              <a:t>; </a:t>
            </a:r>
            <a:r>
              <a:rPr lang="en-SG" sz="1000" b="0" err="1">
                <a:solidFill>
                  <a:srgbClr val="9CDCFE"/>
                </a:solidFill>
                <a:effectLst/>
                <a:latin typeface="JetBrains Mono" panose="02000009000000000000" pitchFamily="49" charset="0"/>
              </a:rPr>
              <a:t>i</a:t>
            </a:r>
            <a:r>
              <a:rPr lang="en-SG" sz="1000" b="0">
                <a:solidFill>
                  <a:srgbClr val="CCCCCC"/>
                </a:solidFill>
                <a:effectLst/>
                <a:latin typeface="JetBrains Mono" panose="02000009000000000000" pitchFamily="49" charset="0"/>
              </a:rPr>
              <a:t> </a:t>
            </a:r>
            <a:r>
              <a:rPr lang="en-SG" sz="1000" b="0">
                <a:solidFill>
                  <a:srgbClr val="D4D4D4"/>
                </a:solidFill>
                <a:effectLst/>
                <a:latin typeface="JetBrains Mono" panose="02000009000000000000" pitchFamily="49" charset="0"/>
              </a:rPr>
              <a:t>&lt;</a:t>
            </a:r>
            <a:r>
              <a:rPr lang="en-SG" sz="1000" b="0">
                <a:solidFill>
                  <a:srgbClr val="CCCCCC"/>
                </a:solidFill>
                <a:effectLst/>
                <a:latin typeface="JetBrains Mono" panose="02000009000000000000" pitchFamily="49" charset="0"/>
              </a:rPr>
              <a:t> </a:t>
            </a:r>
            <a:r>
              <a:rPr lang="en-SG" sz="1000" b="0">
                <a:solidFill>
                  <a:srgbClr val="9CDCFE"/>
                </a:solidFill>
                <a:effectLst/>
                <a:latin typeface="JetBrains Mono" panose="02000009000000000000" pitchFamily="49" charset="0"/>
              </a:rPr>
              <a:t>count</a:t>
            </a:r>
            <a:r>
              <a:rPr lang="en-SG" sz="1000" b="0">
                <a:solidFill>
                  <a:srgbClr val="CCCCCC"/>
                </a:solidFill>
                <a:effectLst/>
                <a:latin typeface="JetBrains Mono" panose="02000009000000000000" pitchFamily="49" charset="0"/>
              </a:rPr>
              <a:t>; </a:t>
            </a:r>
            <a:r>
              <a:rPr lang="en-SG" sz="1000" b="0">
                <a:solidFill>
                  <a:srgbClr val="D4D4D4"/>
                </a:solidFill>
                <a:effectLst/>
                <a:latin typeface="JetBrains Mono" panose="02000009000000000000" pitchFamily="49" charset="0"/>
              </a:rPr>
              <a:t>++</a:t>
            </a:r>
            <a:r>
              <a:rPr lang="en-SG" sz="1000" b="0" err="1">
                <a:solidFill>
                  <a:srgbClr val="9CDCFE"/>
                </a:solidFill>
                <a:effectLst/>
                <a:latin typeface="JetBrains Mono" panose="02000009000000000000" pitchFamily="49" charset="0"/>
              </a:rPr>
              <a:t>i</a:t>
            </a:r>
            <a:r>
              <a:rPr lang="en-SG" sz="1000" b="0">
                <a:solidFill>
                  <a:srgbClr val="CCCCCC"/>
                </a:solidFill>
                <a:effectLst/>
                <a:latin typeface="JetBrains Mono" panose="02000009000000000000" pitchFamily="49" charset="0"/>
              </a:rPr>
              <a:t>) {</a:t>
            </a:r>
          </a:p>
          <a:p>
            <a:pPr>
              <a:lnSpc>
                <a:spcPts val="1425"/>
              </a:lnSpc>
              <a:buNone/>
            </a:pPr>
            <a:r>
              <a:rPr lang="en-SG" sz="1000" b="0">
                <a:solidFill>
                  <a:srgbClr val="CCCCCC"/>
                </a:solidFill>
                <a:effectLst/>
                <a:latin typeface="JetBrains Mono" panose="02000009000000000000" pitchFamily="49" charset="0"/>
              </a:rPr>
              <a:t>    </a:t>
            </a:r>
            <a:r>
              <a:rPr lang="en-SG" sz="1000" b="0">
                <a:solidFill>
                  <a:srgbClr val="569CD6"/>
                </a:solidFill>
                <a:effectLst/>
                <a:latin typeface="JetBrains Mono" panose="02000009000000000000" pitchFamily="49" charset="0"/>
              </a:rPr>
              <a:t>int</a:t>
            </a:r>
            <a:r>
              <a:rPr lang="en-SG" sz="1000" b="0">
                <a:solidFill>
                  <a:srgbClr val="CCCCCC"/>
                </a:solidFill>
                <a:effectLst/>
                <a:latin typeface="JetBrains Mono" panose="02000009000000000000" pitchFamily="49" charset="0"/>
              </a:rPr>
              <a:t> </a:t>
            </a:r>
            <a:r>
              <a:rPr lang="en-SG" sz="1000" b="0">
                <a:solidFill>
                  <a:srgbClr val="9CDCFE"/>
                </a:solidFill>
                <a:effectLst/>
                <a:latin typeface="JetBrains Mono" panose="02000009000000000000" pitchFamily="49" charset="0"/>
              </a:rPr>
              <a:t>bin</a:t>
            </a:r>
            <a:r>
              <a:rPr lang="en-SG" sz="1000" b="0">
                <a:solidFill>
                  <a:srgbClr val="CCCCCC"/>
                </a:solidFill>
                <a:effectLst/>
                <a:latin typeface="JetBrains Mono" panose="02000009000000000000" pitchFamily="49" charset="0"/>
              </a:rPr>
              <a:t> </a:t>
            </a:r>
            <a:r>
              <a:rPr lang="en-SG" sz="1000" b="0">
                <a:solidFill>
                  <a:srgbClr val="D4D4D4"/>
                </a:solidFill>
                <a:effectLst/>
                <a:latin typeface="JetBrains Mono" panose="02000009000000000000" pitchFamily="49" charset="0"/>
              </a:rPr>
              <a:t>=</a:t>
            </a:r>
            <a:r>
              <a:rPr lang="en-SG" sz="1000" b="0">
                <a:solidFill>
                  <a:srgbClr val="CCCCCC"/>
                </a:solidFill>
                <a:effectLst/>
                <a:latin typeface="JetBrains Mono" panose="02000009000000000000" pitchFamily="49" charset="0"/>
              </a:rPr>
              <a:t> </a:t>
            </a:r>
            <a:r>
              <a:rPr lang="en-SG" sz="1000" b="0" err="1">
                <a:solidFill>
                  <a:srgbClr val="DCDCAA"/>
                </a:solidFill>
                <a:effectLst/>
                <a:latin typeface="JetBrains Mono" panose="02000009000000000000" pitchFamily="49" charset="0"/>
              </a:rPr>
              <a:t>compute_bin</a:t>
            </a:r>
            <a:r>
              <a:rPr lang="en-SG" sz="1000" b="0">
                <a:solidFill>
                  <a:srgbClr val="CCCCCC"/>
                </a:solidFill>
                <a:effectLst/>
                <a:latin typeface="JetBrains Mono" panose="02000009000000000000" pitchFamily="49" charset="0"/>
              </a:rPr>
              <a:t>(</a:t>
            </a:r>
            <a:r>
              <a:rPr lang="en-SG" sz="1000" b="0">
                <a:solidFill>
                  <a:srgbClr val="9CDCFE"/>
                </a:solidFill>
                <a:effectLst/>
                <a:latin typeface="JetBrains Mono" panose="02000009000000000000" pitchFamily="49" charset="0"/>
              </a:rPr>
              <a:t>data</a:t>
            </a:r>
            <a:r>
              <a:rPr lang="en-SG" sz="1000" b="0">
                <a:solidFill>
                  <a:srgbClr val="CCCCCC"/>
                </a:solidFill>
                <a:effectLst/>
                <a:latin typeface="JetBrains Mono" panose="02000009000000000000" pitchFamily="49" charset="0"/>
              </a:rPr>
              <a:t>[</a:t>
            </a:r>
            <a:r>
              <a:rPr lang="en-SG" sz="1000" b="0" err="1">
                <a:solidFill>
                  <a:srgbClr val="9CDCFE"/>
                </a:solidFill>
                <a:effectLst/>
                <a:latin typeface="JetBrains Mono" panose="02000009000000000000" pitchFamily="49" charset="0"/>
              </a:rPr>
              <a:t>i</a:t>
            </a:r>
            <a:r>
              <a:rPr lang="en-SG" sz="1000" b="0">
                <a:solidFill>
                  <a:srgbClr val="CCCCCC"/>
                </a:solidFill>
                <a:effectLst/>
                <a:latin typeface="JetBrains Mono" panose="02000009000000000000" pitchFamily="49" charset="0"/>
              </a:rPr>
              <a:t>]);</a:t>
            </a:r>
          </a:p>
          <a:p>
            <a:pPr>
              <a:lnSpc>
                <a:spcPts val="1425"/>
              </a:lnSpc>
              <a:buNone/>
            </a:pPr>
            <a:r>
              <a:rPr lang="en-SG" sz="1000" b="0">
                <a:solidFill>
                  <a:srgbClr val="CCCCCC"/>
                </a:solidFill>
                <a:effectLst/>
                <a:latin typeface="JetBrains Mono" panose="02000009000000000000" pitchFamily="49" charset="0"/>
              </a:rPr>
              <a:t>    </a:t>
            </a:r>
            <a:r>
              <a:rPr lang="en-SG" sz="1000" b="0">
                <a:solidFill>
                  <a:srgbClr val="9CDCFE"/>
                </a:solidFill>
                <a:effectLst/>
                <a:latin typeface="JetBrains Mono" panose="02000009000000000000" pitchFamily="49" charset="0"/>
              </a:rPr>
              <a:t>stats</a:t>
            </a:r>
            <a:r>
              <a:rPr lang="en-SG" sz="1000" b="0">
                <a:solidFill>
                  <a:srgbClr val="CCCCCC"/>
                </a:solidFill>
                <a:effectLst/>
                <a:latin typeface="JetBrains Mono" panose="02000009000000000000" pitchFamily="49" charset="0"/>
              </a:rPr>
              <a:t>-&gt;</a:t>
            </a:r>
            <a:r>
              <a:rPr lang="en-SG" sz="1000" b="0">
                <a:solidFill>
                  <a:srgbClr val="9CDCFE"/>
                </a:solidFill>
                <a:effectLst/>
                <a:latin typeface="JetBrains Mono" panose="02000009000000000000" pitchFamily="49" charset="0"/>
              </a:rPr>
              <a:t>bins</a:t>
            </a:r>
            <a:r>
              <a:rPr lang="en-SG" sz="1000" b="0">
                <a:solidFill>
                  <a:srgbClr val="CCCCCC"/>
                </a:solidFill>
                <a:effectLst/>
                <a:latin typeface="JetBrains Mono" panose="02000009000000000000" pitchFamily="49" charset="0"/>
              </a:rPr>
              <a:t>[</a:t>
            </a:r>
            <a:r>
              <a:rPr lang="en-SG" sz="1000" b="0">
                <a:solidFill>
                  <a:srgbClr val="9CDCFE"/>
                </a:solidFill>
                <a:effectLst/>
                <a:latin typeface="JetBrains Mono" panose="02000009000000000000" pitchFamily="49" charset="0"/>
              </a:rPr>
              <a:t>bin</a:t>
            </a:r>
            <a:r>
              <a:rPr lang="en-SG" sz="1000" b="0">
                <a:solidFill>
                  <a:srgbClr val="CCCCCC"/>
                </a:solidFill>
                <a:effectLst/>
                <a:latin typeface="JetBrains Mono" panose="02000009000000000000" pitchFamily="49" charset="0"/>
              </a:rPr>
              <a:t>]</a:t>
            </a:r>
            <a:r>
              <a:rPr lang="en-SG" sz="1000" b="0">
                <a:solidFill>
                  <a:srgbClr val="D4D4D4"/>
                </a:solidFill>
                <a:effectLst/>
                <a:latin typeface="JetBrains Mono" panose="02000009000000000000" pitchFamily="49" charset="0"/>
              </a:rPr>
              <a:t>++</a:t>
            </a:r>
            <a:r>
              <a:rPr lang="en-SG" sz="1000" b="0">
                <a:solidFill>
                  <a:srgbClr val="CCCCCC"/>
                </a:solidFill>
                <a:effectLst/>
                <a:latin typeface="JetBrains Mono" panose="02000009000000000000" pitchFamily="49" charset="0"/>
              </a:rPr>
              <a:t>;</a:t>
            </a:r>
          </a:p>
          <a:p>
            <a:pPr>
              <a:lnSpc>
                <a:spcPts val="1425"/>
              </a:lnSpc>
              <a:buNone/>
            </a:pPr>
            <a:r>
              <a:rPr lang="en-SG" sz="1000" b="0">
                <a:solidFill>
                  <a:srgbClr val="CCCCCC"/>
                </a:solidFill>
                <a:effectLst/>
                <a:latin typeface="JetBrains Mono" panose="02000009000000000000" pitchFamily="49" charset="0"/>
              </a:rPr>
              <a:t>  }</a:t>
            </a:r>
          </a:p>
          <a:p>
            <a:pPr>
              <a:lnSpc>
                <a:spcPts val="1425"/>
              </a:lnSpc>
              <a:buNone/>
            </a:pPr>
            <a:r>
              <a:rPr lang="en-SG" sz="1000" b="0">
                <a:solidFill>
                  <a:srgbClr val="CCCCCC"/>
                </a:solidFill>
                <a:effectLst/>
                <a:latin typeface="JetBrains Mono" panose="02000009000000000000" pitchFamily="49" charset="0"/>
              </a:rPr>
              <a:t>  </a:t>
            </a:r>
            <a:r>
              <a:rPr lang="en-SG" sz="1000" b="0" err="1">
                <a:solidFill>
                  <a:srgbClr val="DCDCAA"/>
                </a:solidFill>
                <a:effectLst/>
                <a:latin typeface="JetBrains Mono" panose="02000009000000000000" pitchFamily="49" charset="0"/>
              </a:rPr>
              <a:t>pthread_mutex_unlock</a:t>
            </a:r>
            <a:r>
              <a:rPr lang="en-SG" sz="1000" b="0">
                <a:solidFill>
                  <a:srgbClr val="CCCCCC"/>
                </a:solidFill>
                <a:effectLst/>
                <a:latin typeface="JetBrains Mono" panose="02000009000000000000" pitchFamily="49" charset="0"/>
              </a:rPr>
              <a:t>(</a:t>
            </a:r>
            <a:r>
              <a:rPr lang="en-SG" sz="1000" b="0">
                <a:solidFill>
                  <a:srgbClr val="D4D4D4"/>
                </a:solidFill>
                <a:effectLst/>
                <a:latin typeface="JetBrains Mono" panose="02000009000000000000" pitchFamily="49" charset="0"/>
              </a:rPr>
              <a:t>&amp;</a:t>
            </a:r>
            <a:r>
              <a:rPr lang="en-SG" sz="1000" b="0">
                <a:solidFill>
                  <a:srgbClr val="9CDCFE"/>
                </a:solidFill>
                <a:effectLst/>
                <a:latin typeface="JetBrains Mono" panose="02000009000000000000" pitchFamily="49" charset="0"/>
              </a:rPr>
              <a:t>stats</a:t>
            </a:r>
            <a:r>
              <a:rPr lang="en-SG" sz="1000" b="0">
                <a:solidFill>
                  <a:srgbClr val="CCCCCC"/>
                </a:solidFill>
                <a:effectLst/>
                <a:latin typeface="JetBrains Mono" panose="02000009000000000000" pitchFamily="49" charset="0"/>
              </a:rPr>
              <a:t>-&gt;</a:t>
            </a:r>
            <a:r>
              <a:rPr lang="en-SG" sz="1000" b="0">
                <a:solidFill>
                  <a:srgbClr val="9CDCFE"/>
                </a:solidFill>
                <a:effectLst/>
                <a:latin typeface="JetBrains Mono" panose="02000009000000000000" pitchFamily="49" charset="0"/>
              </a:rPr>
              <a:t>mutex</a:t>
            </a:r>
            <a:r>
              <a:rPr lang="en-SG" sz="1000" b="0">
                <a:solidFill>
                  <a:srgbClr val="CCCCCC"/>
                </a:solidFill>
                <a:effectLst/>
                <a:latin typeface="JetBrains Mono" panose="02000009000000000000" pitchFamily="49" charset="0"/>
              </a:rPr>
              <a:t>);</a:t>
            </a:r>
          </a:p>
          <a:p>
            <a:pPr>
              <a:lnSpc>
                <a:spcPts val="1425"/>
              </a:lnSpc>
              <a:buNone/>
            </a:pPr>
            <a:r>
              <a:rPr lang="en-SG" sz="1000" b="0">
                <a:solidFill>
                  <a:srgbClr val="CCCCCC"/>
                </a:solidFill>
                <a:effectLst/>
                <a:latin typeface="JetBrains Mono" panose="02000009000000000000" pitchFamily="49" charset="0"/>
              </a:rPr>
              <a:t>}</a:t>
            </a:r>
          </a:p>
        </p:txBody>
      </p:sp>
      <p:sp>
        <p:nvSpPr>
          <p:cNvPr id="5" name="TextBox 4">
            <a:extLst>
              <a:ext uri="{FF2B5EF4-FFF2-40B4-BE49-F238E27FC236}">
                <a16:creationId xmlns:a16="http://schemas.microsoft.com/office/drawing/2014/main" id="{9A445C90-0E13-004D-F025-3B3DEA7844C6}"/>
              </a:ext>
            </a:extLst>
          </p:cNvPr>
          <p:cNvSpPr txBox="1"/>
          <p:nvPr/>
        </p:nvSpPr>
        <p:spPr>
          <a:xfrm>
            <a:off x="5580642" y="1128469"/>
            <a:ext cx="6094948" cy="646331"/>
          </a:xfrm>
          <a:prstGeom prst="rect">
            <a:avLst/>
          </a:prstGeom>
          <a:noFill/>
        </p:spPr>
        <p:txBody>
          <a:bodyPr wrap="square">
            <a:spAutoFit/>
          </a:bodyPr>
          <a:lstStyle>
            <a:defPPr>
              <a:defRPr lang="ru-RU"/>
            </a:defPPr>
            <a:lvl1pPr>
              <a:defRPr sz="1200" b="1"/>
            </a:lvl1pPr>
          </a:lstStyle>
          <a:p>
            <a:r>
              <a:rPr lang="en-US"/>
              <a:t>After</a:t>
            </a:r>
          </a:p>
          <a:p>
            <a:r>
              <a:rPr lang="en" b="0"/>
              <a:t>The compiler notices that </a:t>
            </a:r>
            <a:r>
              <a:rPr lang="en" b="0" err="1"/>
              <a:t>compute_bin</a:t>
            </a:r>
            <a:r>
              <a:rPr lang="en" b="0"/>
              <a:t> is a pure function and the loop has no side effects that block the thread.</a:t>
            </a:r>
            <a:endParaRPr lang="en-SG"/>
          </a:p>
        </p:txBody>
      </p:sp>
      <p:sp>
        <p:nvSpPr>
          <p:cNvPr id="6" name="Rectangle 2">
            <a:extLst>
              <a:ext uri="{FF2B5EF4-FFF2-40B4-BE49-F238E27FC236}">
                <a16:creationId xmlns:a16="http://schemas.microsoft.com/office/drawing/2014/main" id="{AEC64EC8-4998-F7EC-0E04-D03B3D87D62B}"/>
              </a:ext>
            </a:extLst>
          </p:cNvPr>
          <p:cNvSpPr>
            <a:spLocks noChangeArrowheads="1"/>
          </p:cNvSpPr>
          <p:nvPr/>
        </p:nvSpPr>
        <p:spPr bwMode="auto">
          <a:xfrm>
            <a:off x="233910" y="666804"/>
            <a:ext cx="1149192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 sz="1400" b="1"/>
              <a:t>Real-world scenario:</a:t>
            </a:r>
            <a:r>
              <a:rPr lang="ru-RU" sz="1400" b="1"/>
              <a:t> </a:t>
            </a:r>
            <a:r>
              <a:rPr lang="en" sz="1400"/>
              <a:t>Packet processing, updating metrics or histograms. Often found in network code (DPDK, Nginx modules) or high-performance computing where there is a global counter or state structure.</a:t>
            </a:r>
            <a:endParaRPr kumimoji="0" lang="en-US" altLang="en-US" sz="1050" b="0" i="0" u="none" strike="noStrike" cap="none" normalizeH="0" baseline="0">
              <a:ln>
                <a:noFill/>
              </a:ln>
              <a:solidFill>
                <a:schemeClr val="tx1"/>
              </a:solidFill>
              <a:effectLst/>
            </a:endParaRPr>
          </a:p>
        </p:txBody>
      </p:sp>
      <p:sp>
        <p:nvSpPr>
          <p:cNvPr id="10" name="TextBox 9">
            <a:extLst>
              <a:ext uri="{FF2B5EF4-FFF2-40B4-BE49-F238E27FC236}">
                <a16:creationId xmlns:a16="http://schemas.microsoft.com/office/drawing/2014/main" id="{B95D0129-6FB8-343A-1FB4-8327EAC60D32}"/>
              </a:ext>
            </a:extLst>
          </p:cNvPr>
          <p:cNvSpPr txBox="1"/>
          <p:nvPr/>
        </p:nvSpPr>
        <p:spPr>
          <a:xfrm>
            <a:off x="233908" y="4212620"/>
            <a:ext cx="11752145" cy="2554545"/>
          </a:xfrm>
          <a:prstGeom prst="rect">
            <a:avLst/>
          </a:prstGeom>
          <a:noFill/>
        </p:spPr>
        <p:txBody>
          <a:bodyPr wrap="square" numCol="2">
            <a:spAutoFit/>
          </a:bodyPr>
          <a:lstStyle/>
          <a:p>
            <a:pPr algn="l">
              <a:buNone/>
            </a:pPr>
            <a:r>
              <a:rPr lang="en" sz="1500" b="1" i="0">
                <a:solidFill>
                  <a:srgbClr val="1A1C1E"/>
                </a:solidFill>
                <a:effectLst/>
                <a:latin typeface="Inter"/>
              </a:rPr>
              <a:t>Why Coarsen Critical Sections (Lock Coarsening)?</a:t>
            </a:r>
          </a:p>
          <a:p>
            <a:pPr algn="l">
              <a:spcAft>
                <a:spcPts val="1350"/>
              </a:spcAft>
              <a:buNone/>
            </a:pPr>
            <a:r>
              <a:rPr lang="en" sz="1500" b="1" i="0">
                <a:solidFill>
                  <a:srgbClr val="1A1C1E"/>
                </a:solidFill>
                <a:effectLst/>
                <a:latin typeface="Inter"/>
              </a:rPr>
              <a:t>Your argument:</a:t>
            </a:r>
            <a:r>
              <a:rPr lang="en" sz="1500" b="0" i="0">
                <a:solidFill>
                  <a:srgbClr val="1A1C1E"/>
                </a:solidFill>
                <a:effectLst/>
                <a:latin typeface="Inter"/>
              </a:rPr>
              <a:t> Fine-grained is better for concurrency.</a:t>
            </a:r>
            <a:br>
              <a:rPr lang="en" sz="1500" b="0" i="0">
                <a:solidFill>
                  <a:srgbClr val="1A1C1E"/>
                </a:solidFill>
                <a:effectLst/>
                <a:latin typeface="Inter"/>
              </a:rPr>
            </a:br>
            <a:r>
              <a:rPr lang="en" sz="1500" b="1" i="0">
                <a:solidFill>
                  <a:srgbClr val="1A1C1E"/>
                </a:solidFill>
                <a:effectLst/>
                <a:latin typeface="Inter"/>
              </a:rPr>
              <a:t>Counter-argument:</a:t>
            </a:r>
            <a:r>
              <a:rPr lang="en" sz="1500" b="0" i="0">
                <a:solidFill>
                  <a:srgbClr val="1A1C1E"/>
                </a:solidFill>
                <a:effectLst/>
                <a:latin typeface="Inter"/>
              </a:rPr>
              <a:t> Fine-grained kills </a:t>
            </a:r>
            <a:r>
              <a:rPr lang="en" sz="1500" b="1" i="0">
                <a:solidFill>
                  <a:srgbClr val="1A1C1E"/>
                </a:solidFill>
                <a:effectLst/>
                <a:latin typeface="Inter"/>
              </a:rPr>
              <a:t>single-thread latency</a:t>
            </a:r>
            <a:r>
              <a:rPr lang="en" sz="1500" b="0" i="0">
                <a:solidFill>
                  <a:srgbClr val="1A1C1E"/>
                </a:solidFill>
                <a:effectLst/>
                <a:latin typeface="Inter"/>
              </a:rPr>
              <a:t> and causes </a:t>
            </a:r>
            <a:r>
              <a:rPr lang="en" sz="1500" b="1" i="0">
                <a:solidFill>
                  <a:srgbClr val="1A1C1E"/>
                </a:solidFill>
                <a:effectLst/>
                <a:latin typeface="Inter"/>
              </a:rPr>
              <a:t>cache-line ping-pong</a:t>
            </a:r>
            <a:r>
              <a:rPr lang="en" sz="1500" b="0" i="0">
                <a:solidFill>
                  <a:srgbClr val="1A1C1E"/>
                </a:solidFill>
                <a:effectLst/>
                <a:latin typeface="Inter"/>
              </a:rPr>
              <a:t>.</a:t>
            </a:r>
          </a:p>
          <a:p>
            <a:pPr algn="l">
              <a:spcAft>
                <a:spcPts val="1350"/>
              </a:spcAft>
              <a:buNone/>
            </a:pPr>
            <a:r>
              <a:rPr lang="en" sz="1500" b="0" i="0">
                <a:solidFill>
                  <a:srgbClr val="1A1C1E"/>
                </a:solidFill>
                <a:effectLst/>
                <a:latin typeface="Inter"/>
              </a:rPr>
              <a:t>Yes, this gives other threads a chance to intervene. But:</a:t>
            </a:r>
          </a:p>
          <a:p>
            <a:pPr algn="l">
              <a:spcAft>
                <a:spcPts val="225"/>
              </a:spcAft>
              <a:buFont typeface="+mj-lt"/>
              <a:buAutoNum type="arabicPeriod"/>
            </a:pPr>
            <a:r>
              <a:rPr lang="en" sz="1500" b="1" i="0">
                <a:solidFill>
                  <a:srgbClr val="1A1C1E"/>
                </a:solidFill>
                <a:effectLst/>
                <a:latin typeface="Inter"/>
              </a:rPr>
              <a:t>Atomic Overhead:</a:t>
            </a:r>
            <a:r>
              <a:rPr lang="en" sz="1500" b="0" i="0">
                <a:solidFill>
                  <a:srgbClr val="1A1C1E"/>
                </a:solidFill>
                <a:effectLst/>
                <a:latin typeface="Inter"/>
              </a:rPr>
              <a:t> The </a:t>
            </a:r>
            <a:r>
              <a:rPr lang="en" sz="1500" b="0" i="0">
                <a:solidFill>
                  <a:srgbClr val="32302C"/>
                </a:solidFill>
                <a:effectLst/>
                <a:latin typeface="DM Mono" panose="020B0509040201040103" pitchFamily="49" charset="0"/>
              </a:rPr>
              <a:t>LOCK prefix</a:t>
            </a:r>
            <a:r>
              <a:rPr lang="en" sz="1500" b="0" i="0">
                <a:solidFill>
                  <a:srgbClr val="1A1C1E"/>
                </a:solidFill>
                <a:effectLst/>
                <a:latin typeface="Inter"/>
              </a:rPr>
              <a:t> instruction itself (x86) or </a:t>
            </a:r>
            <a:r>
              <a:rPr lang="en" sz="1500" b="0" i="0">
                <a:solidFill>
                  <a:srgbClr val="32302C"/>
                </a:solidFill>
                <a:effectLst/>
                <a:latin typeface="DM Mono" panose="020B0509040201040103" pitchFamily="49" charset="0"/>
              </a:rPr>
              <a:t>LDXR/STXR</a:t>
            </a:r>
            <a:r>
              <a:rPr lang="en" sz="1500" b="0" i="0">
                <a:solidFill>
                  <a:srgbClr val="1A1C1E"/>
                </a:solidFill>
                <a:effectLst/>
                <a:latin typeface="Inter"/>
              </a:rPr>
              <a:t> (ARM) costs tens to hundreds of cycles.</a:t>
            </a:r>
          </a:p>
          <a:p>
            <a:pPr algn="l">
              <a:spcAft>
                <a:spcPts val="225"/>
              </a:spcAft>
              <a:buFont typeface="+mj-lt"/>
              <a:buAutoNum type="arabicPeriod"/>
            </a:pPr>
            <a:r>
              <a:rPr lang="en" sz="1500" b="1" i="0">
                <a:solidFill>
                  <a:srgbClr val="1A1C1E"/>
                </a:solidFill>
                <a:effectLst/>
                <a:latin typeface="Inter"/>
              </a:rPr>
              <a:t>Cache Coherency Traffic:</a:t>
            </a:r>
            <a:r>
              <a:rPr lang="en" sz="1500" b="0" i="0">
                <a:solidFill>
                  <a:srgbClr val="1A1C1E"/>
                </a:solidFill>
                <a:effectLst/>
                <a:latin typeface="Inter"/>
              </a:rPr>
              <a:t> If two threads are fighting for this lock, the cache line containing the mutex will bounce between cores (ping-pong) on every iteration. This kills the bus.</a:t>
            </a:r>
          </a:p>
          <a:p>
            <a:pPr algn="l">
              <a:spcAft>
                <a:spcPts val="1350"/>
              </a:spcAft>
              <a:buNone/>
            </a:pPr>
            <a:r>
              <a:rPr lang="en" sz="1500" b="1" i="0">
                <a:solidFill>
                  <a:srgbClr val="1A1C1E"/>
                </a:solidFill>
                <a:effectLst/>
                <a:latin typeface="Inter"/>
              </a:rPr>
              <a:t>Optimization:</a:t>
            </a:r>
            <a:r>
              <a:rPr lang="en" sz="1500" b="0" i="0">
                <a:solidFill>
                  <a:srgbClr val="1A1C1E"/>
                </a:solidFill>
                <a:effectLst/>
                <a:latin typeface="Inter"/>
              </a:rPr>
              <a:t> Acquire the lock </a:t>
            </a:r>
            <a:r>
              <a:rPr lang="en" sz="1500" b="0" i="1">
                <a:solidFill>
                  <a:srgbClr val="1A1C1E"/>
                </a:solidFill>
                <a:effectLst/>
                <a:latin typeface="Inter"/>
              </a:rPr>
              <a:t>once</a:t>
            </a:r>
            <a:r>
              <a:rPr lang="en" sz="1500" b="0" i="0">
                <a:solidFill>
                  <a:srgbClr val="1A1C1E"/>
                </a:solidFill>
                <a:effectLst/>
                <a:latin typeface="Inter"/>
              </a:rPr>
              <a:t> before the loop.</a:t>
            </a:r>
            <a:br>
              <a:rPr lang="en" sz="1500" b="0" i="0">
                <a:solidFill>
                  <a:srgbClr val="1A1C1E"/>
                </a:solidFill>
                <a:effectLst/>
                <a:latin typeface="Inter"/>
              </a:rPr>
            </a:br>
            <a:r>
              <a:rPr lang="en" sz="1500" b="0" i="0">
                <a:solidFill>
                  <a:srgbClr val="1A1C1E"/>
                </a:solidFill>
                <a:effectLst/>
                <a:latin typeface="Inter"/>
              </a:rPr>
              <a:t>Yes, we increase the contention window, but we decrease the program's total execution time by removing thousands of atomic operations. The Java </a:t>
            </a:r>
            <a:r>
              <a:rPr lang="en" sz="1500" b="0" i="0" err="1">
                <a:solidFill>
                  <a:srgbClr val="1A1C1E"/>
                </a:solidFill>
                <a:effectLst/>
                <a:latin typeface="Inter"/>
              </a:rPr>
              <a:t>HotSpot</a:t>
            </a:r>
            <a:r>
              <a:rPr lang="en" sz="1500" b="0" i="0">
                <a:solidFill>
                  <a:srgbClr val="1A1C1E"/>
                </a:solidFill>
                <a:effectLst/>
                <a:latin typeface="Inter"/>
              </a:rPr>
              <a:t> JIT does this (Lock Coarsening), but LLVM does it very cautiously because it is afraid of turning parallel code into serial code. In MLIR, having profiling data or loop semantics allows for more aggressive decisions.</a:t>
            </a:r>
          </a:p>
        </p:txBody>
      </p:sp>
    </p:spTree>
    <p:extLst>
      <p:ext uri="{BB962C8B-B14F-4D97-AF65-F5344CB8AC3E}">
        <p14:creationId xmlns:p14="http://schemas.microsoft.com/office/powerpoint/2010/main" val="17922854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A735B-E853-019C-8A89-A4B9D2290856}"/>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5E5C0621-B89C-E0C9-F0A9-CF263CB27CDE}"/>
              </a:ext>
            </a:extLst>
          </p:cNvPr>
          <p:cNvSpPr txBox="1"/>
          <p:nvPr/>
        </p:nvSpPr>
        <p:spPr>
          <a:xfrm>
            <a:off x="233910" y="208621"/>
            <a:ext cx="11144004" cy="461665"/>
          </a:xfrm>
          <a:prstGeom prst="rect">
            <a:avLst/>
          </a:prstGeom>
          <a:solidFill>
            <a:srgbClr val="002060"/>
          </a:solidFill>
        </p:spPr>
        <p:txBody>
          <a:bodyPr wrap="square" rtlCol="0">
            <a:spAutoFit/>
          </a:bodyPr>
          <a:lstStyle/>
          <a:p>
            <a:r>
              <a:rPr lang="en-US" sz="2400">
                <a:solidFill>
                  <a:schemeClr val="bg1"/>
                </a:solidFill>
                <a:latin typeface="Ubuntu Condensed" panose="020B0506030602030204" pitchFamily="34" charset="0"/>
              </a:rPr>
              <a:t>Better selection of lock algorithms: Read-write lock promotion as example</a:t>
            </a:r>
            <a:endParaRPr lang="ru-RU" sz="2400">
              <a:solidFill>
                <a:schemeClr val="bg1"/>
              </a:solidFill>
              <a:latin typeface="Ubuntu Condensed" panose="020B0506030602030204" pitchFamily="34" charset="0"/>
            </a:endParaRPr>
          </a:p>
        </p:txBody>
      </p:sp>
      <p:sp>
        <p:nvSpPr>
          <p:cNvPr id="7" name="Номер слайда 7">
            <a:extLst>
              <a:ext uri="{FF2B5EF4-FFF2-40B4-BE49-F238E27FC236}">
                <a16:creationId xmlns:a16="http://schemas.microsoft.com/office/drawing/2014/main" id="{256D16FF-8186-3323-6F8D-FFE1F27EE69F}"/>
              </a:ext>
            </a:extLst>
          </p:cNvPr>
          <p:cNvSpPr>
            <a:spLocks noGrp="1"/>
          </p:cNvSpPr>
          <p:nvPr>
            <p:ph type="sldNum" sz="quarter" idx="12"/>
          </p:nvPr>
        </p:nvSpPr>
        <p:spPr>
          <a:xfrm>
            <a:off x="11725835" y="6402070"/>
            <a:ext cx="386155" cy="365125"/>
          </a:xfrm>
        </p:spPr>
        <p:txBody>
          <a:bodyPr/>
          <a:lstStyle/>
          <a:p>
            <a:pPr algn="ctr"/>
            <a:fld id="{E757BAED-F255-4CF1-96BA-8D7417A9C3BC}" type="slidenum">
              <a:rPr lang="ru-RU" sz="1800" smtClean="0">
                <a:latin typeface="Ubuntu Condensed" panose="020B0506030602030204" pitchFamily="34" charset="0"/>
              </a:rPr>
              <a:pPr algn="ctr"/>
              <a:t>16</a:t>
            </a:fld>
            <a:endParaRPr lang="ru-RU" sz="1800">
              <a:latin typeface="Ubuntu Condensed" panose="020B0506030602030204" pitchFamily="34" charset="0"/>
            </a:endParaRPr>
          </a:p>
        </p:txBody>
      </p:sp>
      <p:sp>
        <p:nvSpPr>
          <p:cNvPr id="2" name="TextBox 1">
            <a:extLst>
              <a:ext uri="{FF2B5EF4-FFF2-40B4-BE49-F238E27FC236}">
                <a16:creationId xmlns:a16="http://schemas.microsoft.com/office/drawing/2014/main" id="{92D033A2-96C6-61F1-EAF1-BD6EFBA241F1}"/>
              </a:ext>
            </a:extLst>
          </p:cNvPr>
          <p:cNvSpPr txBox="1"/>
          <p:nvPr/>
        </p:nvSpPr>
        <p:spPr>
          <a:xfrm>
            <a:off x="233910" y="1128469"/>
            <a:ext cx="5138978" cy="276999"/>
          </a:xfrm>
          <a:prstGeom prst="rect">
            <a:avLst/>
          </a:prstGeom>
          <a:noFill/>
        </p:spPr>
        <p:txBody>
          <a:bodyPr wrap="square">
            <a:spAutoFit/>
          </a:bodyPr>
          <a:lstStyle/>
          <a:p>
            <a:r>
              <a:rPr lang="en-US" sz="1200" b="1"/>
              <a:t>Before</a:t>
            </a:r>
          </a:p>
        </p:txBody>
      </p:sp>
      <p:sp>
        <p:nvSpPr>
          <p:cNvPr id="3" name="TextBox 2">
            <a:extLst>
              <a:ext uri="{FF2B5EF4-FFF2-40B4-BE49-F238E27FC236}">
                <a16:creationId xmlns:a16="http://schemas.microsoft.com/office/drawing/2014/main" id="{8C179ED8-DCC7-EF55-EB61-99DFE6DDBF7F}"/>
              </a:ext>
            </a:extLst>
          </p:cNvPr>
          <p:cNvSpPr txBox="1"/>
          <p:nvPr/>
        </p:nvSpPr>
        <p:spPr>
          <a:xfrm>
            <a:off x="233909" y="1762443"/>
            <a:ext cx="5138979" cy="1339149"/>
          </a:xfrm>
          <a:prstGeom prst="rect">
            <a:avLst/>
          </a:prstGeom>
          <a:solidFill>
            <a:srgbClr val="1F1F1F"/>
          </a:solidFill>
        </p:spPr>
        <p:txBody>
          <a:bodyPr wrap="square">
            <a:spAutoFit/>
          </a:bodyPr>
          <a:lstStyle/>
          <a:p>
            <a:pPr>
              <a:lnSpc>
                <a:spcPts val="1425"/>
              </a:lnSpc>
              <a:buNone/>
            </a:pPr>
            <a:r>
              <a:rPr lang="en-SG" sz="1000" b="0">
                <a:solidFill>
                  <a:srgbClr val="569CD6"/>
                </a:solidFill>
                <a:effectLst/>
                <a:latin typeface="JetBrains Mono" panose="02000009000000000000" pitchFamily="49" charset="0"/>
              </a:rPr>
              <a:t>int</a:t>
            </a:r>
            <a:r>
              <a:rPr lang="en-SG" sz="1000" b="0">
                <a:solidFill>
                  <a:srgbClr val="CCCCCC"/>
                </a:solidFill>
                <a:effectLst/>
                <a:latin typeface="JetBrains Mono" panose="02000009000000000000" pitchFamily="49" charset="0"/>
              </a:rPr>
              <a:t> </a:t>
            </a:r>
            <a:r>
              <a:rPr lang="en-SG" sz="1000" b="0" err="1">
                <a:solidFill>
                  <a:srgbClr val="9CDCFE"/>
                </a:solidFill>
                <a:effectLst/>
                <a:latin typeface="JetBrains Mono" panose="02000009000000000000" pitchFamily="49" charset="0"/>
              </a:rPr>
              <a:t>get_config</a:t>
            </a:r>
            <a:r>
              <a:rPr lang="en-SG" sz="1000" b="0">
                <a:solidFill>
                  <a:srgbClr val="CCCCCC"/>
                </a:solidFill>
                <a:effectLst/>
                <a:latin typeface="JetBrains Mono" panose="02000009000000000000" pitchFamily="49" charset="0"/>
              </a:rPr>
              <a:t>(</a:t>
            </a:r>
            <a:r>
              <a:rPr lang="en-SG" sz="1000" b="0">
                <a:solidFill>
                  <a:srgbClr val="4EC9B0"/>
                </a:solidFill>
                <a:effectLst/>
                <a:latin typeface="JetBrains Mono" panose="02000009000000000000" pitchFamily="49" charset="0"/>
              </a:rPr>
              <a:t>Config</a:t>
            </a:r>
            <a:r>
              <a:rPr lang="en-SG" sz="1000" b="0">
                <a:solidFill>
                  <a:srgbClr val="CCCCCC"/>
                </a:solidFill>
                <a:effectLst/>
                <a:latin typeface="JetBrains Mono" panose="02000009000000000000" pitchFamily="49" charset="0"/>
              </a:rPr>
              <a:t> </a:t>
            </a:r>
            <a:r>
              <a:rPr lang="en-SG" sz="1000" b="0">
                <a:solidFill>
                  <a:srgbClr val="569CD6"/>
                </a:solidFill>
                <a:effectLst/>
                <a:latin typeface="JetBrains Mono" panose="02000009000000000000" pitchFamily="49" charset="0"/>
              </a:rPr>
              <a:t>*</a:t>
            </a:r>
            <a:r>
              <a:rPr lang="en-SG" sz="1000" b="0" err="1">
                <a:solidFill>
                  <a:srgbClr val="9CDCFE"/>
                </a:solidFill>
                <a:effectLst/>
                <a:latin typeface="JetBrains Mono" panose="02000009000000000000" pitchFamily="49" charset="0"/>
              </a:rPr>
              <a:t>cfg</a:t>
            </a:r>
            <a:r>
              <a:rPr lang="en-SG" sz="1000" b="0">
                <a:solidFill>
                  <a:srgbClr val="CCCCCC"/>
                </a:solidFill>
                <a:effectLst/>
                <a:latin typeface="JetBrains Mono" panose="02000009000000000000" pitchFamily="49" charset="0"/>
              </a:rPr>
              <a:t>, </a:t>
            </a:r>
            <a:r>
              <a:rPr lang="en-SG" sz="1000" b="0">
                <a:solidFill>
                  <a:srgbClr val="569CD6"/>
                </a:solidFill>
                <a:effectLst/>
                <a:latin typeface="JetBrains Mono" panose="02000009000000000000" pitchFamily="49" charset="0"/>
              </a:rPr>
              <a:t>char</a:t>
            </a:r>
            <a:r>
              <a:rPr lang="en-SG" sz="1000" b="0">
                <a:solidFill>
                  <a:srgbClr val="CCCCCC"/>
                </a:solidFill>
                <a:effectLst/>
                <a:latin typeface="JetBrains Mono" panose="02000009000000000000" pitchFamily="49" charset="0"/>
              </a:rPr>
              <a:t> </a:t>
            </a:r>
            <a:r>
              <a:rPr lang="en-SG" sz="1000" b="0">
                <a:solidFill>
                  <a:srgbClr val="569CD6"/>
                </a:solidFill>
                <a:effectLst/>
                <a:latin typeface="JetBrains Mono" panose="02000009000000000000" pitchFamily="49" charset="0"/>
              </a:rPr>
              <a:t>*</a:t>
            </a:r>
            <a:r>
              <a:rPr lang="en-SG" sz="1000" b="0">
                <a:solidFill>
                  <a:srgbClr val="9CDCFE"/>
                </a:solidFill>
                <a:effectLst/>
                <a:latin typeface="JetBrains Mono" panose="02000009000000000000" pitchFamily="49" charset="0"/>
              </a:rPr>
              <a:t>key</a:t>
            </a:r>
            <a:r>
              <a:rPr lang="en-SG" sz="1000" b="0">
                <a:solidFill>
                  <a:srgbClr val="CCCCCC"/>
                </a:solidFill>
                <a:effectLst/>
                <a:latin typeface="JetBrains Mono" panose="02000009000000000000" pitchFamily="49" charset="0"/>
              </a:rPr>
              <a:t>) {</a:t>
            </a:r>
          </a:p>
          <a:p>
            <a:pPr>
              <a:lnSpc>
                <a:spcPts val="1425"/>
              </a:lnSpc>
              <a:buNone/>
            </a:pPr>
            <a:r>
              <a:rPr lang="en-SG" sz="1000" b="0">
                <a:solidFill>
                  <a:srgbClr val="6A9955"/>
                </a:solidFill>
                <a:effectLst/>
                <a:latin typeface="JetBrains Mono" panose="02000009000000000000" pitchFamily="49" charset="0"/>
              </a:rPr>
              <a:t>  // A simple mutex blocks both readers and writers</a:t>
            </a: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CCCCCC"/>
                </a:solidFill>
                <a:effectLst/>
                <a:latin typeface="JetBrains Mono" panose="02000009000000000000" pitchFamily="49" charset="0"/>
              </a:rPr>
              <a:t>  </a:t>
            </a:r>
            <a:r>
              <a:rPr lang="en-SG" sz="1000" b="0" err="1">
                <a:solidFill>
                  <a:srgbClr val="DCDCAA"/>
                </a:solidFill>
                <a:effectLst/>
                <a:latin typeface="JetBrains Mono" panose="02000009000000000000" pitchFamily="49" charset="0"/>
              </a:rPr>
              <a:t>pthread_mutex_lock</a:t>
            </a:r>
            <a:r>
              <a:rPr lang="en-SG" sz="1000" b="0">
                <a:solidFill>
                  <a:srgbClr val="CCCCCC"/>
                </a:solidFill>
                <a:effectLst/>
                <a:latin typeface="JetBrains Mono" panose="02000009000000000000" pitchFamily="49" charset="0"/>
              </a:rPr>
              <a:t>(</a:t>
            </a:r>
            <a:r>
              <a:rPr lang="en-SG" sz="1000" b="0">
                <a:solidFill>
                  <a:srgbClr val="D4D4D4"/>
                </a:solidFill>
                <a:effectLst/>
                <a:latin typeface="JetBrains Mono" panose="02000009000000000000" pitchFamily="49" charset="0"/>
              </a:rPr>
              <a:t>&amp;</a:t>
            </a:r>
            <a:r>
              <a:rPr lang="en-SG" sz="1000" b="0" err="1">
                <a:solidFill>
                  <a:srgbClr val="9CDCFE"/>
                </a:solidFill>
                <a:effectLst/>
                <a:latin typeface="JetBrains Mono" panose="02000009000000000000" pitchFamily="49" charset="0"/>
              </a:rPr>
              <a:t>cfg</a:t>
            </a:r>
            <a:r>
              <a:rPr lang="en-SG" sz="1000" b="0">
                <a:solidFill>
                  <a:srgbClr val="CCCCCC"/>
                </a:solidFill>
                <a:effectLst/>
                <a:latin typeface="JetBrains Mono" panose="02000009000000000000" pitchFamily="49" charset="0"/>
              </a:rPr>
              <a:t>-&gt;</a:t>
            </a:r>
            <a:r>
              <a:rPr lang="en-SG" sz="1000" b="0" err="1">
                <a:solidFill>
                  <a:srgbClr val="9CDCFE"/>
                </a:solidFill>
                <a:effectLst/>
                <a:latin typeface="JetBrains Mono" panose="02000009000000000000" pitchFamily="49" charset="0"/>
              </a:rPr>
              <a:t>mtx</a:t>
            </a:r>
            <a:r>
              <a:rPr lang="en-SG" sz="1000" b="0">
                <a:solidFill>
                  <a:srgbClr val="CCCCCC"/>
                </a:solidFill>
                <a:effectLst/>
                <a:latin typeface="JetBrains Mono" panose="02000009000000000000" pitchFamily="49" charset="0"/>
              </a:rPr>
              <a:t>);</a:t>
            </a:r>
          </a:p>
          <a:p>
            <a:pPr>
              <a:lnSpc>
                <a:spcPts val="1425"/>
              </a:lnSpc>
              <a:buNone/>
            </a:pPr>
            <a:r>
              <a:rPr lang="en-SG" sz="1000" b="0">
                <a:solidFill>
                  <a:srgbClr val="CCCCCC"/>
                </a:solidFill>
                <a:effectLst/>
                <a:latin typeface="JetBrains Mono" panose="02000009000000000000" pitchFamily="49" charset="0"/>
              </a:rPr>
              <a:t>  </a:t>
            </a:r>
            <a:r>
              <a:rPr lang="en-SG" sz="1000" b="0">
                <a:solidFill>
                  <a:srgbClr val="569CD6"/>
                </a:solidFill>
                <a:effectLst/>
                <a:latin typeface="JetBrains Mono" panose="02000009000000000000" pitchFamily="49" charset="0"/>
              </a:rPr>
              <a:t>int</a:t>
            </a:r>
            <a:r>
              <a:rPr lang="en-SG" sz="1000" b="0">
                <a:solidFill>
                  <a:srgbClr val="CCCCCC"/>
                </a:solidFill>
                <a:effectLst/>
                <a:latin typeface="JetBrains Mono" panose="02000009000000000000" pitchFamily="49" charset="0"/>
              </a:rPr>
              <a:t> </a:t>
            </a:r>
            <a:r>
              <a:rPr lang="en-SG" sz="1000" b="0" err="1">
                <a:solidFill>
                  <a:srgbClr val="CCCCCC"/>
                </a:solidFill>
                <a:effectLst/>
                <a:latin typeface="JetBrains Mono" panose="02000009000000000000" pitchFamily="49" charset="0"/>
              </a:rPr>
              <a:t>val</a:t>
            </a:r>
            <a:r>
              <a:rPr lang="en-SG" sz="1000" b="0">
                <a:solidFill>
                  <a:srgbClr val="CCCCCC"/>
                </a:solidFill>
                <a:effectLst/>
                <a:latin typeface="JetBrains Mono" panose="02000009000000000000" pitchFamily="49" charset="0"/>
              </a:rPr>
              <a:t> </a:t>
            </a:r>
            <a:r>
              <a:rPr lang="en-SG" sz="1000" b="0">
                <a:solidFill>
                  <a:srgbClr val="D4D4D4"/>
                </a:solidFill>
                <a:effectLst/>
                <a:latin typeface="JetBrains Mono" panose="02000009000000000000" pitchFamily="49" charset="0"/>
              </a:rPr>
              <a:t>=</a:t>
            </a:r>
            <a:r>
              <a:rPr lang="en-SG" sz="1000" b="0">
                <a:solidFill>
                  <a:srgbClr val="CCCCCC"/>
                </a:solidFill>
                <a:effectLst/>
                <a:latin typeface="JetBrains Mono" panose="02000009000000000000" pitchFamily="49" charset="0"/>
              </a:rPr>
              <a:t> </a:t>
            </a:r>
            <a:r>
              <a:rPr lang="en-SG" sz="1000" b="0" err="1">
                <a:solidFill>
                  <a:srgbClr val="DCDCAA"/>
                </a:solidFill>
                <a:effectLst/>
                <a:latin typeface="JetBrains Mono" panose="02000009000000000000" pitchFamily="49" charset="0"/>
              </a:rPr>
              <a:t>lookup_map</a:t>
            </a:r>
            <a:r>
              <a:rPr lang="en-SG" sz="1000" b="0">
                <a:solidFill>
                  <a:srgbClr val="CCCCCC"/>
                </a:solidFill>
                <a:effectLst/>
                <a:latin typeface="JetBrains Mono" panose="02000009000000000000" pitchFamily="49" charset="0"/>
              </a:rPr>
              <a:t>(</a:t>
            </a:r>
            <a:r>
              <a:rPr lang="en-SG" sz="1000" b="0" err="1">
                <a:solidFill>
                  <a:srgbClr val="9CDCFE"/>
                </a:solidFill>
                <a:effectLst/>
                <a:latin typeface="JetBrains Mono" panose="02000009000000000000" pitchFamily="49" charset="0"/>
              </a:rPr>
              <a:t>cfg</a:t>
            </a:r>
            <a:r>
              <a:rPr lang="en-SG" sz="1000" b="0">
                <a:solidFill>
                  <a:srgbClr val="CCCCCC"/>
                </a:solidFill>
                <a:effectLst/>
                <a:latin typeface="JetBrains Mono" panose="02000009000000000000" pitchFamily="49" charset="0"/>
              </a:rPr>
              <a:t>-&gt;</a:t>
            </a:r>
            <a:r>
              <a:rPr lang="en-SG" sz="1000" b="0">
                <a:solidFill>
                  <a:srgbClr val="9CDCFE"/>
                </a:solidFill>
                <a:effectLst/>
                <a:latin typeface="JetBrains Mono" panose="02000009000000000000" pitchFamily="49" charset="0"/>
              </a:rPr>
              <a:t>map</a:t>
            </a:r>
            <a:r>
              <a:rPr lang="en-SG" sz="1000" b="0">
                <a:solidFill>
                  <a:srgbClr val="CCCCCC"/>
                </a:solidFill>
                <a:effectLst/>
                <a:latin typeface="JetBrains Mono" panose="02000009000000000000" pitchFamily="49" charset="0"/>
              </a:rPr>
              <a:t>, key);</a:t>
            </a:r>
            <a:r>
              <a:rPr lang="en-SG" sz="1000" b="0">
                <a:solidFill>
                  <a:srgbClr val="6A9955"/>
                </a:solidFill>
                <a:effectLst/>
                <a:latin typeface="JetBrains Mono" panose="02000009000000000000" pitchFamily="49" charset="0"/>
              </a:rPr>
              <a:t> // Read-only!</a:t>
            </a: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CCCCCC"/>
                </a:solidFill>
                <a:effectLst/>
                <a:latin typeface="JetBrains Mono" panose="02000009000000000000" pitchFamily="49" charset="0"/>
              </a:rPr>
              <a:t>  </a:t>
            </a:r>
            <a:r>
              <a:rPr lang="en-SG" sz="1000" b="0" err="1">
                <a:solidFill>
                  <a:srgbClr val="DCDCAA"/>
                </a:solidFill>
                <a:effectLst/>
                <a:latin typeface="JetBrains Mono" panose="02000009000000000000" pitchFamily="49" charset="0"/>
              </a:rPr>
              <a:t>pthread_mutex_unlock</a:t>
            </a:r>
            <a:r>
              <a:rPr lang="en-SG" sz="1000" b="0">
                <a:solidFill>
                  <a:srgbClr val="CCCCCC"/>
                </a:solidFill>
                <a:effectLst/>
                <a:latin typeface="JetBrains Mono" panose="02000009000000000000" pitchFamily="49" charset="0"/>
              </a:rPr>
              <a:t>(</a:t>
            </a:r>
            <a:r>
              <a:rPr lang="en-SG" sz="1000" b="0">
                <a:solidFill>
                  <a:srgbClr val="D4D4D4"/>
                </a:solidFill>
                <a:effectLst/>
                <a:latin typeface="JetBrains Mono" panose="02000009000000000000" pitchFamily="49" charset="0"/>
              </a:rPr>
              <a:t>&amp;</a:t>
            </a:r>
            <a:r>
              <a:rPr lang="en-SG" sz="1000" b="0" err="1">
                <a:solidFill>
                  <a:srgbClr val="9CDCFE"/>
                </a:solidFill>
                <a:effectLst/>
                <a:latin typeface="JetBrains Mono" panose="02000009000000000000" pitchFamily="49" charset="0"/>
              </a:rPr>
              <a:t>cfg</a:t>
            </a:r>
            <a:r>
              <a:rPr lang="en-SG" sz="1000" b="0">
                <a:solidFill>
                  <a:srgbClr val="CCCCCC"/>
                </a:solidFill>
                <a:effectLst/>
                <a:latin typeface="JetBrains Mono" panose="02000009000000000000" pitchFamily="49" charset="0"/>
              </a:rPr>
              <a:t>-&gt;</a:t>
            </a:r>
            <a:r>
              <a:rPr lang="en-SG" sz="1000" b="0" err="1">
                <a:solidFill>
                  <a:srgbClr val="9CDCFE"/>
                </a:solidFill>
                <a:effectLst/>
                <a:latin typeface="JetBrains Mono" panose="02000009000000000000" pitchFamily="49" charset="0"/>
              </a:rPr>
              <a:t>mtx</a:t>
            </a:r>
            <a:r>
              <a:rPr lang="en-SG" sz="1000" b="0">
                <a:solidFill>
                  <a:srgbClr val="CCCCCC"/>
                </a:solidFill>
                <a:effectLst/>
                <a:latin typeface="JetBrains Mono" panose="02000009000000000000" pitchFamily="49" charset="0"/>
              </a:rPr>
              <a:t>);</a:t>
            </a:r>
          </a:p>
          <a:p>
            <a:pPr>
              <a:lnSpc>
                <a:spcPts val="1425"/>
              </a:lnSpc>
              <a:buNone/>
            </a:pPr>
            <a:r>
              <a:rPr lang="en-SG" sz="1000" b="0">
                <a:solidFill>
                  <a:srgbClr val="CCCCCC"/>
                </a:solidFill>
                <a:effectLst/>
                <a:latin typeface="JetBrains Mono" panose="02000009000000000000" pitchFamily="49" charset="0"/>
              </a:rPr>
              <a:t>  </a:t>
            </a:r>
            <a:r>
              <a:rPr lang="en-SG" sz="1000" b="0">
                <a:solidFill>
                  <a:srgbClr val="C586C0"/>
                </a:solidFill>
                <a:effectLst/>
                <a:latin typeface="JetBrains Mono" panose="02000009000000000000" pitchFamily="49" charset="0"/>
              </a:rPr>
              <a:t>return</a:t>
            </a:r>
            <a:r>
              <a:rPr lang="en-SG" sz="1000" b="0">
                <a:solidFill>
                  <a:srgbClr val="CCCCCC"/>
                </a:solidFill>
                <a:effectLst/>
                <a:latin typeface="JetBrains Mono" panose="02000009000000000000" pitchFamily="49" charset="0"/>
              </a:rPr>
              <a:t> </a:t>
            </a:r>
            <a:r>
              <a:rPr lang="en-SG" sz="1000" b="0" err="1">
                <a:solidFill>
                  <a:srgbClr val="CCCCCC"/>
                </a:solidFill>
                <a:effectLst/>
                <a:latin typeface="JetBrains Mono" panose="02000009000000000000" pitchFamily="49" charset="0"/>
              </a:rPr>
              <a:t>val</a:t>
            </a:r>
            <a:r>
              <a:rPr lang="en-SG" sz="1000" b="0">
                <a:solidFill>
                  <a:srgbClr val="CCCCCC"/>
                </a:solidFill>
                <a:effectLst/>
                <a:latin typeface="JetBrains Mono" panose="02000009000000000000" pitchFamily="49" charset="0"/>
              </a:rPr>
              <a:t>;</a:t>
            </a:r>
          </a:p>
          <a:p>
            <a:pPr>
              <a:lnSpc>
                <a:spcPts val="1425"/>
              </a:lnSpc>
              <a:buNone/>
            </a:pPr>
            <a:r>
              <a:rPr lang="en-SG" sz="1000" b="0">
                <a:solidFill>
                  <a:srgbClr val="CCCCCC"/>
                </a:solidFill>
                <a:effectLst/>
                <a:latin typeface="JetBrains Mono" panose="02000009000000000000" pitchFamily="49" charset="0"/>
              </a:rPr>
              <a:t>}</a:t>
            </a:r>
          </a:p>
        </p:txBody>
      </p:sp>
      <p:sp>
        <p:nvSpPr>
          <p:cNvPr id="5" name="TextBox 4">
            <a:extLst>
              <a:ext uri="{FF2B5EF4-FFF2-40B4-BE49-F238E27FC236}">
                <a16:creationId xmlns:a16="http://schemas.microsoft.com/office/drawing/2014/main" id="{9E3E70DC-141D-1F64-7963-18C4A0475FAC}"/>
              </a:ext>
            </a:extLst>
          </p:cNvPr>
          <p:cNvSpPr txBox="1"/>
          <p:nvPr/>
        </p:nvSpPr>
        <p:spPr>
          <a:xfrm>
            <a:off x="5580642" y="1128469"/>
            <a:ext cx="6094948" cy="646331"/>
          </a:xfrm>
          <a:prstGeom prst="rect">
            <a:avLst/>
          </a:prstGeom>
          <a:noFill/>
        </p:spPr>
        <p:txBody>
          <a:bodyPr wrap="square">
            <a:spAutoFit/>
          </a:bodyPr>
          <a:lstStyle>
            <a:defPPr>
              <a:defRPr lang="ru-RU"/>
            </a:defPPr>
            <a:lvl1pPr>
              <a:defRPr sz="1200" b="1"/>
            </a:lvl1pPr>
          </a:lstStyle>
          <a:p>
            <a:r>
              <a:rPr lang="en-US"/>
              <a:t>After</a:t>
            </a:r>
          </a:p>
          <a:p>
            <a:r>
              <a:rPr lang="en" b="0"/>
              <a:t>To replace a Mutex with a </a:t>
            </a:r>
            <a:r>
              <a:rPr lang="en" b="0" err="1"/>
              <a:t>RWLock</a:t>
            </a:r>
            <a:r>
              <a:rPr lang="en" b="0"/>
              <a:t> (Read-only), you need to prove that there are no writes to shared memory in the critical section.</a:t>
            </a:r>
            <a:endParaRPr lang="en-SG"/>
          </a:p>
        </p:txBody>
      </p:sp>
      <p:sp>
        <p:nvSpPr>
          <p:cNvPr id="6" name="Rectangle 2">
            <a:extLst>
              <a:ext uri="{FF2B5EF4-FFF2-40B4-BE49-F238E27FC236}">
                <a16:creationId xmlns:a16="http://schemas.microsoft.com/office/drawing/2014/main" id="{C8036192-4846-F454-7C88-84D083609C29}"/>
              </a:ext>
            </a:extLst>
          </p:cNvPr>
          <p:cNvSpPr>
            <a:spLocks noChangeArrowheads="1"/>
          </p:cNvSpPr>
          <p:nvPr/>
        </p:nvSpPr>
        <p:spPr bwMode="auto">
          <a:xfrm>
            <a:off x="233910" y="666804"/>
            <a:ext cx="1149192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 sz="1400" b="1"/>
              <a:t>Real-world scenario: </a:t>
            </a:r>
            <a:r>
              <a:rPr lang="en" sz="1400"/>
              <a:t>Caches, configurations, routing tables.</a:t>
            </a:r>
          </a:p>
          <a:p>
            <a:r>
              <a:rPr lang="en" sz="1400"/>
              <a:t>Code is often written with std::mutex because "it's simpler" and "just in case." But 99% of the time, this code only reads data.</a:t>
            </a:r>
            <a:endParaRPr kumimoji="0" lang="en-US" altLang="en-US" sz="1050" i="0" u="none" strike="noStrike" cap="none" normalizeH="0" baseline="0">
              <a:ln>
                <a:noFill/>
              </a:ln>
              <a:solidFill>
                <a:schemeClr val="tx1"/>
              </a:solidFill>
              <a:effectLst/>
            </a:endParaRPr>
          </a:p>
        </p:txBody>
      </p:sp>
      <p:sp>
        <p:nvSpPr>
          <p:cNvPr id="8" name="TextBox 7">
            <a:extLst>
              <a:ext uri="{FF2B5EF4-FFF2-40B4-BE49-F238E27FC236}">
                <a16:creationId xmlns:a16="http://schemas.microsoft.com/office/drawing/2014/main" id="{F8B43E76-24DF-CF04-F1FE-A30CFBE11EB5}"/>
              </a:ext>
            </a:extLst>
          </p:cNvPr>
          <p:cNvSpPr txBox="1"/>
          <p:nvPr/>
        </p:nvSpPr>
        <p:spPr>
          <a:xfrm>
            <a:off x="5580642" y="1762443"/>
            <a:ext cx="6531348" cy="1339149"/>
          </a:xfrm>
          <a:prstGeom prst="rect">
            <a:avLst/>
          </a:prstGeom>
          <a:solidFill>
            <a:srgbClr val="1F1F1F"/>
          </a:solidFill>
        </p:spPr>
        <p:txBody>
          <a:bodyPr wrap="square">
            <a:spAutoFit/>
          </a:bodyPr>
          <a:lstStyle/>
          <a:p>
            <a:pPr>
              <a:lnSpc>
                <a:spcPts val="1425"/>
              </a:lnSpc>
              <a:buNone/>
            </a:pPr>
            <a:r>
              <a:rPr lang="en-SG" sz="1000" b="0">
                <a:solidFill>
                  <a:srgbClr val="569CD6"/>
                </a:solidFill>
                <a:effectLst/>
                <a:latin typeface="JetBrains Mono" panose="02000009000000000000" pitchFamily="49" charset="0"/>
              </a:rPr>
              <a:t>int</a:t>
            </a:r>
            <a:r>
              <a:rPr lang="en-SG" sz="1000" b="0">
                <a:solidFill>
                  <a:srgbClr val="CCCCCC"/>
                </a:solidFill>
                <a:effectLst/>
                <a:latin typeface="JetBrains Mono" panose="02000009000000000000" pitchFamily="49" charset="0"/>
              </a:rPr>
              <a:t> </a:t>
            </a:r>
            <a:r>
              <a:rPr lang="en-SG" sz="1000" b="0" err="1">
                <a:solidFill>
                  <a:srgbClr val="9CDCFE"/>
                </a:solidFill>
                <a:effectLst/>
                <a:latin typeface="JetBrains Mono" panose="02000009000000000000" pitchFamily="49" charset="0"/>
              </a:rPr>
              <a:t>get_config</a:t>
            </a:r>
            <a:r>
              <a:rPr lang="en-SG" sz="1000" b="0">
                <a:solidFill>
                  <a:srgbClr val="CCCCCC"/>
                </a:solidFill>
                <a:effectLst/>
                <a:latin typeface="JetBrains Mono" panose="02000009000000000000" pitchFamily="49" charset="0"/>
              </a:rPr>
              <a:t>(</a:t>
            </a:r>
            <a:r>
              <a:rPr lang="en-SG" sz="1000" b="0">
                <a:solidFill>
                  <a:srgbClr val="4EC9B0"/>
                </a:solidFill>
                <a:effectLst/>
                <a:latin typeface="JetBrains Mono" panose="02000009000000000000" pitchFamily="49" charset="0"/>
              </a:rPr>
              <a:t>Config</a:t>
            </a:r>
            <a:r>
              <a:rPr lang="en-SG" sz="1000" b="0">
                <a:solidFill>
                  <a:srgbClr val="CCCCCC"/>
                </a:solidFill>
                <a:effectLst/>
                <a:latin typeface="JetBrains Mono" panose="02000009000000000000" pitchFamily="49" charset="0"/>
              </a:rPr>
              <a:t> </a:t>
            </a:r>
            <a:r>
              <a:rPr lang="en-SG" sz="1000" b="0">
                <a:solidFill>
                  <a:srgbClr val="569CD6"/>
                </a:solidFill>
                <a:effectLst/>
                <a:latin typeface="JetBrains Mono" panose="02000009000000000000" pitchFamily="49" charset="0"/>
              </a:rPr>
              <a:t>*</a:t>
            </a:r>
            <a:r>
              <a:rPr lang="en-SG" sz="1000" b="0" err="1">
                <a:solidFill>
                  <a:srgbClr val="9CDCFE"/>
                </a:solidFill>
                <a:effectLst/>
                <a:latin typeface="JetBrains Mono" panose="02000009000000000000" pitchFamily="49" charset="0"/>
              </a:rPr>
              <a:t>cfg</a:t>
            </a:r>
            <a:r>
              <a:rPr lang="en-SG" sz="1000" b="0">
                <a:solidFill>
                  <a:srgbClr val="CCCCCC"/>
                </a:solidFill>
                <a:effectLst/>
                <a:latin typeface="JetBrains Mono" panose="02000009000000000000" pitchFamily="49" charset="0"/>
              </a:rPr>
              <a:t>, </a:t>
            </a:r>
            <a:r>
              <a:rPr lang="en-SG" sz="1000" b="0">
                <a:solidFill>
                  <a:srgbClr val="569CD6"/>
                </a:solidFill>
                <a:effectLst/>
                <a:latin typeface="JetBrains Mono" panose="02000009000000000000" pitchFamily="49" charset="0"/>
              </a:rPr>
              <a:t>char</a:t>
            </a:r>
            <a:r>
              <a:rPr lang="en-SG" sz="1000" b="0">
                <a:solidFill>
                  <a:srgbClr val="CCCCCC"/>
                </a:solidFill>
                <a:effectLst/>
                <a:latin typeface="JetBrains Mono" panose="02000009000000000000" pitchFamily="49" charset="0"/>
              </a:rPr>
              <a:t> </a:t>
            </a:r>
            <a:r>
              <a:rPr lang="en-SG" sz="1000" b="0">
                <a:solidFill>
                  <a:srgbClr val="569CD6"/>
                </a:solidFill>
                <a:effectLst/>
                <a:latin typeface="JetBrains Mono" panose="02000009000000000000" pitchFamily="49" charset="0"/>
              </a:rPr>
              <a:t>*</a:t>
            </a:r>
            <a:r>
              <a:rPr lang="en-SG" sz="1000" b="0">
                <a:solidFill>
                  <a:srgbClr val="9CDCFE"/>
                </a:solidFill>
                <a:effectLst/>
                <a:latin typeface="JetBrains Mono" panose="02000009000000000000" pitchFamily="49" charset="0"/>
              </a:rPr>
              <a:t>key</a:t>
            </a:r>
            <a:r>
              <a:rPr lang="en-SG" sz="1000" b="0">
                <a:solidFill>
                  <a:srgbClr val="CCCCCC"/>
                </a:solidFill>
                <a:effectLst/>
                <a:latin typeface="JetBrains Mono" panose="02000009000000000000" pitchFamily="49" charset="0"/>
              </a:rPr>
              <a:t>) {</a:t>
            </a:r>
          </a:p>
          <a:p>
            <a:pPr>
              <a:lnSpc>
                <a:spcPts val="1425"/>
              </a:lnSpc>
              <a:buNone/>
            </a:pPr>
            <a:r>
              <a:rPr lang="en-SG" sz="1000" b="0">
                <a:solidFill>
                  <a:srgbClr val="6A9955"/>
                </a:solidFill>
                <a:effectLst/>
                <a:latin typeface="JetBrains Mono" panose="02000009000000000000" pitchFamily="49" charset="0"/>
              </a:rPr>
              <a:t>  // If </a:t>
            </a:r>
            <a:r>
              <a:rPr lang="en-SG" sz="1000" b="0" err="1">
                <a:solidFill>
                  <a:srgbClr val="6A9955"/>
                </a:solidFill>
                <a:effectLst/>
                <a:latin typeface="JetBrains Mono" panose="02000009000000000000" pitchFamily="49" charset="0"/>
              </a:rPr>
              <a:t>lookup_map</a:t>
            </a:r>
            <a:r>
              <a:rPr lang="en-SG" sz="1000" b="0">
                <a:solidFill>
                  <a:srgbClr val="6A9955"/>
                </a:solidFill>
                <a:effectLst/>
                <a:latin typeface="JetBrains Mono" panose="02000009000000000000" pitchFamily="49" charset="0"/>
              </a:rPr>
              <a:t> is guaranteed not to change the map</a:t>
            </a: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CCCCCC"/>
                </a:solidFill>
                <a:effectLst/>
                <a:latin typeface="JetBrains Mono" panose="02000009000000000000" pitchFamily="49" charset="0"/>
              </a:rPr>
              <a:t>  </a:t>
            </a:r>
            <a:r>
              <a:rPr lang="en-SG" sz="1000" b="0" err="1">
                <a:solidFill>
                  <a:srgbClr val="DCDCAA"/>
                </a:solidFill>
                <a:effectLst/>
                <a:latin typeface="JetBrains Mono" panose="02000009000000000000" pitchFamily="49" charset="0"/>
              </a:rPr>
              <a:t>pthread_rwlock_rdlock</a:t>
            </a:r>
            <a:r>
              <a:rPr lang="en-SG" sz="1000" b="0">
                <a:solidFill>
                  <a:srgbClr val="CCCCCC"/>
                </a:solidFill>
                <a:effectLst/>
                <a:latin typeface="JetBrains Mono" panose="02000009000000000000" pitchFamily="49" charset="0"/>
              </a:rPr>
              <a:t>(</a:t>
            </a:r>
            <a:r>
              <a:rPr lang="en-SG" sz="1000" b="0">
                <a:solidFill>
                  <a:srgbClr val="D4D4D4"/>
                </a:solidFill>
                <a:effectLst/>
                <a:latin typeface="JetBrains Mono" panose="02000009000000000000" pitchFamily="49" charset="0"/>
              </a:rPr>
              <a:t>&amp;</a:t>
            </a:r>
            <a:r>
              <a:rPr lang="en-SG" sz="1000" b="0" err="1">
                <a:solidFill>
                  <a:srgbClr val="9CDCFE"/>
                </a:solidFill>
                <a:effectLst/>
                <a:latin typeface="JetBrains Mono" panose="02000009000000000000" pitchFamily="49" charset="0"/>
              </a:rPr>
              <a:t>cfg</a:t>
            </a:r>
            <a:r>
              <a:rPr lang="en-SG" sz="1000" b="0">
                <a:solidFill>
                  <a:srgbClr val="CCCCCC"/>
                </a:solidFill>
                <a:effectLst/>
                <a:latin typeface="JetBrains Mono" panose="02000009000000000000" pitchFamily="49" charset="0"/>
              </a:rPr>
              <a:t>-&gt;</a:t>
            </a:r>
            <a:r>
              <a:rPr lang="en-SG" sz="1000" b="0" err="1">
                <a:solidFill>
                  <a:srgbClr val="9CDCFE"/>
                </a:solidFill>
                <a:effectLst/>
                <a:latin typeface="JetBrains Mono" panose="02000009000000000000" pitchFamily="49" charset="0"/>
              </a:rPr>
              <a:t>rwlock</a:t>
            </a:r>
            <a:r>
              <a:rPr lang="en-SG" sz="1000" b="0">
                <a:solidFill>
                  <a:srgbClr val="CCCCCC"/>
                </a:solidFill>
                <a:effectLst/>
                <a:latin typeface="JetBrains Mono" panose="02000009000000000000" pitchFamily="49" charset="0"/>
              </a:rPr>
              <a:t>);</a:t>
            </a:r>
          </a:p>
          <a:p>
            <a:pPr>
              <a:lnSpc>
                <a:spcPts val="1425"/>
              </a:lnSpc>
              <a:buNone/>
            </a:pPr>
            <a:r>
              <a:rPr lang="en-SG" sz="1000" b="0">
                <a:solidFill>
                  <a:srgbClr val="CCCCCC"/>
                </a:solidFill>
                <a:effectLst/>
                <a:latin typeface="JetBrains Mono" panose="02000009000000000000" pitchFamily="49" charset="0"/>
              </a:rPr>
              <a:t>  </a:t>
            </a:r>
            <a:r>
              <a:rPr lang="en-SG" sz="1000" b="0">
                <a:solidFill>
                  <a:srgbClr val="569CD6"/>
                </a:solidFill>
                <a:effectLst/>
                <a:latin typeface="JetBrains Mono" panose="02000009000000000000" pitchFamily="49" charset="0"/>
              </a:rPr>
              <a:t>int</a:t>
            </a:r>
            <a:r>
              <a:rPr lang="en-SG" sz="1000" b="0">
                <a:solidFill>
                  <a:srgbClr val="CCCCCC"/>
                </a:solidFill>
                <a:effectLst/>
                <a:latin typeface="JetBrains Mono" panose="02000009000000000000" pitchFamily="49" charset="0"/>
              </a:rPr>
              <a:t> </a:t>
            </a:r>
            <a:r>
              <a:rPr lang="en-SG" sz="1000" b="0" err="1">
                <a:solidFill>
                  <a:srgbClr val="CCCCCC"/>
                </a:solidFill>
                <a:effectLst/>
                <a:latin typeface="JetBrains Mono" panose="02000009000000000000" pitchFamily="49" charset="0"/>
              </a:rPr>
              <a:t>val</a:t>
            </a:r>
            <a:r>
              <a:rPr lang="en-SG" sz="1000" b="0">
                <a:solidFill>
                  <a:srgbClr val="CCCCCC"/>
                </a:solidFill>
                <a:effectLst/>
                <a:latin typeface="JetBrains Mono" panose="02000009000000000000" pitchFamily="49" charset="0"/>
              </a:rPr>
              <a:t> </a:t>
            </a:r>
            <a:r>
              <a:rPr lang="en-SG" sz="1000" b="0">
                <a:solidFill>
                  <a:srgbClr val="D4D4D4"/>
                </a:solidFill>
                <a:effectLst/>
                <a:latin typeface="JetBrains Mono" panose="02000009000000000000" pitchFamily="49" charset="0"/>
              </a:rPr>
              <a:t>=</a:t>
            </a:r>
            <a:r>
              <a:rPr lang="en-SG" sz="1000" b="0">
                <a:solidFill>
                  <a:srgbClr val="CCCCCC"/>
                </a:solidFill>
                <a:effectLst/>
                <a:latin typeface="JetBrains Mono" panose="02000009000000000000" pitchFamily="49" charset="0"/>
              </a:rPr>
              <a:t> </a:t>
            </a:r>
            <a:r>
              <a:rPr lang="en-SG" sz="1000" b="0" err="1">
                <a:solidFill>
                  <a:srgbClr val="DCDCAA"/>
                </a:solidFill>
                <a:effectLst/>
                <a:latin typeface="JetBrains Mono" panose="02000009000000000000" pitchFamily="49" charset="0"/>
              </a:rPr>
              <a:t>lookup_map</a:t>
            </a:r>
            <a:r>
              <a:rPr lang="en-SG" sz="1000" b="0">
                <a:solidFill>
                  <a:srgbClr val="CCCCCC"/>
                </a:solidFill>
                <a:effectLst/>
                <a:latin typeface="JetBrains Mono" panose="02000009000000000000" pitchFamily="49" charset="0"/>
              </a:rPr>
              <a:t>(</a:t>
            </a:r>
            <a:r>
              <a:rPr lang="en-SG" sz="1000" b="0" err="1">
                <a:solidFill>
                  <a:srgbClr val="9CDCFE"/>
                </a:solidFill>
                <a:effectLst/>
                <a:latin typeface="JetBrains Mono" panose="02000009000000000000" pitchFamily="49" charset="0"/>
              </a:rPr>
              <a:t>cfg</a:t>
            </a:r>
            <a:r>
              <a:rPr lang="en-SG" sz="1000" b="0">
                <a:solidFill>
                  <a:srgbClr val="CCCCCC"/>
                </a:solidFill>
                <a:effectLst/>
                <a:latin typeface="JetBrains Mono" panose="02000009000000000000" pitchFamily="49" charset="0"/>
              </a:rPr>
              <a:t>-&gt;</a:t>
            </a:r>
            <a:r>
              <a:rPr lang="en-SG" sz="1000" b="0">
                <a:solidFill>
                  <a:srgbClr val="9CDCFE"/>
                </a:solidFill>
                <a:effectLst/>
                <a:latin typeface="JetBrains Mono" panose="02000009000000000000" pitchFamily="49" charset="0"/>
              </a:rPr>
              <a:t>map</a:t>
            </a:r>
            <a:r>
              <a:rPr lang="en-SG" sz="1000" b="0">
                <a:solidFill>
                  <a:srgbClr val="CCCCCC"/>
                </a:solidFill>
                <a:effectLst/>
                <a:latin typeface="JetBrains Mono" panose="02000009000000000000" pitchFamily="49" charset="0"/>
              </a:rPr>
              <a:t>, key);</a:t>
            </a:r>
          </a:p>
          <a:p>
            <a:pPr>
              <a:lnSpc>
                <a:spcPts val="1425"/>
              </a:lnSpc>
              <a:buNone/>
            </a:pPr>
            <a:r>
              <a:rPr lang="en-SG" sz="1000" b="0">
                <a:solidFill>
                  <a:srgbClr val="CCCCCC"/>
                </a:solidFill>
                <a:effectLst/>
                <a:latin typeface="JetBrains Mono" panose="02000009000000000000" pitchFamily="49" charset="0"/>
              </a:rPr>
              <a:t>  </a:t>
            </a:r>
            <a:r>
              <a:rPr lang="en-SG" sz="1000" b="0" err="1">
                <a:solidFill>
                  <a:srgbClr val="DCDCAA"/>
                </a:solidFill>
                <a:effectLst/>
                <a:latin typeface="JetBrains Mono" panose="02000009000000000000" pitchFamily="49" charset="0"/>
              </a:rPr>
              <a:t>pthread_rwlock_unlock</a:t>
            </a:r>
            <a:r>
              <a:rPr lang="en-SG" sz="1000" b="0">
                <a:solidFill>
                  <a:srgbClr val="CCCCCC"/>
                </a:solidFill>
                <a:effectLst/>
                <a:latin typeface="JetBrains Mono" panose="02000009000000000000" pitchFamily="49" charset="0"/>
              </a:rPr>
              <a:t>(</a:t>
            </a:r>
            <a:r>
              <a:rPr lang="en-SG" sz="1000" b="0">
                <a:solidFill>
                  <a:srgbClr val="D4D4D4"/>
                </a:solidFill>
                <a:effectLst/>
                <a:latin typeface="JetBrains Mono" panose="02000009000000000000" pitchFamily="49" charset="0"/>
              </a:rPr>
              <a:t>&amp;</a:t>
            </a:r>
            <a:r>
              <a:rPr lang="en-SG" sz="1000" b="0" err="1">
                <a:solidFill>
                  <a:srgbClr val="9CDCFE"/>
                </a:solidFill>
                <a:effectLst/>
                <a:latin typeface="JetBrains Mono" panose="02000009000000000000" pitchFamily="49" charset="0"/>
              </a:rPr>
              <a:t>cfg</a:t>
            </a:r>
            <a:r>
              <a:rPr lang="en-SG" sz="1000" b="0">
                <a:solidFill>
                  <a:srgbClr val="CCCCCC"/>
                </a:solidFill>
                <a:effectLst/>
                <a:latin typeface="JetBrains Mono" panose="02000009000000000000" pitchFamily="49" charset="0"/>
              </a:rPr>
              <a:t>-&gt;</a:t>
            </a:r>
            <a:r>
              <a:rPr lang="en-SG" sz="1000" b="0" err="1">
                <a:solidFill>
                  <a:srgbClr val="9CDCFE"/>
                </a:solidFill>
                <a:effectLst/>
                <a:latin typeface="JetBrains Mono" panose="02000009000000000000" pitchFamily="49" charset="0"/>
              </a:rPr>
              <a:t>rwlock</a:t>
            </a:r>
            <a:r>
              <a:rPr lang="en-SG" sz="1000" b="0">
                <a:solidFill>
                  <a:srgbClr val="CCCCCC"/>
                </a:solidFill>
                <a:effectLst/>
                <a:latin typeface="JetBrains Mono" panose="02000009000000000000" pitchFamily="49" charset="0"/>
              </a:rPr>
              <a:t>);</a:t>
            </a:r>
          </a:p>
          <a:p>
            <a:pPr>
              <a:lnSpc>
                <a:spcPts val="1425"/>
              </a:lnSpc>
              <a:buNone/>
            </a:pPr>
            <a:r>
              <a:rPr lang="en-SG" sz="1000" b="0">
                <a:solidFill>
                  <a:srgbClr val="CCCCCC"/>
                </a:solidFill>
                <a:effectLst/>
                <a:latin typeface="JetBrains Mono" panose="02000009000000000000" pitchFamily="49" charset="0"/>
              </a:rPr>
              <a:t>  </a:t>
            </a:r>
            <a:r>
              <a:rPr lang="en-SG" sz="1000" b="0">
                <a:solidFill>
                  <a:srgbClr val="C586C0"/>
                </a:solidFill>
                <a:effectLst/>
                <a:latin typeface="JetBrains Mono" panose="02000009000000000000" pitchFamily="49" charset="0"/>
              </a:rPr>
              <a:t>return</a:t>
            </a:r>
            <a:r>
              <a:rPr lang="en-SG" sz="1000" b="0">
                <a:solidFill>
                  <a:srgbClr val="CCCCCC"/>
                </a:solidFill>
                <a:effectLst/>
                <a:latin typeface="JetBrains Mono" panose="02000009000000000000" pitchFamily="49" charset="0"/>
              </a:rPr>
              <a:t> </a:t>
            </a:r>
            <a:r>
              <a:rPr lang="en-SG" sz="1000" b="0" err="1">
                <a:solidFill>
                  <a:srgbClr val="CCCCCC"/>
                </a:solidFill>
                <a:effectLst/>
                <a:latin typeface="JetBrains Mono" panose="02000009000000000000" pitchFamily="49" charset="0"/>
              </a:rPr>
              <a:t>val</a:t>
            </a:r>
            <a:r>
              <a:rPr lang="en-SG" sz="1000" b="0">
                <a:solidFill>
                  <a:srgbClr val="CCCCCC"/>
                </a:solidFill>
                <a:effectLst/>
                <a:latin typeface="JetBrains Mono" panose="02000009000000000000" pitchFamily="49" charset="0"/>
              </a:rPr>
              <a:t>;</a:t>
            </a:r>
          </a:p>
          <a:p>
            <a:pPr>
              <a:lnSpc>
                <a:spcPts val="1425"/>
              </a:lnSpc>
              <a:buNone/>
            </a:pPr>
            <a:r>
              <a:rPr lang="en-SG" sz="1000" b="0">
                <a:solidFill>
                  <a:srgbClr val="CCCCCC"/>
                </a:solidFill>
                <a:effectLst/>
                <a:latin typeface="JetBrains Mono" panose="02000009000000000000" pitchFamily="49" charset="0"/>
              </a:rPr>
              <a:t>}</a:t>
            </a:r>
          </a:p>
        </p:txBody>
      </p:sp>
    </p:spTree>
    <p:extLst>
      <p:ext uri="{BB962C8B-B14F-4D97-AF65-F5344CB8AC3E}">
        <p14:creationId xmlns:p14="http://schemas.microsoft.com/office/powerpoint/2010/main" val="6605720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7A5610F3-30C9-D350-DEC1-7CD25F2DEEC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8CA00AC-1F1C-0309-AC61-5B4297485179}"/>
              </a:ext>
            </a:extLst>
          </p:cNvPr>
          <p:cNvSpPr txBox="1"/>
          <p:nvPr/>
        </p:nvSpPr>
        <p:spPr>
          <a:xfrm>
            <a:off x="1290431" y="1175987"/>
            <a:ext cx="8726556" cy="1015663"/>
          </a:xfrm>
          <a:prstGeom prst="rect">
            <a:avLst/>
          </a:prstGeom>
          <a:noFill/>
        </p:spPr>
        <p:txBody>
          <a:bodyPr wrap="square">
            <a:spAutoFit/>
          </a:bodyPr>
          <a:lstStyle/>
          <a:p>
            <a:r>
              <a:rPr lang="en-US" sz="6000">
                <a:solidFill>
                  <a:schemeClr val="bg1"/>
                </a:solidFill>
                <a:latin typeface="Ubuntu Condensed" panose="020B0506030602030204" pitchFamily="34" charset="0"/>
              </a:rPr>
              <a:t>Propagation of relaxation</a:t>
            </a:r>
            <a:endParaRPr lang="ru-RU" sz="6000">
              <a:solidFill>
                <a:schemeClr val="bg1"/>
              </a:solidFill>
              <a:latin typeface="Ubuntu Condensed" panose="020B0506030602030204" pitchFamily="34" charset="0"/>
            </a:endParaRPr>
          </a:p>
        </p:txBody>
      </p:sp>
    </p:spTree>
    <p:extLst>
      <p:ext uri="{BB962C8B-B14F-4D97-AF65-F5344CB8AC3E}">
        <p14:creationId xmlns:p14="http://schemas.microsoft.com/office/powerpoint/2010/main" val="42761202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1FEDE-EC53-4F63-F564-8E6E568D480F}"/>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8C5F00DE-248F-725D-B6BF-AE996B84967F}"/>
              </a:ext>
            </a:extLst>
          </p:cNvPr>
          <p:cNvSpPr txBox="1"/>
          <p:nvPr/>
        </p:nvSpPr>
        <p:spPr>
          <a:xfrm>
            <a:off x="233910" y="208621"/>
            <a:ext cx="3165273" cy="461665"/>
          </a:xfrm>
          <a:prstGeom prst="rect">
            <a:avLst/>
          </a:prstGeom>
          <a:solidFill>
            <a:schemeClr val="accent6">
              <a:lumMod val="50000"/>
            </a:schemeClr>
          </a:solidFill>
        </p:spPr>
        <p:txBody>
          <a:bodyPr wrap="square" rtlCol="0">
            <a:spAutoFit/>
          </a:bodyPr>
          <a:lstStyle/>
          <a:p>
            <a:r>
              <a:rPr lang="en-US" sz="2400">
                <a:solidFill>
                  <a:schemeClr val="bg1"/>
                </a:solidFill>
                <a:latin typeface="Ubuntu Condensed" panose="020B0506030602030204" pitchFamily="34" charset="0"/>
              </a:rPr>
              <a:t>Propagation of relaxation</a:t>
            </a:r>
            <a:endParaRPr lang="ru-RU" sz="2400">
              <a:solidFill>
                <a:schemeClr val="bg1"/>
              </a:solidFill>
              <a:latin typeface="Ubuntu Condensed" panose="020B0506030602030204" pitchFamily="34" charset="0"/>
            </a:endParaRPr>
          </a:p>
        </p:txBody>
      </p:sp>
      <p:sp>
        <p:nvSpPr>
          <p:cNvPr id="7" name="Номер слайда 7">
            <a:extLst>
              <a:ext uri="{FF2B5EF4-FFF2-40B4-BE49-F238E27FC236}">
                <a16:creationId xmlns:a16="http://schemas.microsoft.com/office/drawing/2014/main" id="{55020362-9369-29E0-21FC-134AF70C4D5F}"/>
              </a:ext>
            </a:extLst>
          </p:cNvPr>
          <p:cNvSpPr>
            <a:spLocks noGrp="1"/>
          </p:cNvSpPr>
          <p:nvPr>
            <p:ph type="sldNum" sz="quarter" idx="12"/>
          </p:nvPr>
        </p:nvSpPr>
        <p:spPr>
          <a:xfrm>
            <a:off x="11725835" y="6402070"/>
            <a:ext cx="386155" cy="365125"/>
          </a:xfrm>
        </p:spPr>
        <p:txBody>
          <a:bodyPr/>
          <a:lstStyle/>
          <a:p>
            <a:pPr algn="ctr"/>
            <a:fld id="{E757BAED-F255-4CF1-96BA-8D7417A9C3BC}" type="slidenum">
              <a:rPr lang="ru-RU" sz="1800" smtClean="0">
                <a:latin typeface="Ubuntu Condensed" panose="020B0506030602030204" pitchFamily="34" charset="0"/>
              </a:rPr>
              <a:pPr algn="ctr"/>
              <a:t>18</a:t>
            </a:fld>
            <a:endParaRPr lang="ru-RU" sz="1800">
              <a:latin typeface="Ubuntu Condensed" panose="020B0506030602030204" pitchFamily="34" charset="0"/>
            </a:endParaRPr>
          </a:p>
        </p:txBody>
      </p:sp>
      <p:sp>
        <p:nvSpPr>
          <p:cNvPr id="2" name="TextBox 1">
            <a:extLst>
              <a:ext uri="{FF2B5EF4-FFF2-40B4-BE49-F238E27FC236}">
                <a16:creationId xmlns:a16="http://schemas.microsoft.com/office/drawing/2014/main" id="{4758C702-0CC9-B04F-45BC-02C69CAED671}"/>
              </a:ext>
            </a:extLst>
          </p:cNvPr>
          <p:cNvSpPr txBox="1"/>
          <p:nvPr/>
        </p:nvSpPr>
        <p:spPr>
          <a:xfrm>
            <a:off x="233910" y="1848542"/>
            <a:ext cx="5371760" cy="461665"/>
          </a:xfrm>
          <a:prstGeom prst="rect">
            <a:avLst/>
          </a:prstGeom>
          <a:noFill/>
        </p:spPr>
        <p:txBody>
          <a:bodyPr wrap="square">
            <a:spAutoFit/>
          </a:bodyPr>
          <a:lstStyle/>
          <a:p>
            <a:r>
              <a:rPr lang="en-US" sz="1200" b="1"/>
              <a:t>Before (naïve implementation)</a:t>
            </a:r>
          </a:p>
          <a:p>
            <a:r>
              <a:rPr lang="en-US" sz="1200"/>
              <a:t>The programmer uses a standard thread-safe queue.</a:t>
            </a:r>
          </a:p>
        </p:txBody>
      </p:sp>
      <p:sp>
        <p:nvSpPr>
          <p:cNvPr id="3" name="TextBox 2">
            <a:extLst>
              <a:ext uri="{FF2B5EF4-FFF2-40B4-BE49-F238E27FC236}">
                <a16:creationId xmlns:a16="http://schemas.microsoft.com/office/drawing/2014/main" id="{F0F2E32B-3FC0-D6DF-5244-FB2F7041A129}"/>
              </a:ext>
            </a:extLst>
          </p:cNvPr>
          <p:cNvSpPr txBox="1"/>
          <p:nvPr/>
        </p:nvSpPr>
        <p:spPr>
          <a:xfrm>
            <a:off x="233909" y="2482516"/>
            <a:ext cx="5371761" cy="2236831"/>
          </a:xfrm>
          <a:prstGeom prst="rect">
            <a:avLst/>
          </a:prstGeom>
          <a:solidFill>
            <a:srgbClr val="1F1F1F"/>
          </a:solidFill>
        </p:spPr>
        <p:txBody>
          <a:bodyPr wrap="square">
            <a:spAutoFit/>
          </a:bodyPr>
          <a:lstStyle/>
          <a:p>
            <a:pPr>
              <a:lnSpc>
                <a:spcPts val="1425"/>
              </a:lnSpc>
              <a:buNone/>
            </a:pPr>
            <a:r>
              <a:rPr lang="en-SG" sz="1000" b="0">
                <a:solidFill>
                  <a:srgbClr val="569CD6"/>
                </a:solidFill>
                <a:effectLst/>
                <a:latin typeface="JetBrains Mono" panose="02000009000000000000" pitchFamily="49" charset="0"/>
              </a:rPr>
              <a:t>struct</a:t>
            </a:r>
            <a:r>
              <a:rPr lang="en-SG" sz="1000" b="0">
                <a:solidFill>
                  <a:srgbClr val="CCCCCC"/>
                </a:solidFill>
                <a:effectLst/>
                <a:latin typeface="JetBrains Mono" panose="02000009000000000000" pitchFamily="49" charset="0"/>
              </a:rPr>
              <a:t> </a:t>
            </a:r>
            <a:r>
              <a:rPr lang="en-SG" sz="1000" b="0">
                <a:solidFill>
                  <a:srgbClr val="4EC9B0"/>
                </a:solidFill>
                <a:effectLst/>
                <a:latin typeface="JetBrains Mono" panose="02000009000000000000" pitchFamily="49" charset="0"/>
              </a:rPr>
              <a:t>Task</a:t>
            </a:r>
            <a:r>
              <a:rPr lang="en-SG" sz="1000" b="0">
                <a:solidFill>
                  <a:srgbClr val="CCCCCC"/>
                </a:solidFill>
                <a:effectLst/>
                <a:latin typeface="JetBrains Mono" panose="02000009000000000000" pitchFamily="49" charset="0"/>
              </a:rPr>
              <a:t> {</a:t>
            </a:r>
          </a:p>
          <a:p>
            <a:pPr>
              <a:lnSpc>
                <a:spcPts val="1425"/>
              </a:lnSpc>
              <a:buNone/>
            </a:pPr>
            <a:r>
              <a:rPr lang="en-SG" sz="1000" b="0">
                <a:solidFill>
                  <a:srgbClr val="CCCCCC"/>
                </a:solidFill>
                <a:effectLst/>
                <a:latin typeface="JetBrains Mono" panose="02000009000000000000" pitchFamily="49" charset="0"/>
              </a:rPr>
              <a:t>  </a:t>
            </a:r>
            <a:r>
              <a:rPr lang="en-SG" sz="1000" b="0">
                <a:solidFill>
                  <a:srgbClr val="569CD6"/>
                </a:solidFill>
                <a:effectLst/>
                <a:latin typeface="JetBrains Mono" panose="02000009000000000000" pitchFamily="49" charset="0"/>
              </a:rPr>
              <a:t>char</a:t>
            </a:r>
            <a:r>
              <a:rPr lang="en-SG" sz="1000" b="0">
                <a:solidFill>
                  <a:srgbClr val="CCCCCC"/>
                </a:solidFill>
                <a:effectLst/>
                <a:latin typeface="JetBrains Mono" panose="02000009000000000000" pitchFamily="49" charset="0"/>
              </a:rPr>
              <a:t> </a:t>
            </a:r>
            <a:r>
              <a:rPr lang="en-SG" sz="1000" b="0" err="1">
                <a:solidFill>
                  <a:srgbClr val="9CDCFE"/>
                </a:solidFill>
                <a:effectLst/>
                <a:latin typeface="JetBrains Mono" panose="02000009000000000000" pitchFamily="49" charset="0"/>
              </a:rPr>
              <a:t>url</a:t>
            </a:r>
            <a:r>
              <a:rPr lang="en-SG" sz="1000" b="0">
                <a:solidFill>
                  <a:srgbClr val="CCCCCC"/>
                </a:solidFill>
                <a:effectLst/>
                <a:latin typeface="JetBrains Mono" panose="02000009000000000000" pitchFamily="49" charset="0"/>
              </a:rPr>
              <a:t>[</a:t>
            </a:r>
            <a:r>
              <a:rPr lang="en-SG" sz="1000" b="0">
                <a:solidFill>
                  <a:srgbClr val="B5CEA8"/>
                </a:solidFill>
                <a:effectLst/>
                <a:latin typeface="JetBrains Mono" panose="02000009000000000000" pitchFamily="49" charset="0"/>
              </a:rPr>
              <a:t>256</a:t>
            </a:r>
            <a:r>
              <a:rPr lang="en-SG" sz="1000" b="0">
                <a:solidFill>
                  <a:srgbClr val="CCCCCC"/>
                </a:solidFill>
                <a:effectLst/>
                <a:latin typeface="JetBrains Mono" panose="02000009000000000000" pitchFamily="49" charset="0"/>
              </a:rPr>
              <a:t>];</a:t>
            </a:r>
          </a:p>
          <a:p>
            <a:pPr>
              <a:lnSpc>
                <a:spcPts val="1425"/>
              </a:lnSpc>
              <a:buNone/>
            </a:pPr>
            <a:r>
              <a:rPr lang="en-SG" sz="1000" b="0">
                <a:solidFill>
                  <a:srgbClr val="CCCCCC"/>
                </a:solidFill>
                <a:effectLst/>
                <a:latin typeface="JetBrains Mono" panose="02000009000000000000" pitchFamily="49" charset="0"/>
              </a:rPr>
              <a:t>};</a:t>
            </a:r>
            <a:br>
              <a:rPr lang="en-SG" sz="1000" b="0">
                <a:solidFill>
                  <a:srgbClr val="CCCCCC"/>
                </a:solidFill>
                <a:effectLst/>
                <a:latin typeface="JetBrains Mono" panose="02000009000000000000" pitchFamily="49" charset="0"/>
              </a:rPr>
            </a:b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6A9955"/>
                </a:solidFill>
                <a:effectLst/>
                <a:latin typeface="JetBrains Mono" panose="02000009000000000000" pitchFamily="49" charset="0"/>
              </a:rPr>
              <a:t>// Global queue protected by a single mutex.</a:t>
            </a: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6A9955"/>
                </a:solidFill>
                <a:effectLst/>
                <a:latin typeface="JetBrains Mono" panose="02000009000000000000" pitchFamily="49" charset="0"/>
              </a:rPr>
              <a:t>// SCALABILITY BOTTLENECK: All threads fight for this lock.</a:t>
            </a:r>
            <a:endParaRPr lang="en-SG" sz="1000" b="0">
              <a:solidFill>
                <a:srgbClr val="CCCCCC"/>
              </a:solidFill>
              <a:effectLst/>
              <a:latin typeface="JetBrains Mono" panose="02000009000000000000" pitchFamily="49" charset="0"/>
            </a:endParaRPr>
          </a:p>
          <a:p>
            <a:pPr>
              <a:lnSpc>
                <a:spcPts val="1425"/>
              </a:lnSpc>
              <a:buNone/>
            </a:pPr>
            <a:r>
              <a:rPr lang="en-SG" sz="1000" b="0" err="1">
                <a:solidFill>
                  <a:srgbClr val="CCCCCC"/>
                </a:solidFill>
                <a:effectLst/>
                <a:latin typeface="JetBrains Mono" panose="02000009000000000000" pitchFamily="49" charset="0"/>
              </a:rPr>
              <a:t>ThreadSafeQueue</a:t>
            </a:r>
            <a:r>
              <a:rPr lang="en-SG" sz="1000" b="0">
                <a:solidFill>
                  <a:srgbClr val="D4D4D4"/>
                </a:solidFill>
                <a:effectLst/>
                <a:latin typeface="JetBrains Mono" panose="02000009000000000000" pitchFamily="49" charset="0"/>
              </a:rPr>
              <a:t>&lt;</a:t>
            </a:r>
            <a:r>
              <a:rPr lang="en-SG" sz="1000" b="0">
                <a:solidFill>
                  <a:srgbClr val="CCCCCC"/>
                </a:solidFill>
                <a:effectLst/>
                <a:latin typeface="JetBrains Mono" panose="02000009000000000000" pitchFamily="49" charset="0"/>
              </a:rPr>
              <a:t>Task</a:t>
            </a:r>
            <a:r>
              <a:rPr lang="en-SG" sz="1000" b="0">
                <a:solidFill>
                  <a:srgbClr val="D4D4D4"/>
                </a:solidFill>
                <a:effectLst/>
                <a:latin typeface="JetBrains Mono" panose="02000009000000000000" pitchFamily="49" charset="0"/>
              </a:rPr>
              <a:t>&gt;</a:t>
            </a:r>
            <a:r>
              <a:rPr lang="en-SG" sz="1000" b="0">
                <a:solidFill>
                  <a:srgbClr val="CCCCCC"/>
                </a:solidFill>
                <a:effectLst/>
                <a:latin typeface="JetBrains Mono" panose="02000009000000000000" pitchFamily="49" charset="0"/>
              </a:rPr>
              <a:t> worklist;</a:t>
            </a:r>
          </a:p>
          <a:p>
            <a:pPr>
              <a:lnSpc>
                <a:spcPts val="1425"/>
              </a:lnSpc>
              <a:buNone/>
            </a:pP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569CD6"/>
                </a:solidFill>
                <a:effectLst/>
                <a:latin typeface="JetBrains Mono" panose="02000009000000000000" pitchFamily="49" charset="0"/>
              </a:rPr>
              <a:t>void</a:t>
            </a:r>
            <a:r>
              <a:rPr lang="en-SG" sz="1000" b="0">
                <a:solidFill>
                  <a:srgbClr val="CCCCCC"/>
                </a:solidFill>
                <a:effectLst/>
                <a:latin typeface="JetBrains Mono" panose="02000009000000000000" pitchFamily="49" charset="0"/>
              </a:rPr>
              <a:t> </a:t>
            </a:r>
            <a:r>
              <a:rPr lang="en-SG" sz="1000" b="0" err="1">
                <a:solidFill>
                  <a:srgbClr val="DCDCAA"/>
                </a:solidFill>
                <a:effectLst/>
                <a:latin typeface="JetBrains Mono" panose="02000009000000000000" pitchFamily="49" charset="0"/>
              </a:rPr>
              <a:t>submit_task</a:t>
            </a:r>
            <a:r>
              <a:rPr lang="en-SG" sz="1000" b="0">
                <a:solidFill>
                  <a:srgbClr val="4EC9B0"/>
                </a:solidFill>
                <a:effectLst/>
                <a:latin typeface="JetBrains Mono" panose="02000009000000000000" pitchFamily="49" charset="0"/>
              </a:rPr>
              <a:t>(Task</a:t>
            </a:r>
            <a:r>
              <a:rPr lang="en-SG" sz="1000" b="0">
                <a:solidFill>
                  <a:srgbClr val="CCCCCC"/>
                </a:solidFill>
                <a:effectLst/>
                <a:latin typeface="JetBrains Mono" panose="02000009000000000000" pitchFamily="49" charset="0"/>
              </a:rPr>
              <a:t> </a:t>
            </a:r>
            <a:r>
              <a:rPr lang="en-SG" sz="1000" b="0">
                <a:solidFill>
                  <a:srgbClr val="9CDCFE"/>
                </a:solidFill>
                <a:effectLst/>
                <a:latin typeface="JetBrains Mono" panose="02000009000000000000" pitchFamily="49" charset="0"/>
              </a:rPr>
              <a:t>t) {</a:t>
            </a: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6A9955"/>
                </a:solidFill>
                <a:effectLst/>
                <a:latin typeface="JetBrains Mono" panose="02000009000000000000" pitchFamily="49" charset="0"/>
              </a:rPr>
              <a:t>  // Strict synchronization. Guarantees FIFO, which is useless here.</a:t>
            </a: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CCCCCC"/>
                </a:solidFill>
                <a:effectLst/>
                <a:latin typeface="JetBrains Mono" panose="02000009000000000000" pitchFamily="49" charset="0"/>
              </a:rPr>
              <a:t>  </a:t>
            </a:r>
            <a:r>
              <a:rPr lang="en-SG" sz="1000" b="0" err="1">
                <a:solidFill>
                  <a:srgbClr val="DCDCAA"/>
                </a:solidFill>
                <a:effectLst/>
                <a:latin typeface="JetBrains Mono" panose="02000009000000000000" pitchFamily="49" charset="0"/>
              </a:rPr>
              <a:t>queue_push</a:t>
            </a:r>
            <a:r>
              <a:rPr lang="en-SG" sz="1000" b="0">
                <a:solidFill>
                  <a:srgbClr val="DCDCAA"/>
                </a:solidFill>
                <a:effectLst/>
                <a:latin typeface="JetBrains Mono" panose="02000009000000000000" pitchFamily="49" charset="0"/>
              </a:rPr>
              <a:t>(&amp;</a:t>
            </a:r>
            <a:r>
              <a:rPr lang="en-SG" sz="1000" b="0">
                <a:solidFill>
                  <a:srgbClr val="CCCCCC"/>
                </a:solidFill>
                <a:effectLst/>
                <a:latin typeface="JetBrains Mono" panose="02000009000000000000" pitchFamily="49" charset="0"/>
              </a:rPr>
              <a:t>w</a:t>
            </a:r>
            <a:r>
              <a:rPr lang="en-SG" sz="1000" b="0">
                <a:solidFill>
                  <a:srgbClr val="4EC9B0"/>
                </a:solidFill>
                <a:effectLst/>
                <a:latin typeface="JetBrains Mono" panose="02000009000000000000" pitchFamily="49" charset="0"/>
              </a:rPr>
              <a:t>orkl</a:t>
            </a:r>
            <a:r>
              <a:rPr lang="en-SG" sz="1000" b="0">
                <a:solidFill>
                  <a:srgbClr val="CCCCCC"/>
                </a:solidFill>
                <a:effectLst/>
                <a:latin typeface="JetBrains Mono" panose="02000009000000000000" pitchFamily="49" charset="0"/>
              </a:rPr>
              <a:t>i</a:t>
            </a:r>
            <a:r>
              <a:rPr lang="en-SG" sz="1000" b="0">
                <a:solidFill>
                  <a:srgbClr val="9CDCFE"/>
                </a:solidFill>
                <a:effectLst/>
                <a:latin typeface="JetBrains Mono" panose="02000009000000000000" pitchFamily="49" charset="0"/>
              </a:rPr>
              <a:t>s</a:t>
            </a:r>
            <a:r>
              <a:rPr lang="en-SG" sz="1000" b="0">
                <a:solidFill>
                  <a:srgbClr val="CCCCCC"/>
                </a:solidFill>
                <a:effectLst/>
                <a:latin typeface="JetBrains Mono" panose="02000009000000000000" pitchFamily="49" charset="0"/>
              </a:rPr>
              <a:t>t, t);</a:t>
            </a:r>
          </a:p>
          <a:p>
            <a:pPr>
              <a:lnSpc>
                <a:spcPts val="1425"/>
              </a:lnSpc>
              <a:buNone/>
            </a:pPr>
            <a:r>
              <a:rPr lang="en-SG" sz="1000" b="0">
                <a:solidFill>
                  <a:srgbClr val="CCCCCC"/>
                </a:solidFill>
                <a:effectLst/>
                <a:latin typeface="JetBrains Mono" panose="02000009000000000000" pitchFamily="49" charset="0"/>
              </a:rPr>
              <a:t>}</a:t>
            </a:r>
          </a:p>
        </p:txBody>
      </p:sp>
      <p:sp>
        <p:nvSpPr>
          <p:cNvPr id="5" name="TextBox 4">
            <a:extLst>
              <a:ext uri="{FF2B5EF4-FFF2-40B4-BE49-F238E27FC236}">
                <a16:creationId xmlns:a16="http://schemas.microsoft.com/office/drawing/2014/main" id="{B0A28AD6-E8BD-B24D-82E7-D927962B8C32}"/>
              </a:ext>
            </a:extLst>
          </p:cNvPr>
          <p:cNvSpPr txBox="1"/>
          <p:nvPr/>
        </p:nvSpPr>
        <p:spPr>
          <a:xfrm>
            <a:off x="5764764" y="1848542"/>
            <a:ext cx="5910825" cy="646331"/>
          </a:xfrm>
          <a:prstGeom prst="rect">
            <a:avLst/>
          </a:prstGeom>
          <a:noFill/>
        </p:spPr>
        <p:txBody>
          <a:bodyPr wrap="square">
            <a:spAutoFit/>
          </a:bodyPr>
          <a:lstStyle>
            <a:defPPr>
              <a:defRPr lang="ru-RU"/>
            </a:defPPr>
            <a:lvl1pPr>
              <a:defRPr sz="1200" b="1"/>
            </a:lvl1pPr>
          </a:lstStyle>
          <a:p>
            <a:r>
              <a:rPr lang="en-US"/>
              <a:t>After</a:t>
            </a:r>
          </a:p>
          <a:p>
            <a:r>
              <a:rPr lang="en-US" b="0"/>
              <a:t>The compiler sees the </a:t>
            </a:r>
            <a:r>
              <a:rPr lang="en-US" b="0" err="1"/>
              <a:t>order_insensitive</a:t>
            </a:r>
            <a:r>
              <a:rPr lang="en-US" b="0"/>
              <a:t> attribute and replaces the implementation with a </a:t>
            </a:r>
            <a:r>
              <a:rPr lang="en-US"/>
              <a:t>Multi-Queue</a:t>
            </a:r>
            <a:r>
              <a:rPr lang="en-US" b="0"/>
              <a:t> (Randomized Load Balancing).</a:t>
            </a:r>
            <a:endParaRPr lang="en-SG"/>
          </a:p>
        </p:txBody>
      </p:sp>
      <mc:AlternateContent xmlns:mc="http://schemas.openxmlformats.org/markup-compatibility/2006">
        <mc:Choice xmlns:a14="http://schemas.microsoft.com/office/drawing/2010/main" Requires="a14">
          <p:sp>
            <p:nvSpPr>
              <p:cNvPr id="6" name="Rectangle 2">
                <a:extLst>
                  <a:ext uri="{FF2B5EF4-FFF2-40B4-BE49-F238E27FC236}">
                    <a16:creationId xmlns:a16="http://schemas.microsoft.com/office/drawing/2014/main" id="{7A5B238B-714E-13B7-A276-1DDCD671AB65}"/>
                  </a:ext>
                </a:extLst>
              </p:cNvPr>
              <p:cNvSpPr>
                <a:spLocks noChangeArrowheads="1"/>
              </p:cNvSpPr>
              <p:nvPr/>
            </p:nvSpPr>
            <p:spPr bwMode="auto">
              <a:xfrm>
                <a:off x="233910" y="757693"/>
                <a:ext cx="11491925" cy="1015663"/>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a:solidFill>
                      <a:srgbClr val="3333FF"/>
                    </a:solidFill>
                  </a:rPr>
                  <a:t>1. Vector "Bottom-Up": From Data to Structure (Queue </a:t>
                </a:r>
                <a14:m>
                  <m:oMath xmlns:m="http://schemas.openxmlformats.org/officeDocument/2006/math">
                    <m:r>
                      <a:rPr lang="en-US">
                        <a:solidFill>
                          <a:srgbClr val="3333FF"/>
                        </a:solidFill>
                        <a:latin typeface="Cambria Math" panose="02040503050406030204" pitchFamily="18" charset="0"/>
                      </a:rPr>
                      <m:t>→</m:t>
                    </m:r>
                  </m:oMath>
                </a14:m>
                <a:r>
                  <a:rPr lang="en-US" b="1">
                    <a:solidFill>
                      <a:srgbClr val="3333FF"/>
                    </a:solidFill>
                  </a:rPr>
                  <a:t> Multi-Queue/Bag)</a:t>
                </a:r>
                <a:endParaRPr lang="en-US" sz="1400" b="1" i="0">
                  <a:solidFill>
                    <a:srgbClr val="3333FF"/>
                  </a:solidFill>
                  <a:effectLst/>
                  <a:latin typeface="Inter"/>
                </a:endParaRPr>
              </a:p>
              <a:p>
                <a:r>
                  <a:rPr lang="en-US" sz="1400" b="1" i="0">
                    <a:effectLst/>
                    <a:latin typeface="Inter"/>
                  </a:rPr>
                  <a:t>Scenario:</a:t>
                </a:r>
                <a:r>
                  <a:rPr lang="en-US" sz="1400" b="0" i="0">
                    <a:effectLst/>
                    <a:latin typeface="Inter"/>
                  </a:rPr>
                  <a:t> A pool of worker threads processing independent tasks (e.g., a web crawler or fuzzing).</a:t>
                </a:r>
                <a:br>
                  <a:rPr lang="en-US" sz="1400"/>
                </a:br>
                <a:r>
                  <a:rPr lang="en-US" sz="1400" b="1" i="0">
                    <a:effectLst/>
                    <a:latin typeface="Inter"/>
                  </a:rPr>
                  <a:t>Core Idea:</a:t>
                </a:r>
                <a:r>
                  <a:rPr lang="en-US" sz="1400" b="0" i="0">
                    <a:effectLst/>
                    <a:latin typeface="Inter"/>
                  </a:rPr>
                  <a:t> The task data is marked as </a:t>
                </a:r>
                <a:r>
                  <a:rPr lang="en-US" sz="1400" b="0" i="0">
                    <a:effectLst/>
                    <a:latin typeface="DM Mono" panose="020B0509040201040103" pitchFamily="49" charset="0"/>
                  </a:rPr>
                  <a:t>fungible</a:t>
                </a:r>
                <a:r>
                  <a:rPr lang="en-US" sz="1400" b="0" i="0">
                    <a:effectLst/>
                    <a:latin typeface="Inter"/>
                  </a:rPr>
                  <a:t> (interchangeable) or </a:t>
                </a:r>
                <a:r>
                  <a:rPr lang="en-US" sz="1400" b="0" i="0" err="1">
                    <a:effectLst/>
                    <a:latin typeface="DM Mono" panose="020B0509040201040103" pitchFamily="49" charset="0"/>
                  </a:rPr>
                  <a:t>order_insensitive</a:t>
                </a:r>
                <a:r>
                  <a:rPr lang="en-US" sz="1400" b="0" i="0">
                    <a:effectLst/>
                    <a:latin typeface="Inter"/>
                  </a:rPr>
                  <a:t>. This infects the container holding them. Since strict FIFO order is irrelevant for such data, the compiler replaces the single high-contention </a:t>
                </a:r>
                <a:r>
                  <a:rPr lang="en-US" sz="1400" b="0" i="0">
                    <a:effectLst/>
                    <a:latin typeface="DM Mono" panose="020B0509040201040103" pitchFamily="49" charset="0"/>
                  </a:rPr>
                  <a:t>Strong Queue</a:t>
                </a:r>
                <a:r>
                  <a:rPr lang="en-US" sz="1400" b="0" i="0">
                    <a:effectLst/>
                    <a:latin typeface="Inter"/>
                  </a:rPr>
                  <a:t> with a scalable </a:t>
                </a:r>
                <a:r>
                  <a:rPr lang="en-US" sz="1400" b="1" i="0">
                    <a:effectLst/>
                    <a:latin typeface="Inter"/>
                  </a:rPr>
                  <a:t>Multi-Queue</a:t>
                </a:r>
                <a:r>
                  <a:rPr lang="en-US" sz="1400" b="0" i="0">
                    <a:effectLst/>
                    <a:latin typeface="Inter"/>
                  </a:rPr>
                  <a:t> (or Distributed Bag).</a:t>
                </a:r>
                <a:endParaRPr kumimoji="0" lang="en-US" altLang="en-US" sz="1050" i="0" u="none" strike="noStrike" cap="none" normalizeH="0" baseline="0">
                  <a:ln>
                    <a:noFill/>
                  </a:ln>
                  <a:effectLst/>
                </a:endParaRPr>
              </a:p>
            </p:txBody>
          </p:sp>
        </mc:Choice>
        <mc:Fallback>
          <p:sp>
            <p:nvSpPr>
              <p:cNvPr id="6" name="Rectangle 2">
                <a:extLst>
                  <a:ext uri="{FF2B5EF4-FFF2-40B4-BE49-F238E27FC236}">
                    <a16:creationId xmlns:a16="http://schemas.microsoft.com/office/drawing/2014/main" id="{7A5B238B-714E-13B7-A276-1DDCD671AB65}"/>
                  </a:ext>
                </a:extLst>
              </p:cNvPr>
              <p:cNvSpPr>
                <a:spLocks noRot="1" noChangeAspect="1" noMove="1" noResize="1" noEditPoints="1" noAdjustHandles="1" noChangeArrowheads="1" noChangeShapeType="1" noTextEdit="1"/>
              </p:cNvSpPr>
              <p:nvPr/>
            </p:nvSpPr>
            <p:spPr bwMode="auto">
              <a:xfrm>
                <a:off x="233910" y="757693"/>
                <a:ext cx="11491925" cy="1015663"/>
              </a:xfrm>
              <a:prstGeom prst="rect">
                <a:avLst/>
              </a:prstGeom>
              <a:blipFill>
                <a:blip r:embed="rId2"/>
                <a:stretch>
                  <a:fillRect l="-442" t="-1235" b="-617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ru-SG">
                    <a:noFill/>
                  </a:rPr>
                  <a:t> </a:t>
                </a:r>
              </a:p>
            </p:txBody>
          </p:sp>
        </mc:Fallback>
      </mc:AlternateContent>
      <p:sp>
        <p:nvSpPr>
          <p:cNvPr id="8" name="TextBox 7">
            <a:extLst>
              <a:ext uri="{FF2B5EF4-FFF2-40B4-BE49-F238E27FC236}">
                <a16:creationId xmlns:a16="http://schemas.microsoft.com/office/drawing/2014/main" id="{5D119C61-41D9-7108-CC8C-C34CFCDA7306}"/>
              </a:ext>
            </a:extLst>
          </p:cNvPr>
          <p:cNvSpPr txBox="1"/>
          <p:nvPr/>
        </p:nvSpPr>
        <p:spPr>
          <a:xfrm>
            <a:off x="5777948" y="2482516"/>
            <a:ext cx="6122504" cy="3314049"/>
          </a:xfrm>
          <a:prstGeom prst="rect">
            <a:avLst/>
          </a:prstGeom>
          <a:solidFill>
            <a:srgbClr val="1F1F1F"/>
          </a:solidFill>
        </p:spPr>
        <p:txBody>
          <a:bodyPr wrap="square">
            <a:spAutoFit/>
          </a:bodyPr>
          <a:lstStyle/>
          <a:p>
            <a:pPr>
              <a:lnSpc>
                <a:spcPts val="1425"/>
              </a:lnSpc>
              <a:buNone/>
            </a:pPr>
            <a:r>
              <a:rPr lang="en-US" sz="1000" b="0">
                <a:solidFill>
                  <a:srgbClr val="6A9955"/>
                </a:solidFill>
                <a:effectLst/>
                <a:latin typeface="JetBrains Mono" panose="02000009000000000000" pitchFamily="49" charset="0"/>
              </a:rPr>
              <a:t>// Generated: A set of N independent queues (sharded by thread ID or CPU).</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569CD6"/>
                </a:solidFill>
                <a:effectLst/>
                <a:latin typeface="JetBrains Mono" panose="02000009000000000000" pitchFamily="49" charset="0"/>
              </a:rPr>
              <a:t>struct</a:t>
            </a:r>
            <a:r>
              <a:rPr lang="en-US" sz="1000" b="0">
                <a:solidFill>
                  <a:srgbClr val="CCCCCC"/>
                </a:solidFill>
                <a:effectLst/>
                <a:latin typeface="JetBrains Mono" panose="02000009000000000000" pitchFamily="49" charset="0"/>
              </a:rPr>
              <a:t> </a:t>
            </a:r>
            <a:r>
              <a:rPr lang="en-US" sz="1000" b="0">
                <a:solidFill>
                  <a:srgbClr val="4EC9B0"/>
                </a:solidFill>
                <a:effectLst/>
                <a:latin typeface="JetBrains Mono" panose="02000009000000000000" pitchFamily="49" charset="0"/>
              </a:rPr>
              <a:t>Shard</a:t>
            </a:r>
            <a:r>
              <a:rPr lang="en-US" sz="1000" b="0">
                <a:solidFill>
                  <a:srgbClr val="CCCCCC"/>
                </a:solidFill>
                <a:effectLst/>
                <a:latin typeface="JetBrains Mono" panose="02000009000000000000" pitchFamily="49" charset="0"/>
              </a:rPr>
              <a:t> {</a:t>
            </a:r>
          </a:p>
          <a:p>
            <a:pPr>
              <a:lnSpc>
                <a:spcPts val="1425"/>
              </a:lnSpc>
              <a:buNone/>
            </a:pPr>
            <a:r>
              <a:rPr lang="en-US" sz="1000" b="0">
                <a:solidFill>
                  <a:srgbClr val="CCCCCC"/>
                </a:solidFill>
                <a:effectLst/>
                <a:latin typeface="JetBrains Mono" panose="02000009000000000000" pitchFamily="49" charset="0"/>
              </a:rPr>
              <a:t>  </a:t>
            </a:r>
            <a:r>
              <a:rPr lang="en-US" sz="1000" b="0" err="1">
                <a:solidFill>
                  <a:srgbClr val="CCCCCC"/>
                </a:solidFill>
                <a:effectLst/>
                <a:latin typeface="JetBrains Mono" panose="02000009000000000000" pitchFamily="49" charset="0"/>
              </a:rPr>
              <a:t>ThreadSafeQueue</a:t>
            </a:r>
            <a:r>
              <a:rPr lang="en-US" sz="1000" b="0">
                <a:solidFill>
                  <a:srgbClr val="CCCCCC"/>
                </a:solidFill>
                <a:effectLst/>
                <a:latin typeface="JetBrains Mono" panose="02000009000000000000" pitchFamily="49" charset="0"/>
              </a:rPr>
              <a:t> </a:t>
            </a:r>
            <a:r>
              <a:rPr lang="en-US" sz="1000" b="0">
                <a:solidFill>
                  <a:srgbClr val="9CDCFE"/>
                </a:solidFill>
                <a:effectLst/>
                <a:latin typeface="JetBrains Mono" panose="02000009000000000000" pitchFamily="49" charset="0"/>
              </a:rPr>
              <a:t>q</a:t>
            </a:r>
            <a:r>
              <a:rPr lang="en-US" sz="1000" b="0">
                <a:solidFill>
                  <a:srgbClr val="CCCCCC"/>
                </a:solidFill>
                <a:effectLst/>
                <a:latin typeface="JetBrains Mono" panose="02000009000000000000" pitchFamily="49" charset="0"/>
              </a:rPr>
              <a:t>;</a:t>
            </a:r>
          </a:p>
          <a:p>
            <a:pPr>
              <a:lnSpc>
                <a:spcPts val="1425"/>
              </a:lnSpc>
              <a:buNone/>
            </a:pPr>
            <a:r>
              <a:rPr lang="en-US" sz="1000" b="0">
                <a:solidFill>
                  <a:srgbClr val="CCCCCC"/>
                </a:solidFill>
                <a:effectLst/>
                <a:latin typeface="JetBrains Mono" panose="02000009000000000000" pitchFamily="49" charset="0"/>
              </a:rPr>
              <a:t>  </a:t>
            </a:r>
            <a:r>
              <a:rPr lang="en-US" sz="1000" b="0">
                <a:solidFill>
                  <a:srgbClr val="569CD6"/>
                </a:solidFill>
                <a:effectLst/>
                <a:latin typeface="JetBrains Mono" panose="02000009000000000000" pitchFamily="49" charset="0"/>
              </a:rPr>
              <a:t>char</a:t>
            </a:r>
            <a:r>
              <a:rPr lang="en-US" sz="1000" b="0">
                <a:solidFill>
                  <a:srgbClr val="CCCCCC"/>
                </a:solidFill>
                <a:effectLst/>
                <a:latin typeface="JetBrains Mono" panose="02000009000000000000" pitchFamily="49" charset="0"/>
              </a:rPr>
              <a:t> </a:t>
            </a:r>
            <a:r>
              <a:rPr lang="en-US" sz="1000" b="0">
                <a:solidFill>
                  <a:srgbClr val="9CDCFE"/>
                </a:solidFill>
                <a:effectLst/>
                <a:latin typeface="JetBrains Mono" panose="02000009000000000000" pitchFamily="49" charset="0"/>
              </a:rPr>
              <a:t>pad</a:t>
            </a:r>
            <a:r>
              <a:rPr lang="en-US" sz="1000" b="0">
                <a:solidFill>
                  <a:srgbClr val="CCCCCC"/>
                </a:solidFill>
                <a:effectLst/>
                <a:latin typeface="JetBrains Mono" panose="02000009000000000000" pitchFamily="49" charset="0"/>
              </a:rPr>
              <a:t>[</a:t>
            </a:r>
            <a:r>
              <a:rPr lang="en-US" sz="1000" b="0">
                <a:solidFill>
                  <a:srgbClr val="B5CEA8"/>
                </a:solidFill>
                <a:effectLst/>
                <a:latin typeface="JetBrains Mono" panose="02000009000000000000" pitchFamily="49" charset="0"/>
              </a:rPr>
              <a:t>64</a:t>
            </a:r>
            <a:r>
              <a:rPr lang="en-US" sz="1000" b="0">
                <a:solidFill>
                  <a:srgbClr val="CCCCCC"/>
                </a:solidFill>
                <a:effectLst/>
                <a:latin typeface="JetBrains Mono" panose="02000009000000000000" pitchFamily="49" charset="0"/>
              </a:rPr>
              <a:t>];</a:t>
            </a:r>
          </a:p>
          <a:p>
            <a:pPr>
              <a:lnSpc>
                <a:spcPts val="1425"/>
              </a:lnSpc>
              <a:buNone/>
            </a:pPr>
            <a:r>
              <a:rPr lang="en-US" sz="1000" b="0">
                <a:solidFill>
                  <a:srgbClr val="CCCCCC"/>
                </a:solidFill>
                <a:effectLst/>
                <a:latin typeface="JetBrains Mono" panose="02000009000000000000" pitchFamily="49" charset="0"/>
              </a:rPr>
              <a:t>};</a:t>
            </a:r>
            <a:r>
              <a:rPr lang="en-US" sz="1000" b="0">
                <a:solidFill>
                  <a:srgbClr val="6A9955"/>
                </a:solidFill>
                <a:effectLst/>
                <a:latin typeface="JetBrains Mono" panose="02000009000000000000" pitchFamily="49" charset="0"/>
              </a:rPr>
              <a:t> // Padding to avoid false sharing</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4EC9B0"/>
                </a:solidFill>
                <a:effectLst/>
                <a:latin typeface="JetBrains Mono" panose="02000009000000000000" pitchFamily="49" charset="0"/>
              </a:rPr>
              <a:t>Shard</a:t>
            </a:r>
            <a:r>
              <a:rPr lang="en-US" sz="1000" b="0">
                <a:solidFill>
                  <a:srgbClr val="CCCCCC"/>
                </a:solidFill>
                <a:effectLst/>
                <a:latin typeface="JetBrains Mono" panose="02000009000000000000" pitchFamily="49" charset="0"/>
              </a:rPr>
              <a:t> </a:t>
            </a:r>
            <a:r>
              <a:rPr lang="en-US" sz="1000" b="0">
                <a:solidFill>
                  <a:srgbClr val="9CDCFE"/>
                </a:solidFill>
                <a:effectLst/>
                <a:latin typeface="JetBrains Mono" panose="02000009000000000000" pitchFamily="49" charset="0"/>
              </a:rPr>
              <a:t>shards</a:t>
            </a:r>
            <a:r>
              <a:rPr lang="en-US" sz="1000" b="0">
                <a:solidFill>
                  <a:srgbClr val="CCCCCC"/>
                </a:solidFill>
                <a:effectLst/>
                <a:latin typeface="JetBrains Mono" panose="02000009000000000000" pitchFamily="49" charset="0"/>
              </a:rPr>
              <a:t>[NUM_CPUS];</a:t>
            </a:r>
          </a:p>
          <a:p>
            <a:pPr>
              <a:lnSpc>
                <a:spcPts val="1425"/>
              </a:lnSpc>
              <a:buNone/>
            </a:pP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569CD6"/>
                </a:solidFill>
                <a:effectLst/>
                <a:latin typeface="JetBrains Mono" panose="02000009000000000000" pitchFamily="49" charset="0"/>
              </a:rPr>
              <a:t>void</a:t>
            </a:r>
            <a:r>
              <a:rPr lang="en-US" sz="1000" b="0">
                <a:solidFill>
                  <a:srgbClr val="CCCCCC"/>
                </a:solidFill>
                <a:effectLst/>
                <a:latin typeface="JetBrains Mono" panose="02000009000000000000" pitchFamily="49" charset="0"/>
              </a:rPr>
              <a:t> </a:t>
            </a:r>
            <a:r>
              <a:rPr lang="en-US" sz="1000" b="0" err="1">
                <a:solidFill>
                  <a:srgbClr val="DCDCAA"/>
                </a:solidFill>
                <a:effectLst/>
                <a:latin typeface="JetBrains Mono" panose="02000009000000000000" pitchFamily="49" charset="0"/>
              </a:rPr>
              <a:t>submit_task</a:t>
            </a:r>
            <a:r>
              <a:rPr lang="en-US" sz="1000" b="0">
                <a:solidFill>
                  <a:srgbClr val="CCCCCC"/>
                </a:solidFill>
                <a:effectLst/>
                <a:latin typeface="JetBrains Mono" panose="02000009000000000000" pitchFamily="49" charset="0"/>
              </a:rPr>
              <a:t>(</a:t>
            </a:r>
            <a:r>
              <a:rPr lang="en-US" sz="1000" b="0">
                <a:solidFill>
                  <a:srgbClr val="4EC9B0"/>
                </a:solidFill>
                <a:effectLst/>
                <a:latin typeface="JetBrains Mono" panose="02000009000000000000" pitchFamily="49" charset="0"/>
              </a:rPr>
              <a:t>Task</a:t>
            </a:r>
            <a:r>
              <a:rPr lang="en-US" sz="1000" b="0">
                <a:solidFill>
                  <a:srgbClr val="CCCCCC"/>
                </a:solidFill>
                <a:effectLst/>
                <a:latin typeface="JetBrains Mono" panose="02000009000000000000" pitchFamily="49" charset="0"/>
              </a:rPr>
              <a:t> </a:t>
            </a:r>
            <a:r>
              <a:rPr lang="en-US" sz="1000" b="0">
                <a:solidFill>
                  <a:srgbClr val="9CDCFE"/>
                </a:solidFill>
                <a:effectLst/>
                <a:latin typeface="JetBrains Mono" panose="02000009000000000000" pitchFamily="49" charset="0"/>
              </a:rPr>
              <a:t>t</a:t>
            </a:r>
            <a:r>
              <a:rPr lang="en-US" sz="1000" b="0">
                <a:solidFill>
                  <a:srgbClr val="CCCCCC"/>
                </a:solidFill>
                <a:effectLst/>
                <a:latin typeface="JetBrains Mono" panose="02000009000000000000" pitchFamily="49" charset="0"/>
              </a:rPr>
              <a:t>) {</a:t>
            </a:r>
          </a:p>
          <a:p>
            <a:pPr>
              <a:lnSpc>
                <a:spcPts val="1425"/>
              </a:lnSpc>
              <a:buNone/>
            </a:pPr>
            <a:r>
              <a:rPr lang="en-US" sz="1000" b="0">
                <a:solidFill>
                  <a:srgbClr val="6A9955"/>
                </a:solidFill>
                <a:effectLst/>
                <a:latin typeface="JetBrains Mono" panose="02000009000000000000" pitchFamily="49" charset="0"/>
              </a:rPr>
              <a:t>  // Optimization: Pick a random shard or the current thread's shard.</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6A9955"/>
                </a:solidFill>
                <a:effectLst/>
                <a:latin typeface="JetBrains Mono" panose="02000009000000000000" pitchFamily="49" charset="0"/>
              </a:rPr>
              <a:t>  // Contention is reduced by factor of NUM_CPUS.</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CCCCCC"/>
                </a:solidFill>
                <a:effectLst/>
                <a:latin typeface="JetBrains Mono" panose="02000009000000000000" pitchFamily="49" charset="0"/>
              </a:rPr>
              <a:t>  </a:t>
            </a:r>
            <a:r>
              <a:rPr lang="en-US" sz="1000" b="0">
                <a:solidFill>
                  <a:srgbClr val="569CD6"/>
                </a:solidFill>
                <a:effectLst/>
                <a:latin typeface="JetBrains Mono" panose="02000009000000000000" pitchFamily="49" charset="0"/>
              </a:rPr>
              <a:t>int</a:t>
            </a:r>
            <a:r>
              <a:rPr lang="en-US" sz="1000" b="0">
                <a:solidFill>
                  <a:srgbClr val="CCCCCC"/>
                </a:solidFill>
                <a:effectLst/>
                <a:latin typeface="JetBrains Mono" panose="02000009000000000000" pitchFamily="49" charset="0"/>
              </a:rPr>
              <a:t> </a:t>
            </a:r>
            <a:r>
              <a:rPr lang="en-US" sz="1000" b="0" err="1">
                <a:solidFill>
                  <a:srgbClr val="9CDCFE"/>
                </a:solidFill>
                <a:effectLst/>
                <a:latin typeface="JetBrains Mono" panose="02000009000000000000" pitchFamily="49" charset="0"/>
              </a:rPr>
              <a:t>shard_id</a:t>
            </a:r>
            <a:r>
              <a:rPr lang="en-US" sz="1000" b="0">
                <a:solidFill>
                  <a:srgbClr val="CCCCCC"/>
                </a:solidFill>
                <a:effectLst/>
                <a:latin typeface="JetBrains Mono" panose="02000009000000000000" pitchFamily="49" charset="0"/>
              </a:rPr>
              <a:t> </a:t>
            </a:r>
            <a:r>
              <a:rPr lang="en-US" sz="1000" b="0">
                <a:solidFill>
                  <a:srgbClr val="D4D4D4"/>
                </a:solidFill>
                <a:effectLst/>
                <a:latin typeface="JetBrains Mono" panose="02000009000000000000" pitchFamily="49" charset="0"/>
              </a:rPr>
              <a:t>=</a:t>
            </a:r>
            <a:r>
              <a:rPr lang="en-US" sz="1000" b="0">
                <a:solidFill>
                  <a:srgbClr val="CCCCCC"/>
                </a:solidFill>
                <a:effectLst/>
                <a:latin typeface="JetBrains Mono" panose="02000009000000000000" pitchFamily="49" charset="0"/>
              </a:rPr>
              <a:t> </a:t>
            </a:r>
            <a:r>
              <a:rPr lang="en-US" sz="1000" b="0" err="1">
                <a:solidFill>
                  <a:srgbClr val="DCDCAA"/>
                </a:solidFill>
                <a:effectLst/>
                <a:latin typeface="JetBrains Mono" panose="02000009000000000000" pitchFamily="49" charset="0"/>
              </a:rPr>
              <a:t>get_thread_id</a:t>
            </a:r>
            <a:r>
              <a:rPr lang="en-US" sz="1000" b="0">
                <a:solidFill>
                  <a:srgbClr val="CCCCCC"/>
                </a:solidFill>
                <a:effectLst/>
                <a:latin typeface="JetBrains Mono" panose="02000009000000000000" pitchFamily="49" charset="0"/>
              </a:rPr>
              <a:t>() </a:t>
            </a:r>
            <a:r>
              <a:rPr lang="en-US" sz="1000" b="0">
                <a:solidFill>
                  <a:srgbClr val="D4D4D4"/>
                </a:solidFill>
                <a:effectLst/>
                <a:latin typeface="JetBrains Mono" panose="02000009000000000000" pitchFamily="49" charset="0"/>
              </a:rPr>
              <a:t>%</a:t>
            </a:r>
            <a:r>
              <a:rPr lang="en-US" sz="1000" b="0">
                <a:solidFill>
                  <a:srgbClr val="CCCCCC"/>
                </a:solidFill>
                <a:effectLst/>
                <a:latin typeface="JetBrains Mono" panose="02000009000000000000" pitchFamily="49" charset="0"/>
              </a:rPr>
              <a:t> NUM_CPUS;</a:t>
            </a:r>
          </a:p>
          <a:p>
            <a:pPr>
              <a:lnSpc>
                <a:spcPts val="1425"/>
              </a:lnSpc>
              <a:buNone/>
            </a:pP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6A9955"/>
                </a:solidFill>
                <a:effectLst/>
                <a:latin typeface="JetBrains Mono" panose="02000009000000000000" pitchFamily="49" charset="0"/>
              </a:rPr>
              <a:t>  // We use a simpler lock (spinlock) because contention is low.</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6A9955"/>
                </a:solidFill>
                <a:effectLst/>
                <a:latin typeface="JetBrains Mono" panose="02000009000000000000" pitchFamily="49" charset="0"/>
              </a:rPr>
              <a:t>  // Order is now only "locally FIFO", globally chaotic.</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CCCCCC"/>
                </a:solidFill>
                <a:effectLst/>
                <a:latin typeface="JetBrains Mono" panose="02000009000000000000" pitchFamily="49" charset="0"/>
              </a:rPr>
              <a:t>  </a:t>
            </a:r>
            <a:r>
              <a:rPr lang="en-US" sz="1000" b="0" err="1">
                <a:solidFill>
                  <a:srgbClr val="DCDCAA"/>
                </a:solidFill>
                <a:effectLst/>
                <a:latin typeface="JetBrains Mono" panose="02000009000000000000" pitchFamily="49" charset="0"/>
              </a:rPr>
              <a:t>spin_lock</a:t>
            </a:r>
            <a:r>
              <a:rPr lang="en-US" sz="1000" b="0">
                <a:solidFill>
                  <a:srgbClr val="CCCCCC"/>
                </a:solidFill>
                <a:effectLst/>
                <a:latin typeface="JetBrains Mono" panose="02000009000000000000" pitchFamily="49" charset="0"/>
              </a:rPr>
              <a:t>(</a:t>
            </a:r>
            <a:r>
              <a:rPr lang="en-US" sz="1000" b="0">
                <a:solidFill>
                  <a:srgbClr val="D4D4D4"/>
                </a:solidFill>
                <a:effectLst/>
                <a:latin typeface="JetBrains Mono" panose="02000009000000000000" pitchFamily="49" charset="0"/>
              </a:rPr>
              <a:t>&amp;</a:t>
            </a:r>
            <a:r>
              <a:rPr lang="en-US" sz="1000" b="0">
                <a:solidFill>
                  <a:srgbClr val="9CDCFE"/>
                </a:solidFill>
                <a:effectLst/>
                <a:latin typeface="JetBrains Mono" panose="02000009000000000000" pitchFamily="49" charset="0"/>
              </a:rPr>
              <a:t>shards</a:t>
            </a:r>
            <a:r>
              <a:rPr lang="en-US" sz="1000" b="0">
                <a:solidFill>
                  <a:srgbClr val="CCCCCC"/>
                </a:solidFill>
                <a:effectLst/>
                <a:latin typeface="JetBrains Mono" panose="02000009000000000000" pitchFamily="49" charset="0"/>
              </a:rPr>
              <a:t>[</a:t>
            </a:r>
            <a:r>
              <a:rPr lang="en-US" sz="1000" b="0" err="1">
                <a:solidFill>
                  <a:srgbClr val="9CDCFE"/>
                </a:solidFill>
                <a:effectLst/>
                <a:latin typeface="JetBrains Mono" panose="02000009000000000000" pitchFamily="49" charset="0"/>
              </a:rPr>
              <a:t>shard_id</a:t>
            </a:r>
            <a:r>
              <a:rPr lang="en-US" sz="1000" b="0">
                <a:solidFill>
                  <a:srgbClr val="CCCCCC"/>
                </a:solidFill>
                <a:effectLst/>
                <a:latin typeface="JetBrains Mono" panose="02000009000000000000" pitchFamily="49" charset="0"/>
              </a:rPr>
              <a:t>].</a:t>
            </a:r>
            <a:r>
              <a:rPr lang="en-US" sz="1000" b="0" err="1">
                <a:solidFill>
                  <a:srgbClr val="9CDCFE"/>
                </a:solidFill>
                <a:effectLst/>
                <a:latin typeface="JetBrains Mono" panose="02000009000000000000" pitchFamily="49" charset="0"/>
              </a:rPr>
              <a:t>q</a:t>
            </a:r>
            <a:r>
              <a:rPr lang="en-US" sz="1000" b="0" err="1">
                <a:solidFill>
                  <a:srgbClr val="CCCCCC"/>
                </a:solidFill>
                <a:effectLst/>
                <a:latin typeface="JetBrains Mono" panose="02000009000000000000" pitchFamily="49" charset="0"/>
              </a:rPr>
              <a:t>.</a:t>
            </a:r>
            <a:r>
              <a:rPr lang="en-US" sz="1000" b="0" err="1">
                <a:solidFill>
                  <a:srgbClr val="9CDCFE"/>
                </a:solidFill>
                <a:effectLst/>
                <a:latin typeface="JetBrains Mono" panose="02000009000000000000" pitchFamily="49" charset="0"/>
              </a:rPr>
              <a:t>lock</a:t>
            </a:r>
            <a:r>
              <a:rPr lang="en-US" sz="1000" b="0">
                <a:solidFill>
                  <a:srgbClr val="CCCCCC"/>
                </a:solidFill>
                <a:effectLst/>
                <a:latin typeface="JetBrains Mono" panose="02000009000000000000" pitchFamily="49" charset="0"/>
              </a:rPr>
              <a:t>);</a:t>
            </a:r>
          </a:p>
          <a:p>
            <a:pPr>
              <a:lnSpc>
                <a:spcPts val="1425"/>
              </a:lnSpc>
              <a:buNone/>
            </a:pPr>
            <a:r>
              <a:rPr lang="en-US" sz="1000" b="0">
                <a:solidFill>
                  <a:srgbClr val="CCCCCC"/>
                </a:solidFill>
                <a:effectLst/>
                <a:latin typeface="JetBrains Mono" panose="02000009000000000000" pitchFamily="49" charset="0"/>
              </a:rPr>
              <a:t>  </a:t>
            </a:r>
            <a:r>
              <a:rPr lang="en-US" sz="1000" b="0" err="1">
                <a:solidFill>
                  <a:srgbClr val="DCDCAA"/>
                </a:solidFill>
                <a:effectLst/>
                <a:latin typeface="JetBrains Mono" panose="02000009000000000000" pitchFamily="49" charset="0"/>
              </a:rPr>
              <a:t>queue_push_unsafe</a:t>
            </a:r>
            <a:r>
              <a:rPr lang="en-US" sz="1000" b="0">
                <a:solidFill>
                  <a:srgbClr val="CCCCCC"/>
                </a:solidFill>
                <a:effectLst/>
                <a:latin typeface="JetBrains Mono" panose="02000009000000000000" pitchFamily="49" charset="0"/>
              </a:rPr>
              <a:t>(</a:t>
            </a:r>
            <a:r>
              <a:rPr lang="en-US" sz="1000" b="0">
                <a:solidFill>
                  <a:srgbClr val="D4D4D4"/>
                </a:solidFill>
                <a:effectLst/>
                <a:latin typeface="JetBrains Mono" panose="02000009000000000000" pitchFamily="49" charset="0"/>
              </a:rPr>
              <a:t>&amp;</a:t>
            </a:r>
            <a:r>
              <a:rPr lang="en-US" sz="1000" b="0">
                <a:solidFill>
                  <a:srgbClr val="9CDCFE"/>
                </a:solidFill>
                <a:effectLst/>
                <a:latin typeface="JetBrains Mono" panose="02000009000000000000" pitchFamily="49" charset="0"/>
              </a:rPr>
              <a:t>shards</a:t>
            </a:r>
            <a:r>
              <a:rPr lang="en-US" sz="1000" b="0">
                <a:solidFill>
                  <a:srgbClr val="CCCCCC"/>
                </a:solidFill>
                <a:effectLst/>
                <a:latin typeface="JetBrains Mono" panose="02000009000000000000" pitchFamily="49" charset="0"/>
              </a:rPr>
              <a:t>[</a:t>
            </a:r>
            <a:r>
              <a:rPr lang="en-US" sz="1000" b="0" err="1">
                <a:solidFill>
                  <a:srgbClr val="9CDCFE"/>
                </a:solidFill>
                <a:effectLst/>
                <a:latin typeface="JetBrains Mono" panose="02000009000000000000" pitchFamily="49" charset="0"/>
              </a:rPr>
              <a:t>shard_id</a:t>
            </a:r>
            <a:r>
              <a:rPr lang="en-US" sz="1000" b="0">
                <a:solidFill>
                  <a:srgbClr val="CCCCCC"/>
                </a:solidFill>
                <a:effectLst/>
                <a:latin typeface="JetBrains Mono" panose="02000009000000000000" pitchFamily="49" charset="0"/>
              </a:rPr>
              <a:t>].</a:t>
            </a:r>
            <a:r>
              <a:rPr lang="en-US" sz="1000" b="0">
                <a:solidFill>
                  <a:srgbClr val="9CDCFE"/>
                </a:solidFill>
                <a:effectLst/>
                <a:latin typeface="JetBrains Mono" panose="02000009000000000000" pitchFamily="49" charset="0"/>
              </a:rPr>
              <a:t>q</a:t>
            </a:r>
            <a:r>
              <a:rPr lang="en-US" sz="1000" b="0">
                <a:solidFill>
                  <a:srgbClr val="CCCCCC"/>
                </a:solidFill>
                <a:effectLst/>
                <a:latin typeface="JetBrains Mono" panose="02000009000000000000" pitchFamily="49" charset="0"/>
              </a:rPr>
              <a:t>, </a:t>
            </a:r>
            <a:r>
              <a:rPr lang="en-US" sz="1000" b="0">
                <a:solidFill>
                  <a:srgbClr val="9CDCFE"/>
                </a:solidFill>
                <a:effectLst/>
                <a:latin typeface="JetBrains Mono" panose="02000009000000000000" pitchFamily="49" charset="0"/>
              </a:rPr>
              <a:t>t</a:t>
            </a:r>
            <a:r>
              <a:rPr lang="en-US" sz="1000" b="0">
                <a:solidFill>
                  <a:srgbClr val="CCCCCC"/>
                </a:solidFill>
                <a:effectLst/>
                <a:latin typeface="JetBrains Mono" panose="02000009000000000000" pitchFamily="49" charset="0"/>
              </a:rPr>
              <a:t>);</a:t>
            </a:r>
          </a:p>
          <a:p>
            <a:pPr>
              <a:lnSpc>
                <a:spcPts val="1425"/>
              </a:lnSpc>
              <a:buNone/>
            </a:pPr>
            <a:r>
              <a:rPr lang="en-US" sz="1000" b="0">
                <a:solidFill>
                  <a:srgbClr val="CCCCCC"/>
                </a:solidFill>
                <a:effectLst/>
                <a:latin typeface="JetBrains Mono" panose="02000009000000000000" pitchFamily="49" charset="0"/>
              </a:rPr>
              <a:t>  </a:t>
            </a:r>
            <a:r>
              <a:rPr lang="en-US" sz="1000" b="0" err="1">
                <a:solidFill>
                  <a:srgbClr val="DCDCAA"/>
                </a:solidFill>
                <a:effectLst/>
                <a:latin typeface="JetBrains Mono" panose="02000009000000000000" pitchFamily="49" charset="0"/>
              </a:rPr>
              <a:t>spin_unlock</a:t>
            </a:r>
            <a:r>
              <a:rPr lang="en-US" sz="1000" b="0">
                <a:solidFill>
                  <a:srgbClr val="CCCCCC"/>
                </a:solidFill>
                <a:effectLst/>
                <a:latin typeface="JetBrains Mono" panose="02000009000000000000" pitchFamily="49" charset="0"/>
              </a:rPr>
              <a:t>(</a:t>
            </a:r>
            <a:r>
              <a:rPr lang="en-US" sz="1000" b="0">
                <a:solidFill>
                  <a:srgbClr val="D4D4D4"/>
                </a:solidFill>
                <a:effectLst/>
                <a:latin typeface="JetBrains Mono" panose="02000009000000000000" pitchFamily="49" charset="0"/>
              </a:rPr>
              <a:t>&amp;</a:t>
            </a:r>
            <a:r>
              <a:rPr lang="en-US" sz="1000" b="0">
                <a:solidFill>
                  <a:srgbClr val="9CDCFE"/>
                </a:solidFill>
                <a:effectLst/>
                <a:latin typeface="JetBrains Mono" panose="02000009000000000000" pitchFamily="49" charset="0"/>
              </a:rPr>
              <a:t>shards</a:t>
            </a:r>
            <a:r>
              <a:rPr lang="en-US" sz="1000" b="0">
                <a:solidFill>
                  <a:srgbClr val="CCCCCC"/>
                </a:solidFill>
                <a:effectLst/>
                <a:latin typeface="JetBrains Mono" panose="02000009000000000000" pitchFamily="49" charset="0"/>
              </a:rPr>
              <a:t>[</a:t>
            </a:r>
            <a:r>
              <a:rPr lang="en-US" sz="1000" b="0" err="1">
                <a:solidFill>
                  <a:srgbClr val="9CDCFE"/>
                </a:solidFill>
                <a:effectLst/>
                <a:latin typeface="JetBrains Mono" panose="02000009000000000000" pitchFamily="49" charset="0"/>
              </a:rPr>
              <a:t>shard_id</a:t>
            </a:r>
            <a:r>
              <a:rPr lang="en-US" sz="1000" b="0">
                <a:solidFill>
                  <a:srgbClr val="CCCCCC"/>
                </a:solidFill>
                <a:effectLst/>
                <a:latin typeface="JetBrains Mono" panose="02000009000000000000" pitchFamily="49" charset="0"/>
              </a:rPr>
              <a:t>].</a:t>
            </a:r>
            <a:r>
              <a:rPr lang="en-US" sz="1000" b="0" err="1">
                <a:solidFill>
                  <a:srgbClr val="9CDCFE"/>
                </a:solidFill>
                <a:effectLst/>
                <a:latin typeface="JetBrains Mono" panose="02000009000000000000" pitchFamily="49" charset="0"/>
              </a:rPr>
              <a:t>q</a:t>
            </a:r>
            <a:r>
              <a:rPr lang="en-US" sz="1000" b="0" err="1">
                <a:solidFill>
                  <a:srgbClr val="CCCCCC"/>
                </a:solidFill>
                <a:effectLst/>
                <a:latin typeface="JetBrains Mono" panose="02000009000000000000" pitchFamily="49" charset="0"/>
              </a:rPr>
              <a:t>.</a:t>
            </a:r>
            <a:r>
              <a:rPr lang="en-US" sz="1000" b="0" err="1">
                <a:solidFill>
                  <a:srgbClr val="9CDCFE"/>
                </a:solidFill>
                <a:effectLst/>
                <a:latin typeface="JetBrains Mono" panose="02000009000000000000" pitchFamily="49" charset="0"/>
              </a:rPr>
              <a:t>lock</a:t>
            </a:r>
            <a:r>
              <a:rPr lang="en-US" sz="1000" b="0">
                <a:solidFill>
                  <a:srgbClr val="CCCCCC"/>
                </a:solidFill>
                <a:effectLst/>
                <a:latin typeface="JetBrains Mono" panose="02000009000000000000" pitchFamily="49" charset="0"/>
              </a:rPr>
              <a:t>);</a:t>
            </a:r>
          </a:p>
          <a:p>
            <a:pPr>
              <a:lnSpc>
                <a:spcPts val="1425"/>
              </a:lnSpc>
              <a:buNone/>
            </a:pPr>
            <a:r>
              <a:rPr lang="en-US" sz="1000" b="0">
                <a:solidFill>
                  <a:srgbClr val="CCCCCC"/>
                </a:solidFill>
                <a:effectLst/>
                <a:latin typeface="JetBrains Mono" panose="02000009000000000000" pitchFamily="49" charset="0"/>
              </a:rPr>
              <a:t>}</a:t>
            </a:r>
          </a:p>
        </p:txBody>
      </p:sp>
    </p:spTree>
    <p:extLst>
      <p:ext uri="{BB962C8B-B14F-4D97-AF65-F5344CB8AC3E}">
        <p14:creationId xmlns:p14="http://schemas.microsoft.com/office/powerpoint/2010/main" val="28757962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40467-7142-35BF-71EA-894726AAAE0C}"/>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27C58FE0-A5F0-F4BF-C4A6-1FFD14AB26CB}"/>
              </a:ext>
            </a:extLst>
          </p:cNvPr>
          <p:cNvSpPr txBox="1"/>
          <p:nvPr/>
        </p:nvSpPr>
        <p:spPr>
          <a:xfrm>
            <a:off x="233910" y="208621"/>
            <a:ext cx="3165273" cy="461665"/>
          </a:xfrm>
          <a:prstGeom prst="rect">
            <a:avLst/>
          </a:prstGeom>
          <a:solidFill>
            <a:schemeClr val="accent6">
              <a:lumMod val="50000"/>
            </a:schemeClr>
          </a:solidFill>
        </p:spPr>
        <p:txBody>
          <a:bodyPr wrap="square" rtlCol="0">
            <a:spAutoFit/>
          </a:bodyPr>
          <a:lstStyle/>
          <a:p>
            <a:r>
              <a:rPr lang="en-US" sz="2400">
                <a:solidFill>
                  <a:schemeClr val="bg1"/>
                </a:solidFill>
                <a:latin typeface="Ubuntu Condensed" panose="020B0506030602030204" pitchFamily="34" charset="0"/>
              </a:rPr>
              <a:t>Propagation of relaxation</a:t>
            </a:r>
            <a:endParaRPr lang="ru-RU" sz="2400">
              <a:solidFill>
                <a:schemeClr val="bg1"/>
              </a:solidFill>
              <a:latin typeface="Ubuntu Condensed" panose="020B0506030602030204" pitchFamily="34" charset="0"/>
            </a:endParaRPr>
          </a:p>
        </p:txBody>
      </p:sp>
      <p:sp>
        <p:nvSpPr>
          <p:cNvPr id="7" name="Номер слайда 7">
            <a:extLst>
              <a:ext uri="{FF2B5EF4-FFF2-40B4-BE49-F238E27FC236}">
                <a16:creationId xmlns:a16="http://schemas.microsoft.com/office/drawing/2014/main" id="{C98B4BFE-9489-FAF0-AFC4-E6513AD7A605}"/>
              </a:ext>
            </a:extLst>
          </p:cNvPr>
          <p:cNvSpPr>
            <a:spLocks noGrp="1"/>
          </p:cNvSpPr>
          <p:nvPr>
            <p:ph type="sldNum" sz="quarter" idx="12"/>
          </p:nvPr>
        </p:nvSpPr>
        <p:spPr>
          <a:xfrm>
            <a:off x="11725835" y="6402070"/>
            <a:ext cx="386155" cy="365125"/>
          </a:xfrm>
        </p:spPr>
        <p:txBody>
          <a:bodyPr/>
          <a:lstStyle/>
          <a:p>
            <a:pPr algn="ctr"/>
            <a:fld id="{E757BAED-F255-4CF1-96BA-8D7417A9C3BC}" type="slidenum">
              <a:rPr lang="ru-RU" sz="1800" smtClean="0">
                <a:latin typeface="Ubuntu Condensed" panose="020B0506030602030204" pitchFamily="34" charset="0"/>
              </a:rPr>
              <a:pPr algn="ctr"/>
              <a:t>19</a:t>
            </a:fld>
            <a:endParaRPr lang="ru-RU" sz="1800">
              <a:latin typeface="Ubuntu Condensed" panose="020B0506030602030204" pitchFamily="34" charset="0"/>
            </a:endParaRPr>
          </a:p>
        </p:txBody>
      </p:sp>
      <p:sp>
        <p:nvSpPr>
          <p:cNvPr id="2" name="TextBox 1">
            <a:extLst>
              <a:ext uri="{FF2B5EF4-FFF2-40B4-BE49-F238E27FC236}">
                <a16:creationId xmlns:a16="http://schemas.microsoft.com/office/drawing/2014/main" id="{E7ADE3BC-928E-A5F0-8297-FD3DF2714618}"/>
              </a:ext>
            </a:extLst>
          </p:cNvPr>
          <p:cNvSpPr txBox="1"/>
          <p:nvPr/>
        </p:nvSpPr>
        <p:spPr>
          <a:xfrm>
            <a:off x="233910" y="1860763"/>
            <a:ext cx="5371760" cy="461665"/>
          </a:xfrm>
          <a:prstGeom prst="rect">
            <a:avLst/>
          </a:prstGeom>
          <a:noFill/>
        </p:spPr>
        <p:txBody>
          <a:bodyPr wrap="square">
            <a:spAutoFit/>
          </a:bodyPr>
          <a:lstStyle/>
          <a:p>
            <a:r>
              <a:rPr lang="en-US" sz="1200" b="1"/>
              <a:t>Before (Before: Standard SPSC Buffer)</a:t>
            </a:r>
          </a:p>
          <a:p>
            <a:r>
              <a:rPr lang="en-US" sz="1200"/>
              <a:t>Standard lock-free implementation requires fences.</a:t>
            </a:r>
          </a:p>
        </p:txBody>
      </p:sp>
      <p:sp>
        <p:nvSpPr>
          <p:cNvPr id="3" name="TextBox 2">
            <a:extLst>
              <a:ext uri="{FF2B5EF4-FFF2-40B4-BE49-F238E27FC236}">
                <a16:creationId xmlns:a16="http://schemas.microsoft.com/office/drawing/2014/main" id="{F940ED75-CA39-971A-19C9-89F8787B133C}"/>
              </a:ext>
            </a:extLst>
          </p:cNvPr>
          <p:cNvSpPr txBox="1"/>
          <p:nvPr/>
        </p:nvSpPr>
        <p:spPr>
          <a:xfrm>
            <a:off x="233909" y="2322428"/>
            <a:ext cx="5371761" cy="1698222"/>
          </a:xfrm>
          <a:prstGeom prst="rect">
            <a:avLst/>
          </a:prstGeom>
          <a:solidFill>
            <a:srgbClr val="1F1F1F"/>
          </a:solidFill>
        </p:spPr>
        <p:txBody>
          <a:bodyPr wrap="square">
            <a:spAutoFit/>
          </a:bodyPr>
          <a:lstStyle/>
          <a:p>
            <a:pPr>
              <a:lnSpc>
                <a:spcPts val="1425"/>
              </a:lnSpc>
              <a:buNone/>
            </a:pPr>
            <a:r>
              <a:rPr lang="en-SG" sz="1000" b="0">
                <a:solidFill>
                  <a:srgbClr val="569CD6"/>
                </a:solidFill>
                <a:effectLst/>
                <a:latin typeface="JetBrains Mono" panose="02000009000000000000" pitchFamily="49" charset="0"/>
              </a:rPr>
              <a:t>void</a:t>
            </a:r>
            <a:r>
              <a:rPr lang="en-SG" sz="1000" b="0">
                <a:solidFill>
                  <a:srgbClr val="CCCCCC"/>
                </a:solidFill>
                <a:effectLst/>
                <a:latin typeface="JetBrains Mono" panose="02000009000000000000" pitchFamily="49" charset="0"/>
              </a:rPr>
              <a:t> </a:t>
            </a:r>
            <a:r>
              <a:rPr lang="en-SG" sz="1000" b="0" err="1">
                <a:solidFill>
                  <a:srgbClr val="9CDCFE"/>
                </a:solidFill>
                <a:effectLst/>
                <a:latin typeface="JetBrains Mono" panose="02000009000000000000" pitchFamily="49" charset="0"/>
              </a:rPr>
              <a:t>audio_push</a:t>
            </a:r>
            <a:r>
              <a:rPr lang="en-SG" sz="1000" b="0">
                <a:solidFill>
                  <a:srgbClr val="CCCCCC"/>
                </a:solidFill>
                <a:effectLst/>
                <a:latin typeface="JetBrains Mono" panose="02000009000000000000" pitchFamily="49" charset="0"/>
              </a:rPr>
              <a:t>(</a:t>
            </a:r>
            <a:r>
              <a:rPr lang="en-SG" sz="1000" b="0" err="1">
                <a:solidFill>
                  <a:srgbClr val="4EC9B0"/>
                </a:solidFill>
                <a:effectLst/>
                <a:latin typeface="JetBrains Mono" panose="02000009000000000000" pitchFamily="49" charset="0"/>
              </a:rPr>
              <a:t>RingBuf</a:t>
            </a:r>
            <a:r>
              <a:rPr lang="en-SG" sz="1000" b="0">
                <a:solidFill>
                  <a:srgbClr val="CCCCCC"/>
                </a:solidFill>
                <a:effectLst/>
                <a:latin typeface="JetBrains Mono" panose="02000009000000000000" pitchFamily="49" charset="0"/>
              </a:rPr>
              <a:t> </a:t>
            </a:r>
            <a:r>
              <a:rPr lang="en-SG" sz="1000" b="0">
                <a:solidFill>
                  <a:srgbClr val="569CD6"/>
                </a:solidFill>
                <a:effectLst/>
                <a:latin typeface="JetBrains Mono" panose="02000009000000000000" pitchFamily="49" charset="0"/>
              </a:rPr>
              <a:t>*</a:t>
            </a:r>
            <a:r>
              <a:rPr lang="en-SG" sz="1000" b="0" err="1">
                <a:solidFill>
                  <a:srgbClr val="9CDCFE"/>
                </a:solidFill>
                <a:effectLst/>
                <a:latin typeface="JetBrains Mono" panose="02000009000000000000" pitchFamily="49" charset="0"/>
              </a:rPr>
              <a:t>rb</a:t>
            </a:r>
            <a:r>
              <a:rPr lang="en-SG" sz="1000" b="0">
                <a:solidFill>
                  <a:srgbClr val="CCCCCC"/>
                </a:solidFill>
                <a:effectLst/>
                <a:latin typeface="JetBrains Mono" panose="02000009000000000000" pitchFamily="49" charset="0"/>
              </a:rPr>
              <a:t>, </a:t>
            </a:r>
            <a:r>
              <a:rPr lang="en-SG" sz="1000" b="0">
                <a:solidFill>
                  <a:srgbClr val="569CD6"/>
                </a:solidFill>
                <a:effectLst/>
                <a:latin typeface="JetBrains Mono" panose="02000009000000000000" pitchFamily="49" charset="0"/>
              </a:rPr>
              <a:t>float</a:t>
            </a:r>
            <a:r>
              <a:rPr lang="en-SG" sz="1000" b="0">
                <a:solidFill>
                  <a:srgbClr val="CCCCCC"/>
                </a:solidFill>
                <a:effectLst/>
                <a:latin typeface="JetBrains Mono" panose="02000009000000000000" pitchFamily="49" charset="0"/>
              </a:rPr>
              <a:t> </a:t>
            </a:r>
            <a:r>
              <a:rPr lang="en-SG" sz="1000" b="0">
                <a:solidFill>
                  <a:srgbClr val="9CDCFE"/>
                </a:solidFill>
                <a:effectLst/>
                <a:latin typeface="JetBrains Mono" panose="02000009000000000000" pitchFamily="49" charset="0"/>
              </a:rPr>
              <a:t>sample</a:t>
            </a:r>
            <a:r>
              <a:rPr lang="en-SG" sz="1000" b="0">
                <a:solidFill>
                  <a:srgbClr val="CCCCCC"/>
                </a:solidFill>
                <a:effectLst/>
                <a:latin typeface="JetBrains Mono" panose="02000009000000000000" pitchFamily="49" charset="0"/>
              </a:rPr>
              <a:t>) {</a:t>
            </a:r>
          </a:p>
          <a:p>
            <a:pPr>
              <a:lnSpc>
                <a:spcPts val="1425"/>
              </a:lnSpc>
              <a:buNone/>
            </a:pPr>
            <a:r>
              <a:rPr lang="en-SG" sz="1000" b="0">
                <a:solidFill>
                  <a:srgbClr val="CCCCCC"/>
                </a:solidFill>
                <a:effectLst/>
                <a:latin typeface="JetBrains Mono" panose="02000009000000000000" pitchFamily="49" charset="0"/>
              </a:rPr>
              <a:t>  </a:t>
            </a:r>
            <a:r>
              <a:rPr lang="en-SG" sz="1000" b="0">
                <a:solidFill>
                  <a:srgbClr val="569CD6"/>
                </a:solidFill>
                <a:effectLst/>
                <a:latin typeface="JetBrains Mono" panose="02000009000000000000" pitchFamily="49" charset="0"/>
              </a:rPr>
              <a:t>uint32_t</a:t>
            </a:r>
            <a:r>
              <a:rPr lang="en-SG" sz="1000" b="0">
                <a:solidFill>
                  <a:srgbClr val="CCCCCC"/>
                </a:solidFill>
                <a:effectLst/>
                <a:latin typeface="JetBrains Mono" panose="02000009000000000000" pitchFamily="49" charset="0"/>
              </a:rPr>
              <a:t> tail </a:t>
            </a:r>
            <a:r>
              <a:rPr lang="en-SG" sz="1000" b="0">
                <a:solidFill>
                  <a:srgbClr val="D4D4D4"/>
                </a:solidFill>
                <a:effectLst/>
                <a:latin typeface="JetBrains Mono" panose="02000009000000000000" pitchFamily="49" charset="0"/>
              </a:rPr>
              <a:t>=</a:t>
            </a:r>
            <a:r>
              <a:rPr lang="en-SG" sz="1000" b="0">
                <a:solidFill>
                  <a:srgbClr val="CCCCCC"/>
                </a:solidFill>
                <a:effectLst/>
                <a:latin typeface="JetBrains Mono" panose="02000009000000000000" pitchFamily="49" charset="0"/>
              </a:rPr>
              <a:t> </a:t>
            </a:r>
            <a:r>
              <a:rPr lang="en-SG" sz="1000" b="0" err="1">
                <a:solidFill>
                  <a:srgbClr val="DCDCAA"/>
                </a:solidFill>
                <a:effectLst/>
                <a:latin typeface="JetBrains Mono" panose="02000009000000000000" pitchFamily="49" charset="0"/>
              </a:rPr>
              <a:t>atomic_load</a:t>
            </a:r>
            <a:r>
              <a:rPr lang="en-SG" sz="1000" b="0">
                <a:solidFill>
                  <a:srgbClr val="CCCCCC"/>
                </a:solidFill>
                <a:effectLst/>
                <a:latin typeface="JetBrains Mono" panose="02000009000000000000" pitchFamily="49" charset="0"/>
              </a:rPr>
              <a:t>(</a:t>
            </a:r>
            <a:r>
              <a:rPr lang="en-SG" sz="1000" b="0">
                <a:solidFill>
                  <a:srgbClr val="D4D4D4"/>
                </a:solidFill>
                <a:effectLst/>
                <a:latin typeface="JetBrains Mono" panose="02000009000000000000" pitchFamily="49" charset="0"/>
              </a:rPr>
              <a:t>&amp;</a:t>
            </a:r>
            <a:r>
              <a:rPr lang="en-SG" sz="1000" b="0" err="1">
                <a:solidFill>
                  <a:srgbClr val="9CDCFE"/>
                </a:solidFill>
                <a:effectLst/>
                <a:latin typeface="JetBrains Mono" panose="02000009000000000000" pitchFamily="49" charset="0"/>
              </a:rPr>
              <a:t>rb</a:t>
            </a:r>
            <a:r>
              <a:rPr lang="en-SG" sz="1000" b="0">
                <a:solidFill>
                  <a:srgbClr val="CCCCCC"/>
                </a:solidFill>
                <a:effectLst/>
                <a:latin typeface="JetBrains Mono" panose="02000009000000000000" pitchFamily="49" charset="0"/>
              </a:rPr>
              <a:t>-&gt;</a:t>
            </a:r>
            <a:r>
              <a:rPr lang="en-SG" sz="1000" b="0">
                <a:solidFill>
                  <a:srgbClr val="9CDCFE"/>
                </a:solidFill>
                <a:effectLst/>
                <a:latin typeface="JetBrains Mono" panose="02000009000000000000" pitchFamily="49" charset="0"/>
              </a:rPr>
              <a:t>tail</a:t>
            </a:r>
            <a:r>
              <a:rPr lang="en-SG" sz="1000" b="0">
                <a:solidFill>
                  <a:srgbClr val="CCCCCC"/>
                </a:solidFill>
                <a:effectLst/>
                <a:latin typeface="JetBrains Mono" panose="02000009000000000000" pitchFamily="49" charset="0"/>
              </a:rPr>
              <a:t>, </a:t>
            </a:r>
            <a:r>
              <a:rPr lang="en-SG" sz="1000" b="0" err="1">
                <a:solidFill>
                  <a:srgbClr val="CCCCCC"/>
                </a:solidFill>
                <a:effectLst/>
                <a:latin typeface="JetBrains Mono" panose="02000009000000000000" pitchFamily="49" charset="0"/>
              </a:rPr>
              <a:t>memory_order_relaxed</a:t>
            </a:r>
            <a:r>
              <a:rPr lang="en-SG" sz="1000" b="0">
                <a:solidFill>
                  <a:srgbClr val="CCCCCC"/>
                </a:solidFill>
                <a:effectLst/>
                <a:latin typeface="JetBrains Mono" panose="02000009000000000000" pitchFamily="49" charset="0"/>
              </a:rPr>
              <a:t>);</a:t>
            </a:r>
          </a:p>
          <a:p>
            <a:pPr>
              <a:lnSpc>
                <a:spcPts val="1425"/>
              </a:lnSpc>
              <a:buNone/>
            </a:pPr>
            <a:r>
              <a:rPr lang="en-SG" sz="1000" b="0">
                <a:solidFill>
                  <a:srgbClr val="CCCCCC"/>
                </a:solidFill>
                <a:effectLst/>
                <a:latin typeface="JetBrains Mono" panose="02000009000000000000" pitchFamily="49" charset="0"/>
              </a:rPr>
              <a:t>  </a:t>
            </a:r>
            <a:r>
              <a:rPr lang="en-SG" sz="1000" b="0" err="1">
                <a:solidFill>
                  <a:srgbClr val="9CDCFE"/>
                </a:solidFill>
                <a:effectLst/>
                <a:latin typeface="JetBrains Mono" panose="02000009000000000000" pitchFamily="49" charset="0"/>
              </a:rPr>
              <a:t>rb</a:t>
            </a:r>
            <a:r>
              <a:rPr lang="en-SG" sz="1000" b="0">
                <a:solidFill>
                  <a:srgbClr val="CCCCCC"/>
                </a:solidFill>
                <a:effectLst/>
                <a:latin typeface="JetBrains Mono" panose="02000009000000000000" pitchFamily="49" charset="0"/>
              </a:rPr>
              <a:t>-&gt;</a:t>
            </a:r>
            <a:r>
              <a:rPr lang="en-SG" sz="1000" b="0">
                <a:solidFill>
                  <a:srgbClr val="9CDCFE"/>
                </a:solidFill>
                <a:effectLst/>
                <a:latin typeface="JetBrains Mono" panose="02000009000000000000" pitchFamily="49" charset="0"/>
              </a:rPr>
              <a:t>buffer</a:t>
            </a:r>
            <a:r>
              <a:rPr lang="en-SG" sz="1000" b="0">
                <a:solidFill>
                  <a:srgbClr val="CCCCCC"/>
                </a:solidFill>
                <a:effectLst/>
                <a:latin typeface="JetBrains Mono" panose="02000009000000000000" pitchFamily="49" charset="0"/>
              </a:rPr>
              <a:t>[tail </a:t>
            </a:r>
            <a:r>
              <a:rPr lang="en-SG" sz="1000" b="0">
                <a:solidFill>
                  <a:srgbClr val="D4D4D4"/>
                </a:solidFill>
                <a:effectLst/>
                <a:latin typeface="JetBrains Mono" panose="02000009000000000000" pitchFamily="49" charset="0"/>
              </a:rPr>
              <a:t>%</a:t>
            </a:r>
            <a:r>
              <a:rPr lang="en-SG" sz="1000" b="0">
                <a:solidFill>
                  <a:srgbClr val="CCCCCC"/>
                </a:solidFill>
                <a:effectLst/>
                <a:latin typeface="JetBrains Mono" panose="02000009000000000000" pitchFamily="49" charset="0"/>
              </a:rPr>
              <a:t> SIZE] </a:t>
            </a:r>
            <a:r>
              <a:rPr lang="en-SG" sz="1000" b="0">
                <a:solidFill>
                  <a:srgbClr val="D4D4D4"/>
                </a:solidFill>
                <a:effectLst/>
                <a:latin typeface="JetBrains Mono" panose="02000009000000000000" pitchFamily="49" charset="0"/>
              </a:rPr>
              <a:t>=</a:t>
            </a:r>
            <a:r>
              <a:rPr lang="en-SG" sz="1000" b="0">
                <a:solidFill>
                  <a:srgbClr val="CCCCCC"/>
                </a:solidFill>
                <a:effectLst/>
                <a:latin typeface="JetBrains Mono" panose="02000009000000000000" pitchFamily="49" charset="0"/>
              </a:rPr>
              <a:t> sample;</a:t>
            </a:r>
          </a:p>
          <a:p>
            <a:pPr>
              <a:lnSpc>
                <a:spcPts val="1425"/>
              </a:lnSpc>
              <a:buNone/>
            </a:pP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6A9955"/>
                </a:solidFill>
                <a:effectLst/>
                <a:latin typeface="JetBrains Mono" panose="02000009000000000000" pitchFamily="49" charset="0"/>
              </a:rPr>
              <a:t>  // Release Barrier! (Store-Release).</a:t>
            </a: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6A9955"/>
                </a:solidFill>
                <a:effectLst/>
                <a:latin typeface="JetBrains Mono" panose="02000009000000000000" pitchFamily="49" charset="0"/>
              </a:rPr>
              <a:t>  // Guarantees sample is visible BEFORE the tail update.</a:t>
            </a: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6A9955"/>
                </a:solidFill>
                <a:effectLst/>
                <a:latin typeface="JetBrains Mono" panose="02000009000000000000" pitchFamily="49" charset="0"/>
              </a:rPr>
              <a:t>  // On ARM, this generates '</a:t>
            </a:r>
            <a:r>
              <a:rPr lang="en-SG" sz="1000" b="0" err="1">
                <a:solidFill>
                  <a:srgbClr val="6A9955"/>
                </a:solidFill>
                <a:effectLst/>
                <a:latin typeface="JetBrains Mono" panose="02000009000000000000" pitchFamily="49" charset="0"/>
              </a:rPr>
              <a:t>stlr</a:t>
            </a:r>
            <a:r>
              <a:rPr lang="en-SG" sz="1000" b="0">
                <a:solidFill>
                  <a:srgbClr val="6A9955"/>
                </a:solidFill>
                <a:effectLst/>
                <a:latin typeface="JetBrains Mono" panose="02000009000000000000" pitchFamily="49" charset="0"/>
              </a:rPr>
              <a:t>' (more expensive).</a:t>
            </a: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CCCCCC"/>
                </a:solidFill>
                <a:effectLst/>
                <a:latin typeface="JetBrains Mono" panose="02000009000000000000" pitchFamily="49" charset="0"/>
              </a:rPr>
              <a:t>  </a:t>
            </a:r>
            <a:r>
              <a:rPr lang="en-SG" sz="1000" b="0" err="1">
                <a:solidFill>
                  <a:srgbClr val="DCDCAA"/>
                </a:solidFill>
                <a:effectLst/>
                <a:latin typeface="JetBrains Mono" panose="02000009000000000000" pitchFamily="49" charset="0"/>
              </a:rPr>
              <a:t>atomic_store</a:t>
            </a:r>
            <a:r>
              <a:rPr lang="en-SG" sz="1000" b="0">
                <a:solidFill>
                  <a:srgbClr val="CCCCCC"/>
                </a:solidFill>
                <a:effectLst/>
                <a:latin typeface="JetBrains Mono" panose="02000009000000000000" pitchFamily="49" charset="0"/>
              </a:rPr>
              <a:t>(</a:t>
            </a:r>
            <a:r>
              <a:rPr lang="en-SG" sz="1000" b="0">
                <a:solidFill>
                  <a:srgbClr val="D4D4D4"/>
                </a:solidFill>
                <a:effectLst/>
                <a:latin typeface="JetBrains Mono" panose="02000009000000000000" pitchFamily="49" charset="0"/>
              </a:rPr>
              <a:t>&amp;</a:t>
            </a:r>
            <a:r>
              <a:rPr lang="en-SG" sz="1000" b="0" err="1">
                <a:solidFill>
                  <a:srgbClr val="9CDCFE"/>
                </a:solidFill>
                <a:effectLst/>
                <a:latin typeface="JetBrains Mono" panose="02000009000000000000" pitchFamily="49" charset="0"/>
              </a:rPr>
              <a:t>rb</a:t>
            </a:r>
            <a:r>
              <a:rPr lang="en-SG" sz="1000" b="0">
                <a:solidFill>
                  <a:srgbClr val="CCCCCC"/>
                </a:solidFill>
                <a:effectLst/>
                <a:latin typeface="JetBrains Mono" panose="02000009000000000000" pitchFamily="49" charset="0"/>
              </a:rPr>
              <a:t>-&gt;</a:t>
            </a:r>
            <a:r>
              <a:rPr lang="en-SG" sz="1000" b="0">
                <a:solidFill>
                  <a:srgbClr val="9CDCFE"/>
                </a:solidFill>
                <a:effectLst/>
                <a:latin typeface="JetBrains Mono" panose="02000009000000000000" pitchFamily="49" charset="0"/>
              </a:rPr>
              <a:t>tail</a:t>
            </a:r>
            <a:r>
              <a:rPr lang="en-SG" sz="1000" b="0">
                <a:solidFill>
                  <a:srgbClr val="CCCCCC"/>
                </a:solidFill>
                <a:effectLst/>
                <a:latin typeface="JetBrains Mono" panose="02000009000000000000" pitchFamily="49" charset="0"/>
              </a:rPr>
              <a:t>, tail </a:t>
            </a:r>
            <a:r>
              <a:rPr lang="en-SG" sz="1000" b="0">
                <a:solidFill>
                  <a:srgbClr val="D4D4D4"/>
                </a:solidFill>
                <a:effectLst/>
                <a:latin typeface="JetBrains Mono" panose="02000009000000000000" pitchFamily="49" charset="0"/>
              </a:rPr>
              <a:t>+</a:t>
            </a:r>
            <a:r>
              <a:rPr lang="en-SG" sz="1000" b="0">
                <a:solidFill>
                  <a:srgbClr val="CCCCCC"/>
                </a:solidFill>
                <a:effectLst/>
                <a:latin typeface="JetBrains Mono" panose="02000009000000000000" pitchFamily="49" charset="0"/>
              </a:rPr>
              <a:t> </a:t>
            </a:r>
            <a:r>
              <a:rPr lang="en-SG" sz="1000" b="0">
                <a:solidFill>
                  <a:srgbClr val="B5CEA8"/>
                </a:solidFill>
                <a:effectLst/>
                <a:latin typeface="JetBrains Mono" panose="02000009000000000000" pitchFamily="49" charset="0"/>
              </a:rPr>
              <a:t>1</a:t>
            </a:r>
            <a:r>
              <a:rPr lang="en-SG" sz="1000" b="0">
                <a:solidFill>
                  <a:srgbClr val="CCCCCC"/>
                </a:solidFill>
                <a:effectLst/>
                <a:latin typeface="JetBrains Mono" panose="02000009000000000000" pitchFamily="49" charset="0"/>
              </a:rPr>
              <a:t>, </a:t>
            </a:r>
            <a:r>
              <a:rPr lang="en-SG" sz="1000" b="0" err="1">
                <a:solidFill>
                  <a:srgbClr val="CCCCCC"/>
                </a:solidFill>
                <a:effectLst/>
                <a:latin typeface="JetBrains Mono" panose="02000009000000000000" pitchFamily="49" charset="0"/>
              </a:rPr>
              <a:t>memory_order_release</a:t>
            </a:r>
            <a:r>
              <a:rPr lang="en-SG" sz="1000" b="0">
                <a:solidFill>
                  <a:srgbClr val="CCCCCC"/>
                </a:solidFill>
                <a:effectLst/>
                <a:latin typeface="JetBrains Mono" panose="02000009000000000000" pitchFamily="49" charset="0"/>
              </a:rPr>
              <a:t>);</a:t>
            </a:r>
          </a:p>
          <a:p>
            <a:pPr>
              <a:lnSpc>
                <a:spcPts val="1425"/>
              </a:lnSpc>
              <a:buNone/>
            </a:pPr>
            <a:r>
              <a:rPr lang="en-SG" sz="1000" b="0">
                <a:solidFill>
                  <a:srgbClr val="CCCCCC"/>
                </a:solidFill>
                <a:effectLst/>
                <a:latin typeface="JetBrains Mono" panose="02000009000000000000" pitchFamily="49" charset="0"/>
              </a:rPr>
              <a:t>}</a:t>
            </a:r>
          </a:p>
        </p:txBody>
      </p:sp>
      <p:sp>
        <p:nvSpPr>
          <p:cNvPr id="5" name="TextBox 4">
            <a:extLst>
              <a:ext uri="{FF2B5EF4-FFF2-40B4-BE49-F238E27FC236}">
                <a16:creationId xmlns:a16="http://schemas.microsoft.com/office/drawing/2014/main" id="{97F47B31-7A7B-EA80-8731-856F88D8F069}"/>
              </a:ext>
            </a:extLst>
          </p:cNvPr>
          <p:cNvSpPr txBox="1"/>
          <p:nvPr/>
        </p:nvSpPr>
        <p:spPr>
          <a:xfrm>
            <a:off x="5764764" y="1860763"/>
            <a:ext cx="5910825" cy="461665"/>
          </a:xfrm>
          <a:prstGeom prst="rect">
            <a:avLst/>
          </a:prstGeom>
          <a:noFill/>
        </p:spPr>
        <p:txBody>
          <a:bodyPr wrap="square">
            <a:spAutoFit/>
          </a:bodyPr>
          <a:lstStyle>
            <a:defPPr>
              <a:defRPr lang="ru-RU"/>
            </a:defPPr>
            <a:lvl1pPr>
              <a:defRPr sz="1200" b="1"/>
            </a:lvl1pPr>
          </a:lstStyle>
          <a:p>
            <a:r>
              <a:rPr lang="en-US"/>
              <a:t>After</a:t>
            </a:r>
          </a:p>
          <a:p>
            <a:r>
              <a:rPr lang="en-US" b="0"/>
              <a:t>Relaxed.</a:t>
            </a:r>
            <a:endParaRPr lang="en-SG"/>
          </a:p>
        </p:txBody>
      </p:sp>
      <p:sp>
        <p:nvSpPr>
          <p:cNvPr id="6" name="Rectangle 2">
            <a:extLst>
              <a:ext uri="{FF2B5EF4-FFF2-40B4-BE49-F238E27FC236}">
                <a16:creationId xmlns:a16="http://schemas.microsoft.com/office/drawing/2014/main" id="{7D95E934-75BB-9924-4E4D-86FF58ED4906}"/>
              </a:ext>
            </a:extLst>
          </p:cNvPr>
          <p:cNvSpPr>
            <a:spLocks noChangeArrowheads="1"/>
          </p:cNvSpPr>
          <p:nvPr/>
        </p:nvSpPr>
        <p:spPr bwMode="auto">
          <a:xfrm>
            <a:off x="233910" y="757693"/>
            <a:ext cx="1149192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a:solidFill>
                  <a:srgbClr val="3333FF"/>
                </a:solidFill>
              </a:rPr>
              <a:t>2. Vector "Top-Down": From Structure to Atomics</a:t>
            </a:r>
          </a:p>
          <a:p>
            <a:r>
              <a:rPr lang="en-US" sz="1400" b="1" i="0">
                <a:effectLst/>
                <a:latin typeface="Inter"/>
              </a:rPr>
              <a:t>Scenario:</a:t>
            </a:r>
            <a:r>
              <a:rPr lang="en-US" sz="1400" b="0" i="0">
                <a:effectLst/>
                <a:latin typeface="Inter"/>
              </a:rPr>
              <a:t> Audio streaming Ring Buffer.</a:t>
            </a:r>
            <a:br>
              <a:rPr lang="en-US" sz="1400"/>
            </a:br>
            <a:r>
              <a:rPr lang="en-US" sz="1400" b="1" i="0">
                <a:effectLst/>
                <a:latin typeface="Inter"/>
              </a:rPr>
              <a:t>Core Idea:</a:t>
            </a:r>
            <a:r>
              <a:rPr lang="en-US" sz="1400" b="0" i="0">
                <a:effectLst/>
                <a:latin typeface="Inter"/>
              </a:rPr>
              <a:t> The user explicitly marks the buffer as </a:t>
            </a:r>
            <a:r>
              <a:rPr lang="en-US" sz="1400" b="0" i="0">
                <a:effectLst/>
                <a:latin typeface="DM Mono" panose="020B0509040201040103" pitchFamily="49" charset="0"/>
              </a:rPr>
              <a:t>lossy</a:t>
            </a:r>
            <a:r>
              <a:rPr lang="en-US" sz="1400" b="0" i="0">
                <a:effectLst/>
                <a:latin typeface="Inter"/>
              </a:rPr>
              <a:t> (tolerates artifacts/glitches). This requirement flows down to the hardware level, downgrading atomic instructions by removing memory barriers.</a:t>
            </a:r>
            <a:endParaRPr kumimoji="0" lang="en-US" altLang="en-US" sz="1050" i="0" u="none" strike="noStrike" cap="none" normalizeH="0" baseline="0">
              <a:ln>
                <a:noFill/>
              </a:ln>
              <a:effectLst/>
            </a:endParaRPr>
          </a:p>
        </p:txBody>
      </p:sp>
      <p:sp>
        <p:nvSpPr>
          <p:cNvPr id="8" name="TextBox 7">
            <a:extLst>
              <a:ext uri="{FF2B5EF4-FFF2-40B4-BE49-F238E27FC236}">
                <a16:creationId xmlns:a16="http://schemas.microsoft.com/office/drawing/2014/main" id="{A1CBD4B8-4722-B4EB-76DB-1C0DDD174493}"/>
              </a:ext>
            </a:extLst>
          </p:cNvPr>
          <p:cNvSpPr txBox="1"/>
          <p:nvPr/>
        </p:nvSpPr>
        <p:spPr>
          <a:xfrm>
            <a:off x="5777948" y="2322428"/>
            <a:ext cx="6056735" cy="2057294"/>
          </a:xfrm>
          <a:prstGeom prst="rect">
            <a:avLst/>
          </a:prstGeom>
          <a:solidFill>
            <a:srgbClr val="1F1F1F"/>
          </a:solidFill>
        </p:spPr>
        <p:txBody>
          <a:bodyPr wrap="square">
            <a:spAutoFit/>
          </a:bodyPr>
          <a:lstStyle/>
          <a:p>
            <a:pPr>
              <a:lnSpc>
                <a:spcPts val="1425"/>
              </a:lnSpc>
              <a:buNone/>
            </a:pPr>
            <a:r>
              <a:rPr lang="en-SG" sz="1000" b="0">
                <a:solidFill>
                  <a:srgbClr val="569CD6"/>
                </a:solidFill>
                <a:effectLst/>
                <a:latin typeface="JetBrains Mono" panose="02000009000000000000" pitchFamily="49" charset="0"/>
              </a:rPr>
              <a:t>void</a:t>
            </a:r>
            <a:r>
              <a:rPr lang="en-SG" sz="1000" b="0">
                <a:solidFill>
                  <a:srgbClr val="CCCCCC"/>
                </a:solidFill>
                <a:effectLst/>
                <a:latin typeface="JetBrains Mono" panose="02000009000000000000" pitchFamily="49" charset="0"/>
              </a:rPr>
              <a:t> </a:t>
            </a:r>
            <a:r>
              <a:rPr lang="en-SG" sz="1000" b="0" err="1">
                <a:solidFill>
                  <a:srgbClr val="9CDCFE"/>
                </a:solidFill>
                <a:effectLst/>
                <a:latin typeface="JetBrains Mono" panose="02000009000000000000" pitchFamily="49" charset="0"/>
              </a:rPr>
              <a:t>audio_push_relaxed</a:t>
            </a:r>
            <a:r>
              <a:rPr lang="en-SG" sz="1000" b="0">
                <a:solidFill>
                  <a:srgbClr val="CCCCCC"/>
                </a:solidFill>
                <a:effectLst/>
                <a:latin typeface="JetBrains Mono" panose="02000009000000000000" pitchFamily="49" charset="0"/>
              </a:rPr>
              <a:t>(</a:t>
            </a:r>
            <a:r>
              <a:rPr lang="en-SG" sz="1000" b="0" err="1">
                <a:solidFill>
                  <a:srgbClr val="4EC9B0"/>
                </a:solidFill>
                <a:effectLst/>
                <a:latin typeface="JetBrains Mono" panose="02000009000000000000" pitchFamily="49" charset="0"/>
              </a:rPr>
              <a:t>RingBuf</a:t>
            </a:r>
            <a:r>
              <a:rPr lang="en-SG" sz="1000" b="0">
                <a:solidFill>
                  <a:srgbClr val="CCCCCC"/>
                </a:solidFill>
                <a:effectLst/>
                <a:latin typeface="JetBrains Mono" panose="02000009000000000000" pitchFamily="49" charset="0"/>
              </a:rPr>
              <a:t> </a:t>
            </a:r>
            <a:r>
              <a:rPr lang="en-SG" sz="1000" b="0">
                <a:solidFill>
                  <a:srgbClr val="569CD6"/>
                </a:solidFill>
                <a:effectLst/>
                <a:latin typeface="JetBrains Mono" panose="02000009000000000000" pitchFamily="49" charset="0"/>
              </a:rPr>
              <a:t>*</a:t>
            </a:r>
            <a:r>
              <a:rPr lang="en-SG" sz="1000" b="0" err="1">
                <a:solidFill>
                  <a:srgbClr val="9CDCFE"/>
                </a:solidFill>
                <a:effectLst/>
                <a:latin typeface="JetBrains Mono" panose="02000009000000000000" pitchFamily="49" charset="0"/>
              </a:rPr>
              <a:t>rb</a:t>
            </a:r>
            <a:r>
              <a:rPr lang="en-SG" sz="1000" b="0">
                <a:solidFill>
                  <a:srgbClr val="CCCCCC"/>
                </a:solidFill>
                <a:effectLst/>
                <a:latin typeface="JetBrains Mono" panose="02000009000000000000" pitchFamily="49" charset="0"/>
              </a:rPr>
              <a:t>, </a:t>
            </a:r>
            <a:r>
              <a:rPr lang="en-SG" sz="1000" b="0">
                <a:solidFill>
                  <a:srgbClr val="569CD6"/>
                </a:solidFill>
                <a:effectLst/>
                <a:latin typeface="JetBrains Mono" panose="02000009000000000000" pitchFamily="49" charset="0"/>
              </a:rPr>
              <a:t>float</a:t>
            </a:r>
            <a:r>
              <a:rPr lang="en-SG" sz="1000" b="0">
                <a:solidFill>
                  <a:srgbClr val="CCCCCC"/>
                </a:solidFill>
                <a:effectLst/>
                <a:latin typeface="JetBrains Mono" panose="02000009000000000000" pitchFamily="49" charset="0"/>
              </a:rPr>
              <a:t> </a:t>
            </a:r>
            <a:r>
              <a:rPr lang="en-SG" sz="1000" b="0">
                <a:solidFill>
                  <a:srgbClr val="9CDCFE"/>
                </a:solidFill>
                <a:effectLst/>
                <a:latin typeface="JetBrains Mono" panose="02000009000000000000" pitchFamily="49" charset="0"/>
              </a:rPr>
              <a:t>sample</a:t>
            </a:r>
            <a:r>
              <a:rPr lang="en-SG" sz="1000" b="0">
                <a:solidFill>
                  <a:srgbClr val="CCCCCC"/>
                </a:solidFill>
                <a:effectLst/>
                <a:latin typeface="JetBrains Mono" panose="02000009000000000000" pitchFamily="49" charset="0"/>
              </a:rPr>
              <a:t>) {</a:t>
            </a:r>
          </a:p>
          <a:p>
            <a:pPr>
              <a:lnSpc>
                <a:spcPts val="1425"/>
              </a:lnSpc>
              <a:buNone/>
            </a:pPr>
            <a:r>
              <a:rPr lang="en-SG" sz="1000" b="0">
                <a:solidFill>
                  <a:srgbClr val="CCCCCC"/>
                </a:solidFill>
                <a:effectLst/>
                <a:latin typeface="JetBrains Mono" panose="02000009000000000000" pitchFamily="49" charset="0"/>
              </a:rPr>
              <a:t>  </a:t>
            </a:r>
            <a:r>
              <a:rPr lang="en-SG" sz="1000" b="0">
                <a:solidFill>
                  <a:srgbClr val="569CD6"/>
                </a:solidFill>
                <a:effectLst/>
                <a:latin typeface="JetBrains Mono" panose="02000009000000000000" pitchFamily="49" charset="0"/>
              </a:rPr>
              <a:t>uint32_t</a:t>
            </a:r>
            <a:r>
              <a:rPr lang="en-SG" sz="1000" b="0">
                <a:solidFill>
                  <a:srgbClr val="CCCCCC"/>
                </a:solidFill>
                <a:effectLst/>
                <a:latin typeface="JetBrains Mono" panose="02000009000000000000" pitchFamily="49" charset="0"/>
              </a:rPr>
              <a:t> tail </a:t>
            </a:r>
            <a:r>
              <a:rPr lang="en-SG" sz="1000" b="0">
                <a:solidFill>
                  <a:srgbClr val="D4D4D4"/>
                </a:solidFill>
                <a:effectLst/>
                <a:latin typeface="JetBrains Mono" panose="02000009000000000000" pitchFamily="49" charset="0"/>
              </a:rPr>
              <a:t>=</a:t>
            </a:r>
            <a:r>
              <a:rPr lang="en-SG" sz="1000" b="0">
                <a:solidFill>
                  <a:srgbClr val="CCCCCC"/>
                </a:solidFill>
                <a:effectLst/>
                <a:latin typeface="JetBrains Mono" panose="02000009000000000000" pitchFamily="49" charset="0"/>
              </a:rPr>
              <a:t> </a:t>
            </a:r>
            <a:r>
              <a:rPr lang="en-SG" sz="1000" b="0" err="1">
                <a:solidFill>
                  <a:srgbClr val="DCDCAA"/>
                </a:solidFill>
                <a:effectLst/>
                <a:latin typeface="JetBrains Mono" panose="02000009000000000000" pitchFamily="49" charset="0"/>
              </a:rPr>
              <a:t>atomic_load</a:t>
            </a:r>
            <a:r>
              <a:rPr lang="en-SG" sz="1000" b="0">
                <a:solidFill>
                  <a:srgbClr val="CCCCCC"/>
                </a:solidFill>
                <a:effectLst/>
                <a:latin typeface="JetBrains Mono" panose="02000009000000000000" pitchFamily="49" charset="0"/>
              </a:rPr>
              <a:t>(</a:t>
            </a:r>
            <a:r>
              <a:rPr lang="en-SG" sz="1000" b="0">
                <a:solidFill>
                  <a:srgbClr val="D4D4D4"/>
                </a:solidFill>
                <a:effectLst/>
                <a:latin typeface="JetBrains Mono" panose="02000009000000000000" pitchFamily="49" charset="0"/>
              </a:rPr>
              <a:t>&amp;</a:t>
            </a:r>
            <a:r>
              <a:rPr lang="en-SG" sz="1000" b="0" err="1">
                <a:solidFill>
                  <a:srgbClr val="9CDCFE"/>
                </a:solidFill>
                <a:effectLst/>
                <a:latin typeface="JetBrains Mono" panose="02000009000000000000" pitchFamily="49" charset="0"/>
              </a:rPr>
              <a:t>rb</a:t>
            </a:r>
            <a:r>
              <a:rPr lang="en-SG" sz="1000" b="0">
                <a:solidFill>
                  <a:srgbClr val="CCCCCC"/>
                </a:solidFill>
                <a:effectLst/>
                <a:latin typeface="JetBrains Mono" panose="02000009000000000000" pitchFamily="49" charset="0"/>
              </a:rPr>
              <a:t>-&gt;</a:t>
            </a:r>
            <a:r>
              <a:rPr lang="en-SG" sz="1000" b="0">
                <a:solidFill>
                  <a:srgbClr val="9CDCFE"/>
                </a:solidFill>
                <a:effectLst/>
                <a:latin typeface="JetBrains Mono" panose="02000009000000000000" pitchFamily="49" charset="0"/>
              </a:rPr>
              <a:t>tail</a:t>
            </a:r>
            <a:r>
              <a:rPr lang="en-SG" sz="1000" b="0">
                <a:solidFill>
                  <a:srgbClr val="CCCCCC"/>
                </a:solidFill>
                <a:effectLst/>
                <a:latin typeface="JetBrains Mono" panose="02000009000000000000" pitchFamily="49" charset="0"/>
              </a:rPr>
              <a:t>, </a:t>
            </a:r>
            <a:r>
              <a:rPr lang="en-SG" sz="1000" b="0" err="1">
                <a:solidFill>
                  <a:srgbClr val="CCCCCC"/>
                </a:solidFill>
                <a:effectLst/>
                <a:latin typeface="JetBrains Mono" panose="02000009000000000000" pitchFamily="49" charset="0"/>
              </a:rPr>
              <a:t>memory_order_relaxed</a:t>
            </a:r>
            <a:r>
              <a:rPr lang="en-SG" sz="1000" b="0">
                <a:solidFill>
                  <a:srgbClr val="CCCCCC"/>
                </a:solidFill>
                <a:effectLst/>
                <a:latin typeface="JetBrains Mono" panose="02000009000000000000" pitchFamily="49" charset="0"/>
              </a:rPr>
              <a:t>);</a:t>
            </a:r>
          </a:p>
          <a:p>
            <a:pPr>
              <a:lnSpc>
                <a:spcPts val="1425"/>
              </a:lnSpc>
              <a:buNone/>
            </a:pPr>
            <a:r>
              <a:rPr lang="en-SG" sz="1000" b="0">
                <a:solidFill>
                  <a:srgbClr val="CCCCCC"/>
                </a:solidFill>
                <a:effectLst/>
                <a:latin typeface="JetBrains Mono" panose="02000009000000000000" pitchFamily="49" charset="0"/>
              </a:rPr>
              <a:t>  </a:t>
            </a:r>
            <a:r>
              <a:rPr lang="en-SG" sz="1000" b="0" err="1">
                <a:solidFill>
                  <a:srgbClr val="9CDCFE"/>
                </a:solidFill>
                <a:effectLst/>
                <a:latin typeface="JetBrains Mono" panose="02000009000000000000" pitchFamily="49" charset="0"/>
              </a:rPr>
              <a:t>rb</a:t>
            </a:r>
            <a:r>
              <a:rPr lang="en-SG" sz="1000" b="0">
                <a:solidFill>
                  <a:srgbClr val="CCCCCC"/>
                </a:solidFill>
                <a:effectLst/>
                <a:latin typeface="JetBrains Mono" panose="02000009000000000000" pitchFamily="49" charset="0"/>
              </a:rPr>
              <a:t>-&gt;</a:t>
            </a:r>
            <a:r>
              <a:rPr lang="en-SG" sz="1000" b="0">
                <a:solidFill>
                  <a:srgbClr val="9CDCFE"/>
                </a:solidFill>
                <a:effectLst/>
                <a:latin typeface="JetBrains Mono" panose="02000009000000000000" pitchFamily="49" charset="0"/>
              </a:rPr>
              <a:t>buffer</a:t>
            </a:r>
            <a:r>
              <a:rPr lang="en-SG" sz="1000" b="0">
                <a:solidFill>
                  <a:srgbClr val="CCCCCC"/>
                </a:solidFill>
                <a:effectLst/>
                <a:latin typeface="JetBrains Mono" panose="02000009000000000000" pitchFamily="49" charset="0"/>
              </a:rPr>
              <a:t>[tail </a:t>
            </a:r>
            <a:r>
              <a:rPr lang="en-SG" sz="1000" b="0">
                <a:solidFill>
                  <a:srgbClr val="D4D4D4"/>
                </a:solidFill>
                <a:effectLst/>
                <a:latin typeface="JetBrains Mono" panose="02000009000000000000" pitchFamily="49" charset="0"/>
              </a:rPr>
              <a:t>%</a:t>
            </a:r>
            <a:r>
              <a:rPr lang="en-SG" sz="1000" b="0">
                <a:solidFill>
                  <a:srgbClr val="CCCCCC"/>
                </a:solidFill>
                <a:effectLst/>
                <a:latin typeface="JetBrains Mono" panose="02000009000000000000" pitchFamily="49" charset="0"/>
              </a:rPr>
              <a:t> SIZE] </a:t>
            </a:r>
            <a:r>
              <a:rPr lang="en-SG" sz="1000" b="0">
                <a:solidFill>
                  <a:srgbClr val="D4D4D4"/>
                </a:solidFill>
                <a:effectLst/>
                <a:latin typeface="JetBrains Mono" panose="02000009000000000000" pitchFamily="49" charset="0"/>
              </a:rPr>
              <a:t>=</a:t>
            </a:r>
            <a:r>
              <a:rPr lang="en-SG" sz="1000" b="0">
                <a:solidFill>
                  <a:srgbClr val="CCCCCC"/>
                </a:solidFill>
                <a:effectLst/>
                <a:latin typeface="JetBrains Mono" panose="02000009000000000000" pitchFamily="49" charset="0"/>
              </a:rPr>
              <a:t> sample;</a:t>
            </a:r>
          </a:p>
          <a:p>
            <a:pPr>
              <a:lnSpc>
                <a:spcPts val="1425"/>
              </a:lnSpc>
              <a:buNone/>
            </a:pP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6A9955"/>
                </a:solidFill>
                <a:effectLst/>
                <a:latin typeface="JetBrains Mono" panose="02000009000000000000" pitchFamily="49" charset="0"/>
              </a:rPr>
              <a:t>  // Barrier Removed! </a:t>
            </a:r>
          </a:p>
          <a:p>
            <a:pPr>
              <a:lnSpc>
                <a:spcPts val="1425"/>
              </a:lnSpc>
              <a:buNone/>
            </a:pPr>
            <a:r>
              <a:rPr lang="en-SG" sz="1000" b="0">
                <a:solidFill>
                  <a:srgbClr val="6A9955"/>
                </a:solidFill>
                <a:effectLst/>
                <a:latin typeface="JetBrains Mono" panose="02000009000000000000" pitchFamily="49" charset="0"/>
              </a:rPr>
              <a:t>  // The CPU may reorder writing the tail before the sample.</a:t>
            </a: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6A9955"/>
                </a:solidFill>
                <a:effectLst/>
                <a:latin typeface="JetBrains Mono" panose="02000009000000000000" pitchFamily="49" charset="0"/>
              </a:rPr>
              <a:t>  // Risk: Reader sees new tail but old garbage data in the buffer.</a:t>
            </a: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6A9955"/>
                </a:solidFill>
                <a:effectLst/>
                <a:latin typeface="JetBrains Mono" panose="02000009000000000000" pitchFamily="49" charset="0"/>
              </a:rPr>
              <a:t>  // Verdict: Allowed because the structure is marked "lossy". Faster execution.</a:t>
            </a: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CCCCCC"/>
                </a:solidFill>
                <a:effectLst/>
                <a:latin typeface="JetBrains Mono" panose="02000009000000000000" pitchFamily="49" charset="0"/>
              </a:rPr>
              <a:t>  </a:t>
            </a:r>
            <a:r>
              <a:rPr lang="en-SG" sz="1000" b="0" err="1">
                <a:solidFill>
                  <a:srgbClr val="DCDCAA"/>
                </a:solidFill>
                <a:effectLst/>
                <a:latin typeface="JetBrains Mono" panose="02000009000000000000" pitchFamily="49" charset="0"/>
              </a:rPr>
              <a:t>atomic_store</a:t>
            </a:r>
            <a:r>
              <a:rPr lang="en-SG" sz="1000" b="0">
                <a:solidFill>
                  <a:srgbClr val="CCCCCC"/>
                </a:solidFill>
                <a:effectLst/>
                <a:latin typeface="JetBrains Mono" panose="02000009000000000000" pitchFamily="49" charset="0"/>
              </a:rPr>
              <a:t>(</a:t>
            </a:r>
            <a:r>
              <a:rPr lang="en-SG" sz="1000" b="0">
                <a:solidFill>
                  <a:srgbClr val="D4D4D4"/>
                </a:solidFill>
                <a:effectLst/>
                <a:latin typeface="JetBrains Mono" panose="02000009000000000000" pitchFamily="49" charset="0"/>
              </a:rPr>
              <a:t>&amp;</a:t>
            </a:r>
            <a:r>
              <a:rPr lang="en-SG" sz="1000" b="0" err="1">
                <a:solidFill>
                  <a:srgbClr val="9CDCFE"/>
                </a:solidFill>
                <a:effectLst/>
                <a:latin typeface="JetBrains Mono" panose="02000009000000000000" pitchFamily="49" charset="0"/>
              </a:rPr>
              <a:t>rb</a:t>
            </a:r>
            <a:r>
              <a:rPr lang="en-SG" sz="1000" b="0">
                <a:solidFill>
                  <a:srgbClr val="CCCCCC"/>
                </a:solidFill>
                <a:effectLst/>
                <a:latin typeface="JetBrains Mono" panose="02000009000000000000" pitchFamily="49" charset="0"/>
              </a:rPr>
              <a:t>-&gt;</a:t>
            </a:r>
            <a:r>
              <a:rPr lang="en-SG" sz="1000" b="0">
                <a:solidFill>
                  <a:srgbClr val="9CDCFE"/>
                </a:solidFill>
                <a:effectLst/>
                <a:latin typeface="JetBrains Mono" panose="02000009000000000000" pitchFamily="49" charset="0"/>
              </a:rPr>
              <a:t>tail</a:t>
            </a:r>
            <a:r>
              <a:rPr lang="en-SG" sz="1000" b="0">
                <a:solidFill>
                  <a:srgbClr val="CCCCCC"/>
                </a:solidFill>
                <a:effectLst/>
                <a:latin typeface="JetBrains Mono" panose="02000009000000000000" pitchFamily="49" charset="0"/>
              </a:rPr>
              <a:t>, tail </a:t>
            </a:r>
            <a:r>
              <a:rPr lang="en-SG" sz="1000" b="0">
                <a:solidFill>
                  <a:srgbClr val="D4D4D4"/>
                </a:solidFill>
                <a:effectLst/>
                <a:latin typeface="JetBrains Mono" panose="02000009000000000000" pitchFamily="49" charset="0"/>
              </a:rPr>
              <a:t>+</a:t>
            </a:r>
            <a:r>
              <a:rPr lang="en-SG" sz="1000" b="0">
                <a:solidFill>
                  <a:srgbClr val="CCCCCC"/>
                </a:solidFill>
                <a:effectLst/>
                <a:latin typeface="JetBrains Mono" panose="02000009000000000000" pitchFamily="49" charset="0"/>
              </a:rPr>
              <a:t> </a:t>
            </a:r>
            <a:r>
              <a:rPr lang="en-SG" sz="1000" b="0">
                <a:solidFill>
                  <a:srgbClr val="B5CEA8"/>
                </a:solidFill>
                <a:effectLst/>
                <a:latin typeface="JetBrains Mono" panose="02000009000000000000" pitchFamily="49" charset="0"/>
              </a:rPr>
              <a:t>1</a:t>
            </a:r>
            <a:r>
              <a:rPr lang="en-SG" sz="1000" b="0">
                <a:solidFill>
                  <a:srgbClr val="CCCCCC"/>
                </a:solidFill>
                <a:effectLst/>
                <a:latin typeface="JetBrains Mono" panose="02000009000000000000" pitchFamily="49" charset="0"/>
              </a:rPr>
              <a:t>, </a:t>
            </a:r>
            <a:r>
              <a:rPr lang="en-SG" sz="1000" b="0" err="1">
                <a:solidFill>
                  <a:srgbClr val="CCCCCC"/>
                </a:solidFill>
                <a:effectLst/>
                <a:latin typeface="JetBrains Mono" panose="02000009000000000000" pitchFamily="49" charset="0"/>
              </a:rPr>
              <a:t>memory_order_relaxed</a:t>
            </a:r>
            <a:r>
              <a:rPr lang="en-SG" sz="1000" b="0">
                <a:solidFill>
                  <a:srgbClr val="CCCCCC"/>
                </a:solidFill>
                <a:effectLst/>
                <a:latin typeface="JetBrains Mono" panose="02000009000000000000" pitchFamily="49" charset="0"/>
              </a:rPr>
              <a:t>);</a:t>
            </a:r>
          </a:p>
          <a:p>
            <a:pPr>
              <a:lnSpc>
                <a:spcPts val="1425"/>
              </a:lnSpc>
              <a:buNone/>
            </a:pPr>
            <a:r>
              <a:rPr lang="en-SG" sz="1000" b="0">
                <a:solidFill>
                  <a:srgbClr val="CCCCCC"/>
                </a:solidFill>
                <a:effectLst/>
                <a:latin typeface="JetBrains Mono" panose="02000009000000000000" pitchFamily="49" charset="0"/>
              </a:rPr>
              <a:t>}</a:t>
            </a:r>
          </a:p>
        </p:txBody>
      </p:sp>
    </p:spTree>
    <p:extLst>
      <p:ext uri="{BB962C8B-B14F-4D97-AF65-F5344CB8AC3E}">
        <p14:creationId xmlns:p14="http://schemas.microsoft.com/office/powerpoint/2010/main" val="8866783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CDB87-0371-21AE-F31A-FDAFE599785F}"/>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F80CC167-3A76-1B02-8A80-3424F174C169}"/>
              </a:ext>
            </a:extLst>
          </p:cNvPr>
          <p:cNvSpPr txBox="1"/>
          <p:nvPr/>
        </p:nvSpPr>
        <p:spPr>
          <a:xfrm>
            <a:off x="233910" y="208621"/>
            <a:ext cx="3165273" cy="461665"/>
          </a:xfrm>
          <a:prstGeom prst="rect">
            <a:avLst/>
          </a:prstGeom>
          <a:solidFill>
            <a:schemeClr val="accent6">
              <a:lumMod val="50000"/>
            </a:schemeClr>
          </a:solidFill>
        </p:spPr>
        <p:txBody>
          <a:bodyPr wrap="square" rtlCol="0">
            <a:spAutoFit/>
          </a:bodyPr>
          <a:lstStyle/>
          <a:p>
            <a:r>
              <a:rPr lang="en-US" sz="2400">
                <a:solidFill>
                  <a:schemeClr val="bg1"/>
                </a:solidFill>
                <a:latin typeface="Ubuntu Condensed" panose="020B0506030602030204" pitchFamily="34" charset="0"/>
              </a:rPr>
              <a:t>Propagation of relaxation</a:t>
            </a:r>
            <a:endParaRPr lang="ru-RU" sz="2400">
              <a:solidFill>
                <a:schemeClr val="bg1"/>
              </a:solidFill>
              <a:latin typeface="Ubuntu Condensed" panose="020B0506030602030204" pitchFamily="34" charset="0"/>
            </a:endParaRPr>
          </a:p>
        </p:txBody>
      </p:sp>
      <p:sp>
        <p:nvSpPr>
          <p:cNvPr id="7" name="Номер слайда 7">
            <a:extLst>
              <a:ext uri="{FF2B5EF4-FFF2-40B4-BE49-F238E27FC236}">
                <a16:creationId xmlns:a16="http://schemas.microsoft.com/office/drawing/2014/main" id="{DE23D6A8-5C2D-16AE-F56F-D8E5C150E54D}"/>
              </a:ext>
            </a:extLst>
          </p:cNvPr>
          <p:cNvSpPr>
            <a:spLocks noGrp="1"/>
          </p:cNvSpPr>
          <p:nvPr>
            <p:ph type="sldNum" sz="quarter" idx="12"/>
          </p:nvPr>
        </p:nvSpPr>
        <p:spPr>
          <a:xfrm>
            <a:off x="11725835" y="6402070"/>
            <a:ext cx="386155" cy="365125"/>
          </a:xfrm>
        </p:spPr>
        <p:txBody>
          <a:bodyPr/>
          <a:lstStyle/>
          <a:p>
            <a:pPr algn="ctr"/>
            <a:fld id="{E757BAED-F255-4CF1-96BA-8D7417A9C3BC}" type="slidenum">
              <a:rPr lang="ru-RU" sz="1800" smtClean="0">
                <a:latin typeface="Ubuntu Condensed" panose="020B0506030602030204" pitchFamily="34" charset="0"/>
              </a:rPr>
              <a:pPr algn="ctr"/>
              <a:t>20</a:t>
            </a:fld>
            <a:endParaRPr lang="ru-RU" sz="1800">
              <a:latin typeface="Ubuntu Condensed" panose="020B0506030602030204" pitchFamily="34" charset="0"/>
            </a:endParaRPr>
          </a:p>
        </p:txBody>
      </p:sp>
      <p:sp>
        <p:nvSpPr>
          <p:cNvPr id="2" name="TextBox 1">
            <a:extLst>
              <a:ext uri="{FF2B5EF4-FFF2-40B4-BE49-F238E27FC236}">
                <a16:creationId xmlns:a16="http://schemas.microsoft.com/office/drawing/2014/main" id="{011DE6E0-57D8-773D-1784-A246E4BC1E5D}"/>
              </a:ext>
            </a:extLst>
          </p:cNvPr>
          <p:cNvSpPr txBox="1"/>
          <p:nvPr/>
        </p:nvSpPr>
        <p:spPr>
          <a:xfrm>
            <a:off x="233910" y="1848542"/>
            <a:ext cx="5371760" cy="276999"/>
          </a:xfrm>
          <a:prstGeom prst="rect">
            <a:avLst/>
          </a:prstGeom>
          <a:noFill/>
        </p:spPr>
        <p:txBody>
          <a:bodyPr wrap="square">
            <a:spAutoFit/>
          </a:bodyPr>
          <a:lstStyle/>
          <a:p>
            <a:r>
              <a:rPr lang="en-US" sz="1200" b="1"/>
              <a:t>Before (strict loop)</a:t>
            </a:r>
            <a:r>
              <a:rPr lang="en-US" sz="1200"/>
              <a:t>.</a:t>
            </a:r>
          </a:p>
        </p:txBody>
      </p:sp>
      <p:sp>
        <p:nvSpPr>
          <p:cNvPr id="3" name="TextBox 2">
            <a:extLst>
              <a:ext uri="{FF2B5EF4-FFF2-40B4-BE49-F238E27FC236}">
                <a16:creationId xmlns:a16="http://schemas.microsoft.com/office/drawing/2014/main" id="{15E2CC1B-E485-A9AD-729E-65B1705FB462}"/>
              </a:ext>
            </a:extLst>
          </p:cNvPr>
          <p:cNvSpPr txBox="1"/>
          <p:nvPr/>
        </p:nvSpPr>
        <p:spPr>
          <a:xfrm>
            <a:off x="233909" y="2310207"/>
            <a:ext cx="5371761" cy="1698222"/>
          </a:xfrm>
          <a:prstGeom prst="rect">
            <a:avLst/>
          </a:prstGeom>
          <a:solidFill>
            <a:srgbClr val="1F1F1F"/>
          </a:solidFill>
        </p:spPr>
        <p:txBody>
          <a:bodyPr wrap="square">
            <a:spAutoFit/>
          </a:bodyPr>
          <a:lstStyle/>
          <a:p>
            <a:pPr>
              <a:lnSpc>
                <a:spcPts val="1425"/>
              </a:lnSpc>
              <a:buNone/>
            </a:pPr>
            <a:r>
              <a:rPr lang="en-US" sz="1000" b="0" err="1">
                <a:solidFill>
                  <a:srgbClr val="CCCCCC"/>
                </a:solidFill>
                <a:effectLst/>
                <a:latin typeface="JetBrains Mono" panose="02000009000000000000" pitchFamily="49" charset="0"/>
              </a:rPr>
              <a:t>atomic_int</a:t>
            </a:r>
            <a:r>
              <a:rPr lang="en-US" sz="1000" b="0">
                <a:solidFill>
                  <a:srgbClr val="CCCCCC"/>
                </a:solidFill>
                <a:effectLst/>
                <a:latin typeface="JetBrains Mono" panose="02000009000000000000" pitchFamily="49" charset="0"/>
              </a:rPr>
              <a:t> </a:t>
            </a:r>
            <a:r>
              <a:rPr lang="en-US" sz="1000" b="0">
                <a:solidFill>
                  <a:srgbClr val="9CDCFE"/>
                </a:solidFill>
                <a:effectLst/>
                <a:latin typeface="JetBrains Mono" panose="02000009000000000000" pitchFamily="49" charset="0"/>
              </a:rPr>
              <a:t>visits</a:t>
            </a:r>
            <a:r>
              <a:rPr lang="en-US" sz="1000" b="0">
                <a:solidFill>
                  <a:srgbClr val="CCCCCC"/>
                </a:solidFill>
                <a:effectLst/>
                <a:latin typeface="JetBrains Mono" panose="02000009000000000000" pitchFamily="49" charset="0"/>
              </a:rPr>
              <a:t> </a:t>
            </a:r>
            <a:r>
              <a:rPr lang="en-US" sz="1000" b="0">
                <a:solidFill>
                  <a:srgbClr val="D4D4D4"/>
                </a:solidFill>
                <a:effectLst/>
                <a:latin typeface="JetBrains Mono" panose="02000009000000000000" pitchFamily="49" charset="0"/>
              </a:rPr>
              <a:t>=</a:t>
            </a:r>
            <a:r>
              <a:rPr lang="en-US" sz="1000" b="0">
                <a:solidFill>
                  <a:srgbClr val="CCCCCC"/>
                </a:solidFill>
                <a:effectLst/>
                <a:latin typeface="JetBrains Mono" panose="02000009000000000000" pitchFamily="49" charset="0"/>
              </a:rPr>
              <a:t> </a:t>
            </a:r>
            <a:r>
              <a:rPr lang="en-US" sz="1000" b="0">
                <a:solidFill>
                  <a:srgbClr val="B5CEA8"/>
                </a:solidFill>
                <a:effectLst/>
                <a:latin typeface="JetBrains Mono" panose="02000009000000000000" pitchFamily="49" charset="0"/>
              </a:rPr>
              <a:t>0</a:t>
            </a:r>
            <a:r>
              <a:rPr lang="en-US" sz="1000" b="0">
                <a:solidFill>
                  <a:srgbClr val="CCCCCC"/>
                </a:solidFill>
                <a:effectLst/>
                <a:latin typeface="JetBrains Mono" panose="02000009000000000000" pitchFamily="49" charset="0"/>
              </a:rPr>
              <a:t>;</a:t>
            </a:r>
            <a:br>
              <a:rPr lang="en-US" sz="1000" b="0">
                <a:solidFill>
                  <a:srgbClr val="CCCCCC"/>
                </a:solidFill>
                <a:effectLst/>
                <a:latin typeface="JetBrains Mono" panose="02000009000000000000" pitchFamily="49" charset="0"/>
              </a:rPr>
            </a:b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569CD6"/>
                </a:solidFill>
                <a:effectLst/>
                <a:latin typeface="JetBrains Mono" panose="02000009000000000000" pitchFamily="49" charset="0"/>
              </a:rPr>
              <a:t>void</a:t>
            </a:r>
            <a:r>
              <a:rPr lang="en-US" sz="1000" b="0">
                <a:solidFill>
                  <a:srgbClr val="CCCCCC"/>
                </a:solidFill>
                <a:effectLst/>
                <a:latin typeface="JetBrains Mono" panose="02000009000000000000" pitchFamily="49" charset="0"/>
              </a:rPr>
              <a:t> </a:t>
            </a:r>
            <a:r>
              <a:rPr lang="en-US" sz="1000" b="0" err="1">
                <a:solidFill>
                  <a:srgbClr val="DCDCAA"/>
                </a:solidFill>
                <a:effectLst/>
                <a:latin typeface="JetBrains Mono" panose="02000009000000000000" pitchFamily="49" charset="0"/>
              </a:rPr>
              <a:t>process_batch</a:t>
            </a:r>
            <a:r>
              <a:rPr lang="en-US" sz="1000" b="0">
                <a:solidFill>
                  <a:srgbClr val="CCCCCC"/>
                </a:solidFill>
                <a:effectLst/>
                <a:latin typeface="JetBrains Mono" panose="02000009000000000000" pitchFamily="49" charset="0"/>
              </a:rPr>
              <a:t>(</a:t>
            </a:r>
            <a:r>
              <a:rPr lang="en-US" sz="1000" b="0">
                <a:solidFill>
                  <a:srgbClr val="569CD6"/>
                </a:solidFill>
                <a:effectLst/>
                <a:latin typeface="JetBrains Mono" panose="02000009000000000000" pitchFamily="49" charset="0"/>
              </a:rPr>
              <a:t>int</a:t>
            </a:r>
            <a:r>
              <a:rPr lang="en-US" sz="1000" b="0">
                <a:solidFill>
                  <a:srgbClr val="CCCCCC"/>
                </a:solidFill>
                <a:effectLst/>
                <a:latin typeface="JetBrains Mono" panose="02000009000000000000" pitchFamily="49" charset="0"/>
              </a:rPr>
              <a:t> </a:t>
            </a:r>
            <a:r>
              <a:rPr lang="en-US" sz="1000" b="0">
                <a:solidFill>
                  <a:srgbClr val="9CDCFE"/>
                </a:solidFill>
                <a:effectLst/>
                <a:latin typeface="JetBrains Mono" panose="02000009000000000000" pitchFamily="49" charset="0"/>
              </a:rPr>
              <a:t>count</a:t>
            </a:r>
            <a:r>
              <a:rPr lang="en-US" sz="1000" b="0">
                <a:solidFill>
                  <a:srgbClr val="CCCCCC"/>
                </a:solidFill>
                <a:effectLst/>
                <a:latin typeface="JetBrains Mono" panose="02000009000000000000" pitchFamily="49" charset="0"/>
              </a:rPr>
              <a:t>) {</a:t>
            </a:r>
          </a:p>
          <a:p>
            <a:pPr>
              <a:lnSpc>
                <a:spcPts val="1425"/>
              </a:lnSpc>
              <a:buNone/>
            </a:pPr>
            <a:r>
              <a:rPr lang="en-US" sz="1000" b="0">
                <a:solidFill>
                  <a:srgbClr val="CCCCCC"/>
                </a:solidFill>
                <a:effectLst/>
                <a:latin typeface="JetBrains Mono" panose="02000009000000000000" pitchFamily="49" charset="0"/>
              </a:rPr>
              <a:t>  </a:t>
            </a:r>
            <a:r>
              <a:rPr lang="en-US" sz="1000" b="0">
                <a:solidFill>
                  <a:srgbClr val="C586C0"/>
                </a:solidFill>
                <a:effectLst/>
                <a:latin typeface="JetBrains Mono" panose="02000009000000000000" pitchFamily="49" charset="0"/>
              </a:rPr>
              <a:t>for</a:t>
            </a:r>
            <a:r>
              <a:rPr lang="en-US" sz="1000" b="0">
                <a:solidFill>
                  <a:srgbClr val="CCCCCC"/>
                </a:solidFill>
                <a:effectLst/>
                <a:latin typeface="JetBrains Mono" panose="02000009000000000000" pitchFamily="49" charset="0"/>
              </a:rPr>
              <a:t> (</a:t>
            </a:r>
            <a:r>
              <a:rPr lang="en-US" sz="1000" b="0">
                <a:solidFill>
                  <a:srgbClr val="569CD6"/>
                </a:solidFill>
                <a:effectLst/>
                <a:latin typeface="JetBrains Mono" panose="02000009000000000000" pitchFamily="49" charset="0"/>
              </a:rPr>
              <a:t>int</a:t>
            </a:r>
            <a:r>
              <a:rPr lang="en-US" sz="1000" b="0">
                <a:solidFill>
                  <a:srgbClr val="CCCCCC"/>
                </a:solidFill>
                <a:effectLst/>
                <a:latin typeface="JetBrains Mono" panose="02000009000000000000" pitchFamily="49" charset="0"/>
              </a:rPr>
              <a:t> </a:t>
            </a:r>
            <a:r>
              <a:rPr lang="en-US" sz="1000" b="0" err="1">
                <a:solidFill>
                  <a:srgbClr val="9CDCFE"/>
                </a:solidFill>
                <a:effectLst/>
                <a:latin typeface="JetBrains Mono" panose="02000009000000000000" pitchFamily="49" charset="0"/>
              </a:rPr>
              <a:t>i</a:t>
            </a:r>
            <a:r>
              <a:rPr lang="en-US" sz="1000" b="0">
                <a:solidFill>
                  <a:srgbClr val="CCCCCC"/>
                </a:solidFill>
                <a:effectLst/>
                <a:latin typeface="JetBrains Mono" panose="02000009000000000000" pitchFamily="49" charset="0"/>
              </a:rPr>
              <a:t> </a:t>
            </a:r>
            <a:r>
              <a:rPr lang="en-US" sz="1000" b="0">
                <a:solidFill>
                  <a:srgbClr val="D4D4D4"/>
                </a:solidFill>
                <a:effectLst/>
                <a:latin typeface="JetBrains Mono" panose="02000009000000000000" pitchFamily="49" charset="0"/>
              </a:rPr>
              <a:t>=</a:t>
            </a:r>
            <a:r>
              <a:rPr lang="en-US" sz="1000" b="0">
                <a:solidFill>
                  <a:srgbClr val="CCCCCC"/>
                </a:solidFill>
                <a:effectLst/>
                <a:latin typeface="JetBrains Mono" panose="02000009000000000000" pitchFamily="49" charset="0"/>
              </a:rPr>
              <a:t> </a:t>
            </a:r>
            <a:r>
              <a:rPr lang="en-US" sz="1000" b="0">
                <a:solidFill>
                  <a:srgbClr val="B5CEA8"/>
                </a:solidFill>
                <a:effectLst/>
                <a:latin typeface="JetBrains Mono" panose="02000009000000000000" pitchFamily="49" charset="0"/>
              </a:rPr>
              <a:t>0</a:t>
            </a:r>
            <a:r>
              <a:rPr lang="en-US" sz="1000" b="0">
                <a:solidFill>
                  <a:srgbClr val="CCCCCC"/>
                </a:solidFill>
                <a:effectLst/>
                <a:latin typeface="JetBrains Mono" panose="02000009000000000000" pitchFamily="49" charset="0"/>
              </a:rPr>
              <a:t>; </a:t>
            </a:r>
            <a:r>
              <a:rPr lang="en-US" sz="1000" b="0" err="1">
                <a:solidFill>
                  <a:srgbClr val="9CDCFE"/>
                </a:solidFill>
                <a:effectLst/>
                <a:latin typeface="JetBrains Mono" panose="02000009000000000000" pitchFamily="49" charset="0"/>
              </a:rPr>
              <a:t>i</a:t>
            </a:r>
            <a:r>
              <a:rPr lang="en-US" sz="1000" b="0">
                <a:solidFill>
                  <a:srgbClr val="CCCCCC"/>
                </a:solidFill>
                <a:effectLst/>
                <a:latin typeface="JetBrains Mono" panose="02000009000000000000" pitchFamily="49" charset="0"/>
              </a:rPr>
              <a:t> </a:t>
            </a:r>
            <a:r>
              <a:rPr lang="en-US" sz="1000" b="0">
                <a:solidFill>
                  <a:srgbClr val="D4D4D4"/>
                </a:solidFill>
                <a:effectLst/>
                <a:latin typeface="JetBrains Mono" panose="02000009000000000000" pitchFamily="49" charset="0"/>
              </a:rPr>
              <a:t>&lt;</a:t>
            </a:r>
            <a:r>
              <a:rPr lang="en-US" sz="1000" b="0">
                <a:solidFill>
                  <a:srgbClr val="CCCCCC"/>
                </a:solidFill>
                <a:effectLst/>
                <a:latin typeface="JetBrains Mono" panose="02000009000000000000" pitchFamily="49" charset="0"/>
              </a:rPr>
              <a:t> </a:t>
            </a:r>
            <a:r>
              <a:rPr lang="en-US" sz="1000" b="0">
                <a:solidFill>
                  <a:srgbClr val="9CDCFE"/>
                </a:solidFill>
                <a:effectLst/>
                <a:latin typeface="JetBrains Mono" panose="02000009000000000000" pitchFamily="49" charset="0"/>
              </a:rPr>
              <a:t>count</a:t>
            </a:r>
            <a:r>
              <a:rPr lang="en-US" sz="1000" b="0">
                <a:solidFill>
                  <a:srgbClr val="CCCCCC"/>
                </a:solidFill>
                <a:effectLst/>
                <a:latin typeface="JetBrains Mono" panose="02000009000000000000" pitchFamily="49" charset="0"/>
              </a:rPr>
              <a:t>; </a:t>
            </a:r>
            <a:r>
              <a:rPr lang="en-US" sz="1000" b="0">
                <a:solidFill>
                  <a:srgbClr val="D4D4D4"/>
                </a:solidFill>
                <a:effectLst/>
                <a:latin typeface="JetBrains Mono" panose="02000009000000000000" pitchFamily="49" charset="0"/>
              </a:rPr>
              <a:t>++</a:t>
            </a:r>
            <a:r>
              <a:rPr lang="en-US" sz="1000" b="0" err="1">
                <a:solidFill>
                  <a:srgbClr val="9CDCFE"/>
                </a:solidFill>
                <a:effectLst/>
                <a:latin typeface="JetBrains Mono" panose="02000009000000000000" pitchFamily="49" charset="0"/>
              </a:rPr>
              <a:t>i</a:t>
            </a:r>
            <a:r>
              <a:rPr lang="en-US" sz="1000" b="0">
                <a:solidFill>
                  <a:srgbClr val="CCCCCC"/>
                </a:solidFill>
                <a:effectLst/>
                <a:latin typeface="JetBrains Mono" panose="02000009000000000000" pitchFamily="49" charset="0"/>
              </a:rPr>
              <a:t>) {</a:t>
            </a:r>
          </a:p>
          <a:p>
            <a:pPr>
              <a:lnSpc>
                <a:spcPts val="1425"/>
              </a:lnSpc>
              <a:buNone/>
            </a:pPr>
            <a:r>
              <a:rPr lang="en-US" sz="1000" b="0">
                <a:solidFill>
                  <a:srgbClr val="6A9955"/>
                </a:solidFill>
                <a:effectLst/>
                <a:latin typeface="JetBrains Mono" panose="02000009000000000000" pitchFamily="49" charset="0"/>
              </a:rPr>
              <a:t>    // Each iteration hits the cache coherence bus.</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6A9955"/>
                </a:solidFill>
                <a:effectLst/>
                <a:latin typeface="JetBrains Mono" panose="02000009000000000000" pitchFamily="49" charset="0"/>
              </a:rPr>
              <a:t>    // Other threads see every intermediate value (1, 2, 3...).</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CCCCCC"/>
                </a:solidFill>
                <a:effectLst/>
                <a:latin typeface="JetBrains Mono" panose="02000009000000000000" pitchFamily="49" charset="0"/>
              </a:rPr>
              <a:t>    </a:t>
            </a:r>
            <a:r>
              <a:rPr lang="en-US" sz="1000" b="0" err="1">
                <a:solidFill>
                  <a:srgbClr val="DCDCAA"/>
                </a:solidFill>
                <a:effectLst/>
                <a:latin typeface="JetBrains Mono" panose="02000009000000000000" pitchFamily="49" charset="0"/>
              </a:rPr>
              <a:t>atomic_fetch_add</a:t>
            </a:r>
            <a:r>
              <a:rPr lang="en-US" sz="1000" b="0">
                <a:solidFill>
                  <a:srgbClr val="CCCCCC"/>
                </a:solidFill>
                <a:effectLst/>
                <a:latin typeface="JetBrains Mono" panose="02000009000000000000" pitchFamily="49" charset="0"/>
              </a:rPr>
              <a:t>(</a:t>
            </a:r>
            <a:r>
              <a:rPr lang="en-US" sz="1000" b="0">
                <a:solidFill>
                  <a:srgbClr val="D4D4D4"/>
                </a:solidFill>
                <a:effectLst/>
                <a:latin typeface="JetBrains Mono" panose="02000009000000000000" pitchFamily="49" charset="0"/>
              </a:rPr>
              <a:t>&amp;</a:t>
            </a:r>
            <a:r>
              <a:rPr lang="en-US" sz="1000" b="0">
                <a:solidFill>
                  <a:srgbClr val="9CDCFE"/>
                </a:solidFill>
                <a:effectLst/>
                <a:latin typeface="JetBrains Mono" panose="02000009000000000000" pitchFamily="49" charset="0"/>
              </a:rPr>
              <a:t>visits</a:t>
            </a:r>
            <a:r>
              <a:rPr lang="en-US" sz="1000" b="0">
                <a:solidFill>
                  <a:srgbClr val="CCCCCC"/>
                </a:solidFill>
                <a:effectLst/>
                <a:latin typeface="JetBrains Mono" panose="02000009000000000000" pitchFamily="49" charset="0"/>
              </a:rPr>
              <a:t>, </a:t>
            </a:r>
            <a:r>
              <a:rPr lang="en-US" sz="1000" b="0">
                <a:solidFill>
                  <a:srgbClr val="B5CEA8"/>
                </a:solidFill>
                <a:effectLst/>
                <a:latin typeface="JetBrains Mono" panose="02000009000000000000" pitchFamily="49" charset="0"/>
              </a:rPr>
              <a:t>1</a:t>
            </a:r>
            <a:r>
              <a:rPr lang="en-US" sz="1000" b="0">
                <a:solidFill>
                  <a:srgbClr val="CCCCCC"/>
                </a:solidFill>
                <a:effectLst/>
                <a:latin typeface="JetBrains Mono" panose="02000009000000000000" pitchFamily="49" charset="0"/>
              </a:rPr>
              <a:t>);</a:t>
            </a:r>
          </a:p>
          <a:p>
            <a:pPr>
              <a:lnSpc>
                <a:spcPts val="1425"/>
              </a:lnSpc>
              <a:buNone/>
            </a:pPr>
            <a:r>
              <a:rPr lang="en-US" sz="1000" b="0">
                <a:solidFill>
                  <a:srgbClr val="CCCCCC"/>
                </a:solidFill>
                <a:effectLst/>
                <a:latin typeface="JetBrains Mono" panose="02000009000000000000" pitchFamily="49" charset="0"/>
              </a:rPr>
              <a:t>  }</a:t>
            </a:r>
          </a:p>
          <a:p>
            <a:pPr>
              <a:lnSpc>
                <a:spcPts val="1425"/>
              </a:lnSpc>
              <a:buNone/>
            </a:pPr>
            <a:r>
              <a:rPr lang="en-US" sz="1000" b="0">
                <a:solidFill>
                  <a:srgbClr val="CCCCCC"/>
                </a:solidFill>
                <a:effectLst/>
                <a:latin typeface="JetBrains Mono" panose="02000009000000000000" pitchFamily="49" charset="0"/>
              </a:rPr>
              <a:t>}</a:t>
            </a:r>
          </a:p>
        </p:txBody>
      </p:sp>
      <p:sp>
        <p:nvSpPr>
          <p:cNvPr id="5" name="TextBox 4">
            <a:extLst>
              <a:ext uri="{FF2B5EF4-FFF2-40B4-BE49-F238E27FC236}">
                <a16:creationId xmlns:a16="http://schemas.microsoft.com/office/drawing/2014/main" id="{CDE94C89-CB47-0D87-5780-07BEDB7E6FF8}"/>
              </a:ext>
            </a:extLst>
          </p:cNvPr>
          <p:cNvSpPr txBox="1"/>
          <p:nvPr/>
        </p:nvSpPr>
        <p:spPr>
          <a:xfrm>
            <a:off x="5764764" y="1848542"/>
            <a:ext cx="5910825" cy="461665"/>
          </a:xfrm>
          <a:prstGeom prst="rect">
            <a:avLst/>
          </a:prstGeom>
          <a:noFill/>
        </p:spPr>
        <p:txBody>
          <a:bodyPr wrap="square">
            <a:spAutoFit/>
          </a:bodyPr>
          <a:lstStyle>
            <a:defPPr>
              <a:defRPr lang="ru-RU"/>
            </a:defPPr>
            <a:lvl1pPr>
              <a:defRPr sz="1200" b="1"/>
            </a:lvl1pPr>
          </a:lstStyle>
          <a:p>
            <a:r>
              <a:rPr lang="en-US"/>
              <a:t>After</a:t>
            </a:r>
          </a:p>
          <a:p>
            <a:r>
              <a:rPr lang="en-US" b="0"/>
              <a:t>Loop Coalescing</a:t>
            </a:r>
            <a:endParaRPr lang="en-SG"/>
          </a:p>
        </p:txBody>
      </p:sp>
      <p:sp>
        <p:nvSpPr>
          <p:cNvPr id="6" name="Rectangle 2">
            <a:extLst>
              <a:ext uri="{FF2B5EF4-FFF2-40B4-BE49-F238E27FC236}">
                <a16:creationId xmlns:a16="http://schemas.microsoft.com/office/drawing/2014/main" id="{4BC8BB5D-B5E2-3850-4D5D-85CFA0889B8A}"/>
              </a:ext>
            </a:extLst>
          </p:cNvPr>
          <p:cNvSpPr>
            <a:spLocks noChangeArrowheads="1"/>
          </p:cNvSpPr>
          <p:nvPr/>
        </p:nvSpPr>
        <p:spPr bwMode="auto">
          <a:xfrm>
            <a:off x="233910" y="757693"/>
            <a:ext cx="1149192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ru-RU" b="1">
                <a:solidFill>
                  <a:srgbClr val="3333FF"/>
                </a:solidFill>
              </a:rPr>
              <a:t>3</a:t>
            </a:r>
            <a:r>
              <a:rPr lang="en-US" b="1">
                <a:solidFill>
                  <a:srgbClr val="3333FF"/>
                </a:solidFill>
              </a:rPr>
              <a:t>. Vector "Lateral": From Atomics to Logic (Coalescing)</a:t>
            </a:r>
            <a:endParaRPr lang="ru-RU" b="1">
              <a:solidFill>
                <a:srgbClr val="3333FF"/>
              </a:solidFill>
            </a:endParaRPr>
          </a:p>
          <a:p>
            <a:r>
              <a:rPr lang="en-US" sz="1400" b="1" i="0">
                <a:effectLst/>
                <a:latin typeface="Inter"/>
              </a:rPr>
              <a:t>Scenario:</a:t>
            </a:r>
            <a:r>
              <a:rPr lang="en-US" sz="1400" b="0" i="0">
                <a:effectLst/>
                <a:latin typeface="Inter"/>
              </a:rPr>
              <a:t> Analytics / Visit Counter.</a:t>
            </a:r>
            <a:br>
              <a:rPr lang="en-US" sz="1400"/>
            </a:br>
            <a:r>
              <a:rPr lang="en-US" sz="1400" b="1" i="0">
                <a:effectLst/>
                <a:latin typeface="Inter"/>
              </a:rPr>
              <a:t>Core Idea:</a:t>
            </a:r>
            <a:r>
              <a:rPr lang="en-US" sz="1400" b="0" i="0">
                <a:effectLst/>
                <a:latin typeface="Inter"/>
              </a:rPr>
              <a:t> A counter is marked as </a:t>
            </a:r>
            <a:r>
              <a:rPr lang="en-US" sz="1400" b="0" i="0" err="1">
                <a:effectLst/>
                <a:latin typeface="DM Mono" panose="020B0509040201040103" pitchFamily="49" charset="0"/>
              </a:rPr>
              <a:t>approx</a:t>
            </a:r>
            <a:r>
              <a:rPr lang="en-US" sz="1400" b="0" i="0">
                <a:effectLst/>
                <a:latin typeface="Inter"/>
              </a:rPr>
              <a:t> (approximate). This infects the control flow. The compiler realizes that intermediate states of the counter are irrelevant to other threads, so it coalesces multiple atomic updates into a single one (ignoring visibility during the loop).</a:t>
            </a:r>
            <a:endParaRPr kumimoji="0" lang="en-US" altLang="en-US" sz="1050" i="0" u="none" strike="noStrike" cap="none" normalizeH="0" baseline="0">
              <a:ln>
                <a:noFill/>
              </a:ln>
              <a:effectLst/>
            </a:endParaRPr>
          </a:p>
        </p:txBody>
      </p:sp>
      <p:sp>
        <p:nvSpPr>
          <p:cNvPr id="8" name="TextBox 7">
            <a:extLst>
              <a:ext uri="{FF2B5EF4-FFF2-40B4-BE49-F238E27FC236}">
                <a16:creationId xmlns:a16="http://schemas.microsoft.com/office/drawing/2014/main" id="{4E66B368-B1A6-3640-C153-9144C6AB799C}"/>
              </a:ext>
            </a:extLst>
          </p:cNvPr>
          <p:cNvSpPr txBox="1"/>
          <p:nvPr/>
        </p:nvSpPr>
        <p:spPr>
          <a:xfrm>
            <a:off x="5777948" y="2310207"/>
            <a:ext cx="6122504" cy="2595903"/>
          </a:xfrm>
          <a:prstGeom prst="rect">
            <a:avLst/>
          </a:prstGeom>
          <a:solidFill>
            <a:srgbClr val="1F1F1F"/>
          </a:solidFill>
        </p:spPr>
        <p:txBody>
          <a:bodyPr wrap="square">
            <a:spAutoFit/>
          </a:bodyPr>
          <a:lstStyle/>
          <a:p>
            <a:pPr>
              <a:lnSpc>
                <a:spcPts val="1425"/>
              </a:lnSpc>
              <a:buNone/>
            </a:pPr>
            <a:r>
              <a:rPr lang="en-US" sz="1000" b="0">
                <a:solidFill>
                  <a:srgbClr val="569CD6"/>
                </a:solidFill>
                <a:effectLst/>
                <a:latin typeface="JetBrains Mono" panose="02000009000000000000" pitchFamily="49" charset="0"/>
              </a:rPr>
              <a:t>void</a:t>
            </a:r>
            <a:r>
              <a:rPr lang="en-US" sz="1000" b="0">
                <a:solidFill>
                  <a:srgbClr val="CCCCCC"/>
                </a:solidFill>
                <a:effectLst/>
                <a:latin typeface="JetBrains Mono" panose="02000009000000000000" pitchFamily="49" charset="0"/>
              </a:rPr>
              <a:t> </a:t>
            </a:r>
            <a:r>
              <a:rPr lang="en-US" sz="1000" b="0" err="1">
                <a:solidFill>
                  <a:srgbClr val="DCDCAA"/>
                </a:solidFill>
                <a:effectLst/>
                <a:latin typeface="JetBrains Mono" panose="02000009000000000000" pitchFamily="49" charset="0"/>
              </a:rPr>
              <a:t>process_batch</a:t>
            </a:r>
            <a:r>
              <a:rPr lang="en-US" sz="1000" b="0">
                <a:solidFill>
                  <a:srgbClr val="CCCCCC"/>
                </a:solidFill>
                <a:effectLst/>
                <a:latin typeface="JetBrains Mono" panose="02000009000000000000" pitchFamily="49" charset="0"/>
              </a:rPr>
              <a:t>(</a:t>
            </a:r>
            <a:r>
              <a:rPr lang="en-US" sz="1000" b="0">
                <a:solidFill>
                  <a:srgbClr val="569CD6"/>
                </a:solidFill>
                <a:effectLst/>
                <a:latin typeface="JetBrains Mono" panose="02000009000000000000" pitchFamily="49" charset="0"/>
              </a:rPr>
              <a:t>int</a:t>
            </a:r>
            <a:r>
              <a:rPr lang="en-US" sz="1000" b="0">
                <a:solidFill>
                  <a:srgbClr val="CCCCCC"/>
                </a:solidFill>
                <a:effectLst/>
                <a:latin typeface="JetBrains Mono" panose="02000009000000000000" pitchFamily="49" charset="0"/>
              </a:rPr>
              <a:t> </a:t>
            </a:r>
            <a:r>
              <a:rPr lang="en-US" sz="1000" b="0">
                <a:solidFill>
                  <a:srgbClr val="9CDCFE"/>
                </a:solidFill>
                <a:effectLst/>
                <a:latin typeface="JetBrains Mono" panose="02000009000000000000" pitchFamily="49" charset="0"/>
              </a:rPr>
              <a:t>count</a:t>
            </a:r>
            <a:r>
              <a:rPr lang="en-US" sz="1000" b="0">
                <a:solidFill>
                  <a:srgbClr val="CCCCCC"/>
                </a:solidFill>
                <a:effectLst/>
                <a:latin typeface="JetBrains Mono" panose="02000009000000000000" pitchFamily="49" charset="0"/>
              </a:rPr>
              <a:t>) {</a:t>
            </a:r>
          </a:p>
          <a:p>
            <a:pPr>
              <a:lnSpc>
                <a:spcPts val="1425"/>
              </a:lnSpc>
              <a:buNone/>
            </a:pPr>
            <a:r>
              <a:rPr lang="en-US" sz="1000" b="0">
                <a:solidFill>
                  <a:srgbClr val="6A9955"/>
                </a:solidFill>
                <a:effectLst/>
                <a:latin typeface="JetBrains Mono" panose="02000009000000000000" pitchFamily="49" charset="0"/>
              </a:rPr>
              <a:t>  // Compiler hoisted the increment out of the loop.</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6A9955"/>
                </a:solidFill>
                <a:effectLst/>
                <a:latin typeface="JetBrains Mono" panose="02000009000000000000" pitchFamily="49" charset="0"/>
              </a:rPr>
              <a:t>  // We lost "progress visibility" for other threads during the loop.</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6A9955"/>
                </a:solidFill>
                <a:effectLst/>
                <a:latin typeface="JetBrains Mono" panose="02000009000000000000" pitchFamily="49" charset="0"/>
              </a:rPr>
              <a:t>  // But since 'visits' is "</a:t>
            </a:r>
            <a:r>
              <a:rPr lang="en-US" sz="1000" b="0" err="1">
                <a:solidFill>
                  <a:srgbClr val="6A9955"/>
                </a:solidFill>
                <a:effectLst/>
                <a:latin typeface="JetBrains Mono" panose="02000009000000000000" pitchFamily="49" charset="0"/>
              </a:rPr>
              <a:t>approx</a:t>
            </a:r>
            <a:r>
              <a:rPr lang="en-US" sz="1000" b="0">
                <a:solidFill>
                  <a:srgbClr val="6A9955"/>
                </a:solidFill>
                <a:effectLst/>
                <a:latin typeface="JetBrains Mono" panose="02000009000000000000" pitchFamily="49" charset="0"/>
              </a:rPr>
              <a:t>", this is legal!</a:t>
            </a:r>
            <a:br>
              <a:rPr lang="en-US" sz="1000" b="0">
                <a:solidFill>
                  <a:srgbClr val="CCCCCC"/>
                </a:solidFill>
                <a:effectLst/>
                <a:latin typeface="JetBrains Mono" panose="02000009000000000000" pitchFamily="49" charset="0"/>
              </a:rPr>
            </a:b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6A9955"/>
                </a:solidFill>
                <a:effectLst/>
                <a:latin typeface="JetBrains Mono" panose="02000009000000000000" pitchFamily="49" charset="0"/>
              </a:rPr>
              <a:t>  // Ordinary arithmetic in a register</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CCCCCC"/>
                </a:solidFill>
                <a:effectLst/>
                <a:latin typeface="JetBrains Mono" panose="02000009000000000000" pitchFamily="49" charset="0"/>
              </a:rPr>
              <a:t>  </a:t>
            </a:r>
            <a:r>
              <a:rPr lang="en-US" sz="1000" b="0">
                <a:solidFill>
                  <a:srgbClr val="569CD6"/>
                </a:solidFill>
                <a:effectLst/>
                <a:latin typeface="JetBrains Mono" panose="02000009000000000000" pitchFamily="49" charset="0"/>
              </a:rPr>
              <a:t>int</a:t>
            </a:r>
            <a:r>
              <a:rPr lang="en-US" sz="1000" b="0">
                <a:solidFill>
                  <a:srgbClr val="CCCCCC"/>
                </a:solidFill>
                <a:effectLst/>
                <a:latin typeface="JetBrains Mono" panose="02000009000000000000" pitchFamily="49" charset="0"/>
              </a:rPr>
              <a:t> </a:t>
            </a:r>
            <a:r>
              <a:rPr lang="en-US" sz="1000" b="0" err="1">
                <a:solidFill>
                  <a:srgbClr val="9CDCFE"/>
                </a:solidFill>
                <a:effectLst/>
                <a:latin typeface="JetBrains Mono" panose="02000009000000000000" pitchFamily="49" charset="0"/>
              </a:rPr>
              <a:t>local_sum</a:t>
            </a:r>
            <a:r>
              <a:rPr lang="en-US" sz="1000" b="0">
                <a:solidFill>
                  <a:srgbClr val="CCCCCC"/>
                </a:solidFill>
                <a:effectLst/>
                <a:latin typeface="JetBrains Mono" panose="02000009000000000000" pitchFamily="49" charset="0"/>
              </a:rPr>
              <a:t> </a:t>
            </a:r>
            <a:r>
              <a:rPr lang="en-US" sz="1000" b="0">
                <a:solidFill>
                  <a:srgbClr val="D4D4D4"/>
                </a:solidFill>
                <a:effectLst/>
                <a:latin typeface="JetBrains Mono" panose="02000009000000000000" pitchFamily="49" charset="0"/>
              </a:rPr>
              <a:t>=</a:t>
            </a:r>
            <a:r>
              <a:rPr lang="en-US" sz="1000" b="0">
                <a:solidFill>
                  <a:srgbClr val="CCCCCC"/>
                </a:solidFill>
                <a:effectLst/>
                <a:latin typeface="JetBrains Mono" panose="02000009000000000000" pitchFamily="49" charset="0"/>
              </a:rPr>
              <a:t> </a:t>
            </a:r>
            <a:r>
              <a:rPr lang="en-US" sz="1000" b="0">
                <a:solidFill>
                  <a:srgbClr val="B5CEA8"/>
                </a:solidFill>
                <a:effectLst/>
                <a:latin typeface="JetBrains Mono" panose="02000009000000000000" pitchFamily="49" charset="0"/>
              </a:rPr>
              <a:t>0</a:t>
            </a:r>
            <a:r>
              <a:rPr lang="en-US" sz="1000" b="0">
                <a:solidFill>
                  <a:srgbClr val="CCCCCC"/>
                </a:solidFill>
                <a:effectLst/>
                <a:latin typeface="JetBrains Mono" panose="02000009000000000000" pitchFamily="49" charset="0"/>
              </a:rPr>
              <a:t>;</a:t>
            </a:r>
          </a:p>
          <a:p>
            <a:pPr>
              <a:lnSpc>
                <a:spcPts val="1425"/>
              </a:lnSpc>
              <a:buNone/>
            </a:pPr>
            <a:r>
              <a:rPr lang="en-US" sz="1000" b="0">
                <a:solidFill>
                  <a:srgbClr val="CCCCCC"/>
                </a:solidFill>
                <a:effectLst/>
                <a:latin typeface="JetBrains Mono" panose="02000009000000000000" pitchFamily="49" charset="0"/>
              </a:rPr>
              <a:t>  </a:t>
            </a:r>
            <a:r>
              <a:rPr lang="en-US" sz="1000" b="0">
                <a:solidFill>
                  <a:srgbClr val="C586C0"/>
                </a:solidFill>
                <a:effectLst/>
                <a:latin typeface="JetBrains Mono" panose="02000009000000000000" pitchFamily="49" charset="0"/>
              </a:rPr>
              <a:t>for</a:t>
            </a:r>
            <a:r>
              <a:rPr lang="en-US" sz="1000" b="0">
                <a:solidFill>
                  <a:srgbClr val="CCCCCC"/>
                </a:solidFill>
                <a:effectLst/>
                <a:latin typeface="JetBrains Mono" panose="02000009000000000000" pitchFamily="49" charset="0"/>
              </a:rPr>
              <a:t> (</a:t>
            </a:r>
            <a:r>
              <a:rPr lang="en-US" sz="1000" b="0">
                <a:solidFill>
                  <a:srgbClr val="569CD6"/>
                </a:solidFill>
                <a:effectLst/>
                <a:latin typeface="JetBrains Mono" panose="02000009000000000000" pitchFamily="49" charset="0"/>
              </a:rPr>
              <a:t>int</a:t>
            </a:r>
            <a:r>
              <a:rPr lang="en-US" sz="1000" b="0">
                <a:solidFill>
                  <a:srgbClr val="CCCCCC"/>
                </a:solidFill>
                <a:effectLst/>
                <a:latin typeface="JetBrains Mono" panose="02000009000000000000" pitchFamily="49" charset="0"/>
              </a:rPr>
              <a:t> </a:t>
            </a:r>
            <a:r>
              <a:rPr lang="en-US" sz="1000" b="0" err="1">
                <a:solidFill>
                  <a:srgbClr val="9CDCFE"/>
                </a:solidFill>
                <a:effectLst/>
                <a:latin typeface="JetBrains Mono" panose="02000009000000000000" pitchFamily="49" charset="0"/>
              </a:rPr>
              <a:t>i</a:t>
            </a:r>
            <a:r>
              <a:rPr lang="en-US" sz="1000" b="0">
                <a:solidFill>
                  <a:srgbClr val="CCCCCC"/>
                </a:solidFill>
                <a:effectLst/>
                <a:latin typeface="JetBrains Mono" panose="02000009000000000000" pitchFamily="49" charset="0"/>
              </a:rPr>
              <a:t> </a:t>
            </a:r>
            <a:r>
              <a:rPr lang="en-US" sz="1000" b="0">
                <a:solidFill>
                  <a:srgbClr val="D4D4D4"/>
                </a:solidFill>
                <a:effectLst/>
                <a:latin typeface="JetBrains Mono" panose="02000009000000000000" pitchFamily="49" charset="0"/>
              </a:rPr>
              <a:t>=</a:t>
            </a:r>
            <a:r>
              <a:rPr lang="en-US" sz="1000" b="0">
                <a:solidFill>
                  <a:srgbClr val="CCCCCC"/>
                </a:solidFill>
                <a:effectLst/>
                <a:latin typeface="JetBrains Mono" panose="02000009000000000000" pitchFamily="49" charset="0"/>
              </a:rPr>
              <a:t> </a:t>
            </a:r>
            <a:r>
              <a:rPr lang="en-US" sz="1000" b="0">
                <a:solidFill>
                  <a:srgbClr val="B5CEA8"/>
                </a:solidFill>
                <a:effectLst/>
                <a:latin typeface="JetBrains Mono" panose="02000009000000000000" pitchFamily="49" charset="0"/>
              </a:rPr>
              <a:t>0</a:t>
            </a:r>
            <a:r>
              <a:rPr lang="en-US" sz="1000" b="0">
                <a:solidFill>
                  <a:srgbClr val="CCCCCC"/>
                </a:solidFill>
                <a:effectLst/>
                <a:latin typeface="JetBrains Mono" panose="02000009000000000000" pitchFamily="49" charset="0"/>
              </a:rPr>
              <a:t>; </a:t>
            </a:r>
            <a:r>
              <a:rPr lang="en-US" sz="1000" b="0" err="1">
                <a:solidFill>
                  <a:srgbClr val="9CDCFE"/>
                </a:solidFill>
                <a:effectLst/>
                <a:latin typeface="JetBrains Mono" panose="02000009000000000000" pitchFamily="49" charset="0"/>
              </a:rPr>
              <a:t>i</a:t>
            </a:r>
            <a:r>
              <a:rPr lang="en-US" sz="1000" b="0">
                <a:solidFill>
                  <a:srgbClr val="CCCCCC"/>
                </a:solidFill>
                <a:effectLst/>
                <a:latin typeface="JetBrains Mono" panose="02000009000000000000" pitchFamily="49" charset="0"/>
              </a:rPr>
              <a:t> </a:t>
            </a:r>
            <a:r>
              <a:rPr lang="en-US" sz="1000" b="0">
                <a:solidFill>
                  <a:srgbClr val="D4D4D4"/>
                </a:solidFill>
                <a:effectLst/>
                <a:latin typeface="JetBrains Mono" panose="02000009000000000000" pitchFamily="49" charset="0"/>
              </a:rPr>
              <a:t>&lt;</a:t>
            </a:r>
            <a:r>
              <a:rPr lang="en-US" sz="1000" b="0">
                <a:solidFill>
                  <a:srgbClr val="CCCCCC"/>
                </a:solidFill>
                <a:effectLst/>
                <a:latin typeface="JetBrains Mono" panose="02000009000000000000" pitchFamily="49" charset="0"/>
              </a:rPr>
              <a:t> </a:t>
            </a:r>
            <a:r>
              <a:rPr lang="en-US" sz="1000" b="0">
                <a:solidFill>
                  <a:srgbClr val="9CDCFE"/>
                </a:solidFill>
                <a:effectLst/>
                <a:latin typeface="JetBrains Mono" panose="02000009000000000000" pitchFamily="49" charset="0"/>
              </a:rPr>
              <a:t>count</a:t>
            </a:r>
            <a:r>
              <a:rPr lang="en-US" sz="1000" b="0">
                <a:solidFill>
                  <a:srgbClr val="CCCCCC"/>
                </a:solidFill>
                <a:effectLst/>
                <a:latin typeface="JetBrains Mono" panose="02000009000000000000" pitchFamily="49" charset="0"/>
              </a:rPr>
              <a:t>; </a:t>
            </a:r>
            <a:r>
              <a:rPr lang="en-US" sz="1000" b="0">
                <a:solidFill>
                  <a:srgbClr val="D4D4D4"/>
                </a:solidFill>
                <a:effectLst/>
                <a:latin typeface="JetBrains Mono" panose="02000009000000000000" pitchFamily="49" charset="0"/>
              </a:rPr>
              <a:t>++</a:t>
            </a:r>
            <a:r>
              <a:rPr lang="en-US" sz="1000" b="0" err="1">
                <a:solidFill>
                  <a:srgbClr val="9CDCFE"/>
                </a:solidFill>
                <a:effectLst/>
                <a:latin typeface="JetBrains Mono" panose="02000009000000000000" pitchFamily="49" charset="0"/>
              </a:rPr>
              <a:t>i</a:t>
            </a:r>
            <a:r>
              <a:rPr lang="en-US" sz="1000" b="0">
                <a:solidFill>
                  <a:srgbClr val="CCCCCC"/>
                </a:solidFill>
                <a:effectLst/>
                <a:latin typeface="JetBrains Mono" panose="02000009000000000000" pitchFamily="49" charset="0"/>
              </a:rPr>
              <a:t>) {</a:t>
            </a:r>
          </a:p>
          <a:p>
            <a:pPr>
              <a:lnSpc>
                <a:spcPts val="1425"/>
              </a:lnSpc>
              <a:buNone/>
            </a:pPr>
            <a:r>
              <a:rPr lang="en-US" sz="1000" b="0">
                <a:solidFill>
                  <a:srgbClr val="CCCCCC"/>
                </a:solidFill>
                <a:effectLst/>
                <a:latin typeface="JetBrains Mono" panose="02000009000000000000" pitchFamily="49" charset="0"/>
              </a:rPr>
              <a:t>    </a:t>
            </a:r>
            <a:r>
              <a:rPr lang="en-US" sz="1000" b="0" err="1">
                <a:solidFill>
                  <a:srgbClr val="9CDCFE"/>
                </a:solidFill>
                <a:effectLst/>
                <a:latin typeface="JetBrains Mono" panose="02000009000000000000" pitchFamily="49" charset="0"/>
              </a:rPr>
              <a:t>local_sum</a:t>
            </a:r>
            <a:r>
              <a:rPr lang="en-US" sz="1000" b="0">
                <a:solidFill>
                  <a:srgbClr val="CCCCCC"/>
                </a:solidFill>
                <a:effectLst/>
                <a:latin typeface="JetBrains Mono" panose="02000009000000000000" pitchFamily="49" charset="0"/>
              </a:rPr>
              <a:t> </a:t>
            </a:r>
            <a:r>
              <a:rPr lang="en-US" sz="1000" b="0">
                <a:solidFill>
                  <a:srgbClr val="D4D4D4"/>
                </a:solidFill>
                <a:effectLst/>
                <a:latin typeface="JetBrains Mono" panose="02000009000000000000" pitchFamily="49" charset="0"/>
              </a:rPr>
              <a:t>+=</a:t>
            </a:r>
            <a:r>
              <a:rPr lang="en-US" sz="1000" b="0">
                <a:solidFill>
                  <a:srgbClr val="CCCCCC"/>
                </a:solidFill>
                <a:effectLst/>
                <a:latin typeface="JetBrains Mono" panose="02000009000000000000" pitchFamily="49" charset="0"/>
              </a:rPr>
              <a:t> </a:t>
            </a:r>
            <a:r>
              <a:rPr lang="en-US" sz="1000" b="0">
                <a:solidFill>
                  <a:srgbClr val="B5CEA8"/>
                </a:solidFill>
                <a:effectLst/>
                <a:latin typeface="JetBrains Mono" panose="02000009000000000000" pitchFamily="49" charset="0"/>
              </a:rPr>
              <a:t>1</a:t>
            </a:r>
            <a:r>
              <a:rPr lang="en-US" sz="1000" b="0">
                <a:solidFill>
                  <a:srgbClr val="CCCCCC"/>
                </a:solidFill>
                <a:effectLst/>
                <a:latin typeface="JetBrains Mono" panose="02000009000000000000" pitchFamily="49" charset="0"/>
              </a:rPr>
              <a:t>;</a:t>
            </a:r>
          </a:p>
          <a:p>
            <a:pPr>
              <a:lnSpc>
                <a:spcPts val="1425"/>
              </a:lnSpc>
              <a:buNone/>
            </a:pPr>
            <a:r>
              <a:rPr lang="en-US" sz="1000" b="0">
                <a:solidFill>
                  <a:srgbClr val="CCCCCC"/>
                </a:solidFill>
                <a:effectLst/>
                <a:latin typeface="JetBrains Mono" panose="02000009000000000000" pitchFamily="49" charset="0"/>
              </a:rPr>
              <a:t>  }</a:t>
            </a:r>
            <a:br>
              <a:rPr lang="en-US" sz="1000" b="0">
                <a:solidFill>
                  <a:srgbClr val="CCCCCC"/>
                </a:solidFill>
                <a:effectLst/>
                <a:latin typeface="JetBrains Mono" panose="02000009000000000000" pitchFamily="49" charset="0"/>
              </a:rPr>
            </a:b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6A9955"/>
                </a:solidFill>
                <a:effectLst/>
                <a:latin typeface="JetBrains Mono" panose="02000009000000000000" pitchFamily="49" charset="0"/>
              </a:rPr>
              <a:t>  // ONE atomic update at the end</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CCCCCC"/>
                </a:solidFill>
                <a:effectLst/>
                <a:latin typeface="JetBrains Mono" panose="02000009000000000000" pitchFamily="49" charset="0"/>
              </a:rPr>
              <a:t>  </a:t>
            </a:r>
            <a:r>
              <a:rPr lang="en-US" sz="1000" b="0" err="1">
                <a:solidFill>
                  <a:srgbClr val="DCDCAA"/>
                </a:solidFill>
                <a:effectLst/>
                <a:latin typeface="JetBrains Mono" panose="02000009000000000000" pitchFamily="49" charset="0"/>
              </a:rPr>
              <a:t>atomic_fetch_add</a:t>
            </a:r>
            <a:r>
              <a:rPr lang="en-US" sz="1000" b="0">
                <a:solidFill>
                  <a:srgbClr val="CCCCCC"/>
                </a:solidFill>
                <a:effectLst/>
                <a:latin typeface="JetBrains Mono" panose="02000009000000000000" pitchFamily="49" charset="0"/>
              </a:rPr>
              <a:t>(</a:t>
            </a:r>
            <a:r>
              <a:rPr lang="en-US" sz="1000" b="0">
                <a:solidFill>
                  <a:srgbClr val="D4D4D4"/>
                </a:solidFill>
                <a:effectLst/>
                <a:latin typeface="JetBrains Mono" panose="02000009000000000000" pitchFamily="49" charset="0"/>
              </a:rPr>
              <a:t>&amp;</a:t>
            </a:r>
            <a:r>
              <a:rPr lang="en-US" sz="1000" b="0">
                <a:solidFill>
                  <a:srgbClr val="CCCCCC"/>
                </a:solidFill>
                <a:effectLst/>
                <a:latin typeface="JetBrains Mono" panose="02000009000000000000" pitchFamily="49" charset="0"/>
              </a:rPr>
              <a:t>visits, </a:t>
            </a:r>
            <a:r>
              <a:rPr lang="en-US" sz="1000" b="0" err="1">
                <a:solidFill>
                  <a:srgbClr val="9CDCFE"/>
                </a:solidFill>
                <a:effectLst/>
                <a:latin typeface="JetBrains Mono" panose="02000009000000000000" pitchFamily="49" charset="0"/>
              </a:rPr>
              <a:t>local_sum</a:t>
            </a:r>
            <a:r>
              <a:rPr lang="en-US" sz="1000" b="0">
                <a:solidFill>
                  <a:srgbClr val="CCCCCC"/>
                </a:solidFill>
                <a:effectLst/>
                <a:latin typeface="JetBrains Mono" panose="02000009000000000000" pitchFamily="49" charset="0"/>
              </a:rPr>
              <a:t>, </a:t>
            </a:r>
            <a:r>
              <a:rPr lang="en-US" sz="1000" b="0" err="1">
                <a:solidFill>
                  <a:srgbClr val="CCCCCC"/>
                </a:solidFill>
                <a:effectLst/>
                <a:latin typeface="JetBrains Mono" panose="02000009000000000000" pitchFamily="49" charset="0"/>
              </a:rPr>
              <a:t>memory_order_relaxed</a:t>
            </a:r>
            <a:r>
              <a:rPr lang="en-US" sz="1000" b="0">
                <a:solidFill>
                  <a:srgbClr val="CCCCCC"/>
                </a:solidFill>
                <a:effectLst/>
                <a:latin typeface="JetBrains Mono" panose="02000009000000000000" pitchFamily="49" charset="0"/>
              </a:rPr>
              <a:t>);</a:t>
            </a:r>
          </a:p>
          <a:p>
            <a:pPr>
              <a:lnSpc>
                <a:spcPts val="1425"/>
              </a:lnSpc>
              <a:buNone/>
            </a:pPr>
            <a:r>
              <a:rPr lang="en-US" sz="1000" b="0">
                <a:solidFill>
                  <a:srgbClr val="CCCCCC"/>
                </a:solidFill>
                <a:effectLst/>
                <a:latin typeface="JetBrains Mono" panose="02000009000000000000" pitchFamily="49" charset="0"/>
              </a:rPr>
              <a:t>}</a:t>
            </a:r>
          </a:p>
        </p:txBody>
      </p:sp>
    </p:spTree>
    <p:extLst>
      <p:ext uri="{BB962C8B-B14F-4D97-AF65-F5344CB8AC3E}">
        <p14:creationId xmlns:p14="http://schemas.microsoft.com/office/powerpoint/2010/main" val="34037250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4B7A0-CE35-6510-2AF5-5FCA616B6D7A}"/>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19F068F0-50C2-9B92-E1D9-873639CA3943}"/>
              </a:ext>
            </a:extLst>
          </p:cNvPr>
          <p:cNvSpPr txBox="1"/>
          <p:nvPr/>
        </p:nvSpPr>
        <p:spPr>
          <a:xfrm>
            <a:off x="233910" y="208621"/>
            <a:ext cx="3165273" cy="461665"/>
          </a:xfrm>
          <a:prstGeom prst="rect">
            <a:avLst/>
          </a:prstGeom>
          <a:solidFill>
            <a:schemeClr val="accent6">
              <a:lumMod val="50000"/>
            </a:schemeClr>
          </a:solidFill>
        </p:spPr>
        <p:txBody>
          <a:bodyPr wrap="square" rtlCol="0">
            <a:spAutoFit/>
          </a:bodyPr>
          <a:lstStyle/>
          <a:p>
            <a:r>
              <a:rPr lang="en-US" sz="2400">
                <a:solidFill>
                  <a:schemeClr val="bg1"/>
                </a:solidFill>
                <a:latin typeface="Ubuntu Condensed" panose="020B0506030602030204" pitchFamily="34" charset="0"/>
              </a:rPr>
              <a:t>Propagation of relaxation</a:t>
            </a:r>
            <a:endParaRPr lang="ru-RU" sz="2400">
              <a:solidFill>
                <a:schemeClr val="bg1"/>
              </a:solidFill>
              <a:latin typeface="Ubuntu Condensed" panose="020B0506030602030204" pitchFamily="34" charset="0"/>
            </a:endParaRPr>
          </a:p>
        </p:txBody>
      </p:sp>
      <p:sp>
        <p:nvSpPr>
          <p:cNvPr id="7" name="Номер слайда 7">
            <a:extLst>
              <a:ext uri="{FF2B5EF4-FFF2-40B4-BE49-F238E27FC236}">
                <a16:creationId xmlns:a16="http://schemas.microsoft.com/office/drawing/2014/main" id="{E9392760-7802-E29A-196A-4CF165D32C89}"/>
              </a:ext>
            </a:extLst>
          </p:cNvPr>
          <p:cNvSpPr>
            <a:spLocks noGrp="1"/>
          </p:cNvSpPr>
          <p:nvPr>
            <p:ph type="sldNum" sz="quarter" idx="12"/>
          </p:nvPr>
        </p:nvSpPr>
        <p:spPr>
          <a:xfrm>
            <a:off x="11725835" y="6402070"/>
            <a:ext cx="386155" cy="365125"/>
          </a:xfrm>
        </p:spPr>
        <p:txBody>
          <a:bodyPr/>
          <a:lstStyle/>
          <a:p>
            <a:pPr algn="ctr"/>
            <a:fld id="{E757BAED-F255-4CF1-96BA-8D7417A9C3BC}" type="slidenum">
              <a:rPr lang="ru-RU" sz="1800" smtClean="0">
                <a:latin typeface="Ubuntu Condensed" panose="020B0506030602030204" pitchFamily="34" charset="0"/>
              </a:rPr>
              <a:pPr algn="ctr"/>
              <a:t>21</a:t>
            </a:fld>
            <a:endParaRPr lang="ru-RU" sz="1800">
              <a:latin typeface="Ubuntu Condensed" panose="020B0506030602030204" pitchFamily="34" charset="0"/>
            </a:endParaRPr>
          </a:p>
        </p:txBody>
      </p:sp>
      <p:sp>
        <p:nvSpPr>
          <p:cNvPr id="2" name="TextBox 1">
            <a:extLst>
              <a:ext uri="{FF2B5EF4-FFF2-40B4-BE49-F238E27FC236}">
                <a16:creationId xmlns:a16="http://schemas.microsoft.com/office/drawing/2014/main" id="{90A25DF2-9F39-9FB9-6F24-09436231FF73}"/>
              </a:ext>
            </a:extLst>
          </p:cNvPr>
          <p:cNvSpPr txBox="1"/>
          <p:nvPr/>
        </p:nvSpPr>
        <p:spPr>
          <a:xfrm>
            <a:off x="233910" y="1828663"/>
            <a:ext cx="5371760" cy="276999"/>
          </a:xfrm>
          <a:prstGeom prst="rect">
            <a:avLst/>
          </a:prstGeom>
          <a:noFill/>
        </p:spPr>
        <p:txBody>
          <a:bodyPr wrap="square">
            <a:spAutoFit/>
          </a:bodyPr>
          <a:lstStyle/>
          <a:p>
            <a:r>
              <a:rPr lang="en-US" sz="1200" b="1"/>
              <a:t>Before (Weak Source → Strong Sink)</a:t>
            </a:r>
            <a:r>
              <a:rPr lang="en-US" sz="1200"/>
              <a:t>.</a:t>
            </a:r>
          </a:p>
        </p:txBody>
      </p:sp>
      <p:sp>
        <p:nvSpPr>
          <p:cNvPr id="3" name="TextBox 2">
            <a:extLst>
              <a:ext uri="{FF2B5EF4-FFF2-40B4-BE49-F238E27FC236}">
                <a16:creationId xmlns:a16="http://schemas.microsoft.com/office/drawing/2014/main" id="{E1FE098C-5DFC-B233-69B1-F84F439C3A52}"/>
              </a:ext>
            </a:extLst>
          </p:cNvPr>
          <p:cNvSpPr txBox="1"/>
          <p:nvPr/>
        </p:nvSpPr>
        <p:spPr>
          <a:xfrm>
            <a:off x="233909" y="2290328"/>
            <a:ext cx="5371761" cy="1698222"/>
          </a:xfrm>
          <a:prstGeom prst="rect">
            <a:avLst/>
          </a:prstGeom>
          <a:solidFill>
            <a:srgbClr val="1F1F1F"/>
          </a:solidFill>
        </p:spPr>
        <p:txBody>
          <a:bodyPr wrap="square">
            <a:spAutoFit/>
          </a:bodyPr>
          <a:lstStyle/>
          <a:p>
            <a:pPr>
              <a:lnSpc>
                <a:spcPts val="1425"/>
              </a:lnSpc>
              <a:buNone/>
            </a:pPr>
            <a:r>
              <a:rPr lang="en-SG" sz="1000" b="0">
                <a:solidFill>
                  <a:srgbClr val="6A9955"/>
                </a:solidFill>
                <a:effectLst/>
                <a:latin typeface="JetBrains Mono" panose="02000009000000000000" pitchFamily="49" charset="0"/>
              </a:rPr>
              <a:t>// Source: Work Stealing Queue (Order is non-deterministic)</a:t>
            </a: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CCCCCC"/>
                </a:solidFill>
                <a:effectLst/>
                <a:latin typeface="JetBrains Mono" panose="02000009000000000000" pitchFamily="49" charset="0"/>
              </a:rPr>
              <a:t>Task </a:t>
            </a:r>
            <a:r>
              <a:rPr lang="en-SG" sz="1000" b="0">
                <a:solidFill>
                  <a:srgbClr val="9CDCFE"/>
                </a:solidFill>
                <a:effectLst/>
                <a:latin typeface="JetBrains Mono" panose="02000009000000000000" pitchFamily="49" charset="0"/>
              </a:rPr>
              <a:t>t</a:t>
            </a:r>
            <a:r>
              <a:rPr lang="en-SG" sz="1000" b="0">
                <a:solidFill>
                  <a:srgbClr val="CCCCCC"/>
                </a:solidFill>
                <a:effectLst/>
                <a:latin typeface="JetBrains Mono" panose="02000009000000000000" pitchFamily="49" charset="0"/>
              </a:rPr>
              <a:t> </a:t>
            </a:r>
            <a:r>
              <a:rPr lang="en-SG" sz="1000" b="0">
                <a:solidFill>
                  <a:srgbClr val="D4D4D4"/>
                </a:solidFill>
                <a:effectLst/>
                <a:latin typeface="JetBrains Mono" panose="02000009000000000000" pitchFamily="49" charset="0"/>
              </a:rPr>
              <a:t>=</a:t>
            </a:r>
            <a:r>
              <a:rPr lang="en-SG" sz="1000" b="0">
                <a:solidFill>
                  <a:srgbClr val="CCCCCC"/>
                </a:solidFill>
                <a:effectLst/>
                <a:latin typeface="JetBrains Mono" panose="02000009000000000000" pitchFamily="49" charset="0"/>
              </a:rPr>
              <a:t> </a:t>
            </a:r>
            <a:r>
              <a:rPr lang="en-SG" sz="1000" b="0" err="1">
                <a:solidFill>
                  <a:srgbClr val="DCDCAA"/>
                </a:solidFill>
                <a:effectLst/>
                <a:latin typeface="JetBrains Mono" panose="02000009000000000000" pitchFamily="49" charset="0"/>
              </a:rPr>
              <a:t>wsq_pop</a:t>
            </a:r>
            <a:r>
              <a:rPr lang="en-SG" sz="1000" b="0">
                <a:solidFill>
                  <a:srgbClr val="CCCCCC"/>
                </a:solidFill>
                <a:effectLst/>
                <a:latin typeface="JetBrains Mono" panose="02000009000000000000" pitchFamily="49" charset="0"/>
              </a:rPr>
              <a:t>(</a:t>
            </a:r>
            <a:r>
              <a:rPr lang="en-SG" sz="1000" b="0" err="1">
                <a:solidFill>
                  <a:srgbClr val="CCCCCC"/>
                </a:solidFill>
                <a:effectLst/>
                <a:latin typeface="JetBrains Mono" panose="02000009000000000000" pitchFamily="49" charset="0"/>
              </a:rPr>
              <a:t>my_queue</a:t>
            </a:r>
            <a:r>
              <a:rPr lang="en-SG" sz="1000" b="0">
                <a:solidFill>
                  <a:srgbClr val="CCCCCC"/>
                </a:solidFill>
                <a:effectLst/>
                <a:latin typeface="JetBrains Mono" panose="02000009000000000000" pitchFamily="49" charset="0"/>
              </a:rPr>
              <a:t>);</a:t>
            </a:r>
            <a:br>
              <a:rPr lang="en-SG" sz="1000" b="0">
                <a:solidFill>
                  <a:srgbClr val="CCCCCC"/>
                </a:solidFill>
                <a:effectLst/>
                <a:latin typeface="JetBrains Mono" panose="02000009000000000000" pitchFamily="49" charset="0"/>
              </a:rPr>
            </a:b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6A9955"/>
                </a:solidFill>
                <a:effectLst/>
                <a:latin typeface="JetBrains Mono" panose="02000009000000000000" pitchFamily="49" charset="0"/>
              </a:rPr>
              <a:t>// Sink: Database Queue</a:t>
            </a: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6A9955"/>
                </a:solidFill>
                <a:effectLst/>
                <a:latin typeface="JetBrains Mono" panose="02000009000000000000" pitchFamily="49" charset="0"/>
              </a:rPr>
              <a:t>// PROBLEM: We use a global lock to enforce FIFO, </a:t>
            </a: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6A9955"/>
                </a:solidFill>
                <a:effectLst/>
                <a:latin typeface="JetBrains Mono" panose="02000009000000000000" pitchFamily="49" charset="0"/>
              </a:rPr>
              <a:t>// even though the input 't' arrived in a random order.</a:t>
            </a:r>
            <a:endParaRPr lang="en-SG" sz="1000" b="0">
              <a:solidFill>
                <a:srgbClr val="CCCCCC"/>
              </a:solidFill>
              <a:effectLst/>
              <a:latin typeface="JetBrains Mono" panose="02000009000000000000" pitchFamily="49" charset="0"/>
            </a:endParaRPr>
          </a:p>
          <a:p>
            <a:pPr>
              <a:lnSpc>
                <a:spcPts val="1425"/>
              </a:lnSpc>
              <a:buNone/>
            </a:pPr>
            <a:r>
              <a:rPr lang="en-SG" sz="1000" b="0" err="1">
                <a:solidFill>
                  <a:srgbClr val="9CDCFE"/>
                </a:solidFill>
                <a:effectLst/>
                <a:latin typeface="JetBrains Mono" panose="02000009000000000000" pitchFamily="49" charset="0"/>
              </a:rPr>
              <a:t>mutex_lock</a:t>
            </a:r>
            <a:r>
              <a:rPr lang="en-SG" sz="1000" b="0">
                <a:solidFill>
                  <a:srgbClr val="CCCCCC"/>
                </a:solidFill>
                <a:effectLst/>
                <a:latin typeface="JetBrains Mono" panose="02000009000000000000" pitchFamily="49" charset="0"/>
              </a:rPr>
              <a:t>(</a:t>
            </a:r>
            <a:r>
              <a:rPr lang="en-SG" sz="1000" b="0">
                <a:solidFill>
                  <a:srgbClr val="D4D4D4"/>
                </a:solidFill>
                <a:effectLst/>
                <a:latin typeface="JetBrains Mono" panose="02000009000000000000" pitchFamily="49" charset="0"/>
              </a:rPr>
              <a:t>&amp;</a:t>
            </a:r>
            <a:r>
              <a:rPr lang="en-SG" sz="1000" b="0" err="1">
                <a:solidFill>
                  <a:srgbClr val="9CDCFE"/>
                </a:solidFill>
                <a:effectLst/>
                <a:latin typeface="JetBrains Mono" panose="02000009000000000000" pitchFamily="49" charset="0"/>
              </a:rPr>
              <a:t>db_q</a:t>
            </a:r>
            <a:r>
              <a:rPr lang="en-SG" sz="1000" b="0" err="1">
                <a:solidFill>
                  <a:srgbClr val="CCCCCC"/>
                </a:solidFill>
                <a:effectLst/>
                <a:latin typeface="JetBrains Mono" panose="02000009000000000000" pitchFamily="49" charset="0"/>
              </a:rPr>
              <a:t>.</a:t>
            </a:r>
            <a:r>
              <a:rPr lang="en-SG" sz="1000" b="0" err="1">
                <a:solidFill>
                  <a:srgbClr val="9CDCFE"/>
                </a:solidFill>
                <a:effectLst/>
                <a:latin typeface="JetBrains Mono" panose="02000009000000000000" pitchFamily="49" charset="0"/>
              </a:rPr>
              <a:t>lock</a:t>
            </a:r>
            <a:r>
              <a:rPr lang="en-SG" sz="1000" b="0">
                <a:solidFill>
                  <a:srgbClr val="CCCCCC"/>
                </a:solidFill>
                <a:effectLst/>
                <a:latin typeface="JetBrains Mono" panose="02000009000000000000" pitchFamily="49" charset="0"/>
              </a:rPr>
              <a:t>);</a:t>
            </a:r>
          </a:p>
          <a:p>
            <a:pPr>
              <a:lnSpc>
                <a:spcPts val="1425"/>
              </a:lnSpc>
              <a:buNone/>
            </a:pPr>
            <a:r>
              <a:rPr lang="en-SG" sz="1000" b="0" err="1">
                <a:solidFill>
                  <a:srgbClr val="9CDCFE"/>
                </a:solidFill>
                <a:effectLst/>
                <a:latin typeface="JetBrains Mono" panose="02000009000000000000" pitchFamily="49" charset="0"/>
              </a:rPr>
              <a:t>queue_push</a:t>
            </a:r>
            <a:r>
              <a:rPr lang="en-SG" sz="1000" b="0">
                <a:solidFill>
                  <a:srgbClr val="CCCCCC"/>
                </a:solidFill>
                <a:effectLst/>
                <a:latin typeface="JetBrains Mono" panose="02000009000000000000" pitchFamily="49" charset="0"/>
              </a:rPr>
              <a:t>(</a:t>
            </a:r>
            <a:r>
              <a:rPr lang="en-SG" sz="1000" b="0">
                <a:solidFill>
                  <a:srgbClr val="D4D4D4"/>
                </a:solidFill>
                <a:effectLst/>
                <a:latin typeface="JetBrains Mono" panose="02000009000000000000" pitchFamily="49" charset="0"/>
              </a:rPr>
              <a:t>&amp;</a:t>
            </a:r>
            <a:r>
              <a:rPr lang="en-SG" sz="1000" b="0" err="1">
                <a:solidFill>
                  <a:srgbClr val="CCCCCC"/>
                </a:solidFill>
                <a:effectLst/>
                <a:latin typeface="JetBrains Mono" panose="02000009000000000000" pitchFamily="49" charset="0"/>
              </a:rPr>
              <a:t>db_q</a:t>
            </a:r>
            <a:r>
              <a:rPr lang="en-SG" sz="1000" b="0">
                <a:solidFill>
                  <a:srgbClr val="CCCCCC"/>
                </a:solidFill>
                <a:effectLst/>
                <a:latin typeface="JetBrains Mono" panose="02000009000000000000" pitchFamily="49" charset="0"/>
              </a:rPr>
              <a:t>, t);</a:t>
            </a:r>
          </a:p>
          <a:p>
            <a:pPr>
              <a:lnSpc>
                <a:spcPts val="1425"/>
              </a:lnSpc>
              <a:buNone/>
            </a:pPr>
            <a:r>
              <a:rPr lang="en-SG" sz="1000" b="0" err="1">
                <a:solidFill>
                  <a:srgbClr val="9CDCFE"/>
                </a:solidFill>
                <a:effectLst/>
                <a:latin typeface="JetBrains Mono" panose="02000009000000000000" pitchFamily="49" charset="0"/>
              </a:rPr>
              <a:t>mutex_unlock</a:t>
            </a:r>
            <a:r>
              <a:rPr lang="en-SG" sz="1000" b="0">
                <a:solidFill>
                  <a:srgbClr val="CCCCCC"/>
                </a:solidFill>
                <a:effectLst/>
                <a:latin typeface="JetBrains Mono" panose="02000009000000000000" pitchFamily="49" charset="0"/>
              </a:rPr>
              <a:t>(</a:t>
            </a:r>
            <a:r>
              <a:rPr lang="en-SG" sz="1000" b="0">
                <a:solidFill>
                  <a:srgbClr val="D4D4D4"/>
                </a:solidFill>
                <a:effectLst/>
                <a:latin typeface="JetBrains Mono" panose="02000009000000000000" pitchFamily="49" charset="0"/>
              </a:rPr>
              <a:t>&amp;</a:t>
            </a:r>
            <a:r>
              <a:rPr lang="en-SG" sz="1000" b="0" err="1">
                <a:solidFill>
                  <a:srgbClr val="9CDCFE"/>
                </a:solidFill>
                <a:effectLst/>
                <a:latin typeface="JetBrains Mono" panose="02000009000000000000" pitchFamily="49" charset="0"/>
              </a:rPr>
              <a:t>db_q</a:t>
            </a:r>
            <a:r>
              <a:rPr lang="en-SG" sz="1000" b="0" err="1">
                <a:solidFill>
                  <a:srgbClr val="CCCCCC"/>
                </a:solidFill>
                <a:effectLst/>
                <a:latin typeface="JetBrains Mono" panose="02000009000000000000" pitchFamily="49" charset="0"/>
              </a:rPr>
              <a:t>.</a:t>
            </a:r>
            <a:r>
              <a:rPr lang="en-SG" sz="1000" b="0" err="1">
                <a:solidFill>
                  <a:srgbClr val="9CDCFE"/>
                </a:solidFill>
                <a:effectLst/>
                <a:latin typeface="JetBrains Mono" panose="02000009000000000000" pitchFamily="49" charset="0"/>
              </a:rPr>
              <a:t>lock</a:t>
            </a:r>
            <a:r>
              <a:rPr lang="en-SG" sz="1000" b="0">
                <a:solidFill>
                  <a:srgbClr val="CCCCCC"/>
                </a:solidFill>
                <a:effectLst/>
                <a:latin typeface="JetBrains Mono" panose="02000009000000000000" pitchFamily="49" charset="0"/>
              </a:rPr>
              <a:t>);</a:t>
            </a:r>
          </a:p>
        </p:txBody>
      </p:sp>
      <p:sp>
        <p:nvSpPr>
          <p:cNvPr id="5" name="TextBox 4">
            <a:extLst>
              <a:ext uri="{FF2B5EF4-FFF2-40B4-BE49-F238E27FC236}">
                <a16:creationId xmlns:a16="http://schemas.microsoft.com/office/drawing/2014/main" id="{97F8B492-B042-870A-7514-8E8490C05313}"/>
              </a:ext>
            </a:extLst>
          </p:cNvPr>
          <p:cNvSpPr txBox="1"/>
          <p:nvPr/>
        </p:nvSpPr>
        <p:spPr>
          <a:xfrm>
            <a:off x="5764764" y="1828663"/>
            <a:ext cx="5910825" cy="276999"/>
          </a:xfrm>
          <a:prstGeom prst="rect">
            <a:avLst/>
          </a:prstGeom>
          <a:noFill/>
        </p:spPr>
        <p:txBody>
          <a:bodyPr wrap="square">
            <a:spAutoFit/>
          </a:bodyPr>
          <a:lstStyle>
            <a:defPPr>
              <a:defRPr lang="ru-RU"/>
            </a:defPPr>
            <a:lvl1pPr>
              <a:defRPr sz="1200" b="1"/>
            </a:lvl1pPr>
          </a:lstStyle>
          <a:p>
            <a:r>
              <a:rPr lang="en-US"/>
              <a:t>After (Propagation)</a:t>
            </a:r>
          </a:p>
        </p:txBody>
      </p:sp>
      <p:sp>
        <p:nvSpPr>
          <p:cNvPr id="6" name="Rectangle 2">
            <a:extLst>
              <a:ext uri="{FF2B5EF4-FFF2-40B4-BE49-F238E27FC236}">
                <a16:creationId xmlns:a16="http://schemas.microsoft.com/office/drawing/2014/main" id="{CBF6D93E-D58D-3B99-5DB4-EBB8B9FD9091}"/>
              </a:ext>
            </a:extLst>
          </p:cNvPr>
          <p:cNvSpPr>
            <a:spLocks noChangeArrowheads="1"/>
          </p:cNvSpPr>
          <p:nvPr/>
        </p:nvSpPr>
        <p:spPr bwMode="auto">
          <a:xfrm>
            <a:off x="233910" y="757692"/>
            <a:ext cx="1149192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a:solidFill>
                  <a:srgbClr val="3333FF"/>
                </a:solidFill>
              </a:rPr>
              <a:t>4. Vector "Composition": Structure </a:t>
            </a:r>
            <a:r>
              <a:rPr lang="en-SG" b="1">
                <a:solidFill>
                  <a:srgbClr val="3333FF"/>
                </a:solidFill>
              </a:rPr>
              <a:t>→</a:t>
            </a:r>
            <a:r>
              <a:rPr lang="en-US" b="1">
                <a:solidFill>
                  <a:srgbClr val="3333FF"/>
                </a:solidFill>
              </a:rPr>
              <a:t> Structure (Chained Infection)</a:t>
            </a:r>
            <a:endParaRPr lang="ru-RU" b="1">
              <a:solidFill>
                <a:srgbClr val="3333FF"/>
              </a:solidFill>
            </a:endParaRPr>
          </a:p>
          <a:p>
            <a:r>
              <a:rPr lang="en-US" sz="1400" b="1" i="0">
                <a:effectLst/>
                <a:latin typeface="Inter"/>
              </a:rPr>
              <a:t>Scenario:</a:t>
            </a:r>
            <a:r>
              <a:rPr lang="en-US" sz="1400" b="0" i="0">
                <a:effectLst/>
                <a:latin typeface="Inter"/>
              </a:rPr>
              <a:t> A two-stage pipeline. Stage 1 is a Work-Stealing Queue (inherently unordered/chaotic). Stage 2 is a Database Writer Queue.</a:t>
            </a:r>
            <a:br>
              <a:rPr lang="en-US" sz="1400"/>
            </a:br>
            <a:r>
              <a:rPr lang="en-US" sz="1400" b="1" i="0">
                <a:effectLst/>
                <a:latin typeface="Inter"/>
              </a:rPr>
              <a:t>Core Idea:</a:t>
            </a:r>
            <a:r>
              <a:rPr lang="en-US" sz="1400" b="0" i="0">
                <a:effectLst/>
                <a:latin typeface="Inter"/>
              </a:rPr>
              <a:t> Since the data coming out of Stage 1 is already "shuffled" (random order due to work stealing), enforcing strict FIFO in Stage 2 is semantically meaningless. The "chaos" from the first structure infects the second.</a:t>
            </a:r>
            <a:endParaRPr kumimoji="0" lang="en-US" altLang="en-US" sz="1050" i="0" u="none" strike="noStrike" cap="none" normalizeH="0" baseline="0">
              <a:ln>
                <a:noFill/>
              </a:ln>
              <a:effectLst/>
            </a:endParaRPr>
          </a:p>
        </p:txBody>
      </p:sp>
      <p:sp>
        <p:nvSpPr>
          <p:cNvPr id="8" name="TextBox 7">
            <a:extLst>
              <a:ext uri="{FF2B5EF4-FFF2-40B4-BE49-F238E27FC236}">
                <a16:creationId xmlns:a16="http://schemas.microsoft.com/office/drawing/2014/main" id="{E9A19514-6EF6-E413-9FEF-140FD9730692}"/>
              </a:ext>
            </a:extLst>
          </p:cNvPr>
          <p:cNvSpPr txBox="1"/>
          <p:nvPr/>
        </p:nvSpPr>
        <p:spPr>
          <a:xfrm>
            <a:off x="5777948" y="2290328"/>
            <a:ext cx="6122504" cy="1159613"/>
          </a:xfrm>
          <a:prstGeom prst="rect">
            <a:avLst/>
          </a:prstGeom>
          <a:solidFill>
            <a:srgbClr val="1F1F1F"/>
          </a:solidFill>
        </p:spPr>
        <p:txBody>
          <a:bodyPr wrap="square">
            <a:spAutoFit/>
          </a:bodyPr>
          <a:lstStyle/>
          <a:p>
            <a:pPr>
              <a:lnSpc>
                <a:spcPts val="1425"/>
              </a:lnSpc>
              <a:buNone/>
            </a:pPr>
            <a:r>
              <a:rPr lang="en-US" sz="1000" b="0">
                <a:solidFill>
                  <a:srgbClr val="CCCCCC"/>
                </a:solidFill>
                <a:effectLst/>
                <a:latin typeface="JetBrains Mono" panose="02000009000000000000" pitchFamily="49" charset="0"/>
              </a:rPr>
              <a:t>Task </a:t>
            </a:r>
            <a:r>
              <a:rPr lang="en-US" sz="1000" b="0">
                <a:solidFill>
                  <a:srgbClr val="9CDCFE"/>
                </a:solidFill>
                <a:effectLst/>
                <a:latin typeface="JetBrains Mono" panose="02000009000000000000" pitchFamily="49" charset="0"/>
              </a:rPr>
              <a:t>t</a:t>
            </a:r>
            <a:r>
              <a:rPr lang="en-US" sz="1000" b="0">
                <a:solidFill>
                  <a:srgbClr val="CCCCCC"/>
                </a:solidFill>
                <a:effectLst/>
                <a:latin typeface="JetBrains Mono" panose="02000009000000000000" pitchFamily="49" charset="0"/>
              </a:rPr>
              <a:t> </a:t>
            </a:r>
            <a:r>
              <a:rPr lang="en-US" sz="1000" b="0">
                <a:solidFill>
                  <a:srgbClr val="D4D4D4"/>
                </a:solidFill>
                <a:effectLst/>
                <a:latin typeface="JetBrains Mono" panose="02000009000000000000" pitchFamily="49" charset="0"/>
              </a:rPr>
              <a:t>=</a:t>
            </a:r>
            <a:r>
              <a:rPr lang="en-US" sz="1000" b="0">
                <a:solidFill>
                  <a:srgbClr val="CCCCCC"/>
                </a:solidFill>
                <a:effectLst/>
                <a:latin typeface="JetBrains Mono" panose="02000009000000000000" pitchFamily="49" charset="0"/>
              </a:rPr>
              <a:t> </a:t>
            </a:r>
            <a:r>
              <a:rPr lang="en-US" sz="1000" b="0" err="1">
                <a:solidFill>
                  <a:srgbClr val="DCDCAA"/>
                </a:solidFill>
                <a:effectLst/>
                <a:latin typeface="JetBrains Mono" panose="02000009000000000000" pitchFamily="49" charset="0"/>
              </a:rPr>
              <a:t>wsq_pop</a:t>
            </a:r>
            <a:r>
              <a:rPr lang="en-US" sz="1000" b="0">
                <a:solidFill>
                  <a:srgbClr val="CCCCCC"/>
                </a:solidFill>
                <a:effectLst/>
                <a:latin typeface="JetBrains Mono" panose="02000009000000000000" pitchFamily="49" charset="0"/>
              </a:rPr>
              <a:t>(</a:t>
            </a:r>
            <a:r>
              <a:rPr lang="en-US" sz="1000" b="0" err="1">
                <a:solidFill>
                  <a:srgbClr val="CCCCCC"/>
                </a:solidFill>
                <a:effectLst/>
                <a:latin typeface="JetBrains Mono" panose="02000009000000000000" pitchFamily="49" charset="0"/>
              </a:rPr>
              <a:t>my_queue</a:t>
            </a:r>
            <a:r>
              <a:rPr lang="en-US" sz="1000" b="0">
                <a:solidFill>
                  <a:srgbClr val="CCCCCC"/>
                </a:solidFill>
                <a:effectLst/>
                <a:latin typeface="JetBrains Mono" panose="02000009000000000000" pitchFamily="49" charset="0"/>
              </a:rPr>
              <a:t>);</a:t>
            </a:r>
            <a:br>
              <a:rPr lang="en-US" sz="1000" b="0">
                <a:solidFill>
                  <a:srgbClr val="CCCCCC"/>
                </a:solidFill>
                <a:effectLst/>
                <a:latin typeface="JetBrains Mono" panose="02000009000000000000" pitchFamily="49" charset="0"/>
              </a:rPr>
            </a:b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6A9955"/>
                </a:solidFill>
                <a:effectLst/>
                <a:latin typeface="JetBrains Mono" panose="02000009000000000000" pitchFamily="49" charset="0"/>
              </a:rPr>
              <a:t>// Optimization: Replace the global DB queue with Sharded Queues.</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6A9955"/>
                </a:solidFill>
                <a:effectLst/>
                <a:latin typeface="JetBrains Mono" panose="02000009000000000000" pitchFamily="49" charset="0"/>
              </a:rPr>
              <a:t>// We write to a local shard. The DB Writer thread will just poll all shards.</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6A9955"/>
                </a:solidFill>
                <a:effectLst/>
                <a:latin typeface="JetBrains Mono" panose="02000009000000000000" pitchFamily="49" charset="0"/>
              </a:rPr>
              <a:t>// Strict global ordering is gone, but it didn't exist anyway!</a:t>
            </a:r>
            <a:endParaRPr lang="en-US" sz="1000" b="0">
              <a:solidFill>
                <a:srgbClr val="CCCCCC"/>
              </a:solidFill>
              <a:effectLst/>
              <a:latin typeface="JetBrains Mono" panose="02000009000000000000" pitchFamily="49" charset="0"/>
            </a:endParaRPr>
          </a:p>
          <a:p>
            <a:pPr>
              <a:lnSpc>
                <a:spcPts val="1425"/>
              </a:lnSpc>
              <a:buNone/>
            </a:pPr>
            <a:r>
              <a:rPr lang="en-US" sz="1000" b="0" err="1">
                <a:solidFill>
                  <a:srgbClr val="569CD6"/>
                </a:solidFill>
                <a:effectLst/>
                <a:latin typeface="JetBrains Mono" panose="02000009000000000000" pitchFamily="49" charset="0"/>
              </a:rPr>
              <a:t>multiqueues_push</a:t>
            </a:r>
            <a:r>
              <a:rPr lang="en-US" sz="1000" b="0">
                <a:solidFill>
                  <a:srgbClr val="569CD6"/>
                </a:solidFill>
                <a:effectLst/>
                <a:latin typeface="JetBrains Mono" panose="02000009000000000000" pitchFamily="49" charset="0"/>
              </a:rPr>
              <a:t>(t);</a:t>
            </a:r>
            <a:endParaRPr lang="en-US" sz="1000" b="0">
              <a:solidFill>
                <a:srgbClr val="CCCCCC"/>
              </a:solidFill>
              <a:effectLst/>
              <a:latin typeface="JetBrains Mono" panose="02000009000000000000" pitchFamily="49" charset="0"/>
            </a:endParaRPr>
          </a:p>
        </p:txBody>
      </p:sp>
    </p:spTree>
    <p:extLst>
      <p:ext uri="{BB962C8B-B14F-4D97-AF65-F5344CB8AC3E}">
        <p14:creationId xmlns:p14="http://schemas.microsoft.com/office/powerpoint/2010/main" val="40443255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2536D13C-6315-14E5-B425-28CDE6B67E7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C8C3AA7-11AD-F125-1FB5-398BD9E695DB}"/>
              </a:ext>
            </a:extLst>
          </p:cNvPr>
          <p:cNvSpPr txBox="1"/>
          <p:nvPr/>
        </p:nvSpPr>
        <p:spPr>
          <a:xfrm>
            <a:off x="1237091" y="1092167"/>
            <a:ext cx="8726556" cy="1938992"/>
          </a:xfrm>
          <a:prstGeom prst="rect">
            <a:avLst/>
          </a:prstGeom>
          <a:noFill/>
        </p:spPr>
        <p:txBody>
          <a:bodyPr wrap="square">
            <a:spAutoFit/>
          </a:bodyPr>
          <a:lstStyle/>
          <a:p>
            <a:r>
              <a:rPr lang="en-US" sz="6000">
                <a:solidFill>
                  <a:schemeClr val="bg1"/>
                </a:solidFill>
                <a:latin typeface="Ubuntu Condensed" panose="020B0506030602030204" pitchFamily="34" charset="0"/>
              </a:rPr>
              <a:t>Concurrency pattern optimization</a:t>
            </a:r>
            <a:endParaRPr lang="ru-RU" sz="6000">
              <a:solidFill>
                <a:schemeClr val="bg1"/>
              </a:solidFill>
              <a:latin typeface="Ubuntu Condensed" panose="020B0506030602030204" pitchFamily="34" charset="0"/>
            </a:endParaRPr>
          </a:p>
        </p:txBody>
      </p:sp>
    </p:spTree>
    <p:extLst>
      <p:ext uri="{BB962C8B-B14F-4D97-AF65-F5344CB8AC3E}">
        <p14:creationId xmlns:p14="http://schemas.microsoft.com/office/powerpoint/2010/main" val="20285038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67ACB-23FB-689C-245A-2A68AE628F87}"/>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83291511-C157-27A5-0B1F-836669FE93C4}"/>
              </a:ext>
            </a:extLst>
          </p:cNvPr>
          <p:cNvSpPr txBox="1"/>
          <p:nvPr/>
        </p:nvSpPr>
        <p:spPr>
          <a:xfrm>
            <a:off x="233910" y="208621"/>
            <a:ext cx="4444107" cy="461665"/>
          </a:xfrm>
          <a:prstGeom prst="rect">
            <a:avLst/>
          </a:prstGeom>
          <a:solidFill>
            <a:srgbClr val="7030A0"/>
          </a:solidFill>
        </p:spPr>
        <p:txBody>
          <a:bodyPr wrap="square" rtlCol="0">
            <a:spAutoFit/>
          </a:bodyPr>
          <a:lstStyle/>
          <a:p>
            <a:r>
              <a:rPr lang="en-US" sz="2400">
                <a:solidFill>
                  <a:schemeClr val="bg1"/>
                </a:solidFill>
                <a:latin typeface="Ubuntu Condensed" panose="020B0506030602030204" pitchFamily="34" charset="0"/>
              </a:rPr>
              <a:t>Multithreading pattern optimization</a:t>
            </a:r>
            <a:endParaRPr lang="ru-RU" sz="2400">
              <a:solidFill>
                <a:schemeClr val="bg1"/>
              </a:solidFill>
              <a:latin typeface="Ubuntu Condensed" panose="020B0506030602030204" pitchFamily="34" charset="0"/>
            </a:endParaRPr>
          </a:p>
        </p:txBody>
      </p:sp>
      <p:sp>
        <p:nvSpPr>
          <p:cNvPr id="7" name="Номер слайда 7">
            <a:extLst>
              <a:ext uri="{FF2B5EF4-FFF2-40B4-BE49-F238E27FC236}">
                <a16:creationId xmlns:a16="http://schemas.microsoft.com/office/drawing/2014/main" id="{968F39DB-F33B-E64C-DD23-E0CF40D7EC5E}"/>
              </a:ext>
            </a:extLst>
          </p:cNvPr>
          <p:cNvSpPr>
            <a:spLocks noGrp="1"/>
          </p:cNvSpPr>
          <p:nvPr>
            <p:ph type="sldNum" sz="quarter" idx="12"/>
          </p:nvPr>
        </p:nvSpPr>
        <p:spPr>
          <a:xfrm>
            <a:off x="11725835" y="6402070"/>
            <a:ext cx="386155" cy="365125"/>
          </a:xfrm>
        </p:spPr>
        <p:txBody>
          <a:bodyPr/>
          <a:lstStyle/>
          <a:p>
            <a:pPr algn="ctr"/>
            <a:fld id="{E757BAED-F255-4CF1-96BA-8D7417A9C3BC}" type="slidenum">
              <a:rPr lang="ru-RU" sz="1800" smtClean="0">
                <a:latin typeface="Ubuntu Condensed" panose="020B0506030602030204" pitchFamily="34" charset="0"/>
              </a:rPr>
              <a:pPr algn="ctr"/>
              <a:t>23</a:t>
            </a:fld>
            <a:endParaRPr lang="ru-RU" sz="1800">
              <a:latin typeface="Ubuntu Condensed" panose="020B0506030602030204" pitchFamily="34" charset="0"/>
            </a:endParaRPr>
          </a:p>
        </p:txBody>
      </p:sp>
      <p:sp>
        <p:nvSpPr>
          <p:cNvPr id="2" name="TextBox 1">
            <a:extLst>
              <a:ext uri="{FF2B5EF4-FFF2-40B4-BE49-F238E27FC236}">
                <a16:creationId xmlns:a16="http://schemas.microsoft.com/office/drawing/2014/main" id="{DA2AFDB5-2776-E95E-A7FF-EB9A0D5D3161}"/>
              </a:ext>
            </a:extLst>
          </p:cNvPr>
          <p:cNvSpPr txBox="1"/>
          <p:nvPr/>
        </p:nvSpPr>
        <p:spPr>
          <a:xfrm>
            <a:off x="233910" y="1954559"/>
            <a:ext cx="5371760" cy="276999"/>
          </a:xfrm>
          <a:prstGeom prst="rect">
            <a:avLst/>
          </a:prstGeom>
          <a:noFill/>
        </p:spPr>
        <p:txBody>
          <a:bodyPr wrap="square">
            <a:spAutoFit/>
          </a:bodyPr>
          <a:lstStyle/>
          <a:p>
            <a:r>
              <a:rPr lang="en-US" sz="1200" b="1"/>
              <a:t>Before (Element-wise)</a:t>
            </a:r>
            <a:r>
              <a:rPr lang="en-US" sz="1200"/>
              <a:t>.</a:t>
            </a:r>
          </a:p>
        </p:txBody>
      </p:sp>
      <p:sp>
        <p:nvSpPr>
          <p:cNvPr id="3" name="TextBox 2">
            <a:extLst>
              <a:ext uri="{FF2B5EF4-FFF2-40B4-BE49-F238E27FC236}">
                <a16:creationId xmlns:a16="http://schemas.microsoft.com/office/drawing/2014/main" id="{58E81109-3F79-2D7C-F2C8-826F147026A2}"/>
              </a:ext>
            </a:extLst>
          </p:cNvPr>
          <p:cNvSpPr txBox="1"/>
          <p:nvPr/>
        </p:nvSpPr>
        <p:spPr>
          <a:xfrm>
            <a:off x="233909" y="2416224"/>
            <a:ext cx="5371761" cy="1877758"/>
          </a:xfrm>
          <a:prstGeom prst="rect">
            <a:avLst/>
          </a:prstGeom>
          <a:solidFill>
            <a:srgbClr val="1F1F1F"/>
          </a:solidFill>
        </p:spPr>
        <p:txBody>
          <a:bodyPr wrap="square">
            <a:spAutoFit/>
          </a:bodyPr>
          <a:lstStyle/>
          <a:p>
            <a:pPr>
              <a:lnSpc>
                <a:spcPts val="1425"/>
              </a:lnSpc>
              <a:buNone/>
            </a:pPr>
            <a:r>
              <a:rPr lang="en-SG" sz="1000" b="0">
                <a:solidFill>
                  <a:srgbClr val="569CD6"/>
                </a:solidFill>
                <a:effectLst/>
                <a:latin typeface="JetBrains Mono" panose="02000009000000000000" pitchFamily="49" charset="0"/>
              </a:rPr>
              <a:t>void</a:t>
            </a:r>
            <a:r>
              <a:rPr lang="en-SG" sz="1000" b="0">
                <a:solidFill>
                  <a:srgbClr val="CCCCCC"/>
                </a:solidFill>
                <a:effectLst/>
                <a:latin typeface="JetBrains Mono" panose="02000009000000000000" pitchFamily="49" charset="0"/>
              </a:rPr>
              <a:t> </a:t>
            </a:r>
            <a:r>
              <a:rPr lang="en-SG" sz="1000" b="0">
                <a:solidFill>
                  <a:srgbClr val="9CDCFE"/>
                </a:solidFill>
                <a:effectLst/>
                <a:latin typeface="JetBrains Mono" panose="02000009000000000000" pitchFamily="49" charset="0"/>
              </a:rPr>
              <a:t>worker</a:t>
            </a:r>
            <a:r>
              <a:rPr lang="en-SG" sz="1000" b="0">
                <a:solidFill>
                  <a:srgbClr val="CCCCCC"/>
                </a:solidFill>
                <a:effectLst/>
                <a:latin typeface="JetBrains Mono" panose="02000009000000000000" pitchFamily="49" charset="0"/>
              </a:rPr>
              <a:t>(</a:t>
            </a:r>
            <a:r>
              <a:rPr lang="en-SG" sz="1000" b="0">
                <a:solidFill>
                  <a:srgbClr val="4EC9B0"/>
                </a:solidFill>
                <a:effectLst/>
                <a:latin typeface="JetBrains Mono" panose="02000009000000000000" pitchFamily="49" charset="0"/>
              </a:rPr>
              <a:t>Queue</a:t>
            </a:r>
            <a:r>
              <a:rPr lang="en-SG" sz="1000" b="0">
                <a:solidFill>
                  <a:srgbClr val="CCCCCC"/>
                </a:solidFill>
                <a:effectLst/>
                <a:latin typeface="JetBrains Mono" panose="02000009000000000000" pitchFamily="49" charset="0"/>
              </a:rPr>
              <a:t> </a:t>
            </a:r>
            <a:r>
              <a:rPr lang="en-SG" sz="1000" b="0">
                <a:solidFill>
                  <a:srgbClr val="569CD6"/>
                </a:solidFill>
                <a:effectLst/>
                <a:latin typeface="JetBrains Mono" panose="02000009000000000000" pitchFamily="49" charset="0"/>
              </a:rPr>
              <a:t>*</a:t>
            </a:r>
            <a:r>
              <a:rPr lang="en-SG" sz="1000" b="0" err="1">
                <a:solidFill>
                  <a:srgbClr val="9CDCFE"/>
                </a:solidFill>
                <a:effectLst/>
                <a:latin typeface="JetBrains Mono" panose="02000009000000000000" pitchFamily="49" charset="0"/>
              </a:rPr>
              <a:t>q_in</a:t>
            </a:r>
            <a:r>
              <a:rPr lang="en-SG" sz="1000" b="0">
                <a:solidFill>
                  <a:srgbClr val="CCCCCC"/>
                </a:solidFill>
                <a:effectLst/>
                <a:latin typeface="JetBrains Mono" panose="02000009000000000000" pitchFamily="49" charset="0"/>
              </a:rPr>
              <a:t>, </a:t>
            </a:r>
            <a:r>
              <a:rPr lang="en-SG" sz="1000" b="0">
                <a:solidFill>
                  <a:srgbClr val="4EC9B0"/>
                </a:solidFill>
                <a:effectLst/>
                <a:latin typeface="JetBrains Mono" panose="02000009000000000000" pitchFamily="49" charset="0"/>
              </a:rPr>
              <a:t>Queue</a:t>
            </a:r>
            <a:r>
              <a:rPr lang="en-SG" sz="1000" b="0">
                <a:solidFill>
                  <a:srgbClr val="CCCCCC"/>
                </a:solidFill>
                <a:effectLst/>
                <a:latin typeface="JetBrains Mono" panose="02000009000000000000" pitchFamily="49" charset="0"/>
              </a:rPr>
              <a:t> </a:t>
            </a:r>
            <a:r>
              <a:rPr lang="en-SG" sz="1000" b="0">
                <a:solidFill>
                  <a:srgbClr val="569CD6"/>
                </a:solidFill>
                <a:effectLst/>
                <a:latin typeface="JetBrains Mono" panose="02000009000000000000" pitchFamily="49" charset="0"/>
              </a:rPr>
              <a:t>*</a:t>
            </a:r>
            <a:r>
              <a:rPr lang="en-SG" sz="1000" b="0" err="1">
                <a:solidFill>
                  <a:srgbClr val="9CDCFE"/>
                </a:solidFill>
                <a:effectLst/>
                <a:latin typeface="JetBrains Mono" panose="02000009000000000000" pitchFamily="49" charset="0"/>
              </a:rPr>
              <a:t>q_out</a:t>
            </a:r>
            <a:r>
              <a:rPr lang="en-SG" sz="1000" b="0">
                <a:solidFill>
                  <a:srgbClr val="CCCCCC"/>
                </a:solidFill>
                <a:effectLst/>
                <a:latin typeface="JetBrains Mono" panose="02000009000000000000" pitchFamily="49" charset="0"/>
              </a:rPr>
              <a:t>) {</a:t>
            </a:r>
          </a:p>
          <a:p>
            <a:pPr>
              <a:lnSpc>
                <a:spcPts val="1425"/>
              </a:lnSpc>
              <a:buNone/>
            </a:pPr>
            <a:r>
              <a:rPr lang="en-SG" sz="1000" b="0">
                <a:solidFill>
                  <a:srgbClr val="CCCCCC"/>
                </a:solidFill>
                <a:effectLst/>
                <a:latin typeface="JetBrains Mono" panose="02000009000000000000" pitchFamily="49" charset="0"/>
              </a:rPr>
              <a:t>  </a:t>
            </a:r>
            <a:r>
              <a:rPr lang="en-SG" sz="1000" b="0">
                <a:solidFill>
                  <a:srgbClr val="C586C0"/>
                </a:solidFill>
                <a:effectLst/>
                <a:latin typeface="JetBrains Mono" panose="02000009000000000000" pitchFamily="49" charset="0"/>
              </a:rPr>
              <a:t>while</a:t>
            </a:r>
            <a:r>
              <a:rPr lang="en-SG" sz="1000" b="0">
                <a:solidFill>
                  <a:srgbClr val="CCCCCC"/>
                </a:solidFill>
                <a:effectLst/>
                <a:latin typeface="JetBrains Mono" panose="02000009000000000000" pitchFamily="49" charset="0"/>
              </a:rPr>
              <a:t> (</a:t>
            </a:r>
            <a:r>
              <a:rPr lang="en-SG" sz="1000" b="0">
                <a:solidFill>
                  <a:srgbClr val="569CD6"/>
                </a:solidFill>
                <a:effectLst/>
                <a:latin typeface="JetBrains Mono" panose="02000009000000000000" pitchFamily="49" charset="0"/>
              </a:rPr>
              <a:t>true</a:t>
            </a:r>
            <a:r>
              <a:rPr lang="en-SG" sz="1000" b="0">
                <a:solidFill>
                  <a:srgbClr val="CCCCCC"/>
                </a:solidFill>
                <a:effectLst/>
                <a:latin typeface="JetBrains Mono" panose="02000009000000000000" pitchFamily="49" charset="0"/>
              </a:rPr>
              <a:t>) {</a:t>
            </a:r>
          </a:p>
          <a:p>
            <a:pPr>
              <a:lnSpc>
                <a:spcPts val="1425"/>
              </a:lnSpc>
              <a:buNone/>
            </a:pPr>
            <a:r>
              <a:rPr lang="en-SG" sz="1000" b="0">
                <a:solidFill>
                  <a:srgbClr val="6A9955"/>
                </a:solidFill>
                <a:effectLst/>
                <a:latin typeface="JetBrains Mono" panose="02000009000000000000" pitchFamily="49" charset="0"/>
              </a:rPr>
              <a:t>    // High lock contention: 2 locks per 1 item</a:t>
            </a: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CCCCCC"/>
                </a:solidFill>
                <a:effectLst/>
                <a:latin typeface="JetBrains Mono" panose="02000009000000000000" pitchFamily="49" charset="0"/>
              </a:rPr>
              <a:t>    Item </a:t>
            </a:r>
            <a:r>
              <a:rPr lang="en-SG" sz="1000" b="0" err="1">
                <a:solidFill>
                  <a:srgbClr val="CCCCCC"/>
                </a:solidFill>
                <a:effectLst/>
                <a:latin typeface="JetBrains Mono" panose="02000009000000000000" pitchFamily="49" charset="0"/>
              </a:rPr>
              <a:t>val</a:t>
            </a:r>
            <a:r>
              <a:rPr lang="en-SG" sz="1000" b="0">
                <a:solidFill>
                  <a:srgbClr val="CCCCCC"/>
                </a:solidFill>
                <a:effectLst/>
                <a:latin typeface="JetBrains Mono" panose="02000009000000000000" pitchFamily="49" charset="0"/>
              </a:rPr>
              <a:t>;</a:t>
            </a:r>
          </a:p>
          <a:p>
            <a:pPr>
              <a:lnSpc>
                <a:spcPts val="1425"/>
              </a:lnSpc>
              <a:buNone/>
            </a:pPr>
            <a:r>
              <a:rPr lang="en-SG" sz="1000" b="0">
                <a:solidFill>
                  <a:srgbClr val="CCCCCC"/>
                </a:solidFill>
                <a:effectLst/>
                <a:latin typeface="JetBrains Mono" panose="02000009000000000000" pitchFamily="49" charset="0"/>
              </a:rPr>
              <a:t>    </a:t>
            </a:r>
            <a:r>
              <a:rPr lang="en-SG" sz="1000" b="0">
                <a:solidFill>
                  <a:srgbClr val="C586C0"/>
                </a:solidFill>
                <a:effectLst/>
                <a:latin typeface="JetBrains Mono" panose="02000009000000000000" pitchFamily="49" charset="0"/>
              </a:rPr>
              <a:t>if</a:t>
            </a:r>
            <a:r>
              <a:rPr lang="en-SG" sz="1000" b="0">
                <a:solidFill>
                  <a:srgbClr val="CCCCCC"/>
                </a:solidFill>
                <a:effectLst/>
                <a:latin typeface="JetBrains Mono" panose="02000009000000000000" pitchFamily="49" charset="0"/>
              </a:rPr>
              <a:t> (</a:t>
            </a:r>
            <a:r>
              <a:rPr lang="en-SG" sz="1000" b="0" err="1">
                <a:solidFill>
                  <a:srgbClr val="DCDCAA"/>
                </a:solidFill>
                <a:effectLst/>
                <a:latin typeface="JetBrains Mono" panose="02000009000000000000" pitchFamily="49" charset="0"/>
              </a:rPr>
              <a:t>queue_pop</a:t>
            </a:r>
            <a:r>
              <a:rPr lang="en-SG" sz="1000" b="0">
                <a:solidFill>
                  <a:srgbClr val="CCCCCC"/>
                </a:solidFill>
                <a:effectLst/>
                <a:latin typeface="JetBrains Mono" panose="02000009000000000000" pitchFamily="49" charset="0"/>
              </a:rPr>
              <a:t>(</a:t>
            </a:r>
            <a:r>
              <a:rPr lang="en-SG" sz="1000" b="0" err="1">
                <a:solidFill>
                  <a:srgbClr val="CCCCCC"/>
                </a:solidFill>
                <a:effectLst/>
                <a:latin typeface="JetBrains Mono" panose="02000009000000000000" pitchFamily="49" charset="0"/>
              </a:rPr>
              <a:t>q_in</a:t>
            </a:r>
            <a:r>
              <a:rPr lang="en-SG" sz="1000" b="0">
                <a:solidFill>
                  <a:srgbClr val="CCCCCC"/>
                </a:solidFill>
                <a:effectLst/>
                <a:latin typeface="JetBrains Mono" panose="02000009000000000000" pitchFamily="49" charset="0"/>
              </a:rPr>
              <a:t>, </a:t>
            </a:r>
            <a:r>
              <a:rPr lang="en-SG" sz="1000" b="0">
                <a:solidFill>
                  <a:srgbClr val="D4D4D4"/>
                </a:solidFill>
                <a:effectLst/>
                <a:latin typeface="JetBrains Mono" panose="02000009000000000000" pitchFamily="49" charset="0"/>
              </a:rPr>
              <a:t>&amp;</a:t>
            </a:r>
            <a:r>
              <a:rPr lang="en-SG" sz="1000" b="0" err="1">
                <a:solidFill>
                  <a:srgbClr val="CCCCCC"/>
                </a:solidFill>
                <a:effectLst/>
                <a:latin typeface="JetBrains Mono" panose="02000009000000000000" pitchFamily="49" charset="0"/>
              </a:rPr>
              <a:t>val</a:t>
            </a:r>
            <a:r>
              <a:rPr lang="en-SG" sz="1000" b="0">
                <a:solidFill>
                  <a:srgbClr val="CCCCCC"/>
                </a:solidFill>
                <a:effectLst/>
                <a:latin typeface="JetBrains Mono" panose="02000009000000000000" pitchFamily="49" charset="0"/>
              </a:rPr>
              <a:t>)) {</a:t>
            </a:r>
            <a:r>
              <a:rPr lang="en-SG" sz="1000" b="0">
                <a:solidFill>
                  <a:srgbClr val="6A9955"/>
                </a:solidFill>
                <a:effectLst/>
                <a:latin typeface="JetBrains Mono" panose="02000009000000000000" pitchFamily="49" charset="0"/>
              </a:rPr>
              <a:t> // Lock A</a:t>
            </a: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CCCCCC"/>
                </a:solidFill>
                <a:effectLst/>
                <a:latin typeface="JetBrains Mono" panose="02000009000000000000" pitchFamily="49" charset="0"/>
              </a:rPr>
              <a:t>      Item res </a:t>
            </a:r>
            <a:r>
              <a:rPr lang="en-SG" sz="1000" b="0">
                <a:solidFill>
                  <a:srgbClr val="D4D4D4"/>
                </a:solidFill>
                <a:effectLst/>
                <a:latin typeface="JetBrains Mono" panose="02000009000000000000" pitchFamily="49" charset="0"/>
              </a:rPr>
              <a:t>=</a:t>
            </a:r>
            <a:r>
              <a:rPr lang="en-SG" sz="1000" b="0">
                <a:solidFill>
                  <a:srgbClr val="CCCCCC"/>
                </a:solidFill>
                <a:effectLst/>
                <a:latin typeface="JetBrains Mono" panose="02000009000000000000" pitchFamily="49" charset="0"/>
              </a:rPr>
              <a:t> </a:t>
            </a:r>
            <a:r>
              <a:rPr lang="en-SG" sz="1000" b="0">
                <a:solidFill>
                  <a:srgbClr val="DCDCAA"/>
                </a:solidFill>
                <a:effectLst/>
                <a:latin typeface="JetBrains Mono" panose="02000009000000000000" pitchFamily="49" charset="0"/>
              </a:rPr>
              <a:t>process</a:t>
            </a:r>
            <a:r>
              <a:rPr lang="en-SG" sz="1000" b="0">
                <a:solidFill>
                  <a:srgbClr val="CCCCCC"/>
                </a:solidFill>
                <a:effectLst/>
                <a:latin typeface="JetBrains Mono" panose="02000009000000000000" pitchFamily="49" charset="0"/>
              </a:rPr>
              <a:t>(</a:t>
            </a:r>
            <a:r>
              <a:rPr lang="en-SG" sz="1000" b="0" err="1">
                <a:solidFill>
                  <a:srgbClr val="CCCCCC"/>
                </a:solidFill>
                <a:effectLst/>
                <a:latin typeface="JetBrains Mono" panose="02000009000000000000" pitchFamily="49" charset="0"/>
              </a:rPr>
              <a:t>val</a:t>
            </a:r>
            <a:r>
              <a:rPr lang="en-SG" sz="1000" b="0">
                <a:solidFill>
                  <a:srgbClr val="CCCCCC"/>
                </a:solidFill>
                <a:effectLst/>
                <a:latin typeface="JetBrains Mono" panose="02000009000000000000" pitchFamily="49" charset="0"/>
              </a:rPr>
              <a:t>);</a:t>
            </a:r>
          </a:p>
          <a:p>
            <a:pPr>
              <a:lnSpc>
                <a:spcPts val="1425"/>
              </a:lnSpc>
              <a:buNone/>
            </a:pPr>
            <a:r>
              <a:rPr lang="en-SG" sz="1000" b="0">
                <a:solidFill>
                  <a:srgbClr val="CCCCCC"/>
                </a:solidFill>
                <a:effectLst/>
                <a:latin typeface="JetBrains Mono" panose="02000009000000000000" pitchFamily="49" charset="0"/>
              </a:rPr>
              <a:t>      </a:t>
            </a:r>
            <a:r>
              <a:rPr lang="en-SG" sz="1000" b="0" err="1">
                <a:solidFill>
                  <a:srgbClr val="DCDCAA"/>
                </a:solidFill>
                <a:effectLst/>
                <a:latin typeface="JetBrains Mono" panose="02000009000000000000" pitchFamily="49" charset="0"/>
              </a:rPr>
              <a:t>queue_push</a:t>
            </a:r>
            <a:r>
              <a:rPr lang="en-SG" sz="1000" b="0">
                <a:solidFill>
                  <a:srgbClr val="CCCCCC"/>
                </a:solidFill>
                <a:effectLst/>
                <a:latin typeface="JetBrains Mono" panose="02000009000000000000" pitchFamily="49" charset="0"/>
              </a:rPr>
              <a:t>(</a:t>
            </a:r>
            <a:r>
              <a:rPr lang="en-SG" sz="1000" b="0" err="1">
                <a:solidFill>
                  <a:srgbClr val="CCCCCC"/>
                </a:solidFill>
                <a:effectLst/>
                <a:latin typeface="JetBrains Mono" panose="02000009000000000000" pitchFamily="49" charset="0"/>
              </a:rPr>
              <a:t>q_out</a:t>
            </a:r>
            <a:r>
              <a:rPr lang="en-SG" sz="1000" b="0">
                <a:solidFill>
                  <a:srgbClr val="CCCCCC"/>
                </a:solidFill>
                <a:effectLst/>
                <a:latin typeface="JetBrains Mono" panose="02000009000000000000" pitchFamily="49" charset="0"/>
              </a:rPr>
              <a:t>, res);</a:t>
            </a:r>
            <a:r>
              <a:rPr lang="en-SG" sz="1000" b="0">
                <a:solidFill>
                  <a:srgbClr val="6A9955"/>
                </a:solidFill>
                <a:effectLst/>
                <a:latin typeface="JetBrains Mono" panose="02000009000000000000" pitchFamily="49" charset="0"/>
              </a:rPr>
              <a:t> // Lock B</a:t>
            </a: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CCCCCC"/>
                </a:solidFill>
                <a:effectLst/>
                <a:latin typeface="JetBrains Mono" panose="02000009000000000000" pitchFamily="49" charset="0"/>
              </a:rPr>
              <a:t>    }</a:t>
            </a:r>
          </a:p>
          <a:p>
            <a:pPr>
              <a:lnSpc>
                <a:spcPts val="1425"/>
              </a:lnSpc>
              <a:buNone/>
            </a:pPr>
            <a:r>
              <a:rPr lang="en-SG" sz="1000" b="0">
                <a:solidFill>
                  <a:srgbClr val="CCCCCC"/>
                </a:solidFill>
                <a:effectLst/>
                <a:latin typeface="JetBrains Mono" panose="02000009000000000000" pitchFamily="49" charset="0"/>
              </a:rPr>
              <a:t>  }</a:t>
            </a:r>
          </a:p>
          <a:p>
            <a:pPr>
              <a:lnSpc>
                <a:spcPts val="1425"/>
              </a:lnSpc>
              <a:buNone/>
            </a:pPr>
            <a:r>
              <a:rPr lang="en-SG" sz="1000" b="0">
                <a:solidFill>
                  <a:srgbClr val="CCCCCC"/>
                </a:solidFill>
                <a:effectLst/>
                <a:latin typeface="JetBrains Mono" panose="02000009000000000000" pitchFamily="49" charset="0"/>
              </a:rPr>
              <a:t>}</a:t>
            </a:r>
          </a:p>
        </p:txBody>
      </p:sp>
      <p:sp>
        <p:nvSpPr>
          <p:cNvPr id="5" name="TextBox 4">
            <a:extLst>
              <a:ext uri="{FF2B5EF4-FFF2-40B4-BE49-F238E27FC236}">
                <a16:creationId xmlns:a16="http://schemas.microsoft.com/office/drawing/2014/main" id="{942E8F94-5155-66CD-4247-506CBB92434C}"/>
              </a:ext>
            </a:extLst>
          </p:cNvPr>
          <p:cNvSpPr txBox="1"/>
          <p:nvPr/>
        </p:nvSpPr>
        <p:spPr>
          <a:xfrm>
            <a:off x="5764764" y="1954559"/>
            <a:ext cx="5910825" cy="276999"/>
          </a:xfrm>
          <a:prstGeom prst="rect">
            <a:avLst/>
          </a:prstGeom>
          <a:noFill/>
        </p:spPr>
        <p:txBody>
          <a:bodyPr wrap="square">
            <a:spAutoFit/>
          </a:bodyPr>
          <a:lstStyle>
            <a:defPPr>
              <a:defRPr lang="ru-RU"/>
            </a:defPPr>
            <a:lvl1pPr>
              <a:defRPr sz="1200" b="1"/>
            </a:lvl1pPr>
          </a:lstStyle>
          <a:p>
            <a:r>
              <a:rPr lang="en-US"/>
              <a:t>After (Batched)</a:t>
            </a:r>
          </a:p>
        </p:txBody>
      </p:sp>
      <p:sp>
        <p:nvSpPr>
          <p:cNvPr id="6" name="Rectangle 2">
            <a:extLst>
              <a:ext uri="{FF2B5EF4-FFF2-40B4-BE49-F238E27FC236}">
                <a16:creationId xmlns:a16="http://schemas.microsoft.com/office/drawing/2014/main" id="{AEAB21B7-5385-78D7-076A-350FB9C56D90}"/>
              </a:ext>
            </a:extLst>
          </p:cNvPr>
          <p:cNvSpPr>
            <a:spLocks noChangeArrowheads="1"/>
          </p:cNvSpPr>
          <p:nvPr/>
        </p:nvSpPr>
        <p:spPr bwMode="auto">
          <a:xfrm>
            <a:off x="233910" y="723453"/>
            <a:ext cx="11491925" cy="1231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a:solidFill>
                  <a:srgbClr val="3333FF"/>
                </a:solidFill>
              </a:rPr>
              <a:t>1. Pipeline Pattern (CDS Fusion / Batching)</a:t>
            </a:r>
            <a:endParaRPr lang="ru-RU" b="1">
              <a:solidFill>
                <a:srgbClr val="3333FF"/>
              </a:solidFill>
            </a:endParaRPr>
          </a:p>
          <a:p>
            <a:r>
              <a:rPr lang="en-US" sz="1400" b="1" i="0">
                <a:effectLst/>
                <a:latin typeface="Inter"/>
              </a:rPr>
              <a:t>Scenario:</a:t>
            </a:r>
            <a:r>
              <a:rPr lang="en-US" sz="1400" b="0" i="0">
                <a:effectLst/>
                <a:latin typeface="Inter"/>
              </a:rPr>
              <a:t> Data flows from Queue A to Queue B with some processing in between.</a:t>
            </a:r>
          </a:p>
          <a:p>
            <a:r>
              <a:rPr lang="en-US" sz="1400" b="1">
                <a:latin typeface="Inter"/>
              </a:rPr>
              <a:t>Scheme</a:t>
            </a:r>
            <a:r>
              <a:rPr lang="en-US" sz="1400">
                <a:latin typeface="Inter"/>
              </a:rPr>
              <a:t>: </a:t>
            </a:r>
            <a:r>
              <a:rPr lang="en-US" sz="1400">
                <a:latin typeface="JetBrains Mono" panose="02000009000000000000" pitchFamily="49" charset="0"/>
                <a:ea typeface="JetBrains Mono" panose="02000009000000000000" pitchFamily="49" charset="0"/>
                <a:cs typeface="JetBrains Mono" panose="02000009000000000000" pitchFamily="49" charset="0"/>
              </a:rPr>
              <a:t>Source -&gt; [Q1] -&gt; Worker A -&gt; [Q2] -&gt; Worker B -&gt; Sink</a:t>
            </a:r>
            <a:br>
              <a:rPr lang="en-US" sz="1400"/>
            </a:br>
            <a:r>
              <a:rPr lang="en-US" sz="1400" b="1" i="0">
                <a:effectLst/>
                <a:latin typeface="Inter"/>
              </a:rPr>
              <a:t>Optimization:</a:t>
            </a:r>
            <a:r>
              <a:rPr lang="en-US" sz="1400" b="0" i="0">
                <a:effectLst/>
                <a:latin typeface="Inter"/>
              </a:rPr>
              <a:t> Instead of locking twice for every single element, the compiler applies "Loop Tiling" to the dataflow, creating a local buffer to process items in batches.</a:t>
            </a:r>
            <a:endParaRPr kumimoji="0" lang="en-US" altLang="en-US" sz="1050" i="0" u="none" strike="noStrike" cap="none" normalizeH="0" baseline="0">
              <a:ln>
                <a:noFill/>
              </a:ln>
              <a:effectLst/>
            </a:endParaRPr>
          </a:p>
        </p:txBody>
      </p:sp>
      <p:sp>
        <p:nvSpPr>
          <p:cNvPr id="8" name="TextBox 7">
            <a:extLst>
              <a:ext uri="{FF2B5EF4-FFF2-40B4-BE49-F238E27FC236}">
                <a16:creationId xmlns:a16="http://schemas.microsoft.com/office/drawing/2014/main" id="{E3C2B7C5-E5ED-36F9-084A-86D2DB77C4C7}"/>
              </a:ext>
            </a:extLst>
          </p:cNvPr>
          <p:cNvSpPr txBox="1"/>
          <p:nvPr/>
        </p:nvSpPr>
        <p:spPr>
          <a:xfrm>
            <a:off x="5777948" y="2416224"/>
            <a:ext cx="6122504" cy="2954976"/>
          </a:xfrm>
          <a:prstGeom prst="rect">
            <a:avLst/>
          </a:prstGeom>
          <a:solidFill>
            <a:srgbClr val="1F1F1F"/>
          </a:solidFill>
        </p:spPr>
        <p:txBody>
          <a:bodyPr wrap="square">
            <a:spAutoFit/>
          </a:bodyPr>
          <a:lstStyle/>
          <a:p>
            <a:pPr>
              <a:lnSpc>
                <a:spcPts val="1425"/>
              </a:lnSpc>
              <a:buNone/>
            </a:pPr>
            <a:r>
              <a:rPr lang="en-SG" sz="1000" b="0">
                <a:solidFill>
                  <a:srgbClr val="569CD6"/>
                </a:solidFill>
                <a:effectLst/>
                <a:latin typeface="JetBrains Mono" panose="02000009000000000000" pitchFamily="49" charset="0"/>
              </a:rPr>
              <a:t>void</a:t>
            </a:r>
            <a:r>
              <a:rPr lang="en-SG" sz="1000" b="0">
                <a:solidFill>
                  <a:srgbClr val="CCCCCC"/>
                </a:solidFill>
                <a:effectLst/>
                <a:latin typeface="JetBrains Mono" panose="02000009000000000000" pitchFamily="49" charset="0"/>
              </a:rPr>
              <a:t> </a:t>
            </a:r>
            <a:r>
              <a:rPr lang="en-SG" sz="1000" b="0" err="1">
                <a:solidFill>
                  <a:srgbClr val="9CDCFE"/>
                </a:solidFill>
                <a:effectLst/>
                <a:latin typeface="JetBrains Mono" panose="02000009000000000000" pitchFamily="49" charset="0"/>
              </a:rPr>
              <a:t>worker_optimized</a:t>
            </a:r>
            <a:r>
              <a:rPr lang="en-SG" sz="1000" b="0">
                <a:solidFill>
                  <a:srgbClr val="CCCCCC"/>
                </a:solidFill>
                <a:effectLst/>
                <a:latin typeface="JetBrains Mono" panose="02000009000000000000" pitchFamily="49" charset="0"/>
              </a:rPr>
              <a:t>(</a:t>
            </a:r>
            <a:r>
              <a:rPr lang="en-SG" sz="1000" b="0">
                <a:solidFill>
                  <a:srgbClr val="4EC9B0"/>
                </a:solidFill>
                <a:effectLst/>
                <a:latin typeface="JetBrains Mono" panose="02000009000000000000" pitchFamily="49" charset="0"/>
              </a:rPr>
              <a:t>Queue</a:t>
            </a:r>
            <a:r>
              <a:rPr lang="en-SG" sz="1000" b="0">
                <a:solidFill>
                  <a:srgbClr val="CCCCCC"/>
                </a:solidFill>
                <a:effectLst/>
                <a:latin typeface="JetBrains Mono" panose="02000009000000000000" pitchFamily="49" charset="0"/>
              </a:rPr>
              <a:t> </a:t>
            </a:r>
            <a:r>
              <a:rPr lang="en-SG" sz="1000" b="0">
                <a:solidFill>
                  <a:srgbClr val="569CD6"/>
                </a:solidFill>
                <a:effectLst/>
                <a:latin typeface="JetBrains Mono" panose="02000009000000000000" pitchFamily="49" charset="0"/>
              </a:rPr>
              <a:t>*</a:t>
            </a:r>
            <a:r>
              <a:rPr lang="en-SG" sz="1000" b="0" err="1">
                <a:solidFill>
                  <a:srgbClr val="9CDCFE"/>
                </a:solidFill>
                <a:effectLst/>
                <a:latin typeface="JetBrains Mono" panose="02000009000000000000" pitchFamily="49" charset="0"/>
              </a:rPr>
              <a:t>q_in</a:t>
            </a:r>
            <a:r>
              <a:rPr lang="en-SG" sz="1000" b="0">
                <a:solidFill>
                  <a:srgbClr val="CCCCCC"/>
                </a:solidFill>
                <a:effectLst/>
                <a:latin typeface="JetBrains Mono" panose="02000009000000000000" pitchFamily="49" charset="0"/>
              </a:rPr>
              <a:t>, </a:t>
            </a:r>
            <a:r>
              <a:rPr lang="en-SG" sz="1000" b="0">
                <a:solidFill>
                  <a:srgbClr val="4EC9B0"/>
                </a:solidFill>
                <a:effectLst/>
                <a:latin typeface="JetBrains Mono" panose="02000009000000000000" pitchFamily="49" charset="0"/>
              </a:rPr>
              <a:t>Queue</a:t>
            </a:r>
            <a:r>
              <a:rPr lang="en-SG" sz="1000" b="0">
                <a:solidFill>
                  <a:srgbClr val="CCCCCC"/>
                </a:solidFill>
                <a:effectLst/>
                <a:latin typeface="JetBrains Mono" panose="02000009000000000000" pitchFamily="49" charset="0"/>
              </a:rPr>
              <a:t> </a:t>
            </a:r>
            <a:r>
              <a:rPr lang="en-SG" sz="1000" b="0">
                <a:solidFill>
                  <a:srgbClr val="569CD6"/>
                </a:solidFill>
                <a:effectLst/>
                <a:latin typeface="JetBrains Mono" panose="02000009000000000000" pitchFamily="49" charset="0"/>
              </a:rPr>
              <a:t>*</a:t>
            </a:r>
            <a:r>
              <a:rPr lang="en-SG" sz="1000" b="0" err="1">
                <a:solidFill>
                  <a:srgbClr val="9CDCFE"/>
                </a:solidFill>
                <a:effectLst/>
                <a:latin typeface="JetBrains Mono" panose="02000009000000000000" pitchFamily="49" charset="0"/>
              </a:rPr>
              <a:t>q_out</a:t>
            </a:r>
            <a:r>
              <a:rPr lang="en-SG" sz="1000" b="0">
                <a:solidFill>
                  <a:srgbClr val="CCCCCC"/>
                </a:solidFill>
                <a:effectLst/>
                <a:latin typeface="JetBrains Mono" panose="02000009000000000000" pitchFamily="49" charset="0"/>
              </a:rPr>
              <a:t>) {</a:t>
            </a:r>
          </a:p>
          <a:p>
            <a:pPr>
              <a:lnSpc>
                <a:spcPts val="1425"/>
              </a:lnSpc>
              <a:buNone/>
            </a:pPr>
            <a:r>
              <a:rPr lang="en-SG" sz="1000" b="0">
                <a:solidFill>
                  <a:srgbClr val="CCCCCC"/>
                </a:solidFill>
                <a:effectLst/>
                <a:latin typeface="JetBrains Mono" panose="02000009000000000000" pitchFamily="49" charset="0"/>
              </a:rPr>
              <a:t>  Item </a:t>
            </a:r>
            <a:r>
              <a:rPr lang="en-SG" sz="1000" b="0">
                <a:solidFill>
                  <a:srgbClr val="9CDCFE"/>
                </a:solidFill>
                <a:effectLst/>
                <a:latin typeface="JetBrains Mono" panose="02000009000000000000" pitchFamily="49" charset="0"/>
              </a:rPr>
              <a:t>buffer</a:t>
            </a:r>
            <a:r>
              <a:rPr lang="en-SG" sz="1000" b="0">
                <a:solidFill>
                  <a:srgbClr val="CCCCCC"/>
                </a:solidFill>
                <a:effectLst/>
                <a:latin typeface="JetBrains Mono" panose="02000009000000000000" pitchFamily="49" charset="0"/>
              </a:rPr>
              <a:t>[</a:t>
            </a:r>
            <a:r>
              <a:rPr lang="en-SG" sz="1000" b="0">
                <a:solidFill>
                  <a:srgbClr val="B5CEA8"/>
                </a:solidFill>
                <a:effectLst/>
                <a:latin typeface="JetBrains Mono" panose="02000009000000000000" pitchFamily="49" charset="0"/>
              </a:rPr>
              <a:t>16</a:t>
            </a:r>
            <a:r>
              <a:rPr lang="en-SG" sz="1000" b="0">
                <a:solidFill>
                  <a:srgbClr val="CCCCCC"/>
                </a:solidFill>
                <a:effectLst/>
                <a:latin typeface="JetBrains Mono" panose="02000009000000000000" pitchFamily="49" charset="0"/>
              </a:rPr>
              <a:t>];</a:t>
            </a:r>
            <a:r>
              <a:rPr lang="en-SG" sz="1000" b="0">
                <a:solidFill>
                  <a:srgbClr val="6A9955"/>
                </a:solidFill>
                <a:effectLst/>
                <a:latin typeface="JetBrains Mono" panose="02000009000000000000" pitchFamily="49" charset="0"/>
              </a:rPr>
              <a:t> // Thread-local buffer</a:t>
            </a: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CCCCCC"/>
                </a:solidFill>
                <a:effectLst/>
                <a:latin typeface="JetBrains Mono" panose="02000009000000000000" pitchFamily="49" charset="0"/>
              </a:rPr>
              <a:t>  </a:t>
            </a:r>
            <a:r>
              <a:rPr lang="en-SG" sz="1000" b="0">
                <a:solidFill>
                  <a:srgbClr val="C586C0"/>
                </a:solidFill>
                <a:effectLst/>
                <a:latin typeface="JetBrains Mono" panose="02000009000000000000" pitchFamily="49" charset="0"/>
              </a:rPr>
              <a:t>while</a:t>
            </a:r>
            <a:r>
              <a:rPr lang="en-SG" sz="1000" b="0">
                <a:solidFill>
                  <a:srgbClr val="CCCCCC"/>
                </a:solidFill>
                <a:effectLst/>
                <a:latin typeface="JetBrains Mono" panose="02000009000000000000" pitchFamily="49" charset="0"/>
              </a:rPr>
              <a:t> (</a:t>
            </a:r>
            <a:r>
              <a:rPr lang="en-SG" sz="1000" b="0">
                <a:solidFill>
                  <a:srgbClr val="569CD6"/>
                </a:solidFill>
                <a:effectLst/>
                <a:latin typeface="JetBrains Mono" panose="02000009000000000000" pitchFamily="49" charset="0"/>
              </a:rPr>
              <a:t>true</a:t>
            </a:r>
            <a:r>
              <a:rPr lang="en-SG" sz="1000" b="0">
                <a:solidFill>
                  <a:srgbClr val="CCCCCC"/>
                </a:solidFill>
                <a:effectLst/>
                <a:latin typeface="JetBrains Mono" panose="02000009000000000000" pitchFamily="49" charset="0"/>
              </a:rPr>
              <a:t>) {</a:t>
            </a:r>
          </a:p>
          <a:p>
            <a:pPr>
              <a:lnSpc>
                <a:spcPts val="1425"/>
              </a:lnSpc>
              <a:buNone/>
            </a:pPr>
            <a:r>
              <a:rPr lang="en-SG" sz="1000" b="0">
                <a:solidFill>
                  <a:srgbClr val="6A9955"/>
                </a:solidFill>
                <a:effectLst/>
                <a:latin typeface="JetBrains Mono" panose="02000009000000000000" pitchFamily="49" charset="0"/>
              </a:rPr>
              <a:t>    // Bulk transfer: 1 lock per 16 items</a:t>
            </a: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CCCCCC"/>
                </a:solidFill>
                <a:effectLst/>
                <a:latin typeface="JetBrains Mono" panose="02000009000000000000" pitchFamily="49" charset="0"/>
              </a:rPr>
              <a:t>    </a:t>
            </a:r>
            <a:r>
              <a:rPr lang="en-SG" sz="1000" b="0">
                <a:solidFill>
                  <a:srgbClr val="569CD6"/>
                </a:solidFill>
                <a:effectLst/>
                <a:latin typeface="JetBrains Mono" panose="02000009000000000000" pitchFamily="49" charset="0"/>
              </a:rPr>
              <a:t>int</a:t>
            </a:r>
            <a:r>
              <a:rPr lang="en-SG" sz="1000" b="0">
                <a:solidFill>
                  <a:srgbClr val="CCCCCC"/>
                </a:solidFill>
                <a:effectLst/>
                <a:latin typeface="JetBrains Mono" panose="02000009000000000000" pitchFamily="49" charset="0"/>
              </a:rPr>
              <a:t> count </a:t>
            </a:r>
            <a:r>
              <a:rPr lang="en-SG" sz="1000" b="0">
                <a:solidFill>
                  <a:srgbClr val="D4D4D4"/>
                </a:solidFill>
                <a:effectLst/>
                <a:latin typeface="JetBrains Mono" panose="02000009000000000000" pitchFamily="49" charset="0"/>
              </a:rPr>
              <a:t>=</a:t>
            </a:r>
            <a:r>
              <a:rPr lang="en-SG" sz="1000" b="0">
                <a:solidFill>
                  <a:srgbClr val="CCCCCC"/>
                </a:solidFill>
                <a:effectLst/>
                <a:latin typeface="JetBrains Mono" panose="02000009000000000000" pitchFamily="49" charset="0"/>
              </a:rPr>
              <a:t> </a:t>
            </a:r>
            <a:r>
              <a:rPr lang="en-SG" sz="1000" b="0" err="1">
                <a:solidFill>
                  <a:srgbClr val="DCDCAA"/>
                </a:solidFill>
                <a:effectLst/>
                <a:latin typeface="JetBrains Mono" panose="02000009000000000000" pitchFamily="49" charset="0"/>
              </a:rPr>
              <a:t>queue_pop_batch</a:t>
            </a:r>
            <a:r>
              <a:rPr lang="en-SG" sz="1000" b="0">
                <a:solidFill>
                  <a:srgbClr val="CCCCCC"/>
                </a:solidFill>
                <a:effectLst/>
                <a:latin typeface="JetBrains Mono" panose="02000009000000000000" pitchFamily="49" charset="0"/>
              </a:rPr>
              <a:t>(</a:t>
            </a:r>
            <a:r>
              <a:rPr lang="en-SG" sz="1000" b="0" err="1">
                <a:solidFill>
                  <a:srgbClr val="CCCCCC"/>
                </a:solidFill>
                <a:effectLst/>
                <a:latin typeface="JetBrains Mono" panose="02000009000000000000" pitchFamily="49" charset="0"/>
              </a:rPr>
              <a:t>q_in</a:t>
            </a:r>
            <a:r>
              <a:rPr lang="en-SG" sz="1000" b="0">
                <a:solidFill>
                  <a:srgbClr val="CCCCCC"/>
                </a:solidFill>
                <a:effectLst/>
                <a:latin typeface="JetBrains Mono" panose="02000009000000000000" pitchFamily="49" charset="0"/>
              </a:rPr>
              <a:t>, buffer, </a:t>
            </a:r>
            <a:r>
              <a:rPr lang="en-SG" sz="1000" b="0">
                <a:solidFill>
                  <a:srgbClr val="B5CEA8"/>
                </a:solidFill>
                <a:effectLst/>
                <a:latin typeface="JetBrains Mono" panose="02000009000000000000" pitchFamily="49" charset="0"/>
              </a:rPr>
              <a:t>16</a:t>
            </a:r>
            <a:r>
              <a:rPr lang="en-SG" sz="1000" b="0">
                <a:solidFill>
                  <a:srgbClr val="CCCCCC"/>
                </a:solidFill>
                <a:effectLst/>
                <a:latin typeface="JetBrains Mono" panose="02000009000000000000" pitchFamily="49" charset="0"/>
              </a:rPr>
              <a:t>);</a:t>
            </a:r>
          </a:p>
          <a:p>
            <a:pPr>
              <a:lnSpc>
                <a:spcPts val="1425"/>
              </a:lnSpc>
              <a:buNone/>
            </a:pP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6A9955"/>
                </a:solidFill>
                <a:effectLst/>
                <a:latin typeface="JetBrains Mono" panose="02000009000000000000" pitchFamily="49" charset="0"/>
              </a:rPr>
              <a:t>    // Processing happens entirely in L1 cache, no locks</a:t>
            </a: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CCCCCC"/>
                </a:solidFill>
                <a:effectLst/>
                <a:latin typeface="JetBrains Mono" panose="02000009000000000000" pitchFamily="49" charset="0"/>
              </a:rPr>
              <a:t>    </a:t>
            </a:r>
            <a:r>
              <a:rPr lang="en-SG" sz="1000" b="0">
                <a:solidFill>
                  <a:srgbClr val="C586C0"/>
                </a:solidFill>
                <a:effectLst/>
                <a:latin typeface="JetBrains Mono" panose="02000009000000000000" pitchFamily="49" charset="0"/>
              </a:rPr>
              <a:t>for</a:t>
            </a:r>
            <a:r>
              <a:rPr lang="en-SG" sz="1000" b="0">
                <a:solidFill>
                  <a:srgbClr val="CCCCCC"/>
                </a:solidFill>
                <a:effectLst/>
                <a:latin typeface="JetBrains Mono" panose="02000009000000000000" pitchFamily="49" charset="0"/>
              </a:rPr>
              <a:t> (</a:t>
            </a:r>
            <a:r>
              <a:rPr lang="en-SG" sz="1000" b="0">
                <a:solidFill>
                  <a:srgbClr val="569CD6"/>
                </a:solidFill>
                <a:effectLst/>
                <a:latin typeface="JetBrains Mono" panose="02000009000000000000" pitchFamily="49" charset="0"/>
              </a:rPr>
              <a:t>int</a:t>
            </a:r>
            <a:r>
              <a:rPr lang="en-SG" sz="1000" b="0">
                <a:solidFill>
                  <a:srgbClr val="CCCCCC"/>
                </a:solidFill>
                <a:effectLst/>
                <a:latin typeface="JetBrains Mono" panose="02000009000000000000" pitchFamily="49" charset="0"/>
              </a:rPr>
              <a:t> </a:t>
            </a:r>
            <a:r>
              <a:rPr lang="en-SG" sz="1000" b="0" err="1">
                <a:solidFill>
                  <a:srgbClr val="CCCCCC"/>
                </a:solidFill>
                <a:effectLst/>
                <a:latin typeface="JetBrains Mono" panose="02000009000000000000" pitchFamily="49" charset="0"/>
              </a:rPr>
              <a:t>i</a:t>
            </a:r>
            <a:r>
              <a:rPr lang="en-SG" sz="1000" b="0">
                <a:solidFill>
                  <a:srgbClr val="CCCCCC"/>
                </a:solidFill>
                <a:effectLst/>
                <a:latin typeface="JetBrains Mono" panose="02000009000000000000" pitchFamily="49" charset="0"/>
              </a:rPr>
              <a:t> </a:t>
            </a:r>
            <a:r>
              <a:rPr lang="en-SG" sz="1000" b="0">
                <a:solidFill>
                  <a:srgbClr val="D4D4D4"/>
                </a:solidFill>
                <a:effectLst/>
                <a:latin typeface="JetBrains Mono" panose="02000009000000000000" pitchFamily="49" charset="0"/>
              </a:rPr>
              <a:t>=</a:t>
            </a:r>
            <a:r>
              <a:rPr lang="en-SG" sz="1000" b="0">
                <a:solidFill>
                  <a:srgbClr val="CCCCCC"/>
                </a:solidFill>
                <a:effectLst/>
                <a:latin typeface="JetBrains Mono" panose="02000009000000000000" pitchFamily="49" charset="0"/>
              </a:rPr>
              <a:t> </a:t>
            </a:r>
            <a:r>
              <a:rPr lang="en-SG" sz="1000" b="0">
                <a:solidFill>
                  <a:srgbClr val="B5CEA8"/>
                </a:solidFill>
                <a:effectLst/>
                <a:latin typeface="JetBrains Mono" panose="02000009000000000000" pitchFamily="49" charset="0"/>
              </a:rPr>
              <a:t>0</a:t>
            </a:r>
            <a:r>
              <a:rPr lang="en-SG" sz="1000" b="0">
                <a:solidFill>
                  <a:srgbClr val="CCCCCC"/>
                </a:solidFill>
                <a:effectLst/>
                <a:latin typeface="JetBrains Mono" panose="02000009000000000000" pitchFamily="49" charset="0"/>
              </a:rPr>
              <a:t>; </a:t>
            </a:r>
            <a:r>
              <a:rPr lang="en-SG" sz="1000" b="0" err="1">
                <a:solidFill>
                  <a:srgbClr val="CCCCCC"/>
                </a:solidFill>
                <a:effectLst/>
                <a:latin typeface="JetBrains Mono" panose="02000009000000000000" pitchFamily="49" charset="0"/>
              </a:rPr>
              <a:t>i</a:t>
            </a:r>
            <a:r>
              <a:rPr lang="en-SG" sz="1000" b="0">
                <a:solidFill>
                  <a:srgbClr val="CCCCCC"/>
                </a:solidFill>
                <a:effectLst/>
                <a:latin typeface="JetBrains Mono" panose="02000009000000000000" pitchFamily="49" charset="0"/>
              </a:rPr>
              <a:t> </a:t>
            </a:r>
            <a:r>
              <a:rPr lang="en-SG" sz="1000" b="0">
                <a:solidFill>
                  <a:srgbClr val="D4D4D4"/>
                </a:solidFill>
                <a:effectLst/>
                <a:latin typeface="JetBrains Mono" panose="02000009000000000000" pitchFamily="49" charset="0"/>
              </a:rPr>
              <a:t>&lt;</a:t>
            </a:r>
            <a:r>
              <a:rPr lang="en-SG" sz="1000" b="0">
                <a:solidFill>
                  <a:srgbClr val="CCCCCC"/>
                </a:solidFill>
                <a:effectLst/>
                <a:latin typeface="JetBrains Mono" panose="02000009000000000000" pitchFamily="49" charset="0"/>
              </a:rPr>
              <a:t> count; </a:t>
            </a:r>
            <a:r>
              <a:rPr lang="en-SG" sz="1000" b="0">
                <a:solidFill>
                  <a:srgbClr val="D4D4D4"/>
                </a:solidFill>
                <a:effectLst/>
                <a:latin typeface="JetBrains Mono" panose="02000009000000000000" pitchFamily="49" charset="0"/>
              </a:rPr>
              <a:t>++</a:t>
            </a:r>
            <a:r>
              <a:rPr lang="en-SG" sz="1000" b="0" err="1">
                <a:solidFill>
                  <a:srgbClr val="CCCCCC"/>
                </a:solidFill>
                <a:effectLst/>
                <a:latin typeface="JetBrains Mono" panose="02000009000000000000" pitchFamily="49" charset="0"/>
              </a:rPr>
              <a:t>i</a:t>
            </a:r>
            <a:r>
              <a:rPr lang="en-SG" sz="1000" b="0">
                <a:solidFill>
                  <a:srgbClr val="CCCCCC"/>
                </a:solidFill>
                <a:effectLst/>
                <a:latin typeface="JetBrains Mono" panose="02000009000000000000" pitchFamily="49" charset="0"/>
              </a:rPr>
              <a:t>) {</a:t>
            </a:r>
          </a:p>
          <a:p>
            <a:pPr>
              <a:lnSpc>
                <a:spcPts val="1425"/>
              </a:lnSpc>
              <a:buNone/>
            </a:pPr>
            <a:r>
              <a:rPr lang="en-SG" sz="1000" b="0">
                <a:solidFill>
                  <a:srgbClr val="CCCCCC"/>
                </a:solidFill>
                <a:effectLst/>
                <a:latin typeface="JetBrains Mono" panose="02000009000000000000" pitchFamily="49" charset="0"/>
              </a:rPr>
              <a:t>      </a:t>
            </a:r>
            <a:r>
              <a:rPr lang="en-SG" sz="1000" b="0">
                <a:solidFill>
                  <a:srgbClr val="9CDCFE"/>
                </a:solidFill>
                <a:effectLst/>
                <a:latin typeface="JetBrains Mono" panose="02000009000000000000" pitchFamily="49" charset="0"/>
              </a:rPr>
              <a:t>buffer</a:t>
            </a:r>
            <a:r>
              <a:rPr lang="en-SG" sz="1000" b="0">
                <a:solidFill>
                  <a:srgbClr val="CCCCCC"/>
                </a:solidFill>
                <a:effectLst/>
                <a:latin typeface="JetBrains Mono" panose="02000009000000000000" pitchFamily="49" charset="0"/>
              </a:rPr>
              <a:t>[</a:t>
            </a:r>
            <a:r>
              <a:rPr lang="en-SG" sz="1000" b="0" err="1">
                <a:solidFill>
                  <a:srgbClr val="CCCCCC"/>
                </a:solidFill>
                <a:effectLst/>
                <a:latin typeface="JetBrains Mono" panose="02000009000000000000" pitchFamily="49" charset="0"/>
              </a:rPr>
              <a:t>i</a:t>
            </a:r>
            <a:r>
              <a:rPr lang="en-SG" sz="1000" b="0">
                <a:solidFill>
                  <a:srgbClr val="CCCCCC"/>
                </a:solidFill>
                <a:effectLst/>
                <a:latin typeface="JetBrains Mono" panose="02000009000000000000" pitchFamily="49" charset="0"/>
              </a:rPr>
              <a:t>] </a:t>
            </a:r>
            <a:r>
              <a:rPr lang="en-SG" sz="1000" b="0">
                <a:solidFill>
                  <a:srgbClr val="D4D4D4"/>
                </a:solidFill>
                <a:effectLst/>
                <a:latin typeface="JetBrains Mono" panose="02000009000000000000" pitchFamily="49" charset="0"/>
              </a:rPr>
              <a:t>=</a:t>
            </a:r>
            <a:r>
              <a:rPr lang="en-SG" sz="1000" b="0">
                <a:solidFill>
                  <a:srgbClr val="CCCCCC"/>
                </a:solidFill>
                <a:effectLst/>
                <a:latin typeface="JetBrains Mono" panose="02000009000000000000" pitchFamily="49" charset="0"/>
              </a:rPr>
              <a:t> </a:t>
            </a:r>
            <a:r>
              <a:rPr lang="en-SG" sz="1000" b="0">
                <a:solidFill>
                  <a:srgbClr val="DCDCAA"/>
                </a:solidFill>
                <a:effectLst/>
                <a:latin typeface="JetBrains Mono" panose="02000009000000000000" pitchFamily="49" charset="0"/>
              </a:rPr>
              <a:t>process</a:t>
            </a:r>
            <a:r>
              <a:rPr lang="en-SG" sz="1000" b="0">
                <a:solidFill>
                  <a:srgbClr val="CCCCCC"/>
                </a:solidFill>
                <a:effectLst/>
                <a:latin typeface="JetBrains Mono" panose="02000009000000000000" pitchFamily="49" charset="0"/>
              </a:rPr>
              <a:t>(</a:t>
            </a:r>
            <a:r>
              <a:rPr lang="en-SG" sz="1000" b="0">
                <a:solidFill>
                  <a:srgbClr val="9CDCFE"/>
                </a:solidFill>
                <a:effectLst/>
                <a:latin typeface="JetBrains Mono" panose="02000009000000000000" pitchFamily="49" charset="0"/>
              </a:rPr>
              <a:t>buffer</a:t>
            </a:r>
            <a:r>
              <a:rPr lang="en-SG" sz="1000" b="0">
                <a:solidFill>
                  <a:srgbClr val="CCCCCC"/>
                </a:solidFill>
                <a:effectLst/>
                <a:latin typeface="JetBrains Mono" panose="02000009000000000000" pitchFamily="49" charset="0"/>
              </a:rPr>
              <a:t>[</a:t>
            </a:r>
            <a:r>
              <a:rPr lang="en-SG" sz="1000" b="0" err="1">
                <a:solidFill>
                  <a:srgbClr val="CCCCCC"/>
                </a:solidFill>
                <a:effectLst/>
                <a:latin typeface="JetBrains Mono" panose="02000009000000000000" pitchFamily="49" charset="0"/>
              </a:rPr>
              <a:t>i</a:t>
            </a:r>
            <a:r>
              <a:rPr lang="en-SG" sz="1000" b="0">
                <a:solidFill>
                  <a:srgbClr val="CCCCCC"/>
                </a:solidFill>
                <a:effectLst/>
                <a:latin typeface="JetBrains Mono" panose="02000009000000000000" pitchFamily="49" charset="0"/>
              </a:rPr>
              <a:t>]);</a:t>
            </a:r>
          </a:p>
          <a:p>
            <a:pPr>
              <a:lnSpc>
                <a:spcPts val="1425"/>
              </a:lnSpc>
              <a:buNone/>
            </a:pPr>
            <a:r>
              <a:rPr lang="en-SG" sz="1000" b="0">
                <a:solidFill>
                  <a:srgbClr val="CCCCCC"/>
                </a:solidFill>
                <a:effectLst/>
                <a:latin typeface="JetBrains Mono" panose="02000009000000000000" pitchFamily="49" charset="0"/>
              </a:rPr>
              <a:t>    }</a:t>
            </a:r>
          </a:p>
          <a:p>
            <a:pPr>
              <a:lnSpc>
                <a:spcPts val="1425"/>
              </a:lnSpc>
              <a:buNone/>
            </a:pP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CCCCCC"/>
                </a:solidFill>
                <a:effectLst/>
                <a:latin typeface="JetBrains Mono" panose="02000009000000000000" pitchFamily="49" charset="0"/>
              </a:rPr>
              <a:t>    </a:t>
            </a:r>
            <a:r>
              <a:rPr lang="en-SG" sz="1000" b="0">
                <a:solidFill>
                  <a:srgbClr val="C586C0"/>
                </a:solidFill>
                <a:effectLst/>
                <a:latin typeface="JetBrains Mono" panose="02000009000000000000" pitchFamily="49" charset="0"/>
              </a:rPr>
              <a:t>if</a:t>
            </a:r>
            <a:r>
              <a:rPr lang="en-SG" sz="1000" b="0">
                <a:solidFill>
                  <a:srgbClr val="CCCCCC"/>
                </a:solidFill>
                <a:effectLst/>
                <a:latin typeface="JetBrains Mono" panose="02000009000000000000" pitchFamily="49" charset="0"/>
              </a:rPr>
              <a:t> (count </a:t>
            </a:r>
            <a:r>
              <a:rPr lang="en-SG" sz="1000" b="0">
                <a:solidFill>
                  <a:srgbClr val="D4D4D4"/>
                </a:solidFill>
                <a:effectLst/>
                <a:latin typeface="JetBrains Mono" panose="02000009000000000000" pitchFamily="49" charset="0"/>
              </a:rPr>
              <a:t>&gt;</a:t>
            </a:r>
            <a:r>
              <a:rPr lang="en-SG" sz="1000" b="0">
                <a:solidFill>
                  <a:srgbClr val="CCCCCC"/>
                </a:solidFill>
                <a:effectLst/>
                <a:latin typeface="JetBrains Mono" panose="02000009000000000000" pitchFamily="49" charset="0"/>
              </a:rPr>
              <a:t> </a:t>
            </a:r>
            <a:r>
              <a:rPr lang="en-SG" sz="1000" b="0">
                <a:solidFill>
                  <a:srgbClr val="B5CEA8"/>
                </a:solidFill>
                <a:effectLst/>
                <a:latin typeface="JetBrains Mono" panose="02000009000000000000" pitchFamily="49" charset="0"/>
              </a:rPr>
              <a:t>0</a:t>
            </a:r>
            <a:r>
              <a:rPr lang="en-SG" sz="1000" b="0">
                <a:solidFill>
                  <a:srgbClr val="CCCCCC"/>
                </a:solidFill>
                <a:effectLst/>
                <a:latin typeface="JetBrains Mono" panose="02000009000000000000" pitchFamily="49" charset="0"/>
              </a:rPr>
              <a:t>) {</a:t>
            </a:r>
          </a:p>
          <a:p>
            <a:pPr>
              <a:lnSpc>
                <a:spcPts val="1425"/>
              </a:lnSpc>
              <a:buNone/>
            </a:pPr>
            <a:r>
              <a:rPr lang="en-SG" sz="1000" b="0">
                <a:solidFill>
                  <a:srgbClr val="CCCCCC"/>
                </a:solidFill>
                <a:effectLst/>
                <a:latin typeface="JetBrains Mono" panose="02000009000000000000" pitchFamily="49" charset="0"/>
              </a:rPr>
              <a:t>      </a:t>
            </a:r>
            <a:r>
              <a:rPr lang="en-SG" sz="1000" b="0" err="1">
                <a:solidFill>
                  <a:srgbClr val="DCDCAA"/>
                </a:solidFill>
                <a:effectLst/>
                <a:latin typeface="JetBrains Mono" panose="02000009000000000000" pitchFamily="49" charset="0"/>
              </a:rPr>
              <a:t>queue_push_batch</a:t>
            </a:r>
            <a:r>
              <a:rPr lang="en-SG" sz="1000" b="0">
                <a:solidFill>
                  <a:srgbClr val="CCCCCC"/>
                </a:solidFill>
                <a:effectLst/>
                <a:latin typeface="JetBrains Mono" panose="02000009000000000000" pitchFamily="49" charset="0"/>
              </a:rPr>
              <a:t>(</a:t>
            </a:r>
            <a:r>
              <a:rPr lang="en-SG" sz="1000" b="0" err="1">
                <a:solidFill>
                  <a:srgbClr val="CCCCCC"/>
                </a:solidFill>
                <a:effectLst/>
                <a:latin typeface="JetBrains Mono" panose="02000009000000000000" pitchFamily="49" charset="0"/>
              </a:rPr>
              <a:t>q_out</a:t>
            </a:r>
            <a:r>
              <a:rPr lang="en-SG" sz="1000" b="0">
                <a:solidFill>
                  <a:srgbClr val="CCCCCC"/>
                </a:solidFill>
                <a:effectLst/>
                <a:latin typeface="JetBrains Mono" panose="02000009000000000000" pitchFamily="49" charset="0"/>
              </a:rPr>
              <a:t>, buffer, count);</a:t>
            </a:r>
            <a:r>
              <a:rPr lang="en-SG" sz="1000" b="0">
                <a:solidFill>
                  <a:srgbClr val="6A9955"/>
                </a:solidFill>
                <a:effectLst/>
                <a:latin typeface="JetBrains Mono" panose="02000009000000000000" pitchFamily="49" charset="0"/>
              </a:rPr>
              <a:t> // Lock B</a:t>
            </a: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CCCCCC"/>
                </a:solidFill>
                <a:effectLst/>
                <a:latin typeface="JetBrains Mono" panose="02000009000000000000" pitchFamily="49" charset="0"/>
              </a:rPr>
              <a:t>    }</a:t>
            </a:r>
          </a:p>
          <a:p>
            <a:pPr>
              <a:lnSpc>
                <a:spcPts val="1425"/>
              </a:lnSpc>
              <a:buNone/>
            </a:pPr>
            <a:r>
              <a:rPr lang="en-SG" sz="1000" b="0">
                <a:solidFill>
                  <a:srgbClr val="CCCCCC"/>
                </a:solidFill>
                <a:effectLst/>
                <a:latin typeface="JetBrains Mono" panose="02000009000000000000" pitchFamily="49" charset="0"/>
              </a:rPr>
              <a:t>  }</a:t>
            </a:r>
          </a:p>
          <a:p>
            <a:pPr>
              <a:lnSpc>
                <a:spcPts val="1425"/>
              </a:lnSpc>
              <a:buNone/>
            </a:pPr>
            <a:r>
              <a:rPr lang="en-SG" sz="1000" b="0">
                <a:solidFill>
                  <a:srgbClr val="CCCCCC"/>
                </a:solidFill>
                <a:effectLst/>
                <a:latin typeface="JetBrains Mono" panose="02000009000000000000" pitchFamily="49" charset="0"/>
              </a:rPr>
              <a:t>}</a:t>
            </a:r>
          </a:p>
        </p:txBody>
      </p:sp>
    </p:spTree>
    <p:extLst>
      <p:ext uri="{BB962C8B-B14F-4D97-AF65-F5344CB8AC3E}">
        <p14:creationId xmlns:p14="http://schemas.microsoft.com/office/powerpoint/2010/main" val="40726649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F6B70-6FC5-E7B9-5403-44AC7F666F47}"/>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C891AA14-6EE7-BA67-1A4B-AD4F6C52340E}"/>
              </a:ext>
            </a:extLst>
          </p:cNvPr>
          <p:cNvSpPr txBox="1"/>
          <p:nvPr/>
        </p:nvSpPr>
        <p:spPr>
          <a:xfrm>
            <a:off x="233910" y="208621"/>
            <a:ext cx="4444107" cy="461665"/>
          </a:xfrm>
          <a:prstGeom prst="rect">
            <a:avLst/>
          </a:prstGeom>
          <a:solidFill>
            <a:srgbClr val="7030A0"/>
          </a:solidFill>
        </p:spPr>
        <p:txBody>
          <a:bodyPr wrap="square" rtlCol="0">
            <a:spAutoFit/>
          </a:bodyPr>
          <a:lstStyle/>
          <a:p>
            <a:r>
              <a:rPr lang="en-US" sz="2400">
                <a:solidFill>
                  <a:schemeClr val="bg1"/>
                </a:solidFill>
                <a:latin typeface="Ubuntu Condensed" panose="020B0506030602030204" pitchFamily="34" charset="0"/>
              </a:rPr>
              <a:t>Multithreading pattern optimization</a:t>
            </a:r>
            <a:endParaRPr lang="ru-RU" sz="2400">
              <a:solidFill>
                <a:schemeClr val="bg1"/>
              </a:solidFill>
              <a:latin typeface="Ubuntu Condensed" panose="020B0506030602030204" pitchFamily="34" charset="0"/>
            </a:endParaRPr>
          </a:p>
        </p:txBody>
      </p:sp>
      <p:sp>
        <p:nvSpPr>
          <p:cNvPr id="7" name="Номер слайда 7">
            <a:extLst>
              <a:ext uri="{FF2B5EF4-FFF2-40B4-BE49-F238E27FC236}">
                <a16:creationId xmlns:a16="http://schemas.microsoft.com/office/drawing/2014/main" id="{68407670-AD73-F056-7484-3A3BDBDC3C50}"/>
              </a:ext>
            </a:extLst>
          </p:cNvPr>
          <p:cNvSpPr>
            <a:spLocks noGrp="1"/>
          </p:cNvSpPr>
          <p:nvPr>
            <p:ph type="sldNum" sz="quarter" idx="12"/>
          </p:nvPr>
        </p:nvSpPr>
        <p:spPr>
          <a:xfrm>
            <a:off x="11725835" y="6402070"/>
            <a:ext cx="386155" cy="365125"/>
          </a:xfrm>
        </p:spPr>
        <p:txBody>
          <a:bodyPr/>
          <a:lstStyle/>
          <a:p>
            <a:pPr algn="ctr"/>
            <a:fld id="{E757BAED-F255-4CF1-96BA-8D7417A9C3BC}" type="slidenum">
              <a:rPr lang="ru-RU" sz="1800" smtClean="0">
                <a:latin typeface="Ubuntu Condensed" panose="020B0506030602030204" pitchFamily="34" charset="0"/>
              </a:rPr>
              <a:pPr algn="ctr"/>
              <a:t>24</a:t>
            </a:fld>
            <a:endParaRPr lang="ru-RU" sz="1800">
              <a:latin typeface="Ubuntu Condensed" panose="020B0506030602030204" pitchFamily="34" charset="0"/>
            </a:endParaRPr>
          </a:p>
        </p:txBody>
      </p:sp>
      <p:sp>
        <p:nvSpPr>
          <p:cNvPr id="2" name="TextBox 1">
            <a:extLst>
              <a:ext uri="{FF2B5EF4-FFF2-40B4-BE49-F238E27FC236}">
                <a16:creationId xmlns:a16="http://schemas.microsoft.com/office/drawing/2014/main" id="{0A94E2BE-9B07-8141-8AD3-43DDF607F822}"/>
              </a:ext>
            </a:extLst>
          </p:cNvPr>
          <p:cNvSpPr txBox="1"/>
          <p:nvPr/>
        </p:nvSpPr>
        <p:spPr>
          <a:xfrm>
            <a:off x="233910" y="1828663"/>
            <a:ext cx="5371760" cy="276999"/>
          </a:xfrm>
          <a:prstGeom prst="rect">
            <a:avLst/>
          </a:prstGeom>
          <a:noFill/>
        </p:spPr>
        <p:txBody>
          <a:bodyPr wrap="square">
            <a:spAutoFit/>
          </a:bodyPr>
          <a:lstStyle/>
          <a:p>
            <a:r>
              <a:rPr lang="en-US" sz="1200" b="1"/>
              <a:t>Before (Naïve retry)</a:t>
            </a:r>
            <a:r>
              <a:rPr lang="en-US" sz="1200"/>
              <a:t>.</a:t>
            </a:r>
          </a:p>
        </p:txBody>
      </p:sp>
      <p:sp>
        <p:nvSpPr>
          <p:cNvPr id="3" name="TextBox 2">
            <a:extLst>
              <a:ext uri="{FF2B5EF4-FFF2-40B4-BE49-F238E27FC236}">
                <a16:creationId xmlns:a16="http://schemas.microsoft.com/office/drawing/2014/main" id="{CB5531DA-58AE-1C3C-3843-D42D9F7D6AD5}"/>
              </a:ext>
            </a:extLst>
          </p:cNvPr>
          <p:cNvSpPr txBox="1"/>
          <p:nvPr/>
        </p:nvSpPr>
        <p:spPr>
          <a:xfrm>
            <a:off x="233909" y="2290328"/>
            <a:ext cx="5371761" cy="1339149"/>
          </a:xfrm>
          <a:prstGeom prst="rect">
            <a:avLst/>
          </a:prstGeom>
          <a:solidFill>
            <a:srgbClr val="1F1F1F"/>
          </a:solidFill>
        </p:spPr>
        <p:txBody>
          <a:bodyPr wrap="square">
            <a:spAutoFit/>
          </a:bodyPr>
          <a:lstStyle/>
          <a:p>
            <a:pPr>
              <a:lnSpc>
                <a:spcPts val="1425"/>
              </a:lnSpc>
              <a:buNone/>
            </a:pPr>
            <a:r>
              <a:rPr lang="en-SG" sz="1000" b="0">
                <a:solidFill>
                  <a:srgbClr val="569CD6"/>
                </a:solidFill>
                <a:effectLst/>
                <a:latin typeface="JetBrains Mono" panose="02000009000000000000" pitchFamily="49" charset="0"/>
              </a:rPr>
              <a:t>void</a:t>
            </a:r>
            <a:r>
              <a:rPr lang="en-SG" sz="1000" b="0">
                <a:solidFill>
                  <a:srgbClr val="CCCCCC"/>
                </a:solidFill>
                <a:effectLst/>
                <a:latin typeface="JetBrains Mono" panose="02000009000000000000" pitchFamily="49" charset="0"/>
              </a:rPr>
              <a:t> </a:t>
            </a:r>
            <a:r>
              <a:rPr lang="en-SG" sz="1000" b="0">
                <a:solidFill>
                  <a:srgbClr val="9CDCFE"/>
                </a:solidFill>
                <a:effectLst/>
                <a:latin typeface="JetBrains Mono" panose="02000009000000000000" pitchFamily="49" charset="0"/>
              </a:rPr>
              <a:t>worker</a:t>
            </a:r>
            <a:r>
              <a:rPr lang="en-SG" sz="1000" b="0">
                <a:solidFill>
                  <a:srgbClr val="CCCCCC"/>
                </a:solidFill>
                <a:effectLst/>
                <a:latin typeface="JetBrains Mono" panose="02000009000000000000" pitchFamily="49" charset="0"/>
              </a:rPr>
              <a:t>(</a:t>
            </a:r>
            <a:r>
              <a:rPr lang="en-SG" sz="1000" b="0">
                <a:solidFill>
                  <a:srgbClr val="4EC9B0"/>
                </a:solidFill>
                <a:effectLst/>
                <a:latin typeface="JetBrains Mono" panose="02000009000000000000" pitchFamily="49" charset="0"/>
              </a:rPr>
              <a:t>Queue</a:t>
            </a:r>
            <a:r>
              <a:rPr lang="en-SG" sz="1000" b="0">
                <a:solidFill>
                  <a:srgbClr val="CCCCCC"/>
                </a:solidFill>
                <a:effectLst/>
                <a:latin typeface="JetBrains Mono" panose="02000009000000000000" pitchFamily="49" charset="0"/>
              </a:rPr>
              <a:t> </a:t>
            </a:r>
            <a:r>
              <a:rPr lang="en-SG" sz="1000" b="0">
                <a:solidFill>
                  <a:srgbClr val="569CD6"/>
                </a:solidFill>
                <a:effectLst/>
                <a:latin typeface="JetBrains Mono" panose="02000009000000000000" pitchFamily="49" charset="0"/>
              </a:rPr>
              <a:t>*</a:t>
            </a:r>
            <a:r>
              <a:rPr lang="en-SG" sz="1000" b="0" err="1">
                <a:solidFill>
                  <a:srgbClr val="9CDCFE"/>
                </a:solidFill>
                <a:effectLst/>
                <a:latin typeface="JetBrains Mono" panose="02000009000000000000" pitchFamily="49" charset="0"/>
              </a:rPr>
              <a:t>global_q</a:t>
            </a:r>
            <a:r>
              <a:rPr lang="en-SG" sz="1000" b="0">
                <a:solidFill>
                  <a:srgbClr val="CCCCCC"/>
                </a:solidFill>
                <a:effectLst/>
                <a:latin typeface="JetBrains Mono" panose="02000009000000000000" pitchFamily="49" charset="0"/>
              </a:rPr>
              <a:t>) {</a:t>
            </a:r>
          </a:p>
          <a:p>
            <a:pPr>
              <a:lnSpc>
                <a:spcPts val="1425"/>
              </a:lnSpc>
              <a:buNone/>
            </a:pPr>
            <a:r>
              <a:rPr lang="en-SG" sz="1000" b="0">
                <a:solidFill>
                  <a:srgbClr val="CCCCCC"/>
                </a:solidFill>
                <a:effectLst/>
                <a:latin typeface="JetBrains Mono" panose="02000009000000000000" pitchFamily="49" charset="0"/>
              </a:rPr>
              <a:t>  Task t </a:t>
            </a:r>
            <a:r>
              <a:rPr lang="en-SG" sz="1000" b="0">
                <a:solidFill>
                  <a:srgbClr val="D4D4D4"/>
                </a:solidFill>
                <a:effectLst/>
                <a:latin typeface="JetBrains Mono" panose="02000009000000000000" pitchFamily="49" charset="0"/>
              </a:rPr>
              <a:t>=</a:t>
            </a:r>
            <a:r>
              <a:rPr lang="en-SG" sz="1000" b="0">
                <a:solidFill>
                  <a:srgbClr val="CCCCCC"/>
                </a:solidFill>
                <a:effectLst/>
                <a:latin typeface="JetBrains Mono" panose="02000009000000000000" pitchFamily="49" charset="0"/>
              </a:rPr>
              <a:t> </a:t>
            </a:r>
            <a:r>
              <a:rPr lang="en-SG" sz="1000" b="0" err="1">
                <a:solidFill>
                  <a:srgbClr val="DCDCAA"/>
                </a:solidFill>
                <a:effectLst/>
                <a:latin typeface="JetBrains Mono" panose="02000009000000000000" pitchFamily="49" charset="0"/>
              </a:rPr>
              <a:t>queue_pop</a:t>
            </a:r>
            <a:r>
              <a:rPr lang="en-SG" sz="1000" b="0">
                <a:solidFill>
                  <a:srgbClr val="CCCCCC"/>
                </a:solidFill>
                <a:effectLst/>
                <a:latin typeface="JetBrains Mono" panose="02000009000000000000" pitchFamily="49" charset="0"/>
              </a:rPr>
              <a:t>(</a:t>
            </a:r>
            <a:r>
              <a:rPr lang="en-SG" sz="1000" b="0" err="1">
                <a:solidFill>
                  <a:srgbClr val="CCCCCC"/>
                </a:solidFill>
                <a:effectLst/>
                <a:latin typeface="JetBrains Mono" panose="02000009000000000000" pitchFamily="49" charset="0"/>
              </a:rPr>
              <a:t>global_q</a:t>
            </a:r>
            <a:r>
              <a:rPr lang="en-SG" sz="1000" b="0">
                <a:solidFill>
                  <a:srgbClr val="CCCCCC"/>
                </a:solidFill>
                <a:effectLst/>
                <a:latin typeface="JetBrains Mono" panose="02000009000000000000" pitchFamily="49" charset="0"/>
              </a:rPr>
              <a:t>);</a:t>
            </a:r>
          </a:p>
          <a:p>
            <a:pPr>
              <a:lnSpc>
                <a:spcPts val="1425"/>
              </a:lnSpc>
              <a:buNone/>
            </a:pPr>
            <a:r>
              <a:rPr lang="en-SG" sz="1000" b="0">
                <a:solidFill>
                  <a:srgbClr val="CCCCCC"/>
                </a:solidFill>
                <a:effectLst/>
                <a:latin typeface="JetBrains Mono" panose="02000009000000000000" pitchFamily="49" charset="0"/>
              </a:rPr>
              <a:t>  </a:t>
            </a:r>
            <a:r>
              <a:rPr lang="en-SG" sz="1000" b="0">
                <a:solidFill>
                  <a:srgbClr val="C586C0"/>
                </a:solidFill>
                <a:effectLst/>
                <a:latin typeface="JetBrains Mono" panose="02000009000000000000" pitchFamily="49" charset="0"/>
              </a:rPr>
              <a:t>if</a:t>
            </a:r>
            <a:r>
              <a:rPr lang="en-SG" sz="1000" b="0">
                <a:solidFill>
                  <a:srgbClr val="CCCCCC"/>
                </a:solidFill>
                <a:effectLst/>
                <a:latin typeface="JetBrains Mono" panose="02000009000000000000" pitchFamily="49" charset="0"/>
              </a:rPr>
              <a:t> (</a:t>
            </a:r>
            <a:r>
              <a:rPr lang="en-SG" sz="1000" b="0">
                <a:solidFill>
                  <a:srgbClr val="D4D4D4"/>
                </a:solidFill>
                <a:effectLst/>
                <a:latin typeface="JetBrains Mono" panose="02000009000000000000" pitchFamily="49" charset="0"/>
              </a:rPr>
              <a:t>!</a:t>
            </a:r>
            <a:r>
              <a:rPr lang="en-SG" sz="1000" b="0" err="1">
                <a:solidFill>
                  <a:srgbClr val="DCDCAA"/>
                </a:solidFill>
                <a:effectLst/>
                <a:latin typeface="JetBrains Mono" panose="02000009000000000000" pitchFamily="49" charset="0"/>
              </a:rPr>
              <a:t>try_execute</a:t>
            </a:r>
            <a:r>
              <a:rPr lang="en-SG" sz="1000" b="0">
                <a:solidFill>
                  <a:srgbClr val="CCCCCC"/>
                </a:solidFill>
                <a:effectLst/>
                <a:latin typeface="JetBrains Mono" panose="02000009000000000000" pitchFamily="49" charset="0"/>
              </a:rPr>
              <a:t>(t)) {</a:t>
            </a:r>
          </a:p>
          <a:p>
            <a:pPr>
              <a:lnSpc>
                <a:spcPts val="1425"/>
              </a:lnSpc>
              <a:buNone/>
            </a:pPr>
            <a:r>
              <a:rPr lang="en-SG" sz="1000" b="0">
                <a:solidFill>
                  <a:srgbClr val="6A9955"/>
                </a:solidFill>
                <a:effectLst/>
                <a:latin typeface="JetBrains Mono" panose="02000009000000000000" pitchFamily="49" charset="0"/>
              </a:rPr>
              <a:t>    // Bad: Contenting for the lock again, losing cache warmth</a:t>
            </a: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CCCCCC"/>
                </a:solidFill>
                <a:effectLst/>
                <a:latin typeface="JetBrains Mono" panose="02000009000000000000" pitchFamily="49" charset="0"/>
              </a:rPr>
              <a:t>    </a:t>
            </a:r>
            <a:r>
              <a:rPr lang="en-SG" sz="1000" b="0" err="1">
                <a:solidFill>
                  <a:srgbClr val="DCDCAA"/>
                </a:solidFill>
                <a:effectLst/>
                <a:latin typeface="JetBrains Mono" panose="02000009000000000000" pitchFamily="49" charset="0"/>
              </a:rPr>
              <a:t>queue_push</a:t>
            </a:r>
            <a:r>
              <a:rPr lang="en-SG" sz="1000" b="0">
                <a:solidFill>
                  <a:srgbClr val="CCCCCC"/>
                </a:solidFill>
                <a:effectLst/>
                <a:latin typeface="JetBrains Mono" panose="02000009000000000000" pitchFamily="49" charset="0"/>
              </a:rPr>
              <a:t>(</a:t>
            </a:r>
            <a:r>
              <a:rPr lang="en-SG" sz="1000" b="0" err="1">
                <a:solidFill>
                  <a:srgbClr val="CCCCCC"/>
                </a:solidFill>
                <a:effectLst/>
                <a:latin typeface="JetBrains Mono" panose="02000009000000000000" pitchFamily="49" charset="0"/>
              </a:rPr>
              <a:t>global_q</a:t>
            </a:r>
            <a:r>
              <a:rPr lang="en-SG" sz="1000" b="0">
                <a:solidFill>
                  <a:srgbClr val="CCCCCC"/>
                </a:solidFill>
                <a:effectLst/>
                <a:latin typeface="JetBrains Mono" panose="02000009000000000000" pitchFamily="49" charset="0"/>
              </a:rPr>
              <a:t>, t);</a:t>
            </a:r>
          </a:p>
          <a:p>
            <a:pPr>
              <a:lnSpc>
                <a:spcPts val="1425"/>
              </a:lnSpc>
              <a:buNone/>
            </a:pPr>
            <a:r>
              <a:rPr lang="en-SG" sz="1000" b="0">
                <a:solidFill>
                  <a:srgbClr val="CCCCCC"/>
                </a:solidFill>
                <a:effectLst/>
                <a:latin typeface="JetBrains Mono" panose="02000009000000000000" pitchFamily="49" charset="0"/>
              </a:rPr>
              <a:t>  }</a:t>
            </a:r>
          </a:p>
          <a:p>
            <a:pPr>
              <a:lnSpc>
                <a:spcPts val="1425"/>
              </a:lnSpc>
              <a:buNone/>
            </a:pPr>
            <a:r>
              <a:rPr lang="en-SG" sz="1000" b="0">
                <a:solidFill>
                  <a:srgbClr val="CCCCCC"/>
                </a:solidFill>
                <a:effectLst/>
                <a:latin typeface="JetBrains Mono" panose="02000009000000000000" pitchFamily="49" charset="0"/>
              </a:rPr>
              <a:t>}</a:t>
            </a:r>
          </a:p>
        </p:txBody>
      </p:sp>
      <p:sp>
        <p:nvSpPr>
          <p:cNvPr id="5" name="TextBox 4">
            <a:extLst>
              <a:ext uri="{FF2B5EF4-FFF2-40B4-BE49-F238E27FC236}">
                <a16:creationId xmlns:a16="http://schemas.microsoft.com/office/drawing/2014/main" id="{8E301973-C5F0-7B1A-FEDF-04A72A78CEC5}"/>
              </a:ext>
            </a:extLst>
          </p:cNvPr>
          <p:cNvSpPr txBox="1"/>
          <p:nvPr/>
        </p:nvSpPr>
        <p:spPr>
          <a:xfrm>
            <a:off x="5764764" y="1828663"/>
            <a:ext cx="5910825" cy="276999"/>
          </a:xfrm>
          <a:prstGeom prst="rect">
            <a:avLst/>
          </a:prstGeom>
          <a:noFill/>
        </p:spPr>
        <p:txBody>
          <a:bodyPr wrap="square">
            <a:spAutoFit/>
          </a:bodyPr>
          <a:lstStyle>
            <a:defPPr>
              <a:defRPr lang="ru-RU"/>
            </a:defPPr>
            <a:lvl1pPr>
              <a:defRPr sz="1200" b="1"/>
            </a:lvl1pPr>
          </a:lstStyle>
          <a:p>
            <a:r>
              <a:rPr lang="en-US"/>
              <a:t>After (Short-Circuit)</a:t>
            </a:r>
          </a:p>
        </p:txBody>
      </p:sp>
      <p:sp>
        <p:nvSpPr>
          <p:cNvPr id="6" name="Rectangle 2">
            <a:extLst>
              <a:ext uri="{FF2B5EF4-FFF2-40B4-BE49-F238E27FC236}">
                <a16:creationId xmlns:a16="http://schemas.microsoft.com/office/drawing/2014/main" id="{261F57F2-E9FD-F254-04A4-8F35A9C257A4}"/>
              </a:ext>
            </a:extLst>
          </p:cNvPr>
          <p:cNvSpPr>
            <a:spLocks noChangeArrowheads="1"/>
          </p:cNvSpPr>
          <p:nvPr/>
        </p:nvSpPr>
        <p:spPr bwMode="auto">
          <a:xfrm>
            <a:off x="233910" y="757692"/>
            <a:ext cx="1149192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a:solidFill>
                  <a:srgbClr val="3333FF"/>
                </a:solidFill>
              </a:rPr>
              <a:t>2. Feedback Loop Pattern (Thread-Local Retry)</a:t>
            </a:r>
          </a:p>
          <a:p>
            <a:r>
              <a:rPr lang="en-US" sz="1400" b="1" i="0">
                <a:effectLst/>
                <a:latin typeface="Inter"/>
              </a:rPr>
              <a:t>Scenario:</a:t>
            </a:r>
            <a:r>
              <a:rPr lang="en-US" sz="1400" b="0" i="0">
                <a:effectLst/>
                <a:latin typeface="Inter"/>
              </a:rPr>
              <a:t> A worker pops a task, tries to execute it, fails (e.g., resource busy), and pushes it back to retry later.</a:t>
            </a:r>
          </a:p>
          <a:p>
            <a:r>
              <a:rPr lang="en-US" sz="1400" b="1">
                <a:latin typeface="Inter"/>
              </a:rPr>
              <a:t>Scheme</a:t>
            </a:r>
            <a:r>
              <a:rPr lang="en-US" sz="1400">
                <a:latin typeface="Inter"/>
              </a:rPr>
              <a:t>: </a:t>
            </a:r>
            <a:r>
              <a:rPr lang="en-US" sz="1400">
                <a:latin typeface="JetBrains Mono" panose="02000009000000000000" pitchFamily="49" charset="0"/>
                <a:ea typeface="JetBrains Mono" panose="02000009000000000000" pitchFamily="49" charset="0"/>
                <a:cs typeface="JetBrains Mono" panose="02000009000000000000" pitchFamily="49" charset="0"/>
              </a:rPr>
              <a:t>Worker -&gt; [Main Queue] -&gt; Worker</a:t>
            </a:r>
            <a:br>
              <a:rPr lang="en-US" sz="1400"/>
            </a:br>
            <a:r>
              <a:rPr lang="en-US" sz="1400" b="1" i="0">
                <a:effectLst/>
                <a:latin typeface="Inter"/>
              </a:rPr>
              <a:t>Optimization:</a:t>
            </a:r>
            <a:r>
              <a:rPr lang="en-US" sz="1400" b="0" i="0">
                <a:effectLst/>
                <a:latin typeface="Inter"/>
              </a:rPr>
              <a:t> Pushing back to the global queue destroys cache locality and increases contention. The compiler injects a "Side Stack" to keep retries local.</a:t>
            </a:r>
            <a:endParaRPr kumimoji="0" lang="en-US" altLang="en-US" sz="1050" i="0" u="none" strike="noStrike" cap="none" normalizeH="0" baseline="0">
              <a:ln>
                <a:noFill/>
              </a:ln>
              <a:effectLst/>
            </a:endParaRPr>
          </a:p>
        </p:txBody>
      </p:sp>
      <p:sp>
        <p:nvSpPr>
          <p:cNvPr id="8" name="TextBox 7">
            <a:extLst>
              <a:ext uri="{FF2B5EF4-FFF2-40B4-BE49-F238E27FC236}">
                <a16:creationId xmlns:a16="http://schemas.microsoft.com/office/drawing/2014/main" id="{BE8D72E3-ED26-012D-A7D9-37283CD05F1D}"/>
              </a:ext>
            </a:extLst>
          </p:cNvPr>
          <p:cNvSpPr txBox="1"/>
          <p:nvPr/>
        </p:nvSpPr>
        <p:spPr>
          <a:xfrm>
            <a:off x="5777948" y="2290328"/>
            <a:ext cx="6122504" cy="4211730"/>
          </a:xfrm>
          <a:prstGeom prst="rect">
            <a:avLst/>
          </a:prstGeom>
          <a:solidFill>
            <a:srgbClr val="1F1F1F"/>
          </a:solidFill>
        </p:spPr>
        <p:txBody>
          <a:bodyPr wrap="square">
            <a:spAutoFit/>
          </a:bodyPr>
          <a:lstStyle/>
          <a:p>
            <a:pPr>
              <a:lnSpc>
                <a:spcPts val="1425"/>
              </a:lnSpc>
              <a:buNone/>
            </a:pPr>
            <a:r>
              <a:rPr lang="en-SG" sz="1000" b="0">
                <a:solidFill>
                  <a:srgbClr val="6A9955"/>
                </a:solidFill>
                <a:effectLst/>
                <a:latin typeface="JetBrains Mono" panose="02000009000000000000" pitchFamily="49" charset="0"/>
              </a:rPr>
              <a:t>// Compiler injects thread-local storage</a:t>
            </a: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CCCCCC"/>
                </a:solidFill>
                <a:effectLst/>
                <a:latin typeface="JetBrains Mono" panose="02000009000000000000" pitchFamily="49" charset="0"/>
              </a:rPr>
              <a:t>__thread Task </a:t>
            </a:r>
            <a:r>
              <a:rPr lang="en-SG" sz="1000" b="0" err="1">
                <a:solidFill>
                  <a:srgbClr val="9CDCFE"/>
                </a:solidFill>
                <a:effectLst/>
                <a:latin typeface="JetBrains Mono" panose="02000009000000000000" pitchFamily="49" charset="0"/>
              </a:rPr>
              <a:t>retry_stack</a:t>
            </a:r>
            <a:r>
              <a:rPr lang="en-SG" sz="1000" b="0">
                <a:solidFill>
                  <a:srgbClr val="CCCCCC"/>
                </a:solidFill>
                <a:effectLst/>
                <a:latin typeface="JetBrains Mono" panose="02000009000000000000" pitchFamily="49" charset="0"/>
              </a:rPr>
              <a:t>[</a:t>
            </a:r>
            <a:r>
              <a:rPr lang="en-SG" sz="1000" b="0">
                <a:solidFill>
                  <a:srgbClr val="B5CEA8"/>
                </a:solidFill>
                <a:effectLst/>
                <a:latin typeface="JetBrains Mono" panose="02000009000000000000" pitchFamily="49" charset="0"/>
              </a:rPr>
              <a:t>8</a:t>
            </a:r>
            <a:r>
              <a:rPr lang="en-SG" sz="1000" b="0">
                <a:solidFill>
                  <a:srgbClr val="CCCCCC"/>
                </a:solidFill>
                <a:effectLst/>
                <a:latin typeface="JetBrains Mono" panose="02000009000000000000" pitchFamily="49" charset="0"/>
              </a:rPr>
              <a:t>];</a:t>
            </a:r>
          </a:p>
          <a:p>
            <a:pPr>
              <a:lnSpc>
                <a:spcPts val="1425"/>
              </a:lnSpc>
              <a:buNone/>
            </a:pPr>
            <a:r>
              <a:rPr lang="en-SG" sz="1000" b="0">
                <a:solidFill>
                  <a:srgbClr val="CCCCCC"/>
                </a:solidFill>
                <a:effectLst/>
                <a:latin typeface="JetBrains Mono" panose="02000009000000000000" pitchFamily="49" charset="0"/>
              </a:rPr>
              <a:t>__thread </a:t>
            </a:r>
            <a:r>
              <a:rPr lang="en-SG" sz="1000" b="0">
                <a:solidFill>
                  <a:srgbClr val="569CD6"/>
                </a:solidFill>
                <a:effectLst/>
                <a:latin typeface="JetBrains Mono" panose="02000009000000000000" pitchFamily="49" charset="0"/>
              </a:rPr>
              <a:t>int</a:t>
            </a:r>
            <a:r>
              <a:rPr lang="en-SG" sz="1000" b="0">
                <a:solidFill>
                  <a:srgbClr val="CCCCCC"/>
                </a:solidFill>
                <a:effectLst/>
                <a:latin typeface="JetBrains Mono" panose="02000009000000000000" pitchFamily="49" charset="0"/>
              </a:rPr>
              <a:t> </a:t>
            </a:r>
            <a:r>
              <a:rPr lang="en-SG" sz="1000" b="0" err="1">
                <a:solidFill>
                  <a:srgbClr val="9CDCFE"/>
                </a:solidFill>
                <a:effectLst/>
                <a:latin typeface="JetBrains Mono" panose="02000009000000000000" pitchFamily="49" charset="0"/>
              </a:rPr>
              <a:t>stack_ptr</a:t>
            </a:r>
            <a:r>
              <a:rPr lang="en-SG" sz="1000" b="0">
                <a:solidFill>
                  <a:srgbClr val="CCCCCC"/>
                </a:solidFill>
                <a:effectLst/>
                <a:latin typeface="JetBrains Mono" panose="02000009000000000000" pitchFamily="49" charset="0"/>
              </a:rPr>
              <a:t> </a:t>
            </a:r>
            <a:r>
              <a:rPr lang="en-SG" sz="1000" b="0">
                <a:solidFill>
                  <a:srgbClr val="D4D4D4"/>
                </a:solidFill>
                <a:effectLst/>
                <a:latin typeface="JetBrains Mono" panose="02000009000000000000" pitchFamily="49" charset="0"/>
              </a:rPr>
              <a:t>=</a:t>
            </a:r>
            <a:r>
              <a:rPr lang="en-SG" sz="1000" b="0">
                <a:solidFill>
                  <a:srgbClr val="CCCCCC"/>
                </a:solidFill>
                <a:effectLst/>
                <a:latin typeface="JetBrains Mono" panose="02000009000000000000" pitchFamily="49" charset="0"/>
              </a:rPr>
              <a:t> </a:t>
            </a:r>
            <a:r>
              <a:rPr lang="en-SG" sz="1000" b="0">
                <a:solidFill>
                  <a:srgbClr val="B5CEA8"/>
                </a:solidFill>
                <a:effectLst/>
                <a:latin typeface="JetBrains Mono" panose="02000009000000000000" pitchFamily="49" charset="0"/>
              </a:rPr>
              <a:t>0</a:t>
            </a:r>
            <a:r>
              <a:rPr lang="en-SG" sz="1000" b="0">
                <a:solidFill>
                  <a:srgbClr val="CCCCCC"/>
                </a:solidFill>
                <a:effectLst/>
                <a:latin typeface="JetBrains Mono" panose="02000009000000000000" pitchFamily="49" charset="0"/>
              </a:rPr>
              <a:t>;</a:t>
            </a:r>
          </a:p>
          <a:p>
            <a:pPr>
              <a:lnSpc>
                <a:spcPts val="1425"/>
              </a:lnSpc>
              <a:buNone/>
            </a:pP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569CD6"/>
                </a:solidFill>
                <a:effectLst/>
                <a:latin typeface="JetBrains Mono" panose="02000009000000000000" pitchFamily="49" charset="0"/>
              </a:rPr>
              <a:t>void</a:t>
            </a:r>
            <a:r>
              <a:rPr lang="en-SG" sz="1000" b="0">
                <a:solidFill>
                  <a:srgbClr val="CCCCCC"/>
                </a:solidFill>
                <a:effectLst/>
                <a:latin typeface="JetBrains Mono" panose="02000009000000000000" pitchFamily="49" charset="0"/>
              </a:rPr>
              <a:t> </a:t>
            </a:r>
            <a:r>
              <a:rPr lang="en-SG" sz="1000" b="0">
                <a:solidFill>
                  <a:srgbClr val="9CDCFE"/>
                </a:solidFill>
                <a:effectLst/>
                <a:latin typeface="JetBrains Mono" panose="02000009000000000000" pitchFamily="49" charset="0"/>
              </a:rPr>
              <a:t>worker</a:t>
            </a:r>
            <a:r>
              <a:rPr lang="en-SG" sz="1000" b="0">
                <a:solidFill>
                  <a:srgbClr val="CCCCCC"/>
                </a:solidFill>
                <a:effectLst/>
                <a:latin typeface="JetBrains Mono" panose="02000009000000000000" pitchFamily="49" charset="0"/>
              </a:rPr>
              <a:t>(</a:t>
            </a:r>
            <a:r>
              <a:rPr lang="en-SG" sz="1000" b="0">
                <a:solidFill>
                  <a:srgbClr val="4EC9B0"/>
                </a:solidFill>
                <a:effectLst/>
                <a:latin typeface="JetBrains Mono" panose="02000009000000000000" pitchFamily="49" charset="0"/>
              </a:rPr>
              <a:t>Queue</a:t>
            </a:r>
            <a:r>
              <a:rPr lang="en-SG" sz="1000" b="0">
                <a:solidFill>
                  <a:srgbClr val="CCCCCC"/>
                </a:solidFill>
                <a:effectLst/>
                <a:latin typeface="JetBrains Mono" panose="02000009000000000000" pitchFamily="49" charset="0"/>
              </a:rPr>
              <a:t> </a:t>
            </a:r>
            <a:r>
              <a:rPr lang="en-SG" sz="1000" b="0">
                <a:solidFill>
                  <a:srgbClr val="569CD6"/>
                </a:solidFill>
                <a:effectLst/>
                <a:latin typeface="JetBrains Mono" panose="02000009000000000000" pitchFamily="49" charset="0"/>
              </a:rPr>
              <a:t>*</a:t>
            </a:r>
            <a:r>
              <a:rPr lang="en-SG" sz="1000" b="0" err="1">
                <a:solidFill>
                  <a:srgbClr val="9CDCFE"/>
                </a:solidFill>
                <a:effectLst/>
                <a:latin typeface="JetBrains Mono" panose="02000009000000000000" pitchFamily="49" charset="0"/>
              </a:rPr>
              <a:t>global_q</a:t>
            </a:r>
            <a:r>
              <a:rPr lang="en-SG" sz="1000" b="0">
                <a:solidFill>
                  <a:srgbClr val="CCCCCC"/>
                </a:solidFill>
                <a:effectLst/>
                <a:latin typeface="JetBrains Mono" panose="02000009000000000000" pitchFamily="49" charset="0"/>
              </a:rPr>
              <a:t>) {</a:t>
            </a:r>
          </a:p>
          <a:p>
            <a:pPr>
              <a:lnSpc>
                <a:spcPts val="1425"/>
              </a:lnSpc>
              <a:buNone/>
            </a:pPr>
            <a:r>
              <a:rPr lang="en-SG" sz="1000" b="0">
                <a:solidFill>
                  <a:srgbClr val="CCCCCC"/>
                </a:solidFill>
                <a:effectLst/>
                <a:latin typeface="JetBrains Mono" panose="02000009000000000000" pitchFamily="49" charset="0"/>
              </a:rPr>
              <a:t>  Task t;</a:t>
            </a:r>
          </a:p>
          <a:p>
            <a:pPr>
              <a:lnSpc>
                <a:spcPts val="1425"/>
              </a:lnSpc>
              <a:buNone/>
            </a:pPr>
            <a:r>
              <a:rPr lang="en-SG" sz="1000" b="0">
                <a:solidFill>
                  <a:srgbClr val="6A9955"/>
                </a:solidFill>
                <a:effectLst/>
                <a:latin typeface="JetBrains Mono" panose="02000009000000000000" pitchFamily="49" charset="0"/>
              </a:rPr>
              <a:t>  // 1. Check local stack first (Zero cost)</a:t>
            </a: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CCCCCC"/>
                </a:solidFill>
                <a:effectLst/>
                <a:latin typeface="JetBrains Mono" panose="02000009000000000000" pitchFamily="49" charset="0"/>
              </a:rPr>
              <a:t>  </a:t>
            </a:r>
            <a:r>
              <a:rPr lang="en-SG" sz="1000" b="0">
                <a:solidFill>
                  <a:srgbClr val="C586C0"/>
                </a:solidFill>
                <a:effectLst/>
                <a:latin typeface="JetBrains Mono" panose="02000009000000000000" pitchFamily="49" charset="0"/>
              </a:rPr>
              <a:t>if</a:t>
            </a:r>
            <a:r>
              <a:rPr lang="en-SG" sz="1000" b="0">
                <a:solidFill>
                  <a:srgbClr val="CCCCCC"/>
                </a:solidFill>
                <a:effectLst/>
                <a:latin typeface="JetBrains Mono" panose="02000009000000000000" pitchFamily="49" charset="0"/>
              </a:rPr>
              <a:t> (</a:t>
            </a:r>
            <a:r>
              <a:rPr lang="en-SG" sz="1000" b="0" err="1">
                <a:solidFill>
                  <a:srgbClr val="CCCCCC"/>
                </a:solidFill>
                <a:effectLst/>
                <a:latin typeface="JetBrains Mono" panose="02000009000000000000" pitchFamily="49" charset="0"/>
              </a:rPr>
              <a:t>stack_ptr</a:t>
            </a:r>
            <a:r>
              <a:rPr lang="en-SG" sz="1000" b="0">
                <a:solidFill>
                  <a:srgbClr val="CCCCCC"/>
                </a:solidFill>
                <a:effectLst/>
                <a:latin typeface="JetBrains Mono" panose="02000009000000000000" pitchFamily="49" charset="0"/>
              </a:rPr>
              <a:t> </a:t>
            </a:r>
            <a:r>
              <a:rPr lang="en-SG" sz="1000" b="0">
                <a:solidFill>
                  <a:srgbClr val="D4D4D4"/>
                </a:solidFill>
                <a:effectLst/>
                <a:latin typeface="JetBrains Mono" panose="02000009000000000000" pitchFamily="49" charset="0"/>
              </a:rPr>
              <a:t>&gt;</a:t>
            </a:r>
            <a:r>
              <a:rPr lang="en-SG" sz="1000" b="0">
                <a:solidFill>
                  <a:srgbClr val="CCCCCC"/>
                </a:solidFill>
                <a:effectLst/>
                <a:latin typeface="JetBrains Mono" panose="02000009000000000000" pitchFamily="49" charset="0"/>
              </a:rPr>
              <a:t> </a:t>
            </a:r>
            <a:r>
              <a:rPr lang="en-SG" sz="1000" b="0">
                <a:solidFill>
                  <a:srgbClr val="B5CEA8"/>
                </a:solidFill>
                <a:effectLst/>
                <a:latin typeface="JetBrains Mono" panose="02000009000000000000" pitchFamily="49" charset="0"/>
              </a:rPr>
              <a:t>0</a:t>
            </a:r>
            <a:r>
              <a:rPr lang="en-SG" sz="1000" b="0">
                <a:solidFill>
                  <a:srgbClr val="CCCCCC"/>
                </a:solidFill>
                <a:effectLst/>
                <a:latin typeface="JetBrains Mono" panose="02000009000000000000" pitchFamily="49" charset="0"/>
              </a:rPr>
              <a:t>) {</a:t>
            </a:r>
          </a:p>
          <a:p>
            <a:pPr>
              <a:lnSpc>
                <a:spcPts val="1425"/>
              </a:lnSpc>
              <a:buNone/>
            </a:pPr>
            <a:r>
              <a:rPr lang="en-SG" sz="1000" b="0">
                <a:solidFill>
                  <a:srgbClr val="CCCCCC"/>
                </a:solidFill>
                <a:effectLst/>
                <a:latin typeface="JetBrains Mono" panose="02000009000000000000" pitchFamily="49" charset="0"/>
              </a:rPr>
              <a:t>    t </a:t>
            </a:r>
            <a:r>
              <a:rPr lang="en-SG" sz="1000" b="0">
                <a:solidFill>
                  <a:srgbClr val="D4D4D4"/>
                </a:solidFill>
                <a:effectLst/>
                <a:latin typeface="JetBrains Mono" panose="02000009000000000000" pitchFamily="49" charset="0"/>
              </a:rPr>
              <a:t>=</a:t>
            </a:r>
            <a:r>
              <a:rPr lang="en-SG" sz="1000" b="0">
                <a:solidFill>
                  <a:srgbClr val="CCCCCC"/>
                </a:solidFill>
                <a:effectLst/>
                <a:latin typeface="JetBrains Mono" panose="02000009000000000000" pitchFamily="49" charset="0"/>
              </a:rPr>
              <a:t> </a:t>
            </a:r>
            <a:r>
              <a:rPr lang="en-SG" sz="1000" b="0" err="1">
                <a:solidFill>
                  <a:srgbClr val="9CDCFE"/>
                </a:solidFill>
                <a:effectLst/>
                <a:latin typeface="JetBrains Mono" panose="02000009000000000000" pitchFamily="49" charset="0"/>
              </a:rPr>
              <a:t>retry_stack</a:t>
            </a:r>
            <a:r>
              <a:rPr lang="en-SG" sz="1000" b="0">
                <a:solidFill>
                  <a:srgbClr val="CCCCCC"/>
                </a:solidFill>
                <a:effectLst/>
                <a:latin typeface="JetBrains Mono" panose="02000009000000000000" pitchFamily="49" charset="0"/>
              </a:rPr>
              <a:t>[</a:t>
            </a:r>
            <a:r>
              <a:rPr lang="en-SG" sz="1000" b="0">
                <a:solidFill>
                  <a:srgbClr val="D4D4D4"/>
                </a:solidFill>
                <a:effectLst/>
                <a:latin typeface="JetBrains Mono" panose="02000009000000000000" pitchFamily="49" charset="0"/>
              </a:rPr>
              <a:t>--</a:t>
            </a:r>
            <a:r>
              <a:rPr lang="en-SG" sz="1000" b="0" err="1">
                <a:solidFill>
                  <a:srgbClr val="CCCCCC"/>
                </a:solidFill>
                <a:effectLst/>
                <a:latin typeface="JetBrains Mono" panose="02000009000000000000" pitchFamily="49" charset="0"/>
              </a:rPr>
              <a:t>stack_ptr</a:t>
            </a:r>
            <a:r>
              <a:rPr lang="en-SG" sz="1000" b="0">
                <a:solidFill>
                  <a:srgbClr val="CCCCCC"/>
                </a:solidFill>
                <a:effectLst/>
                <a:latin typeface="JetBrains Mono" panose="02000009000000000000" pitchFamily="49" charset="0"/>
              </a:rPr>
              <a:t>];</a:t>
            </a:r>
          </a:p>
          <a:p>
            <a:pPr>
              <a:lnSpc>
                <a:spcPts val="1425"/>
              </a:lnSpc>
              <a:buNone/>
            </a:pPr>
            <a:r>
              <a:rPr lang="en-SG" sz="1000" b="0">
                <a:solidFill>
                  <a:srgbClr val="CCCCCC"/>
                </a:solidFill>
                <a:effectLst/>
                <a:latin typeface="JetBrains Mono" panose="02000009000000000000" pitchFamily="49" charset="0"/>
              </a:rPr>
              <a:t>  } </a:t>
            </a:r>
            <a:r>
              <a:rPr lang="en-SG" sz="1000" b="0">
                <a:solidFill>
                  <a:srgbClr val="C586C0"/>
                </a:solidFill>
                <a:effectLst/>
                <a:latin typeface="JetBrains Mono" panose="02000009000000000000" pitchFamily="49" charset="0"/>
              </a:rPr>
              <a:t>else</a:t>
            </a:r>
            <a:r>
              <a:rPr lang="en-SG" sz="1000" b="0">
                <a:solidFill>
                  <a:srgbClr val="CCCCCC"/>
                </a:solidFill>
                <a:effectLst/>
                <a:latin typeface="JetBrains Mono" panose="02000009000000000000" pitchFamily="49" charset="0"/>
              </a:rPr>
              <a:t> {</a:t>
            </a:r>
          </a:p>
          <a:p>
            <a:pPr>
              <a:lnSpc>
                <a:spcPts val="1425"/>
              </a:lnSpc>
              <a:buNone/>
            </a:pPr>
            <a:r>
              <a:rPr lang="en-SG" sz="1000" b="0">
                <a:solidFill>
                  <a:srgbClr val="CCCCCC"/>
                </a:solidFill>
                <a:effectLst/>
                <a:latin typeface="JetBrains Mono" panose="02000009000000000000" pitchFamily="49" charset="0"/>
              </a:rPr>
              <a:t>    t </a:t>
            </a:r>
            <a:r>
              <a:rPr lang="en-SG" sz="1000" b="0">
                <a:solidFill>
                  <a:srgbClr val="D4D4D4"/>
                </a:solidFill>
                <a:effectLst/>
                <a:latin typeface="JetBrains Mono" panose="02000009000000000000" pitchFamily="49" charset="0"/>
              </a:rPr>
              <a:t>=</a:t>
            </a:r>
            <a:r>
              <a:rPr lang="en-SG" sz="1000" b="0">
                <a:solidFill>
                  <a:srgbClr val="CCCCCC"/>
                </a:solidFill>
                <a:effectLst/>
                <a:latin typeface="JetBrains Mono" panose="02000009000000000000" pitchFamily="49" charset="0"/>
              </a:rPr>
              <a:t> </a:t>
            </a:r>
            <a:r>
              <a:rPr lang="en-SG" sz="1000" b="0" err="1">
                <a:solidFill>
                  <a:srgbClr val="DCDCAA"/>
                </a:solidFill>
                <a:effectLst/>
                <a:latin typeface="JetBrains Mono" panose="02000009000000000000" pitchFamily="49" charset="0"/>
              </a:rPr>
              <a:t>queue_pop</a:t>
            </a:r>
            <a:r>
              <a:rPr lang="en-SG" sz="1000" b="0">
                <a:solidFill>
                  <a:srgbClr val="CCCCCC"/>
                </a:solidFill>
                <a:effectLst/>
                <a:latin typeface="JetBrains Mono" panose="02000009000000000000" pitchFamily="49" charset="0"/>
              </a:rPr>
              <a:t>(</a:t>
            </a:r>
            <a:r>
              <a:rPr lang="en-SG" sz="1000" b="0" err="1">
                <a:solidFill>
                  <a:srgbClr val="CCCCCC"/>
                </a:solidFill>
                <a:effectLst/>
                <a:latin typeface="JetBrains Mono" panose="02000009000000000000" pitchFamily="49" charset="0"/>
              </a:rPr>
              <a:t>global_q</a:t>
            </a:r>
            <a:r>
              <a:rPr lang="en-SG" sz="1000" b="0">
                <a:solidFill>
                  <a:srgbClr val="CCCCCC"/>
                </a:solidFill>
                <a:effectLst/>
                <a:latin typeface="JetBrains Mono" panose="02000009000000000000" pitchFamily="49" charset="0"/>
              </a:rPr>
              <a:t>);</a:t>
            </a:r>
          </a:p>
          <a:p>
            <a:pPr>
              <a:lnSpc>
                <a:spcPts val="1425"/>
              </a:lnSpc>
              <a:buNone/>
            </a:pPr>
            <a:r>
              <a:rPr lang="en-SG" sz="1000" b="0">
                <a:solidFill>
                  <a:srgbClr val="CCCCCC"/>
                </a:solidFill>
                <a:effectLst/>
                <a:latin typeface="JetBrains Mono" panose="02000009000000000000" pitchFamily="49" charset="0"/>
              </a:rPr>
              <a:t>  }</a:t>
            </a:r>
          </a:p>
          <a:p>
            <a:pPr>
              <a:lnSpc>
                <a:spcPts val="1425"/>
              </a:lnSpc>
              <a:buNone/>
            </a:pP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CCCCCC"/>
                </a:solidFill>
                <a:effectLst/>
                <a:latin typeface="JetBrains Mono" panose="02000009000000000000" pitchFamily="49" charset="0"/>
              </a:rPr>
              <a:t>  </a:t>
            </a:r>
            <a:r>
              <a:rPr lang="en-SG" sz="1000" b="0">
                <a:solidFill>
                  <a:srgbClr val="C586C0"/>
                </a:solidFill>
                <a:effectLst/>
                <a:latin typeface="JetBrains Mono" panose="02000009000000000000" pitchFamily="49" charset="0"/>
              </a:rPr>
              <a:t>if</a:t>
            </a:r>
            <a:r>
              <a:rPr lang="en-SG" sz="1000" b="0">
                <a:solidFill>
                  <a:srgbClr val="CCCCCC"/>
                </a:solidFill>
                <a:effectLst/>
                <a:latin typeface="JetBrains Mono" panose="02000009000000000000" pitchFamily="49" charset="0"/>
              </a:rPr>
              <a:t> (</a:t>
            </a:r>
            <a:r>
              <a:rPr lang="en-SG" sz="1000" b="0">
                <a:solidFill>
                  <a:srgbClr val="D4D4D4"/>
                </a:solidFill>
                <a:effectLst/>
                <a:latin typeface="JetBrains Mono" panose="02000009000000000000" pitchFamily="49" charset="0"/>
              </a:rPr>
              <a:t>!</a:t>
            </a:r>
            <a:r>
              <a:rPr lang="en-SG" sz="1000" b="0" err="1">
                <a:solidFill>
                  <a:srgbClr val="DCDCAA"/>
                </a:solidFill>
                <a:effectLst/>
                <a:latin typeface="JetBrains Mono" panose="02000009000000000000" pitchFamily="49" charset="0"/>
              </a:rPr>
              <a:t>try_execute</a:t>
            </a:r>
            <a:r>
              <a:rPr lang="en-SG" sz="1000" b="0">
                <a:solidFill>
                  <a:srgbClr val="CCCCCC"/>
                </a:solidFill>
                <a:effectLst/>
                <a:latin typeface="JetBrains Mono" panose="02000009000000000000" pitchFamily="49" charset="0"/>
              </a:rPr>
              <a:t>(t)) {</a:t>
            </a:r>
          </a:p>
          <a:p>
            <a:pPr>
              <a:lnSpc>
                <a:spcPts val="1425"/>
              </a:lnSpc>
              <a:buNone/>
            </a:pPr>
            <a:r>
              <a:rPr lang="en-SG" sz="1000" b="0">
                <a:solidFill>
                  <a:srgbClr val="6A9955"/>
                </a:solidFill>
                <a:effectLst/>
                <a:latin typeface="JetBrains Mono" panose="02000009000000000000" pitchFamily="49" charset="0"/>
              </a:rPr>
              <a:t>    // 2. Push to local stack instead of global</a:t>
            </a: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CCCCCC"/>
                </a:solidFill>
                <a:effectLst/>
                <a:latin typeface="JetBrains Mono" panose="02000009000000000000" pitchFamily="49" charset="0"/>
              </a:rPr>
              <a:t>    </a:t>
            </a:r>
            <a:r>
              <a:rPr lang="en-SG" sz="1000" b="0">
                <a:solidFill>
                  <a:srgbClr val="C586C0"/>
                </a:solidFill>
                <a:effectLst/>
                <a:latin typeface="JetBrains Mono" panose="02000009000000000000" pitchFamily="49" charset="0"/>
              </a:rPr>
              <a:t>if</a:t>
            </a:r>
            <a:r>
              <a:rPr lang="en-SG" sz="1000" b="0">
                <a:solidFill>
                  <a:srgbClr val="CCCCCC"/>
                </a:solidFill>
                <a:effectLst/>
                <a:latin typeface="JetBrains Mono" panose="02000009000000000000" pitchFamily="49" charset="0"/>
              </a:rPr>
              <a:t> (</a:t>
            </a:r>
            <a:r>
              <a:rPr lang="en-SG" sz="1000" b="0" err="1">
                <a:solidFill>
                  <a:srgbClr val="CCCCCC"/>
                </a:solidFill>
                <a:effectLst/>
                <a:latin typeface="JetBrains Mono" panose="02000009000000000000" pitchFamily="49" charset="0"/>
              </a:rPr>
              <a:t>stack_ptr</a:t>
            </a:r>
            <a:r>
              <a:rPr lang="en-SG" sz="1000" b="0">
                <a:solidFill>
                  <a:srgbClr val="CCCCCC"/>
                </a:solidFill>
                <a:effectLst/>
                <a:latin typeface="JetBrains Mono" panose="02000009000000000000" pitchFamily="49" charset="0"/>
              </a:rPr>
              <a:t> </a:t>
            </a:r>
            <a:r>
              <a:rPr lang="en-SG" sz="1000" b="0">
                <a:solidFill>
                  <a:srgbClr val="D4D4D4"/>
                </a:solidFill>
                <a:effectLst/>
                <a:latin typeface="JetBrains Mono" panose="02000009000000000000" pitchFamily="49" charset="0"/>
              </a:rPr>
              <a:t>&lt;</a:t>
            </a:r>
            <a:r>
              <a:rPr lang="en-SG" sz="1000" b="0">
                <a:solidFill>
                  <a:srgbClr val="CCCCCC"/>
                </a:solidFill>
                <a:effectLst/>
                <a:latin typeface="JetBrains Mono" panose="02000009000000000000" pitchFamily="49" charset="0"/>
              </a:rPr>
              <a:t> </a:t>
            </a:r>
            <a:r>
              <a:rPr lang="en-SG" sz="1000" b="0">
                <a:solidFill>
                  <a:srgbClr val="B5CEA8"/>
                </a:solidFill>
                <a:effectLst/>
                <a:latin typeface="JetBrains Mono" panose="02000009000000000000" pitchFamily="49" charset="0"/>
              </a:rPr>
              <a:t>8</a:t>
            </a:r>
            <a:r>
              <a:rPr lang="en-SG" sz="1000" b="0">
                <a:solidFill>
                  <a:srgbClr val="CCCCCC"/>
                </a:solidFill>
                <a:effectLst/>
                <a:latin typeface="JetBrains Mono" panose="02000009000000000000" pitchFamily="49" charset="0"/>
              </a:rPr>
              <a:t>) {</a:t>
            </a:r>
          </a:p>
          <a:p>
            <a:pPr>
              <a:lnSpc>
                <a:spcPts val="1425"/>
              </a:lnSpc>
              <a:buNone/>
            </a:pPr>
            <a:r>
              <a:rPr lang="en-SG" sz="1000" b="0">
                <a:solidFill>
                  <a:srgbClr val="CCCCCC"/>
                </a:solidFill>
                <a:effectLst/>
                <a:latin typeface="JetBrains Mono" panose="02000009000000000000" pitchFamily="49" charset="0"/>
              </a:rPr>
              <a:t>      </a:t>
            </a:r>
            <a:r>
              <a:rPr lang="en-SG" sz="1000" b="0" err="1">
                <a:solidFill>
                  <a:srgbClr val="9CDCFE"/>
                </a:solidFill>
                <a:effectLst/>
                <a:latin typeface="JetBrains Mono" panose="02000009000000000000" pitchFamily="49" charset="0"/>
              </a:rPr>
              <a:t>retry_stack</a:t>
            </a:r>
            <a:r>
              <a:rPr lang="en-SG" sz="1000" b="0">
                <a:solidFill>
                  <a:srgbClr val="CCCCCC"/>
                </a:solidFill>
                <a:effectLst/>
                <a:latin typeface="JetBrains Mono" panose="02000009000000000000" pitchFamily="49" charset="0"/>
              </a:rPr>
              <a:t>[</a:t>
            </a:r>
            <a:r>
              <a:rPr lang="en-SG" sz="1000" b="0" err="1">
                <a:solidFill>
                  <a:srgbClr val="CCCCCC"/>
                </a:solidFill>
                <a:effectLst/>
                <a:latin typeface="JetBrains Mono" panose="02000009000000000000" pitchFamily="49" charset="0"/>
              </a:rPr>
              <a:t>stack_ptr</a:t>
            </a:r>
            <a:r>
              <a:rPr lang="en-SG" sz="1000" b="0">
                <a:solidFill>
                  <a:srgbClr val="D4D4D4"/>
                </a:solidFill>
                <a:effectLst/>
                <a:latin typeface="JetBrains Mono" panose="02000009000000000000" pitchFamily="49" charset="0"/>
              </a:rPr>
              <a:t>++</a:t>
            </a:r>
            <a:r>
              <a:rPr lang="en-SG" sz="1000" b="0">
                <a:solidFill>
                  <a:srgbClr val="CCCCCC"/>
                </a:solidFill>
                <a:effectLst/>
                <a:latin typeface="JetBrains Mono" panose="02000009000000000000" pitchFamily="49" charset="0"/>
              </a:rPr>
              <a:t>] </a:t>
            </a:r>
            <a:r>
              <a:rPr lang="en-SG" sz="1000" b="0">
                <a:solidFill>
                  <a:srgbClr val="D4D4D4"/>
                </a:solidFill>
                <a:effectLst/>
                <a:latin typeface="JetBrains Mono" panose="02000009000000000000" pitchFamily="49" charset="0"/>
              </a:rPr>
              <a:t>=</a:t>
            </a:r>
            <a:r>
              <a:rPr lang="en-SG" sz="1000" b="0">
                <a:solidFill>
                  <a:srgbClr val="CCCCCC"/>
                </a:solidFill>
                <a:effectLst/>
                <a:latin typeface="JetBrains Mono" panose="02000009000000000000" pitchFamily="49" charset="0"/>
              </a:rPr>
              <a:t> t;</a:t>
            </a:r>
          </a:p>
          <a:p>
            <a:pPr>
              <a:lnSpc>
                <a:spcPts val="1425"/>
              </a:lnSpc>
              <a:buNone/>
            </a:pPr>
            <a:r>
              <a:rPr lang="en-SG" sz="1000" b="0">
                <a:solidFill>
                  <a:srgbClr val="CCCCCC"/>
                </a:solidFill>
                <a:effectLst/>
                <a:latin typeface="JetBrains Mono" panose="02000009000000000000" pitchFamily="49" charset="0"/>
              </a:rPr>
              <a:t>    } </a:t>
            </a:r>
            <a:r>
              <a:rPr lang="en-SG" sz="1000" b="0">
                <a:solidFill>
                  <a:srgbClr val="C586C0"/>
                </a:solidFill>
                <a:effectLst/>
                <a:latin typeface="JetBrains Mono" panose="02000009000000000000" pitchFamily="49" charset="0"/>
              </a:rPr>
              <a:t>else</a:t>
            </a:r>
            <a:r>
              <a:rPr lang="en-SG" sz="1000" b="0">
                <a:solidFill>
                  <a:srgbClr val="CCCCCC"/>
                </a:solidFill>
                <a:effectLst/>
                <a:latin typeface="JetBrains Mono" panose="02000009000000000000" pitchFamily="49" charset="0"/>
              </a:rPr>
              <a:t> {</a:t>
            </a:r>
          </a:p>
          <a:p>
            <a:pPr>
              <a:lnSpc>
                <a:spcPts val="1425"/>
              </a:lnSpc>
              <a:buNone/>
            </a:pPr>
            <a:r>
              <a:rPr lang="en-SG" sz="1000" b="0">
                <a:solidFill>
                  <a:srgbClr val="6A9955"/>
                </a:solidFill>
                <a:effectLst/>
                <a:latin typeface="JetBrains Mono" panose="02000009000000000000" pitchFamily="49" charset="0"/>
              </a:rPr>
              <a:t>      // Fallback only if stack is full</a:t>
            </a: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CCCCCC"/>
                </a:solidFill>
                <a:effectLst/>
                <a:latin typeface="JetBrains Mono" panose="02000009000000000000" pitchFamily="49" charset="0"/>
              </a:rPr>
              <a:t>      </a:t>
            </a:r>
            <a:r>
              <a:rPr lang="en-SG" sz="1000" b="0" err="1">
                <a:solidFill>
                  <a:srgbClr val="DCDCAA"/>
                </a:solidFill>
                <a:effectLst/>
                <a:latin typeface="JetBrains Mono" panose="02000009000000000000" pitchFamily="49" charset="0"/>
              </a:rPr>
              <a:t>queue_push</a:t>
            </a:r>
            <a:r>
              <a:rPr lang="en-SG" sz="1000" b="0">
                <a:solidFill>
                  <a:srgbClr val="CCCCCC"/>
                </a:solidFill>
                <a:effectLst/>
                <a:latin typeface="JetBrains Mono" panose="02000009000000000000" pitchFamily="49" charset="0"/>
              </a:rPr>
              <a:t>(</a:t>
            </a:r>
            <a:r>
              <a:rPr lang="en-SG" sz="1000" b="0" err="1">
                <a:solidFill>
                  <a:srgbClr val="CCCCCC"/>
                </a:solidFill>
                <a:effectLst/>
                <a:latin typeface="JetBrains Mono" panose="02000009000000000000" pitchFamily="49" charset="0"/>
              </a:rPr>
              <a:t>global_q</a:t>
            </a:r>
            <a:r>
              <a:rPr lang="en-SG" sz="1000" b="0">
                <a:solidFill>
                  <a:srgbClr val="CCCCCC"/>
                </a:solidFill>
                <a:effectLst/>
                <a:latin typeface="JetBrains Mono" panose="02000009000000000000" pitchFamily="49" charset="0"/>
              </a:rPr>
              <a:t>, t);</a:t>
            </a:r>
          </a:p>
          <a:p>
            <a:pPr>
              <a:lnSpc>
                <a:spcPts val="1425"/>
              </a:lnSpc>
              <a:buNone/>
            </a:pPr>
            <a:r>
              <a:rPr lang="en-SG" sz="1000" b="0">
                <a:solidFill>
                  <a:srgbClr val="CCCCCC"/>
                </a:solidFill>
                <a:effectLst/>
                <a:latin typeface="JetBrains Mono" panose="02000009000000000000" pitchFamily="49" charset="0"/>
              </a:rPr>
              <a:t>    }</a:t>
            </a:r>
          </a:p>
          <a:p>
            <a:pPr>
              <a:lnSpc>
                <a:spcPts val="1425"/>
              </a:lnSpc>
              <a:buNone/>
            </a:pPr>
            <a:r>
              <a:rPr lang="en-SG" sz="1000" b="0">
                <a:solidFill>
                  <a:srgbClr val="CCCCCC"/>
                </a:solidFill>
                <a:effectLst/>
                <a:latin typeface="JetBrains Mono" panose="02000009000000000000" pitchFamily="49" charset="0"/>
              </a:rPr>
              <a:t>  }</a:t>
            </a:r>
          </a:p>
          <a:p>
            <a:pPr>
              <a:lnSpc>
                <a:spcPts val="1425"/>
              </a:lnSpc>
              <a:buNone/>
            </a:pPr>
            <a:r>
              <a:rPr lang="en-SG" sz="1000" b="0">
                <a:solidFill>
                  <a:srgbClr val="CCCCCC"/>
                </a:solidFill>
                <a:effectLst/>
                <a:latin typeface="JetBrains Mono" panose="02000009000000000000" pitchFamily="49" charset="0"/>
              </a:rPr>
              <a:t>}</a:t>
            </a:r>
          </a:p>
        </p:txBody>
      </p:sp>
    </p:spTree>
    <p:extLst>
      <p:ext uri="{BB962C8B-B14F-4D97-AF65-F5344CB8AC3E}">
        <p14:creationId xmlns:p14="http://schemas.microsoft.com/office/powerpoint/2010/main" val="12598060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1C337-E99B-4DEE-CB0F-2274CB19A347}"/>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B550A04D-4FA5-8933-262B-8D052F1A82AF}"/>
              </a:ext>
            </a:extLst>
          </p:cNvPr>
          <p:cNvSpPr txBox="1"/>
          <p:nvPr/>
        </p:nvSpPr>
        <p:spPr>
          <a:xfrm>
            <a:off x="233910" y="208621"/>
            <a:ext cx="4444107" cy="461665"/>
          </a:xfrm>
          <a:prstGeom prst="rect">
            <a:avLst/>
          </a:prstGeom>
          <a:solidFill>
            <a:srgbClr val="7030A0"/>
          </a:solidFill>
        </p:spPr>
        <p:txBody>
          <a:bodyPr wrap="square" rtlCol="0">
            <a:spAutoFit/>
          </a:bodyPr>
          <a:lstStyle/>
          <a:p>
            <a:r>
              <a:rPr lang="en-US" sz="2400">
                <a:solidFill>
                  <a:schemeClr val="bg1"/>
                </a:solidFill>
                <a:latin typeface="Ubuntu Condensed" panose="020B0506030602030204" pitchFamily="34" charset="0"/>
              </a:rPr>
              <a:t>Multithreading pattern optimization</a:t>
            </a:r>
            <a:endParaRPr lang="ru-RU" sz="2400">
              <a:solidFill>
                <a:schemeClr val="bg1"/>
              </a:solidFill>
              <a:latin typeface="Ubuntu Condensed" panose="020B0506030602030204" pitchFamily="34" charset="0"/>
            </a:endParaRPr>
          </a:p>
        </p:txBody>
      </p:sp>
      <p:sp>
        <p:nvSpPr>
          <p:cNvPr id="7" name="Номер слайда 7">
            <a:extLst>
              <a:ext uri="{FF2B5EF4-FFF2-40B4-BE49-F238E27FC236}">
                <a16:creationId xmlns:a16="http://schemas.microsoft.com/office/drawing/2014/main" id="{D2CA0485-8D0C-0772-2005-1C101065DCF7}"/>
              </a:ext>
            </a:extLst>
          </p:cNvPr>
          <p:cNvSpPr>
            <a:spLocks noGrp="1"/>
          </p:cNvSpPr>
          <p:nvPr>
            <p:ph type="sldNum" sz="quarter" idx="12"/>
          </p:nvPr>
        </p:nvSpPr>
        <p:spPr>
          <a:xfrm>
            <a:off x="11725835" y="6402070"/>
            <a:ext cx="386155" cy="365125"/>
          </a:xfrm>
        </p:spPr>
        <p:txBody>
          <a:bodyPr/>
          <a:lstStyle/>
          <a:p>
            <a:pPr algn="ctr"/>
            <a:fld id="{E757BAED-F255-4CF1-96BA-8D7417A9C3BC}" type="slidenum">
              <a:rPr lang="ru-RU" sz="1800" smtClean="0">
                <a:latin typeface="Ubuntu Condensed" panose="020B0506030602030204" pitchFamily="34" charset="0"/>
              </a:rPr>
              <a:pPr algn="ctr"/>
              <a:t>25</a:t>
            </a:fld>
            <a:endParaRPr lang="ru-RU" sz="1800">
              <a:latin typeface="Ubuntu Condensed" panose="020B0506030602030204" pitchFamily="34" charset="0"/>
            </a:endParaRPr>
          </a:p>
        </p:txBody>
      </p:sp>
      <p:sp>
        <p:nvSpPr>
          <p:cNvPr id="2" name="TextBox 1">
            <a:extLst>
              <a:ext uri="{FF2B5EF4-FFF2-40B4-BE49-F238E27FC236}">
                <a16:creationId xmlns:a16="http://schemas.microsoft.com/office/drawing/2014/main" id="{6A85BEA1-DA99-AD38-8CEC-0A5FFF7E41BA}"/>
              </a:ext>
            </a:extLst>
          </p:cNvPr>
          <p:cNvSpPr txBox="1"/>
          <p:nvPr/>
        </p:nvSpPr>
        <p:spPr>
          <a:xfrm>
            <a:off x="233910" y="2053950"/>
            <a:ext cx="5371760" cy="276999"/>
          </a:xfrm>
          <a:prstGeom prst="rect">
            <a:avLst/>
          </a:prstGeom>
          <a:noFill/>
        </p:spPr>
        <p:txBody>
          <a:bodyPr wrap="square">
            <a:spAutoFit/>
          </a:bodyPr>
          <a:lstStyle/>
          <a:p>
            <a:r>
              <a:rPr lang="en-US" sz="1200" b="1"/>
              <a:t>Before (Naïve retry)</a:t>
            </a:r>
            <a:r>
              <a:rPr lang="en-US" sz="1200"/>
              <a:t>.</a:t>
            </a:r>
          </a:p>
        </p:txBody>
      </p:sp>
      <p:sp>
        <p:nvSpPr>
          <p:cNvPr id="3" name="TextBox 2">
            <a:extLst>
              <a:ext uri="{FF2B5EF4-FFF2-40B4-BE49-F238E27FC236}">
                <a16:creationId xmlns:a16="http://schemas.microsoft.com/office/drawing/2014/main" id="{25FFB1BE-95B5-B8CE-BDB7-63C812299126}"/>
              </a:ext>
            </a:extLst>
          </p:cNvPr>
          <p:cNvSpPr txBox="1"/>
          <p:nvPr/>
        </p:nvSpPr>
        <p:spPr>
          <a:xfrm>
            <a:off x="233909" y="2515615"/>
            <a:ext cx="5371761" cy="1698222"/>
          </a:xfrm>
          <a:prstGeom prst="rect">
            <a:avLst/>
          </a:prstGeom>
          <a:solidFill>
            <a:srgbClr val="1F1F1F"/>
          </a:solidFill>
        </p:spPr>
        <p:txBody>
          <a:bodyPr wrap="square">
            <a:spAutoFit/>
          </a:bodyPr>
          <a:lstStyle/>
          <a:p>
            <a:pPr>
              <a:lnSpc>
                <a:spcPts val="1425"/>
              </a:lnSpc>
              <a:buNone/>
            </a:pPr>
            <a:r>
              <a:rPr lang="en-SG" sz="1000" b="0">
                <a:solidFill>
                  <a:srgbClr val="6A9955"/>
                </a:solidFill>
                <a:effectLst/>
                <a:latin typeface="JetBrains Mono" panose="02000009000000000000" pitchFamily="49" charset="0"/>
              </a:rPr>
              <a:t>// Array of 8 strict queues</a:t>
            </a: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CCCCCC"/>
                </a:solidFill>
                <a:effectLst/>
                <a:latin typeface="JetBrains Mono" panose="02000009000000000000" pitchFamily="49" charset="0"/>
              </a:rPr>
              <a:t>Queue </a:t>
            </a:r>
            <a:r>
              <a:rPr lang="en-SG" sz="1000" b="0">
                <a:solidFill>
                  <a:srgbClr val="9CDCFE"/>
                </a:solidFill>
                <a:effectLst/>
                <a:latin typeface="JetBrains Mono" panose="02000009000000000000" pitchFamily="49" charset="0"/>
              </a:rPr>
              <a:t>shards</a:t>
            </a:r>
            <a:r>
              <a:rPr lang="en-SG" sz="1000" b="0">
                <a:solidFill>
                  <a:srgbClr val="CCCCCC"/>
                </a:solidFill>
                <a:effectLst/>
                <a:latin typeface="JetBrains Mono" panose="02000009000000000000" pitchFamily="49" charset="0"/>
              </a:rPr>
              <a:t>[</a:t>
            </a:r>
            <a:r>
              <a:rPr lang="en-SG" sz="1000" b="0">
                <a:solidFill>
                  <a:srgbClr val="B5CEA8"/>
                </a:solidFill>
                <a:effectLst/>
                <a:latin typeface="JetBrains Mono" panose="02000009000000000000" pitchFamily="49" charset="0"/>
              </a:rPr>
              <a:t>8</a:t>
            </a:r>
            <a:r>
              <a:rPr lang="en-SG" sz="1000" b="0">
                <a:solidFill>
                  <a:srgbClr val="CCCCCC"/>
                </a:solidFill>
                <a:effectLst/>
                <a:latin typeface="JetBrains Mono" panose="02000009000000000000" pitchFamily="49" charset="0"/>
              </a:rPr>
              <a:t>];</a:t>
            </a:r>
            <a:br>
              <a:rPr lang="en-SG" sz="1000" b="0">
                <a:solidFill>
                  <a:srgbClr val="CCCCCC"/>
                </a:solidFill>
                <a:effectLst/>
                <a:latin typeface="JetBrains Mono" panose="02000009000000000000" pitchFamily="49" charset="0"/>
              </a:rPr>
            </a:b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569CD6"/>
                </a:solidFill>
                <a:effectLst/>
                <a:latin typeface="JetBrains Mono" panose="02000009000000000000" pitchFamily="49" charset="0"/>
              </a:rPr>
              <a:t>void</a:t>
            </a:r>
            <a:r>
              <a:rPr lang="en-SG" sz="1000" b="0">
                <a:solidFill>
                  <a:srgbClr val="CCCCCC"/>
                </a:solidFill>
                <a:effectLst/>
                <a:latin typeface="JetBrains Mono" panose="02000009000000000000" pitchFamily="49" charset="0"/>
              </a:rPr>
              <a:t> </a:t>
            </a:r>
            <a:r>
              <a:rPr lang="en-SG" sz="1000" b="0">
                <a:solidFill>
                  <a:srgbClr val="DCDCAA"/>
                </a:solidFill>
                <a:effectLst/>
                <a:latin typeface="JetBrains Mono" panose="02000009000000000000" pitchFamily="49" charset="0"/>
              </a:rPr>
              <a:t>router</a:t>
            </a:r>
            <a:r>
              <a:rPr lang="en-SG" sz="1000" b="0">
                <a:solidFill>
                  <a:srgbClr val="CCCCCC"/>
                </a:solidFill>
                <a:effectLst/>
                <a:latin typeface="JetBrains Mono" panose="02000009000000000000" pitchFamily="49" charset="0"/>
              </a:rPr>
              <a:t>(</a:t>
            </a:r>
            <a:r>
              <a:rPr lang="en-SG" sz="1000" b="0">
                <a:solidFill>
                  <a:srgbClr val="4EC9B0"/>
                </a:solidFill>
                <a:effectLst/>
                <a:latin typeface="JetBrains Mono" panose="02000009000000000000" pitchFamily="49" charset="0"/>
              </a:rPr>
              <a:t>Data</a:t>
            </a:r>
            <a:r>
              <a:rPr lang="en-SG" sz="1000" b="0">
                <a:solidFill>
                  <a:srgbClr val="CCCCCC"/>
                </a:solidFill>
                <a:effectLst/>
                <a:latin typeface="JetBrains Mono" panose="02000009000000000000" pitchFamily="49" charset="0"/>
              </a:rPr>
              <a:t> </a:t>
            </a:r>
            <a:r>
              <a:rPr lang="en-SG" sz="1000" b="0">
                <a:solidFill>
                  <a:srgbClr val="9CDCFE"/>
                </a:solidFill>
                <a:effectLst/>
                <a:latin typeface="JetBrains Mono" panose="02000009000000000000" pitchFamily="49" charset="0"/>
              </a:rPr>
              <a:t>d</a:t>
            </a:r>
            <a:r>
              <a:rPr lang="en-SG" sz="1000" b="0">
                <a:solidFill>
                  <a:srgbClr val="CCCCCC"/>
                </a:solidFill>
                <a:effectLst/>
                <a:latin typeface="JetBrains Mono" panose="02000009000000000000" pitchFamily="49" charset="0"/>
              </a:rPr>
              <a:t>) {</a:t>
            </a:r>
          </a:p>
          <a:p>
            <a:pPr>
              <a:lnSpc>
                <a:spcPts val="1425"/>
              </a:lnSpc>
              <a:buNone/>
            </a:pPr>
            <a:r>
              <a:rPr lang="en-SG" sz="1000" b="0">
                <a:solidFill>
                  <a:srgbClr val="CCCCCC"/>
                </a:solidFill>
                <a:effectLst/>
                <a:latin typeface="JetBrains Mono" panose="02000009000000000000" pitchFamily="49" charset="0"/>
              </a:rPr>
              <a:t>  </a:t>
            </a:r>
            <a:r>
              <a:rPr lang="en-SG" sz="1000" b="0">
                <a:solidFill>
                  <a:srgbClr val="569CD6"/>
                </a:solidFill>
                <a:effectLst/>
                <a:latin typeface="JetBrains Mono" panose="02000009000000000000" pitchFamily="49" charset="0"/>
              </a:rPr>
              <a:t>int</a:t>
            </a:r>
            <a:r>
              <a:rPr lang="en-SG" sz="1000" b="0">
                <a:solidFill>
                  <a:srgbClr val="CCCCCC"/>
                </a:solidFill>
                <a:effectLst/>
                <a:latin typeface="JetBrains Mono" panose="02000009000000000000" pitchFamily="49" charset="0"/>
              </a:rPr>
              <a:t> </a:t>
            </a:r>
            <a:r>
              <a:rPr lang="en-SG" sz="1000" b="0" err="1">
                <a:solidFill>
                  <a:srgbClr val="9CDCFE"/>
                </a:solidFill>
                <a:effectLst/>
                <a:latin typeface="JetBrains Mono" panose="02000009000000000000" pitchFamily="49" charset="0"/>
              </a:rPr>
              <a:t>idx</a:t>
            </a:r>
            <a:r>
              <a:rPr lang="en-SG" sz="1000" b="0">
                <a:solidFill>
                  <a:srgbClr val="CCCCCC"/>
                </a:solidFill>
                <a:effectLst/>
                <a:latin typeface="JetBrains Mono" panose="02000009000000000000" pitchFamily="49" charset="0"/>
              </a:rPr>
              <a:t> </a:t>
            </a:r>
            <a:r>
              <a:rPr lang="en-SG" sz="1000" b="0">
                <a:solidFill>
                  <a:srgbClr val="D4D4D4"/>
                </a:solidFill>
                <a:effectLst/>
                <a:latin typeface="JetBrains Mono" panose="02000009000000000000" pitchFamily="49" charset="0"/>
              </a:rPr>
              <a:t>=</a:t>
            </a:r>
            <a:r>
              <a:rPr lang="en-SG" sz="1000" b="0">
                <a:solidFill>
                  <a:srgbClr val="CCCCCC"/>
                </a:solidFill>
                <a:effectLst/>
                <a:latin typeface="JetBrains Mono" panose="02000009000000000000" pitchFamily="49" charset="0"/>
              </a:rPr>
              <a:t> </a:t>
            </a:r>
            <a:r>
              <a:rPr lang="en-SG" sz="1000" b="0">
                <a:solidFill>
                  <a:srgbClr val="DCDCAA"/>
                </a:solidFill>
                <a:effectLst/>
                <a:latin typeface="JetBrains Mono" panose="02000009000000000000" pitchFamily="49" charset="0"/>
              </a:rPr>
              <a:t>hash</a:t>
            </a:r>
            <a:r>
              <a:rPr lang="en-SG" sz="1000" b="0">
                <a:solidFill>
                  <a:srgbClr val="CCCCCC"/>
                </a:solidFill>
                <a:effectLst/>
                <a:latin typeface="JetBrains Mono" panose="02000009000000000000" pitchFamily="49" charset="0"/>
              </a:rPr>
              <a:t>(</a:t>
            </a:r>
            <a:r>
              <a:rPr lang="en-SG" sz="1000" b="0">
                <a:solidFill>
                  <a:srgbClr val="9CDCFE"/>
                </a:solidFill>
                <a:effectLst/>
                <a:latin typeface="JetBrains Mono" panose="02000009000000000000" pitchFamily="49" charset="0"/>
              </a:rPr>
              <a:t>d</a:t>
            </a:r>
            <a:r>
              <a:rPr lang="en-SG" sz="1000" b="0">
                <a:solidFill>
                  <a:srgbClr val="CCCCCC"/>
                </a:solidFill>
                <a:effectLst/>
                <a:latin typeface="JetBrains Mono" panose="02000009000000000000" pitchFamily="49" charset="0"/>
              </a:rPr>
              <a:t>) </a:t>
            </a:r>
            <a:r>
              <a:rPr lang="en-SG" sz="1000" b="0">
                <a:solidFill>
                  <a:srgbClr val="D4D4D4"/>
                </a:solidFill>
                <a:effectLst/>
                <a:latin typeface="JetBrains Mono" panose="02000009000000000000" pitchFamily="49" charset="0"/>
              </a:rPr>
              <a:t>%</a:t>
            </a:r>
            <a:r>
              <a:rPr lang="en-SG" sz="1000" b="0">
                <a:solidFill>
                  <a:srgbClr val="CCCCCC"/>
                </a:solidFill>
                <a:effectLst/>
                <a:latin typeface="JetBrains Mono" panose="02000009000000000000" pitchFamily="49" charset="0"/>
              </a:rPr>
              <a:t> </a:t>
            </a:r>
            <a:r>
              <a:rPr lang="en-SG" sz="1000" b="0">
                <a:solidFill>
                  <a:srgbClr val="B5CEA8"/>
                </a:solidFill>
                <a:effectLst/>
                <a:latin typeface="JetBrains Mono" panose="02000009000000000000" pitchFamily="49" charset="0"/>
              </a:rPr>
              <a:t>8</a:t>
            </a:r>
            <a:r>
              <a:rPr lang="en-SG" sz="1000" b="0">
                <a:solidFill>
                  <a:srgbClr val="CCCCCC"/>
                </a:solidFill>
                <a:effectLst/>
                <a:latin typeface="JetBrains Mono" panose="02000009000000000000" pitchFamily="49" charset="0"/>
              </a:rPr>
              <a:t>;</a:t>
            </a:r>
          </a:p>
          <a:p>
            <a:pPr>
              <a:lnSpc>
                <a:spcPts val="1425"/>
              </a:lnSpc>
              <a:buNone/>
            </a:pPr>
            <a:r>
              <a:rPr lang="en-SG" sz="1000" b="0">
                <a:solidFill>
                  <a:srgbClr val="6A9955"/>
                </a:solidFill>
                <a:effectLst/>
                <a:latin typeface="JetBrains Mono" panose="02000009000000000000" pitchFamily="49" charset="0"/>
              </a:rPr>
              <a:t>  // Standard locked push. Enforces FIFO,</a:t>
            </a: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6A9955"/>
                </a:solidFill>
                <a:effectLst/>
                <a:latin typeface="JetBrains Mono" panose="02000009000000000000" pitchFamily="49" charset="0"/>
              </a:rPr>
              <a:t>  // even though 'd' arrived here randomly via hash.</a:t>
            </a: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CCCCCC"/>
                </a:solidFill>
                <a:effectLst/>
                <a:latin typeface="JetBrains Mono" panose="02000009000000000000" pitchFamily="49" charset="0"/>
              </a:rPr>
              <a:t>  </a:t>
            </a:r>
            <a:r>
              <a:rPr lang="en-SG" sz="1000" b="0" err="1">
                <a:solidFill>
                  <a:srgbClr val="DCDCAA"/>
                </a:solidFill>
                <a:effectLst/>
                <a:latin typeface="JetBrains Mono" panose="02000009000000000000" pitchFamily="49" charset="0"/>
              </a:rPr>
              <a:t>queue_push_strict</a:t>
            </a:r>
            <a:r>
              <a:rPr lang="en-SG" sz="1000" b="0">
                <a:solidFill>
                  <a:srgbClr val="CCCCCC"/>
                </a:solidFill>
                <a:effectLst/>
                <a:latin typeface="JetBrains Mono" panose="02000009000000000000" pitchFamily="49" charset="0"/>
              </a:rPr>
              <a:t>(</a:t>
            </a:r>
            <a:r>
              <a:rPr lang="en-SG" sz="1000" b="0">
                <a:solidFill>
                  <a:srgbClr val="D4D4D4"/>
                </a:solidFill>
                <a:effectLst/>
                <a:latin typeface="JetBrains Mono" panose="02000009000000000000" pitchFamily="49" charset="0"/>
              </a:rPr>
              <a:t>&amp;</a:t>
            </a:r>
            <a:r>
              <a:rPr lang="en-SG" sz="1000" b="0">
                <a:solidFill>
                  <a:srgbClr val="9CDCFE"/>
                </a:solidFill>
                <a:effectLst/>
                <a:latin typeface="JetBrains Mono" panose="02000009000000000000" pitchFamily="49" charset="0"/>
              </a:rPr>
              <a:t>shards</a:t>
            </a:r>
            <a:r>
              <a:rPr lang="en-SG" sz="1000" b="0">
                <a:solidFill>
                  <a:srgbClr val="CCCCCC"/>
                </a:solidFill>
                <a:effectLst/>
                <a:latin typeface="JetBrains Mono" panose="02000009000000000000" pitchFamily="49" charset="0"/>
              </a:rPr>
              <a:t>[</a:t>
            </a:r>
            <a:r>
              <a:rPr lang="en-SG" sz="1000" b="0" err="1">
                <a:solidFill>
                  <a:srgbClr val="9CDCFE"/>
                </a:solidFill>
                <a:effectLst/>
                <a:latin typeface="JetBrains Mono" panose="02000009000000000000" pitchFamily="49" charset="0"/>
              </a:rPr>
              <a:t>idx</a:t>
            </a:r>
            <a:r>
              <a:rPr lang="en-SG" sz="1000" b="0">
                <a:solidFill>
                  <a:srgbClr val="CCCCCC"/>
                </a:solidFill>
                <a:effectLst/>
                <a:latin typeface="JetBrains Mono" panose="02000009000000000000" pitchFamily="49" charset="0"/>
              </a:rPr>
              <a:t>], </a:t>
            </a:r>
            <a:r>
              <a:rPr lang="en-SG" sz="1000" b="0">
                <a:solidFill>
                  <a:srgbClr val="9CDCFE"/>
                </a:solidFill>
                <a:effectLst/>
                <a:latin typeface="JetBrains Mono" panose="02000009000000000000" pitchFamily="49" charset="0"/>
              </a:rPr>
              <a:t>d</a:t>
            </a:r>
            <a:r>
              <a:rPr lang="en-SG" sz="1000" b="0">
                <a:solidFill>
                  <a:srgbClr val="CCCCCC"/>
                </a:solidFill>
                <a:effectLst/>
                <a:latin typeface="JetBrains Mono" panose="02000009000000000000" pitchFamily="49" charset="0"/>
              </a:rPr>
              <a:t>);</a:t>
            </a:r>
          </a:p>
          <a:p>
            <a:pPr>
              <a:lnSpc>
                <a:spcPts val="1425"/>
              </a:lnSpc>
              <a:buNone/>
            </a:pPr>
            <a:r>
              <a:rPr lang="en-SG" sz="1000" b="0">
                <a:solidFill>
                  <a:srgbClr val="CCCCCC"/>
                </a:solidFill>
                <a:effectLst/>
                <a:latin typeface="JetBrains Mono" panose="02000009000000000000" pitchFamily="49" charset="0"/>
              </a:rPr>
              <a:t>}</a:t>
            </a:r>
          </a:p>
        </p:txBody>
      </p:sp>
      <p:sp>
        <p:nvSpPr>
          <p:cNvPr id="5" name="TextBox 4">
            <a:extLst>
              <a:ext uri="{FF2B5EF4-FFF2-40B4-BE49-F238E27FC236}">
                <a16:creationId xmlns:a16="http://schemas.microsoft.com/office/drawing/2014/main" id="{7DBA25A1-285C-3997-DAF6-995F6620FF32}"/>
              </a:ext>
            </a:extLst>
          </p:cNvPr>
          <p:cNvSpPr txBox="1"/>
          <p:nvPr/>
        </p:nvSpPr>
        <p:spPr>
          <a:xfrm>
            <a:off x="5764764" y="2053950"/>
            <a:ext cx="5910825" cy="276999"/>
          </a:xfrm>
          <a:prstGeom prst="rect">
            <a:avLst/>
          </a:prstGeom>
          <a:noFill/>
        </p:spPr>
        <p:txBody>
          <a:bodyPr wrap="square">
            <a:spAutoFit/>
          </a:bodyPr>
          <a:lstStyle>
            <a:defPPr>
              <a:defRPr lang="ru-RU"/>
            </a:defPPr>
            <a:lvl1pPr>
              <a:defRPr sz="1200" b="1"/>
            </a:lvl1pPr>
          </a:lstStyle>
          <a:p>
            <a:r>
              <a:rPr lang="en-US"/>
              <a:t>After (Relaxed)</a:t>
            </a:r>
          </a:p>
        </p:txBody>
      </p:sp>
      <p:sp>
        <p:nvSpPr>
          <p:cNvPr id="6" name="Rectangle 2">
            <a:extLst>
              <a:ext uri="{FF2B5EF4-FFF2-40B4-BE49-F238E27FC236}">
                <a16:creationId xmlns:a16="http://schemas.microsoft.com/office/drawing/2014/main" id="{8F19AD52-1B5C-F8A3-3977-CE27E5D67DA5}"/>
              </a:ext>
            </a:extLst>
          </p:cNvPr>
          <p:cNvSpPr>
            <a:spLocks noChangeArrowheads="1"/>
          </p:cNvSpPr>
          <p:nvPr/>
        </p:nvSpPr>
        <p:spPr bwMode="auto">
          <a:xfrm>
            <a:off x="233910" y="712833"/>
            <a:ext cx="11491925" cy="1231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a:solidFill>
                  <a:srgbClr val="3333FF"/>
                </a:solidFill>
              </a:rPr>
              <a:t>3. Fan-out Pattern (Topology Matching)</a:t>
            </a:r>
          </a:p>
          <a:p>
            <a:r>
              <a:rPr lang="en-US" sz="1400" b="1" i="0">
                <a:effectLst/>
                <a:latin typeface="Inter"/>
              </a:rPr>
              <a:t>Scenario:</a:t>
            </a:r>
            <a:r>
              <a:rPr lang="en-US" sz="1400" i="0">
                <a:effectLst/>
                <a:latin typeface="Inter"/>
              </a:rPr>
              <a:t> Data is distributed to multiple queues based on a hash (Sharding).</a:t>
            </a:r>
          </a:p>
          <a:p>
            <a:r>
              <a:rPr lang="en-US" sz="1400" b="1">
                <a:latin typeface="Inter"/>
              </a:rPr>
              <a:t>Scheme</a:t>
            </a:r>
            <a:r>
              <a:rPr lang="en-US" sz="1400">
                <a:latin typeface="Inter"/>
              </a:rPr>
              <a:t>: </a:t>
            </a:r>
            <a:r>
              <a:rPr lang="en-US" sz="1400">
                <a:latin typeface="JetBrains Mono" panose="02000009000000000000" pitchFamily="49" charset="0"/>
                <a:ea typeface="JetBrains Mono" panose="02000009000000000000" pitchFamily="49" charset="0"/>
                <a:cs typeface="JetBrains Mono" panose="02000009000000000000" pitchFamily="49" charset="0"/>
              </a:rPr>
              <a:t>Source -&gt; [Map] -&gt; (key hash) -&gt; [Q1, Q2, Q3 ... Qn]</a:t>
            </a:r>
            <a:br>
              <a:rPr lang="en-US" sz="1400"/>
            </a:br>
            <a:r>
              <a:rPr lang="en-US" sz="1400" b="1" i="0">
                <a:effectLst/>
                <a:latin typeface="Inter"/>
              </a:rPr>
              <a:t>Optimization:</a:t>
            </a:r>
            <a:r>
              <a:rPr lang="en-US" sz="1400" i="0">
                <a:effectLst/>
                <a:latin typeface="Inter"/>
              </a:rPr>
              <a:t> Since sharding already breaks global strict ordering, the individual destination queues do not need to enforce strict FIFO relative to each other. The compiler weakens the destination queues.</a:t>
            </a:r>
            <a:endParaRPr kumimoji="0" lang="en-US" altLang="en-US" sz="1050" i="0" u="none" strike="noStrike" cap="none" normalizeH="0" baseline="0">
              <a:ln>
                <a:noFill/>
              </a:ln>
              <a:effectLst/>
            </a:endParaRPr>
          </a:p>
        </p:txBody>
      </p:sp>
      <p:sp>
        <p:nvSpPr>
          <p:cNvPr id="8" name="TextBox 7">
            <a:extLst>
              <a:ext uri="{FF2B5EF4-FFF2-40B4-BE49-F238E27FC236}">
                <a16:creationId xmlns:a16="http://schemas.microsoft.com/office/drawing/2014/main" id="{E3A3626C-0502-7C6C-7C29-103BA140D9B0}"/>
              </a:ext>
            </a:extLst>
          </p:cNvPr>
          <p:cNvSpPr txBox="1"/>
          <p:nvPr/>
        </p:nvSpPr>
        <p:spPr>
          <a:xfrm>
            <a:off x="5777948" y="2515615"/>
            <a:ext cx="6122504" cy="1339149"/>
          </a:xfrm>
          <a:prstGeom prst="rect">
            <a:avLst/>
          </a:prstGeom>
          <a:solidFill>
            <a:srgbClr val="1F1F1F"/>
          </a:solidFill>
        </p:spPr>
        <p:txBody>
          <a:bodyPr wrap="square">
            <a:spAutoFit/>
          </a:bodyPr>
          <a:lstStyle/>
          <a:p>
            <a:pPr>
              <a:lnSpc>
                <a:spcPts val="1425"/>
              </a:lnSpc>
              <a:buNone/>
            </a:pPr>
            <a:r>
              <a:rPr lang="en-US" sz="1000" b="0">
                <a:solidFill>
                  <a:srgbClr val="569CD6"/>
                </a:solidFill>
                <a:effectLst/>
                <a:latin typeface="JetBrains Mono" panose="02000009000000000000" pitchFamily="49" charset="0"/>
              </a:rPr>
              <a:t>void</a:t>
            </a:r>
            <a:r>
              <a:rPr lang="en-US" sz="1000" b="0">
                <a:solidFill>
                  <a:srgbClr val="CCCCCC"/>
                </a:solidFill>
                <a:effectLst/>
                <a:latin typeface="JetBrains Mono" panose="02000009000000000000" pitchFamily="49" charset="0"/>
              </a:rPr>
              <a:t> </a:t>
            </a:r>
            <a:r>
              <a:rPr lang="en-US" sz="1000" b="0">
                <a:solidFill>
                  <a:srgbClr val="DCDCAA"/>
                </a:solidFill>
                <a:effectLst/>
                <a:latin typeface="JetBrains Mono" panose="02000009000000000000" pitchFamily="49" charset="0"/>
              </a:rPr>
              <a:t>router</a:t>
            </a:r>
            <a:r>
              <a:rPr lang="en-US" sz="1000" b="0">
                <a:solidFill>
                  <a:srgbClr val="CCCCCC"/>
                </a:solidFill>
                <a:effectLst/>
                <a:latin typeface="JetBrains Mono" panose="02000009000000000000" pitchFamily="49" charset="0"/>
              </a:rPr>
              <a:t>(</a:t>
            </a:r>
            <a:r>
              <a:rPr lang="en-US" sz="1000" b="0">
                <a:solidFill>
                  <a:srgbClr val="4EC9B0"/>
                </a:solidFill>
                <a:effectLst/>
                <a:latin typeface="JetBrains Mono" panose="02000009000000000000" pitchFamily="49" charset="0"/>
              </a:rPr>
              <a:t>Data</a:t>
            </a:r>
            <a:r>
              <a:rPr lang="en-US" sz="1000" b="0">
                <a:solidFill>
                  <a:srgbClr val="CCCCCC"/>
                </a:solidFill>
                <a:effectLst/>
                <a:latin typeface="JetBrains Mono" panose="02000009000000000000" pitchFamily="49" charset="0"/>
              </a:rPr>
              <a:t> </a:t>
            </a:r>
            <a:r>
              <a:rPr lang="en-US" sz="1000" b="0">
                <a:solidFill>
                  <a:srgbClr val="9CDCFE"/>
                </a:solidFill>
                <a:effectLst/>
                <a:latin typeface="JetBrains Mono" panose="02000009000000000000" pitchFamily="49" charset="0"/>
              </a:rPr>
              <a:t>d</a:t>
            </a:r>
            <a:r>
              <a:rPr lang="en-US" sz="1000" b="0">
                <a:solidFill>
                  <a:srgbClr val="CCCCCC"/>
                </a:solidFill>
                <a:effectLst/>
                <a:latin typeface="JetBrains Mono" panose="02000009000000000000" pitchFamily="49" charset="0"/>
              </a:rPr>
              <a:t>) {</a:t>
            </a:r>
          </a:p>
          <a:p>
            <a:pPr>
              <a:lnSpc>
                <a:spcPts val="1425"/>
              </a:lnSpc>
              <a:buNone/>
            </a:pPr>
            <a:r>
              <a:rPr lang="en-US" sz="1000" b="0">
                <a:solidFill>
                  <a:srgbClr val="CCCCCC"/>
                </a:solidFill>
                <a:effectLst/>
                <a:latin typeface="JetBrains Mono" panose="02000009000000000000" pitchFamily="49" charset="0"/>
              </a:rPr>
              <a:t>  </a:t>
            </a:r>
            <a:r>
              <a:rPr lang="en-US" sz="1000" b="0">
                <a:solidFill>
                  <a:srgbClr val="569CD6"/>
                </a:solidFill>
                <a:effectLst/>
                <a:latin typeface="JetBrains Mono" panose="02000009000000000000" pitchFamily="49" charset="0"/>
              </a:rPr>
              <a:t>int</a:t>
            </a:r>
            <a:r>
              <a:rPr lang="en-US" sz="1000" b="0">
                <a:solidFill>
                  <a:srgbClr val="CCCCCC"/>
                </a:solidFill>
                <a:effectLst/>
                <a:latin typeface="JetBrains Mono" panose="02000009000000000000" pitchFamily="49" charset="0"/>
              </a:rPr>
              <a:t> </a:t>
            </a:r>
            <a:r>
              <a:rPr lang="en-US" sz="1000" b="0" err="1">
                <a:solidFill>
                  <a:srgbClr val="9CDCFE"/>
                </a:solidFill>
                <a:effectLst/>
                <a:latin typeface="JetBrains Mono" panose="02000009000000000000" pitchFamily="49" charset="0"/>
              </a:rPr>
              <a:t>idx</a:t>
            </a:r>
            <a:r>
              <a:rPr lang="en-US" sz="1000" b="0">
                <a:solidFill>
                  <a:srgbClr val="CCCCCC"/>
                </a:solidFill>
                <a:effectLst/>
                <a:latin typeface="JetBrains Mono" panose="02000009000000000000" pitchFamily="49" charset="0"/>
              </a:rPr>
              <a:t> </a:t>
            </a:r>
            <a:r>
              <a:rPr lang="en-US" sz="1000" b="0">
                <a:solidFill>
                  <a:srgbClr val="D4D4D4"/>
                </a:solidFill>
                <a:effectLst/>
                <a:latin typeface="JetBrains Mono" panose="02000009000000000000" pitchFamily="49" charset="0"/>
              </a:rPr>
              <a:t>=</a:t>
            </a:r>
            <a:r>
              <a:rPr lang="en-US" sz="1000" b="0">
                <a:solidFill>
                  <a:srgbClr val="CCCCCC"/>
                </a:solidFill>
                <a:effectLst/>
                <a:latin typeface="JetBrains Mono" panose="02000009000000000000" pitchFamily="49" charset="0"/>
              </a:rPr>
              <a:t> </a:t>
            </a:r>
            <a:r>
              <a:rPr lang="en-US" sz="1000" b="0">
                <a:solidFill>
                  <a:srgbClr val="DCDCAA"/>
                </a:solidFill>
                <a:effectLst/>
                <a:latin typeface="JetBrains Mono" panose="02000009000000000000" pitchFamily="49" charset="0"/>
              </a:rPr>
              <a:t>hash</a:t>
            </a:r>
            <a:r>
              <a:rPr lang="en-US" sz="1000" b="0">
                <a:solidFill>
                  <a:srgbClr val="CCCCCC"/>
                </a:solidFill>
                <a:effectLst/>
                <a:latin typeface="JetBrains Mono" panose="02000009000000000000" pitchFamily="49" charset="0"/>
              </a:rPr>
              <a:t>(</a:t>
            </a:r>
            <a:r>
              <a:rPr lang="en-US" sz="1000" b="0">
                <a:solidFill>
                  <a:srgbClr val="9CDCFE"/>
                </a:solidFill>
                <a:effectLst/>
                <a:latin typeface="JetBrains Mono" panose="02000009000000000000" pitchFamily="49" charset="0"/>
              </a:rPr>
              <a:t>d</a:t>
            </a:r>
            <a:r>
              <a:rPr lang="en-US" sz="1000" b="0">
                <a:solidFill>
                  <a:srgbClr val="CCCCCC"/>
                </a:solidFill>
                <a:effectLst/>
                <a:latin typeface="JetBrains Mono" panose="02000009000000000000" pitchFamily="49" charset="0"/>
              </a:rPr>
              <a:t>) </a:t>
            </a:r>
            <a:r>
              <a:rPr lang="en-US" sz="1000" b="0">
                <a:solidFill>
                  <a:srgbClr val="D4D4D4"/>
                </a:solidFill>
                <a:effectLst/>
                <a:latin typeface="JetBrains Mono" panose="02000009000000000000" pitchFamily="49" charset="0"/>
              </a:rPr>
              <a:t>%</a:t>
            </a:r>
            <a:r>
              <a:rPr lang="en-US" sz="1000" b="0">
                <a:solidFill>
                  <a:srgbClr val="CCCCCC"/>
                </a:solidFill>
                <a:effectLst/>
                <a:latin typeface="JetBrains Mono" panose="02000009000000000000" pitchFamily="49" charset="0"/>
              </a:rPr>
              <a:t> </a:t>
            </a:r>
            <a:r>
              <a:rPr lang="en-US" sz="1000" b="0">
                <a:solidFill>
                  <a:srgbClr val="B5CEA8"/>
                </a:solidFill>
                <a:effectLst/>
                <a:latin typeface="JetBrains Mono" panose="02000009000000000000" pitchFamily="49" charset="0"/>
              </a:rPr>
              <a:t>8</a:t>
            </a:r>
            <a:r>
              <a:rPr lang="en-US" sz="1000" b="0">
                <a:solidFill>
                  <a:srgbClr val="CCCCCC"/>
                </a:solidFill>
                <a:effectLst/>
                <a:latin typeface="JetBrains Mono" panose="02000009000000000000" pitchFamily="49" charset="0"/>
              </a:rPr>
              <a:t>;</a:t>
            </a:r>
          </a:p>
          <a:p>
            <a:pPr>
              <a:lnSpc>
                <a:spcPts val="1425"/>
              </a:lnSpc>
              <a:buNone/>
            </a:pPr>
            <a:r>
              <a:rPr lang="en-US" sz="1000" b="0">
                <a:solidFill>
                  <a:srgbClr val="6A9955"/>
                </a:solidFill>
                <a:effectLst/>
                <a:latin typeface="JetBrains Mono" panose="02000009000000000000" pitchFamily="49" charset="0"/>
              </a:rPr>
              <a:t>  // Compiler substitutes implementation.</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6A9955"/>
                </a:solidFill>
                <a:effectLst/>
                <a:latin typeface="JetBrains Mono" panose="02000009000000000000" pitchFamily="49" charset="0"/>
              </a:rPr>
              <a:t>  // Uses a spinlock or lock-free push with relaxed atomics,</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6A9955"/>
                </a:solidFill>
                <a:effectLst/>
                <a:latin typeface="JetBrains Mono" panose="02000009000000000000" pitchFamily="49" charset="0"/>
              </a:rPr>
              <a:t>  // because the "Global Order" was destroyed by the hashing operation.</a:t>
            </a:r>
            <a:endParaRPr lang="en-US" sz="1000" b="0">
              <a:solidFill>
                <a:srgbClr val="CCCCCC"/>
              </a:solidFill>
              <a:effectLst/>
              <a:latin typeface="JetBrains Mono" panose="02000009000000000000" pitchFamily="49" charset="0"/>
            </a:endParaRPr>
          </a:p>
          <a:p>
            <a:pPr>
              <a:lnSpc>
                <a:spcPts val="1425"/>
              </a:lnSpc>
              <a:buNone/>
            </a:pPr>
            <a:r>
              <a:rPr lang="en-US" sz="1000" b="0">
                <a:solidFill>
                  <a:srgbClr val="CCCCCC"/>
                </a:solidFill>
                <a:effectLst/>
                <a:latin typeface="JetBrains Mono" panose="02000009000000000000" pitchFamily="49" charset="0"/>
              </a:rPr>
              <a:t>  </a:t>
            </a:r>
            <a:r>
              <a:rPr lang="en-US" sz="1000" b="0" err="1">
                <a:solidFill>
                  <a:srgbClr val="DCDCAA"/>
                </a:solidFill>
                <a:effectLst/>
                <a:latin typeface="JetBrains Mono" panose="02000009000000000000" pitchFamily="49" charset="0"/>
              </a:rPr>
              <a:t>queue_push_relaxed</a:t>
            </a:r>
            <a:r>
              <a:rPr lang="en-US" sz="1000" b="0">
                <a:solidFill>
                  <a:srgbClr val="CCCCCC"/>
                </a:solidFill>
                <a:effectLst/>
                <a:latin typeface="JetBrains Mono" panose="02000009000000000000" pitchFamily="49" charset="0"/>
              </a:rPr>
              <a:t>(</a:t>
            </a:r>
            <a:r>
              <a:rPr lang="en-US" sz="1000" b="0">
                <a:solidFill>
                  <a:srgbClr val="D4D4D4"/>
                </a:solidFill>
                <a:effectLst/>
                <a:latin typeface="JetBrains Mono" panose="02000009000000000000" pitchFamily="49" charset="0"/>
              </a:rPr>
              <a:t>&amp;</a:t>
            </a:r>
            <a:r>
              <a:rPr lang="en-US" sz="1000" b="0">
                <a:solidFill>
                  <a:srgbClr val="9CDCFE"/>
                </a:solidFill>
                <a:effectLst/>
                <a:latin typeface="JetBrains Mono" panose="02000009000000000000" pitchFamily="49" charset="0"/>
              </a:rPr>
              <a:t>shards</a:t>
            </a:r>
            <a:r>
              <a:rPr lang="en-US" sz="1000" b="0">
                <a:solidFill>
                  <a:srgbClr val="CCCCCC"/>
                </a:solidFill>
                <a:effectLst/>
                <a:latin typeface="JetBrains Mono" panose="02000009000000000000" pitchFamily="49" charset="0"/>
              </a:rPr>
              <a:t>[</a:t>
            </a:r>
            <a:r>
              <a:rPr lang="en-US" sz="1000" b="0" err="1">
                <a:solidFill>
                  <a:srgbClr val="9CDCFE"/>
                </a:solidFill>
                <a:effectLst/>
                <a:latin typeface="JetBrains Mono" panose="02000009000000000000" pitchFamily="49" charset="0"/>
              </a:rPr>
              <a:t>idx</a:t>
            </a:r>
            <a:r>
              <a:rPr lang="en-US" sz="1000" b="0">
                <a:solidFill>
                  <a:srgbClr val="CCCCCC"/>
                </a:solidFill>
                <a:effectLst/>
                <a:latin typeface="JetBrains Mono" panose="02000009000000000000" pitchFamily="49" charset="0"/>
              </a:rPr>
              <a:t>], </a:t>
            </a:r>
            <a:r>
              <a:rPr lang="en-US" sz="1000" b="0">
                <a:solidFill>
                  <a:srgbClr val="9CDCFE"/>
                </a:solidFill>
                <a:effectLst/>
                <a:latin typeface="JetBrains Mono" panose="02000009000000000000" pitchFamily="49" charset="0"/>
              </a:rPr>
              <a:t>d</a:t>
            </a:r>
            <a:r>
              <a:rPr lang="en-US" sz="1000" b="0">
                <a:solidFill>
                  <a:srgbClr val="CCCCCC"/>
                </a:solidFill>
                <a:effectLst/>
                <a:latin typeface="JetBrains Mono" panose="02000009000000000000" pitchFamily="49" charset="0"/>
              </a:rPr>
              <a:t>);</a:t>
            </a:r>
          </a:p>
          <a:p>
            <a:pPr>
              <a:lnSpc>
                <a:spcPts val="1425"/>
              </a:lnSpc>
              <a:buNone/>
            </a:pPr>
            <a:r>
              <a:rPr lang="en-US" sz="1000" b="0">
                <a:solidFill>
                  <a:srgbClr val="CCCCCC"/>
                </a:solidFill>
                <a:effectLst/>
                <a:latin typeface="JetBrains Mono" panose="02000009000000000000" pitchFamily="49" charset="0"/>
              </a:rPr>
              <a:t>}</a:t>
            </a:r>
          </a:p>
        </p:txBody>
      </p:sp>
    </p:spTree>
    <p:extLst>
      <p:ext uri="{BB962C8B-B14F-4D97-AF65-F5344CB8AC3E}">
        <p14:creationId xmlns:p14="http://schemas.microsoft.com/office/powerpoint/2010/main" val="25418475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A68BB-D942-D1D3-3845-20912F45064F}"/>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A19950B8-BAD5-CD22-45A8-9298BB0EA094}"/>
              </a:ext>
            </a:extLst>
          </p:cNvPr>
          <p:cNvSpPr txBox="1"/>
          <p:nvPr/>
        </p:nvSpPr>
        <p:spPr>
          <a:xfrm>
            <a:off x="233910" y="208621"/>
            <a:ext cx="4444107" cy="461665"/>
          </a:xfrm>
          <a:prstGeom prst="rect">
            <a:avLst/>
          </a:prstGeom>
          <a:solidFill>
            <a:srgbClr val="7030A0"/>
          </a:solidFill>
        </p:spPr>
        <p:txBody>
          <a:bodyPr wrap="square" rtlCol="0">
            <a:spAutoFit/>
          </a:bodyPr>
          <a:lstStyle/>
          <a:p>
            <a:r>
              <a:rPr lang="en-US" sz="2400">
                <a:solidFill>
                  <a:schemeClr val="bg1"/>
                </a:solidFill>
                <a:latin typeface="Ubuntu Condensed" panose="020B0506030602030204" pitchFamily="34" charset="0"/>
              </a:rPr>
              <a:t>Multithreading pattern optimization</a:t>
            </a:r>
            <a:endParaRPr lang="ru-RU" sz="2400">
              <a:solidFill>
                <a:schemeClr val="bg1"/>
              </a:solidFill>
              <a:latin typeface="Ubuntu Condensed" panose="020B0506030602030204" pitchFamily="34" charset="0"/>
            </a:endParaRPr>
          </a:p>
        </p:txBody>
      </p:sp>
      <p:sp>
        <p:nvSpPr>
          <p:cNvPr id="7" name="Номер слайда 7">
            <a:extLst>
              <a:ext uri="{FF2B5EF4-FFF2-40B4-BE49-F238E27FC236}">
                <a16:creationId xmlns:a16="http://schemas.microsoft.com/office/drawing/2014/main" id="{1C49DD08-BF11-280A-51A8-5C377348558A}"/>
              </a:ext>
            </a:extLst>
          </p:cNvPr>
          <p:cNvSpPr>
            <a:spLocks noGrp="1"/>
          </p:cNvSpPr>
          <p:nvPr>
            <p:ph type="sldNum" sz="quarter" idx="12"/>
          </p:nvPr>
        </p:nvSpPr>
        <p:spPr>
          <a:xfrm>
            <a:off x="11725835" y="6402070"/>
            <a:ext cx="386155" cy="365125"/>
          </a:xfrm>
        </p:spPr>
        <p:txBody>
          <a:bodyPr/>
          <a:lstStyle/>
          <a:p>
            <a:pPr algn="ctr"/>
            <a:fld id="{E757BAED-F255-4CF1-96BA-8D7417A9C3BC}" type="slidenum">
              <a:rPr lang="ru-RU" sz="1800" smtClean="0">
                <a:latin typeface="Ubuntu Condensed" panose="020B0506030602030204" pitchFamily="34" charset="0"/>
              </a:rPr>
              <a:pPr algn="ctr"/>
              <a:t>26</a:t>
            </a:fld>
            <a:endParaRPr lang="ru-RU" sz="1800">
              <a:latin typeface="Ubuntu Condensed" panose="020B0506030602030204" pitchFamily="34" charset="0"/>
            </a:endParaRPr>
          </a:p>
        </p:txBody>
      </p:sp>
      <p:sp>
        <p:nvSpPr>
          <p:cNvPr id="2" name="TextBox 1">
            <a:extLst>
              <a:ext uri="{FF2B5EF4-FFF2-40B4-BE49-F238E27FC236}">
                <a16:creationId xmlns:a16="http://schemas.microsoft.com/office/drawing/2014/main" id="{9439F32D-D471-DBCD-8108-A8A47261DC16}"/>
              </a:ext>
            </a:extLst>
          </p:cNvPr>
          <p:cNvSpPr txBox="1"/>
          <p:nvPr/>
        </p:nvSpPr>
        <p:spPr>
          <a:xfrm>
            <a:off x="233910" y="2053950"/>
            <a:ext cx="5371760" cy="276999"/>
          </a:xfrm>
          <a:prstGeom prst="rect">
            <a:avLst/>
          </a:prstGeom>
          <a:noFill/>
        </p:spPr>
        <p:txBody>
          <a:bodyPr wrap="square">
            <a:spAutoFit/>
          </a:bodyPr>
          <a:lstStyle/>
          <a:p>
            <a:r>
              <a:rPr lang="en-US" sz="1200" b="1"/>
              <a:t>Before (Generic)</a:t>
            </a:r>
            <a:r>
              <a:rPr lang="en-US" sz="1200"/>
              <a:t>.</a:t>
            </a:r>
          </a:p>
        </p:txBody>
      </p:sp>
      <p:sp>
        <p:nvSpPr>
          <p:cNvPr id="3" name="TextBox 2">
            <a:extLst>
              <a:ext uri="{FF2B5EF4-FFF2-40B4-BE49-F238E27FC236}">
                <a16:creationId xmlns:a16="http://schemas.microsoft.com/office/drawing/2014/main" id="{DF82475F-D945-B02D-22EE-2E0196CC5FAC}"/>
              </a:ext>
            </a:extLst>
          </p:cNvPr>
          <p:cNvSpPr txBox="1"/>
          <p:nvPr/>
        </p:nvSpPr>
        <p:spPr>
          <a:xfrm>
            <a:off x="233909" y="2515615"/>
            <a:ext cx="5371761" cy="1159613"/>
          </a:xfrm>
          <a:prstGeom prst="rect">
            <a:avLst/>
          </a:prstGeom>
          <a:solidFill>
            <a:srgbClr val="1F1F1F"/>
          </a:solidFill>
        </p:spPr>
        <p:txBody>
          <a:bodyPr wrap="square">
            <a:spAutoFit/>
          </a:bodyPr>
          <a:lstStyle/>
          <a:p>
            <a:pPr>
              <a:lnSpc>
                <a:spcPts val="1425"/>
              </a:lnSpc>
              <a:buNone/>
            </a:pPr>
            <a:r>
              <a:rPr lang="en-SG" sz="1000" b="0">
                <a:solidFill>
                  <a:srgbClr val="6A9955"/>
                </a:solidFill>
                <a:effectLst/>
                <a:latin typeface="JetBrains Mono" panose="02000009000000000000" pitchFamily="49" charset="0"/>
              </a:rPr>
              <a:t>// Standard mutex-based queue (handles N writers, M readers)</a:t>
            </a: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4EC9B0"/>
                </a:solidFill>
                <a:effectLst/>
                <a:latin typeface="JetBrains Mono" panose="02000009000000000000" pitchFamily="49" charset="0"/>
              </a:rPr>
              <a:t>std</a:t>
            </a:r>
            <a:r>
              <a:rPr lang="en-SG" sz="1000" b="0">
                <a:solidFill>
                  <a:srgbClr val="CCCCCC"/>
                </a:solidFill>
                <a:effectLst/>
                <a:latin typeface="JetBrains Mono" panose="02000009000000000000" pitchFamily="49" charset="0"/>
              </a:rPr>
              <a:t>::queue</a:t>
            </a:r>
            <a:r>
              <a:rPr lang="en-SG" sz="1000" b="0">
                <a:solidFill>
                  <a:srgbClr val="D4D4D4"/>
                </a:solidFill>
                <a:effectLst/>
                <a:latin typeface="JetBrains Mono" panose="02000009000000000000" pitchFamily="49" charset="0"/>
              </a:rPr>
              <a:t>&lt;</a:t>
            </a:r>
            <a:r>
              <a:rPr lang="en-SG" sz="1000" b="0">
                <a:solidFill>
                  <a:srgbClr val="CCCCCC"/>
                </a:solidFill>
                <a:effectLst/>
                <a:latin typeface="JetBrains Mono" panose="02000009000000000000" pitchFamily="49" charset="0"/>
              </a:rPr>
              <a:t>Data</a:t>
            </a:r>
            <a:r>
              <a:rPr lang="en-SG" sz="1000" b="0">
                <a:solidFill>
                  <a:srgbClr val="D4D4D4"/>
                </a:solidFill>
                <a:effectLst/>
                <a:latin typeface="JetBrains Mono" panose="02000009000000000000" pitchFamily="49" charset="0"/>
              </a:rPr>
              <a:t>&gt;</a:t>
            </a:r>
            <a:r>
              <a:rPr lang="en-SG" sz="1000" b="0">
                <a:solidFill>
                  <a:srgbClr val="CCCCCC"/>
                </a:solidFill>
                <a:effectLst/>
                <a:latin typeface="JetBrains Mono" panose="02000009000000000000" pitchFamily="49" charset="0"/>
              </a:rPr>
              <a:t> q; </a:t>
            </a:r>
          </a:p>
          <a:p>
            <a:pPr>
              <a:lnSpc>
                <a:spcPts val="1425"/>
              </a:lnSpc>
              <a:buNone/>
            </a:pPr>
            <a:r>
              <a:rPr lang="en-SG" sz="1000" b="0">
                <a:solidFill>
                  <a:srgbClr val="4EC9B0"/>
                </a:solidFill>
                <a:effectLst/>
                <a:latin typeface="JetBrains Mono" panose="02000009000000000000" pitchFamily="49" charset="0"/>
              </a:rPr>
              <a:t>std</a:t>
            </a:r>
            <a:r>
              <a:rPr lang="en-SG" sz="1000" b="0">
                <a:solidFill>
                  <a:srgbClr val="CCCCCC"/>
                </a:solidFill>
                <a:effectLst/>
                <a:latin typeface="JetBrains Mono" panose="02000009000000000000" pitchFamily="49" charset="0"/>
              </a:rPr>
              <a:t>::mutex </a:t>
            </a:r>
            <a:r>
              <a:rPr lang="en-SG" sz="1000" b="0" err="1">
                <a:solidFill>
                  <a:srgbClr val="9CDCFE"/>
                </a:solidFill>
                <a:effectLst/>
                <a:latin typeface="JetBrains Mono" panose="02000009000000000000" pitchFamily="49" charset="0"/>
              </a:rPr>
              <a:t>mtx</a:t>
            </a:r>
            <a:r>
              <a:rPr lang="en-SG" sz="1000" b="0">
                <a:solidFill>
                  <a:srgbClr val="CCCCCC"/>
                </a:solidFill>
                <a:effectLst/>
                <a:latin typeface="JetBrains Mono" panose="02000009000000000000" pitchFamily="49" charset="0"/>
              </a:rPr>
              <a:t>;</a:t>
            </a:r>
          </a:p>
          <a:p>
            <a:pPr>
              <a:lnSpc>
                <a:spcPts val="1425"/>
              </a:lnSpc>
              <a:buNone/>
            </a:pP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569CD6"/>
                </a:solidFill>
                <a:effectLst/>
                <a:latin typeface="JetBrains Mono" panose="02000009000000000000" pitchFamily="49" charset="0"/>
              </a:rPr>
              <a:t>void</a:t>
            </a:r>
            <a:r>
              <a:rPr lang="en-SG" sz="1000" b="0">
                <a:solidFill>
                  <a:srgbClr val="CCCCCC"/>
                </a:solidFill>
                <a:effectLst/>
                <a:latin typeface="JetBrains Mono" panose="02000009000000000000" pitchFamily="49" charset="0"/>
              </a:rPr>
              <a:t> </a:t>
            </a:r>
            <a:r>
              <a:rPr lang="en-SG" sz="1000" b="0">
                <a:solidFill>
                  <a:srgbClr val="DCDCAA"/>
                </a:solidFill>
                <a:effectLst/>
                <a:latin typeface="JetBrains Mono" panose="02000009000000000000" pitchFamily="49" charset="0"/>
              </a:rPr>
              <a:t>producer</a:t>
            </a:r>
            <a:r>
              <a:rPr lang="en-SG" sz="1000" b="0">
                <a:solidFill>
                  <a:srgbClr val="CCCCCC"/>
                </a:solidFill>
                <a:effectLst/>
                <a:latin typeface="JetBrains Mono" panose="02000009000000000000" pitchFamily="49" charset="0"/>
              </a:rPr>
              <a:t>() { </a:t>
            </a:r>
            <a:r>
              <a:rPr lang="en-SG" sz="1000" b="0">
                <a:solidFill>
                  <a:srgbClr val="DCDCAA"/>
                </a:solidFill>
                <a:effectLst/>
                <a:latin typeface="JetBrains Mono" panose="02000009000000000000" pitchFamily="49" charset="0"/>
              </a:rPr>
              <a:t>lock</a:t>
            </a:r>
            <a:r>
              <a:rPr lang="en-SG" sz="1000" b="0">
                <a:solidFill>
                  <a:srgbClr val="CCCCCC"/>
                </a:solidFill>
                <a:effectLst/>
                <a:latin typeface="JetBrains Mono" panose="02000009000000000000" pitchFamily="49" charset="0"/>
              </a:rPr>
              <a:t>(</a:t>
            </a:r>
            <a:r>
              <a:rPr lang="en-SG" sz="1000" b="0" err="1">
                <a:solidFill>
                  <a:srgbClr val="9CDCFE"/>
                </a:solidFill>
                <a:effectLst/>
                <a:latin typeface="JetBrains Mono" panose="02000009000000000000" pitchFamily="49" charset="0"/>
              </a:rPr>
              <a:t>mtx</a:t>
            </a:r>
            <a:r>
              <a:rPr lang="en-SG" sz="1000" b="0">
                <a:solidFill>
                  <a:srgbClr val="CCCCCC"/>
                </a:solidFill>
                <a:effectLst/>
                <a:latin typeface="JetBrains Mono" panose="02000009000000000000" pitchFamily="49" charset="0"/>
              </a:rPr>
              <a:t>); </a:t>
            </a:r>
            <a:r>
              <a:rPr lang="en-SG" sz="1000" b="0" err="1">
                <a:solidFill>
                  <a:srgbClr val="9CDCFE"/>
                </a:solidFill>
                <a:effectLst/>
                <a:latin typeface="JetBrains Mono" panose="02000009000000000000" pitchFamily="49" charset="0"/>
              </a:rPr>
              <a:t>q</a:t>
            </a:r>
            <a:r>
              <a:rPr lang="en-SG" sz="1000" b="0" err="1">
                <a:solidFill>
                  <a:srgbClr val="CCCCCC"/>
                </a:solidFill>
                <a:effectLst/>
                <a:latin typeface="JetBrains Mono" panose="02000009000000000000" pitchFamily="49" charset="0"/>
              </a:rPr>
              <a:t>.</a:t>
            </a:r>
            <a:r>
              <a:rPr lang="en-SG" sz="1000" b="0" err="1">
                <a:solidFill>
                  <a:srgbClr val="DCDCAA"/>
                </a:solidFill>
                <a:effectLst/>
                <a:latin typeface="JetBrains Mono" panose="02000009000000000000" pitchFamily="49" charset="0"/>
              </a:rPr>
              <a:t>push</a:t>
            </a:r>
            <a:r>
              <a:rPr lang="en-SG" sz="1000" b="0">
                <a:solidFill>
                  <a:srgbClr val="CCCCCC"/>
                </a:solidFill>
                <a:effectLst/>
                <a:latin typeface="JetBrains Mono" panose="02000009000000000000" pitchFamily="49" charset="0"/>
              </a:rPr>
              <a:t>(...); </a:t>
            </a:r>
            <a:r>
              <a:rPr lang="en-SG" sz="1000" b="0">
                <a:solidFill>
                  <a:srgbClr val="DCDCAA"/>
                </a:solidFill>
                <a:effectLst/>
                <a:latin typeface="JetBrains Mono" panose="02000009000000000000" pitchFamily="49" charset="0"/>
              </a:rPr>
              <a:t>unlock</a:t>
            </a:r>
            <a:r>
              <a:rPr lang="en-SG" sz="1000" b="0">
                <a:solidFill>
                  <a:srgbClr val="CCCCCC"/>
                </a:solidFill>
                <a:effectLst/>
                <a:latin typeface="JetBrains Mono" panose="02000009000000000000" pitchFamily="49" charset="0"/>
              </a:rPr>
              <a:t>(</a:t>
            </a:r>
            <a:r>
              <a:rPr lang="en-SG" sz="1000" b="0" err="1">
                <a:solidFill>
                  <a:srgbClr val="9CDCFE"/>
                </a:solidFill>
                <a:effectLst/>
                <a:latin typeface="JetBrains Mono" panose="02000009000000000000" pitchFamily="49" charset="0"/>
              </a:rPr>
              <a:t>mtx</a:t>
            </a:r>
            <a:r>
              <a:rPr lang="en-SG" sz="1000" b="0">
                <a:solidFill>
                  <a:srgbClr val="CCCCCC"/>
                </a:solidFill>
                <a:effectLst/>
                <a:latin typeface="JetBrains Mono" panose="02000009000000000000" pitchFamily="49" charset="0"/>
              </a:rPr>
              <a:t>); }</a:t>
            </a:r>
          </a:p>
          <a:p>
            <a:pPr>
              <a:lnSpc>
                <a:spcPts val="1425"/>
              </a:lnSpc>
              <a:buNone/>
            </a:pPr>
            <a:r>
              <a:rPr lang="en-SG" sz="1000" b="0">
                <a:solidFill>
                  <a:srgbClr val="569CD6"/>
                </a:solidFill>
                <a:effectLst/>
                <a:latin typeface="JetBrains Mono" panose="02000009000000000000" pitchFamily="49" charset="0"/>
              </a:rPr>
              <a:t>void</a:t>
            </a:r>
            <a:r>
              <a:rPr lang="en-SG" sz="1000" b="0">
                <a:solidFill>
                  <a:srgbClr val="CCCCCC"/>
                </a:solidFill>
                <a:effectLst/>
                <a:latin typeface="JetBrains Mono" panose="02000009000000000000" pitchFamily="49" charset="0"/>
              </a:rPr>
              <a:t> </a:t>
            </a:r>
            <a:r>
              <a:rPr lang="en-SG" sz="1000" b="0">
                <a:solidFill>
                  <a:srgbClr val="DCDCAA"/>
                </a:solidFill>
                <a:effectLst/>
                <a:latin typeface="JetBrains Mono" panose="02000009000000000000" pitchFamily="49" charset="0"/>
              </a:rPr>
              <a:t>consumer</a:t>
            </a:r>
            <a:r>
              <a:rPr lang="en-SG" sz="1000" b="0">
                <a:solidFill>
                  <a:srgbClr val="CCCCCC"/>
                </a:solidFill>
                <a:effectLst/>
                <a:latin typeface="JetBrains Mono" panose="02000009000000000000" pitchFamily="49" charset="0"/>
              </a:rPr>
              <a:t>() { </a:t>
            </a:r>
            <a:r>
              <a:rPr lang="en-SG" sz="1000" b="0">
                <a:solidFill>
                  <a:srgbClr val="DCDCAA"/>
                </a:solidFill>
                <a:effectLst/>
                <a:latin typeface="JetBrains Mono" panose="02000009000000000000" pitchFamily="49" charset="0"/>
              </a:rPr>
              <a:t>lock</a:t>
            </a:r>
            <a:r>
              <a:rPr lang="en-SG" sz="1000" b="0">
                <a:solidFill>
                  <a:srgbClr val="CCCCCC"/>
                </a:solidFill>
                <a:effectLst/>
                <a:latin typeface="JetBrains Mono" panose="02000009000000000000" pitchFamily="49" charset="0"/>
              </a:rPr>
              <a:t>(</a:t>
            </a:r>
            <a:r>
              <a:rPr lang="en-SG" sz="1000" b="0" err="1">
                <a:solidFill>
                  <a:srgbClr val="9CDCFE"/>
                </a:solidFill>
                <a:effectLst/>
                <a:latin typeface="JetBrains Mono" panose="02000009000000000000" pitchFamily="49" charset="0"/>
              </a:rPr>
              <a:t>mtx</a:t>
            </a:r>
            <a:r>
              <a:rPr lang="en-SG" sz="1000" b="0">
                <a:solidFill>
                  <a:srgbClr val="CCCCCC"/>
                </a:solidFill>
                <a:effectLst/>
                <a:latin typeface="JetBrains Mono" panose="02000009000000000000" pitchFamily="49" charset="0"/>
              </a:rPr>
              <a:t>); </a:t>
            </a:r>
            <a:r>
              <a:rPr lang="en-SG" sz="1000" b="0" err="1">
                <a:solidFill>
                  <a:srgbClr val="9CDCFE"/>
                </a:solidFill>
                <a:effectLst/>
                <a:latin typeface="JetBrains Mono" panose="02000009000000000000" pitchFamily="49" charset="0"/>
              </a:rPr>
              <a:t>q</a:t>
            </a:r>
            <a:r>
              <a:rPr lang="en-SG" sz="1000" b="0" err="1">
                <a:solidFill>
                  <a:srgbClr val="CCCCCC"/>
                </a:solidFill>
                <a:effectLst/>
                <a:latin typeface="JetBrains Mono" panose="02000009000000000000" pitchFamily="49" charset="0"/>
              </a:rPr>
              <a:t>.</a:t>
            </a:r>
            <a:r>
              <a:rPr lang="en-SG" sz="1000" b="0" err="1">
                <a:solidFill>
                  <a:srgbClr val="DCDCAA"/>
                </a:solidFill>
                <a:effectLst/>
                <a:latin typeface="JetBrains Mono" panose="02000009000000000000" pitchFamily="49" charset="0"/>
              </a:rPr>
              <a:t>pop</a:t>
            </a:r>
            <a:r>
              <a:rPr lang="en-SG" sz="1000" b="0">
                <a:solidFill>
                  <a:srgbClr val="CCCCCC"/>
                </a:solidFill>
                <a:effectLst/>
                <a:latin typeface="JetBrains Mono" panose="02000009000000000000" pitchFamily="49" charset="0"/>
              </a:rPr>
              <a:t>(); </a:t>
            </a:r>
            <a:r>
              <a:rPr lang="en-SG" sz="1000" b="0">
                <a:solidFill>
                  <a:srgbClr val="DCDCAA"/>
                </a:solidFill>
                <a:effectLst/>
                <a:latin typeface="JetBrains Mono" panose="02000009000000000000" pitchFamily="49" charset="0"/>
              </a:rPr>
              <a:t>unlock</a:t>
            </a:r>
            <a:r>
              <a:rPr lang="en-SG" sz="1000" b="0">
                <a:solidFill>
                  <a:srgbClr val="CCCCCC"/>
                </a:solidFill>
                <a:effectLst/>
                <a:latin typeface="JetBrains Mono" panose="02000009000000000000" pitchFamily="49" charset="0"/>
              </a:rPr>
              <a:t>(</a:t>
            </a:r>
            <a:r>
              <a:rPr lang="en-SG" sz="1000" b="0" err="1">
                <a:solidFill>
                  <a:srgbClr val="9CDCFE"/>
                </a:solidFill>
                <a:effectLst/>
                <a:latin typeface="JetBrains Mono" panose="02000009000000000000" pitchFamily="49" charset="0"/>
              </a:rPr>
              <a:t>mtx</a:t>
            </a:r>
            <a:r>
              <a:rPr lang="en-SG" sz="1000" b="0">
                <a:solidFill>
                  <a:srgbClr val="CCCCCC"/>
                </a:solidFill>
                <a:effectLst/>
                <a:latin typeface="JetBrains Mono" panose="02000009000000000000" pitchFamily="49" charset="0"/>
              </a:rPr>
              <a:t>); }</a:t>
            </a:r>
          </a:p>
        </p:txBody>
      </p:sp>
      <p:sp>
        <p:nvSpPr>
          <p:cNvPr id="5" name="TextBox 4">
            <a:extLst>
              <a:ext uri="{FF2B5EF4-FFF2-40B4-BE49-F238E27FC236}">
                <a16:creationId xmlns:a16="http://schemas.microsoft.com/office/drawing/2014/main" id="{7208B578-FF29-6821-3A33-91E1EF12D1EC}"/>
              </a:ext>
            </a:extLst>
          </p:cNvPr>
          <p:cNvSpPr txBox="1"/>
          <p:nvPr/>
        </p:nvSpPr>
        <p:spPr>
          <a:xfrm>
            <a:off x="5764764" y="2053950"/>
            <a:ext cx="5910825" cy="276999"/>
          </a:xfrm>
          <a:prstGeom prst="rect">
            <a:avLst/>
          </a:prstGeom>
          <a:noFill/>
        </p:spPr>
        <p:txBody>
          <a:bodyPr wrap="square">
            <a:spAutoFit/>
          </a:bodyPr>
          <a:lstStyle>
            <a:defPPr>
              <a:defRPr lang="ru-RU"/>
            </a:defPPr>
            <a:lvl1pPr>
              <a:defRPr sz="1200" b="1"/>
            </a:lvl1pPr>
          </a:lstStyle>
          <a:p>
            <a:r>
              <a:rPr lang="en-US"/>
              <a:t>After (Specialized)</a:t>
            </a:r>
          </a:p>
        </p:txBody>
      </p:sp>
      <p:sp>
        <p:nvSpPr>
          <p:cNvPr id="6" name="Rectangle 2">
            <a:extLst>
              <a:ext uri="{FF2B5EF4-FFF2-40B4-BE49-F238E27FC236}">
                <a16:creationId xmlns:a16="http://schemas.microsoft.com/office/drawing/2014/main" id="{7EC19658-0A76-5B72-96AD-22ABAAA87D3A}"/>
              </a:ext>
            </a:extLst>
          </p:cNvPr>
          <p:cNvSpPr>
            <a:spLocks noChangeArrowheads="1"/>
          </p:cNvSpPr>
          <p:nvPr/>
        </p:nvSpPr>
        <p:spPr bwMode="auto">
          <a:xfrm>
            <a:off x="233910" y="730511"/>
            <a:ext cx="11491925" cy="1231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a:solidFill>
                  <a:srgbClr val="3333FF"/>
                </a:solidFill>
              </a:rPr>
              <a:t>4. Fan-in Pattern (Specialization: MPMC → MPSC)</a:t>
            </a:r>
          </a:p>
          <a:p>
            <a:r>
              <a:rPr lang="en-US" sz="1400" b="1" i="0">
                <a:effectLst/>
                <a:latin typeface="Inter"/>
              </a:rPr>
              <a:t>Scenario:</a:t>
            </a:r>
            <a:r>
              <a:rPr lang="en-US" sz="1400" b="0" i="0">
                <a:effectLst/>
                <a:latin typeface="Inter"/>
              </a:rPr>
              <a:t> Multiple producer threads write to a queue; only ONE consumer thread reads from it.</a:t>
            </a:r>
          </a:p>
          <a:p>
            <a:r>
              <a:rPr lang="en-US" sz="1400" b="1">
                <a:latin typeface="Inter"/>
              </a:rPr>
              <a:t>Scheme</a:t>
            </a:r>
            <a:r>
              <a:rPr lang="en-US" sz="1400">
                <a:latin typeface="Inter"/>
              </a:rPr>
              <a:t>: </a:t>
            </a:r>
            <a:r>
              <a:rPr lang="en-US" sz="1400">
                <a:latin typeface="JetBrains Mono" panose="02000009000000000000" pitchFamily="49" charset="0"/>
                <a:ea typeface="JetBrains Mono" panose="02000009000000000000" pitchFamily="49" charset="0"/>
                <a:cs typeface="JetBrains Mono" panose="02000009000000000000" pitchFamily="49" charset="0"/>
              </a:rPr>
              <a:t>[Worker 1..N] -&gt; [Global Atomic Counter / Queue]</a:t>
            </a:r>
            <a:br>
              <a:rPr lang="en-US" sz="1400"/>
            </a:br>
            <a:r>
              <a:rPr lang="en-US" sz="1400" b="1" i="0">
                <a:effectLst/>
                <a:latin typeface="Inter"/>
              </a:rPr>
              <a:t>Optimization:</a:t>
            </a:r>
            <a:r>
              <a:rPr lang="en-US" sz="1400" b="0" i="0">
                <a:effectLst/>
                <a:latin typeface="Inter"/>
              </a:rPr>
              <a:t> Standard libraries provide MPMC (Multi-Producer Multi-Consumer) queues by default. The compiler analyzes the call graph, sees only one consumer, and swaps the implementation for a wait-free MPSC buffer.</a:t>
            </a:r>
            <a:endParaRPr kumimoji="0" lang="en-US" altLang="en-US" sz="1050" i="0" u="none" strike="noStrike" cap="none" normalizeH="0" baseline="0">
              <a:ln>
                <a:noFill/>
              </a:ln>
              <a:effectLst/>
            </a:endParaRPr>
          </a:p>
        </p:txBody>
      </p:sp>
      <p:sp>
        <p:nvSpPr>
          <p:cNvPr id="8" name="TextBox 7">
            <a:extLst>
              <a:ext uri="{FF2B5EF4-FFF2-40B4-BE49-F238E27FC236}">
                <a16:creationId xmlns:a16="http://schemas.microsoft.com/office/drawing/2014/main" id="{D185EB0C-8AB9-5FCA-42AB-8EFC1FE46D43}"/>
              </a:ext>
            </a:extLst>
          </p:cNvPr>
          <p:cNvSpPr txBox="1"/>
          <p:nvPr/>
        </p:nvSpPr>
        <p:spPr>
          <a:xfrm>
            <a:off x="5777948" y="2515615"/>
            <a:ext cx="6122504" cy="2954976"/>
          </a:xfrm>
          <a:prstGeom prst="rect">
            <a:avLst/>
          </a:prstGeom>
          <a:solidFill>
            <a:srgbClr val="1F1F1F"/>
          </a:solidFill>
        </p:spPr>
        <p:txBody>
          <a:bodyPr wrap="square">
            <a:spAutoFit/>
          </a:bodyPr>
          <a:lstStyle/>
          <a:p>
            <a:pPr>
              <a:lnSpc>
                <a:spcPts val="1425"/>
              </a:lnSpc>
              <a:buNone/>
            </a:pPr>
            <a:r>
              <a:rPr lang="en-SG" sz="1000" b="0">
                <a:solidFill>
                  <a:srgbClr val="6A9955"/>
                </a:solidFill>
                <a:effectLst/>
                <a:latin typeface="JetBrains Mono" panose="02000009000000000000" pitchFamily="49" charset="0"/>
              </a:rPr>
              <a:t>// Optimized MPSC Ring Buffer (Wait-free for consumer)</a:t>
            </a: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569CD6"/>
                </a:solidFill>
                <a:effectLst/>
                <a:latin typeface="JetBrains Mono" panose="02000009000000000000" pitchFamily="49" charset="0"/>
              </a:rPr>
              <a:t>struct</a:t>
            </a:r>
            <a:r>
              <a:rPr lang="en-SG" sz="1000" b="0">
                <a:solidFill>
                  <a:srgbClr val="CCCCCC"/>
                </a:solidFill>
                <a:effectLst/>
                <a:latin typeface="JetBrains Mono" panose="02000009000000000000" pitchFamily="49" charset="0"/>
              </a:rPr>
              <a:t> </a:t>
            </a:r>
            <a:r>
              <a:rPr lang="en-SG" sz="1000" b="0" err="1">
                <a:solidFill>
                  <a:srgbClr val="4EC9B0"/>
                </a:solidFill>
                <a:effectLst/>
                <a:latin typeface="JetBrains Mono" panose="02000009000000000000" pitchFamily="49" charset="0"/>
              </a:rPr>
              <a:t>MPSCQueue</a:t>
            </a:r>
            <a:r>
              <a:rPr lang="en-SG" sz="1000" b="0">
                <a:solidFill>
                  <a:srgbClr val="CCCCCC"/>
                </a:solidFill>
                <a:effectLst/>
                <a:latin typeface="JetBrains Mono" panose="02000009000000000000" pitchFamily="49" charset="0"/>
              </a:rPr>
              <a:t> {</a:t>
            </a:r>
          </a:p>
          <a:p>
            <a:pPr>
              <a:lnSpc>
                <a:spcPts val="1425"/>
              </a:lnSpc>
              <a:buNone/>
            </a:pPr>
            <a:r>
              <a:rPr lang="en-SG" sz="1000" b="0">
                <a:solidFill>
                  <a:srgbClr val="CCCCCC"/>
                </a:solidFill>
                <a:effectLst/>
                <a:latin typeface="JetBrains Mono" panose="02000009000000000000" pitchFamily="49" charset="0"/>
              </a:rPr>
              <a:t>  </a:t>
            </a:r>
            <a:r>
              <a:rPr lang="en-SG" sz="1000" b="0" err="1">
                <a:solidFill>
                  <a:srgbClr val="4EC9B0"/>
                </a:solidFill>
                <a:effectLst/>
                <a:latin typeface="JetBrains Mono" panose="02000009000000000000" pitchFamily="49" charset="0"/>
              </a:rPr>
              <a:t>atomic_size_t</a:t>
            </a:r>
            <a:r>
              <a:rPr lang="en-SG" sz="1000" b="0">
                <a:solidFill>
                  <a:srgbClr val="CCCCCC"/>
                </a:solidFill>
                <a:effectLst/>
                <a:latin typeface="JetBrains Mono" panose="02000009000000000000" pitchFamily="49" charset="0"/>
              </a:rPr>
              <a:t> </a:t>
            </a:r>
            <a:r>
              <a:rPr lang="en-SG" sz="1000" b="0">
                <a:solidFill>
                  <a:srgbClr val="9CDCFE"/>
                </a:solidFill>
                <a:effectLst/>
                <a:latin typeface="JetBrains Mono" panose="02000009000000000000" pitchFamily="49" charset="0"/>
              </a:rPr>
              <a:t>head</a:t>
            </a:r>
            <a:r>
              <a:rPr lang="en-SG" sz="1000" b="0">
                <a:solidFill>
                  <a:srgbClr val="CCCCCC"/>
                </a:solidFill>
                <a:effectLst/>
                <a:latin typeface="JetBrains Mono" panose="02000009000000000000" pitchFamily="49" charset="0"/>
              </a:rPr>
              <a:t>, </a:t>
            </a:r>
            <a:r>
              <a:rPr lang="en-SG" sz="1000" b="0">
                <a:solidFill>
                  <a:srgbClr val="9CDCFE"/>
                </a:solidFill>
                <a:effectLst/>
                <a:latin typeface="JetBrains Mono" panose="02000009000000000000" pitchFamily="49" charset="0"/>
              </a:rPr>
              <a:t>tail</a:t>
            </a:r>
            <a:r>
              <a:rPr lang="en-SG" sz="1000" b="0">
                <a:solidFill>
                  <a:srgbClr val="CCCCCC"/>
                </a:solidFill>
                <a:effectLst/>
                <a:latin typeface="JetBrains Mono" panose="02000009000000000000" pitchFamily="49" charset="0"/>
              </a:rPr>
              <a:t>;</a:t>
            </a:r>
          </a:p>
          <a:p>
            <a:pPr>
              <a:lnSpc>
                <a:spcPts val="1425"/>
              </a:lnSpc>
              <a:buNone/>
            </a:pPr>
            <a:r>
              <a:rPr lang="en-SG" sz="1000" b="0">
                <a:solidFill>
                  <a:srgbClr val="CCCCCC"/>
                </a:solidFill>
                <a:effectLst/>
                <a:latin typeface="JetBrains Mono" panose="02000009000000000000" pitchFamily="49" charset="0"/>
              </a:rPr>
              <a:t>  Data </a:t>
            </a:r>
            <a:r>
              <a:rPr lang="en-SG" sz="1000" b="0" err="1">
                <a:solidFill>
                  <a:srgbClr val="9CDCFE"/>
                </a:solidFill>
                <a:effectLst/>
                <a:latin typeface="JetBrains Mono" panose="02000009000000000000" pitchFamily="49" charset="0"/>
              </a:rPr>
              <a:t>buf</a:t>
            </a:r>
            <a:r>
              <a:rPr lang="en-SG" sz="1000" b="0">
                <a:solidFill>
                  <a:srgbClr val="CCCCCC"/>
                </a:solidFill>
                <a:effectLst/>
                <a:latin typeface="JetBrains Mono" panose="02000009000000000000" pitchFamily="49" charset="0"/>
              </a:rPr>
              <a:t>[];</a:t>
            </a:r>
          </a:p>
          <a:p>
            <a:pPr>
              <a:lnSpc>
                <a:spcPts val="1425"/>
              </a:lnSpc>
              <a:buNone/>
            </a:pPr>
            <a:r>
              <a:rPr lang="en-SG" sz="1000" b="0">
                <a:solidFill>
                  <a:srgbClr val="CCCCCC"/>
                </a:solidFill>
                <a:effectLst/>
                <a:latin typeface="JetBrains Mono" panose="02000009000000000000" pitchFamily="49" charset="0"/>
              </a:rPr>
              <a:t>};</a:t>
            </a:r>
          </a:p>
          <a:p>
            <a:pPr>
              <a:lnSpc>
                <a:spcPts val="1425"/>
              </a:lnSpc>
              <a:buNone/>
            </a:pP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569CD6"/>
                </a:solidFill>
                <a:effectLst/>
                <a:latin typeface="JetBrains Mono" panose="02000009000000000000" pitchFamily="49" charset="0"/>
              </a:rPr>
              <a:t>void</a:t>
            </a:r>
            <a:r>
              <a:rPr lang="en-SG" sz="1000" b="0">
                <a:solidFill>
                  <a:srgbClr val="CCCCCC"/>
                </a:solidFill>
                <a:effectLst/>
                <a:latin typeface="JetBrains Mono" panose="02000009000000000000" pitchFamily="49" charset="0"/>
              </a:rPr>
              <a:t> </a:t>
            </a:r>
            <a:r>
              <a:rPr lang="en-SG" sz="1000" b="0">
                <a:solidFill>
                  <a:srgbClr val="DCDCAA"/>
                </a:solidFill>
                <a:effectLst/>
                <a:latin typeface="JetBrains Mono" panose="02000009000000000000" pitchFamily="49" charset="0"/>
              </a:rPr>
              <a:t>producer</a:t>
            </a:r>
            <a:r>
              <a:rPr lang="en-SG" sz="1000" b="0">
                <a:solidFill>
                  <a:srgbClr val="CCCCCC"/>
                </a:solidFill>
                <a:effectLst/>
                <a:latin typeface="JetBrains Mono" panose="02000009000000000000" pitchFamily="49" charset="0"/>
              </a:rPr>
              <a:t>() {</a:t>
            </a:r>
          </a:p>
          <a:p>
            <a:pPr>
              <a:lnSpc>
                <a:spcPts val="1425"/>
              </a:lnSpc>
              <a:buNone/>
            </a:pPr>
            <a:r>
              <a:rPr lang="en-SG" sz="1000" b="0">
                <a:solidFill>
                  <a:srgbClr val="6A9955"/>
                </a:solidFill>
                <a:effectLst/>
                <a:latin typeface="JetBrains Mono" panose="02000009000000000000" pitchFamily="49" charset="0"/>
              </a:rPr>
              <a:t>  // Still needs atomic CAS (multiple producers)</a:t>
            </a: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CCCCCC"/>
                </a:solidFill>
                <a:effectLst/>
                <a:latin typeface="JetBrains Mono" panose="02000009000000000000" pitchFamily="49" charset="0"/>
              </a:rPr>
              <a:t>  </a:t>
            </a:r>
            <a:r>
              <a:rPr lang="en-SG" sz="1000" b="0" err="1">
                <a:solidFill>
                  <a:srgbClr val="DCDCAA"/>
                </a:solidFill>
                <a:effectLst/>
                <a:latin typeface="JetBrains Mono" panose="02000009000000000000" pitchFamily="49" charset="0"/>
              </a:rPr>
              <a:t>mpsc_push</a:t>
            </a:r>
            <a:r>
              <a:rPr lang="en-SG" sz="1000" b="0">
                <a:solidFill>
                  <a:srgbClr val="CCCCCC"/>
                </a:solidFill>
                <a:effectLst/>
                <a:latin typeface="JetBrains Mono" panose="02000009000000000000" pitchFamily="49" charset="0"/>
              </a:rPr>
              <a:t>(</a:t>
            </a:r>
            <a:r>
              <a:rPr lang="en-SG" sz="1000" b="0">
                <a:solidFill>
                  <a:srgbClr val="D4D4D4"/>
                </a:solidFill>
                <a:effectLst/>
                <a:latin typeface="JetBrains Mono" panose="02000009000000000000" pitchFamily="49" charset="0"/>
              </a:rPr>
              <a:t>&amp;</a:t>
            </a:r>
            <a:r>
              <a:rPr lang="en-SG" sz="1000" b="0">
                <a:solidFill>
                  <a:srgbClr val="CCCCCC"/>
                </a:solidFill>
                <a:effectLst/>
                <a:latin typeface="JetBrains Mono" panose="02000009000000000000" pitchFamily="49" charset="0"/>
              </a:rPr>
              <a:t>q, ...);</a:t>
            </a:r>
          </a:p>
          <a:p>
            <a:pPr>
              <a:lnSpc>
                <a:spcPts val="1425"/>
              </a:lnSpc>
              <a:buNone/>
            </a:pPr>
            <a:r>
              <a:rPr lang="en-SG" sz="1000" b="0">
                <a:solidFill>
                  <a:srgbClr val="CCCCCC"/>
                </a:solidFill>
                <a:effectLst/>
                <a:latin typeface="JetBrains Mono" panose="02000009000000000000" pitchFamily="49" charset="0"/>
              </a:rPr>
              <a:t>}</a:t>
            </a:r>
            <a:br>
              <a:rPr lang="en-SG" sz="1000" b="0">
                <a:solidFill>
                  <a:srgbClr val="CCCCCC"/>
                </a:solidFill>
                <a:effectLst/>
                <a:latin typeface="JetBrains Mono" panose="02000009000000000000" pitchFamily="49" charset="0"/>
              </a:rPr>
            </a:b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569CD6"/>
                </a:solidFill>
                <a:effectLst/>
                <a:latin typeface="JetBrains Mono" panose="02000009000000000000" pitchFamily="49" charset="0"/>
              </a:rPr>
              <a:t>void</a:t>
            </a:r>
            <a:r>
              <a:rPr lang="en-SG" sz="1000" b="0">
                <a:solidFill>
                  <a:srgbClr val="CCCCCC"/>
                </a:solidFill>
                <a:effectLst/>
                <a:latin typeface="JetBrains Mono" panose="02000009000000000000" pitchFamily="49" charset="0"/>
              </a:rPr>
              <a:t> </a:t>
            </a:r>
            <a:r>
              <a:rPr lang="en-SG" sz="1000" b="0">
                <a:solidFill>
                  <a:srgbClr val="DCDCAA"/>
                </a:solidFill>
                <a:effectLst/>
                <a:latin typeface="JetBrains Mono" panose="02000009000000000000" pitchFamily="49" charset="0"/>
              </a:rPr>
              <a:t>consumer</a:t>
            </a:r>
            <a:r>
              <a:rPr lang="en-SG" sz="1000" b="0">
                <a:solidFill>
                  <a:srgbClr val="CCCCCC"/>
                </a:solidFill>
                <a:effectLst/>
                <a:latin typeface="JetBrains Mono" panose="02000009000000000000" pitchFamily="49" charset="0"/>
              </a:rPr>
              <a:t>() {</a:t>
            </a:r>
          </a:p>
          <a:p>
            <a:pPr>
              <a:lnSpc>
                <a:spcPts val="1425"/>
              </a:lnSpc>
              <a:buNone/>
            </a:pPr>
            <a:r>
              <a:rPr lang="en-SG" sz="1000" b="0">
                <a:solidFill>
                  <a:srgbClr val="6A9955"/>
                </a:solidFill>
                <a:effectLst/>
                <a:latin typeface="JetBrains Mono" panose="02000009000000000000" pitchFamily="49" charset="0"/>
              </a:rPr>
              <a:t>  // Wait-free! No locks, just atomic load of tail.</a:t>
            </a: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6A9955"/>
                </a:solidFill>
                <a:effectLst/>
                <a:latin typeface="JetBrains Mono" panose="02000009000000000000" pitchFamily="49" charset="0"/>
              </a:rPr>
              <a:t>  // Huge performance gain.</a:t>
            </a:r>
            <a:endParaRPr lang="en-SG" sz="1000" b="0">
              <a:solidFill>
                <a:srgbClr val="CCCCCC"/>
              </a:solidFill>
              <a:effectLst/>
              <a:latin typeface="JetBrains Mono" panose="02000009000000000000" pitchFamily="49" charset="0"/>
            </a:endParaRPr>
          </a:p>
          <a:p>
            <a:pPr>
              <a:lnSpc>
                <a:spcPts val="1425"/>
              </a:lnSpc>
              <a:buNone/>
            </a:pPr>
            <a:r>
              <a:rPr lang="en-SG" sz="1000" b="0">
                <a:solidFill>
                  <a:srgbClr val="CCCCCC"/>
                </a:solidFill>
                <a:effectLst/>
                <a:latin typeface="JetBrains Mono" panose="02000009000000000000" pitchFamily="49" charset="0"/>
              </a:rPr>
              <a:t>  </a:t>
            </a:r>
            <a:r>
              <a:rPr lang="en-SG" sz="1000" b="0" err="1">
                <a:solidFill>
                  <a:srgbClr val="DCDCAA"/>
                </a:solidFill>
                <a:effectLst/>
                <a:latin typeface="JetBrains Mono" panose="02000009000000000000" pitchFamily="49" charset="0"/>
              </a:rPr>
              <a:t>mpsc_pop_unsafe</a:t>
            </a:r>
            <a:r>
              <a:rPr lang="en-SG" sz="1000" b="0">
                <a:solidFill>
                  <a:srgbClr val="CCCCCC"/>
                </a:solidFill>
                <a:effectLst/>
                <a:latin typeface="JetBrains Mono" panose="02000009000000000000" pitchFamily="49" charset="0"/>
              </a:rPr>
              <a:t>(</a:t>
            </a:r>
            <a:r>
              <a:rPr lang="en-SG" sz="1000" b="0">
                <a:solidFill>
                  <a:srgbClr val="D4D4D4"/>
                </a:solidFill>
                <a:effectLst/>
                <a:latin typeface="JetBrains Mono" panose="02000009000000000000" pitchFamily="49" charset="0"/>
              </a:rPr>
              <a:t>&amp;</a:t>
            </a:r>
            <a:r>
              <a:rPr lang="en-SG" sz="1000" b="0">
                <a:solidFill>
                  <a:srgbClr val="CCCCCC"/>
                </a:solidFill>
                <a:effectLst/>
                <a:latin typeface="JetBrains Mono" panose="02000009000000000000" pitchFamily="49" charset="0"/>
              </a:rPr>
              <a:t>q);</a:t>
            </a:r>
          </a:p>
          <a:p>
            <a:pPr>
              <a:lnSpc>
                <a:spcPts val="1425"/>
              </a:lnSpc>
              <a:buNone/>
            </a:pPr>
            <a:r>
              <a:rPr lang="en-SG" sz="1000" b="0">
                <a:solidFill>
                  <a:srgbClr val="CCCCCC"/>
                </a:solidFill>
                <a:effectLst/>
                <a:latin typeface="JetBrains Mono" panose="02000009000000000000" pitchFamily="49" charset="0"/>
              </a:rPr>
              <a:t>}</a:t>
            </a:r>
          </a:p>
        </p:txBody>
      </p:sp>
    </p:spTree>
    <p:extLst>
      <p:ext uri="{BB962C8B-B14F-4D97-AF65-F5344CB8AC3E}">
        <p14:creationId xmlns:p14="http://schemas.microsoft.com/office/powerpoint/2010/main" val="18272206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70D3ED74-37D9-DDAB-CD9C-9085926BD08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1451ADA-CC7B-6621-CF60-042E0C2FE2BF}"/>
              </a:ext>
            </a:extLst>
          </p:cNvPr>
          <p:cNvSpPr txBox="1"/>
          <p:nvPr/>
        </p:nvSpPr>
        <p:spPr>
          <a:xfrm>
            <a:off x="1008491" y="1236947"/>
            <a:ext cx="8726556" cy="1015663"/>
          </a:xfrm>
          <a:prstGeom prst="rect">
            <a:avLst/>
          </a:prstGeom>
          <a:noFill/>
        </p:spPr>
        <p:txBody>
          <a:bodyPr wrap="square">
            <a:spAutoFit/>
          </a:bodyPr>
          <a:lstStyle/>
          <a:p>
            <a:r>
              <a:rPr lang="en-US" sz="6000">
                <a:solidFill>
                  <a:schemeClr val="bg1"/>
                </a:solidFill>
                <a:latin typeface="Ubuntu Condensed" panose="020B0506030602030204" pitchFamily="34" charset="0"/>
              </a:rPr>
              <a:t>Safe memory reclamation</a:t>
            </a:r>
            <a:endParaRPr lang="ru-RU" sz="6000">
              <a:solidFill>
                <a:schemeClr val="bg1"/>
              </a:solidFill>
              <a:latin typeface="Ubuntu Condensed" panose="020B0506030602030204" pitchFamily="34" charset="0"/>
            </a:endParaRPr>
          </a:p>
        </p:txBody>
      </p:sp>
    </p:spTree>
    <p:extLst>
      <p:ext uri="{BB962C8B-B14F-4D97-AF65-F5344CB8AC3E}">
        <p14:creationId xmlns:p14="http://schemas.microsoft.com/office/powerpoint/2010/main" val="42588529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69A8F-3FE3-9BAF-7BF6-F0B94A8F90D1}"/>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09593558-7FDD-E38F-7344-BBAA4F7FD788}"/>
              </a:ext>
            </a:extLst>
          </p:cNvPr>
          <p:cNvSpPr txBox="1"/>
          <p:nvPr/>
        </p:nvSpPr>
        <p:spPr>
          <a:xfrm>
            <a:off x="233910" y="208621"/>
            <a:ext cx="7073670" cy="461665"/>
          </a:xfrm>
          <a:prstGeom prst="rect">
            <a:avLst/>
          </a:prstGeom>
          <a:solidFill>
            <a:srgbClr val="002060"/>
          </a:solidFill>
        </p:spPr>
        <p:txBody>
          <a:bodyPr wrap="square" rtlCol="0">
            <a:spAutoFit/>
          </a:bodyPr>
          <a:lstStyle/>
          <a:p>
            <a:r>
              <a:rPr lang="en-US" sz="2400">
                <a:solidFill>
                  <a:schemeClr val="bg1"/>
                </a:solidFill>
                <a:latin typeface="Ubuntu Condensed" panose="020B0506030602030204" pitchFamily="34" charset="0"/>
              </a:rPr>
              <a:t>Why SMR matters in production</a:t>
            </a:r>
            <a:endParaRPr lang="ru-RU" sz="2400">
              <a:solidFill>
                <a:schemeClr val="bg1"/>
              </a:solidFill>
              <a:latin typeface="Ubuntu Condensed" panose="020B0506030602030204" pitchFamily="34" charset="0"/>
            </a:endParaRPr>
          </a:p>
        </p:txBody>
      </p:sp>
      <p:sp>
        <p:nvSpPr>
          <p:cNvPr id="7" name="Номер слайда 7">
            <a:extLst>
              <a:ext uri="{FF2B5EF4-FFF2-40B4-BE49-F238E27FC236}">
                <a16:creationId xmlns:a16="http://schemas.microsoft.com/office/drawing/2014/main" id="{9A12A22D-C438-B0AB-1F9E-99DFB35229D9}"/>
              </a:ext>
            </a:extLst>
          </p:cNvPr>
          <p:cNvSpPr>
            <a:spLocks noGrp="1"/>
          </p:cNvSpPr>
          <p:nvPr>
            <p:ph type="sldNum" sz="quarter" idx="12"/>
          </p:nvPr>
        </p:nvSpPr>
        <p:spPr>
          <a:xfrm>
            <a:off x="11725835" y="6402070"/>
            <a:ext cx="386155" cy="365125"/>
          </a:xfrm>
        </p:spPr>
        <p:txBody>
          <a:bodyPr/>
          <a:lstStyle/>
          <a:p>
            <a:pPr algn="ctr"/>
            <a:fld id="{E757BAED-F255-4CF1-96BA-8D7417A9C3BC}" type="slidenum">
              <a:rPr lang="ru-RU" sz="1800" smtClean="0">
                <a:latin typeface="Ubuntu Condensed" panose="020B0506030602030204" pitchFamily="34" charset="0"/>
              </a:rPr>
              <a:pPr algn="ctr"/>
              <a:t>28</a:t>
            </a:fld>
            <a:endParaRPr lang="ru-RU" sz="1800">
              <a:latin typeface="Ubuntu Condensed" panose="020B0506030602030204" pitchFamily="34" charset="0"/>
            </a:endParaRPr>
          </a:p>
        </p:txBody>
      </p:sp>
      <p:sp>
        <p:nvSpPr>
          <p:cNvPr id="6" name="TextBox 5">
            <a:extLst>
              <a:ext uri="{FF2B5EF4-FFF2-40B4-BE49-F238E27FC236}">
                <a16:creationId xmlns:a16="http://schemas.microsoft.com/office/drawing/2014/main" id="{60893C6B-3569-A04D-64EF-0DB4E34CEDC9}"/>
              </a:ext>
            </a:extLst>
          </p:cNvPr>
          <p:cNvSpPr txBox="1"/>
          <p:nvPr/>
        </p:nvSpPr>
        <p:spPr>
          <a:xfrm>
            <a:off x="233910" y="843340"/>
            <a:ext cx="11546084" cy="5509200"/>
          </a:xfrm>
          <a:prstGeom prst="rect">
            <a:avLst/>
          </a:prstGeom>
          <a:noFill/>
        </p:spPr>
        <p:txBody>
          <a:bodyPr wrap="square">
            <a:spAutoFit/>
          </a:bodyPr>
          <a:lstStyle/>
          <a:p>
            <a:pPr>
              <a:buNone/>
            </a:pPr>
            <a:r>
              <a:rPr lang="en-SG" sz="1600" b="1"/>
              <a:t>RCU — ubiquitous in Linux:</a:t>
            </a:r>
            <a:br>
              <a:rPr lang="en-SG" sz="1600"/>
            </a:br>
            <a:r>
              <a:rPr lang="en-SG" sz="1600"/>
              <a:t>The survey by McKenney/Boyd-Wickizer shows that over a decade, RCU has become a fundamental kernel synchronization mechanism (thousands of uses), and understanding RCU is “a prerequisite” for understanding Linux performance; the official </a:t>
            </a:r>
            <a:r>
              <a:rPr lang="en-SG" sz="1600" i="1"/>
              <a:t>RCU Handbook</a:t>
            </a:r>
            <a:r>
              <a:rPr lang="en-SG" sz="1600"/>
              <a:t> documents API, memory guarantees, and engineering practices (barriers, grace periods, callback offloading). </a:t>
            </a:r>
            <a:r>
              <a:rPr lang="en-SG" sz="1600">
                <a:hlinkClick r:id="rId2"/>
              </a:rPr>
              <a:t>[pdos.csail.mit.edu]</a:t>
            </a:r>
            <a:r>
              <a:rPr lang="en-SG" sz="1600"/>
              <a:t>, </a:t>
            </a:r>
            <a:r>
              <a:rPr lang="en-SG" sz="1600">
                <a:hlinkClick r:id="rId3"/>
              </a:rPr>
              <a:t>[kernel.org]</a:t>
            </a:r>
            <a:endParaRPr lang="en-SG" sz="1600"/>
          </a:p>
          <a:p>
            <a:pPr>
              <a:buNone/>
            </a:pPr>
            <a:r>
              <a:rPr lang="en-SG" sz="1600">
                <a:solidFill>
                  <a:srgbClr val="6600FF"/>
                </a:solidFill>
              </a:rPr>
              <a:t>RCU – is the part of C++26 standard library [</a:t>
            </a:r>
            <a:r>
              <a:rPr lang="en-SG" sz="1600">
                <a:solidFill>
                  <a:srgbClr val="0563C1"/>
                </a:solidFill>
                <a:hlinkClick r:id="rId4">
                  <a:extLst>
                    <a:ext uri="{A12FA001-AC4F-418D-AE19-62706E023703}">
                      <ahyp:hlinkClr xmlns:ahyp="http://schemas.microsoft.com/office/drawing/2018/hyperlinkcolor" val="tx"/>
                    </a:ext>
                  </a:extLst>
                </a:hlinkClick>
              </a:rPr>
              <a:t>https://en.cppreference.com/w/cpp/header/rcu.</a:t>
            </a:r>
            <a:r>
              <a:rPr lang="en-SG" sz="1600">
                <a:solidFill>
                  <a:srgbClr val="6600FF"/>
                </a:solidFill>
                <a:hlinkClick r:id="rId4">
                  <a:extLst>
                    <a:ext uri="{A12FA001-AC4F-418D-AE19-62706E023703}">
                      <ahyp:hlinkClr xmlns:ahyp="http://schemas.microsoft.com/office/drawing/2018/hyperlinkcolor" val="tx"/>
                    </a:ext>
                  </a:extLst>
                </a:hlinkClick>
              </a:rPr>
              <a:t>html</a:t>
            </a:r>
            <a:r>
              <a:rPr lang="en-SG" sz="1600">
                <a:solidFill>
                  <a:srgbClr val="6600FF"/>
                </a:solidFill>
              </a:rPr>
              <a:t>]</a:t>
            </a:r>
            <a:endParaRPr lang="ru-RU" sz="1600">
              <a:solidFill>
                <a:srgbClr val="6600FF"/>
              </a:solidFill>
            </a:endParaRPr>
          </a:p>
          <a:p>
            <a:pPr>
              <a:buNone/>
            </a:pPr>
            <a:endParaRPr lang="en-SG" sz="1600"/>
          </a:p>
          <a:p>
            <a:pPr>
              <a:buNone/>
            </a:pPr>
            <a:r>
              <a:rPr lang="en-SG" sz="1600" b="1"/>
              <a:t>Support in commercial distributions:</a:t>
            </a:r>
            <a:br>
              <a:rPr lang="en-SG" sz="1600"/>
            </a:br>
            <a:r>
              <a:rPr lang="en-SG" sz="1600"/>
              <a:t>Red Hat documents RCU tuning (callback offloading, housekeeping CPUs), which is typical for operational production environments where latency and “noisy </a:t>
            </a:r>
            <a:r>
              <a:rPr lang="en-SG" sz="1600" err="1"/>
              <a:t>neighbor</a:t>
            </a:r>
            <a:r>
              <a:rPr lang="en-SG" sz="1600"/>
              <a:t>” issues are real. </a:t>
            </a:r>
            <a:r>
              <a:rPr lang="ru-RU" sz="1600">
                <a:hlinkClick r:id="rId5"/>
              </a:rPr>
              <a:t>[</a:t>
            </a:r>
            <a:r>
              <a:rPr lang="en-SG" sz="1600">
                <a:hlinkClick r:id="rId5"/>
              </a:rPr>
              <a:t>docs.redhat.com]</a:t>
            </a:r>
            <a:endParaRPr lang="ru-RU" sz="1600"/>
          </a:p>
          <a:p>
            <a:pPr>
              <a:buNone/>
            </a:pPr>
            <a:endParaRPr lang="ru-RU" sz="1600" b="1">
              <a:solidFill>
                <a:srgbClr val="6600FF"/>
              </a:solidFill>
            </a:endParaRPr>
          </a:p>
          <a:p>
            <a:pPr>
              <a:buNone/>
            </a:pPr>
            <a:r>
              <a:rPr lang="en-SG" sz="1600" b="1">
                <a:solidFill>
                  <a:srgbClr val="6600FF"/>
                </a:solidFill>
              </a:rPr>
              <a:t>Standardization in C++:</a:t>
            </a:r>
            <a:br>
              <a:rPr lang="en-SG" sz="1600">
                <a:solidFill>
                  <a:srgbClr val="6600FF"/>
                </a:solidFill>
              </a:rPr>
            </a:br>
            <a:r>
              <a:rPr lang="en-SG" sz="1600">
                <a:solidFill>
                  <a:srgbClr val="6600FF"/>
                </a:solidFill>
              </a:rPr>
              <a:t>Hazard pointers are included in C++26 (WG21 P2530R3) based on years of production use in Facebook Folly, moving SMR from “research technique” to a language-level feature; </a:t>
            </a:r>
            <a:r>
              <a:rPr lang="en-SG" sz="1600">
                <a:solidFill>
                  <a:srgbClr val="6600FF"/>
                </a:solidFill>
                <a:latin typeface="Courier New" panose="02070309020205020404" pitchFamily="49" charset="0"/>
              </a:rPr>
              <a:t>&lt;</a:t>
            </a:r>
            <a:r>
              <a:rPr lang="en-SG" sz="1600" err="1">
                <a:solidFill>
                  <a:srgbClr val="6600FF"/>
                </a:solidFill>
                <a:latin typeface="Courier New" panose="02070309020205020404" pitchFamily="49" charset="0"/>
              </a:rPr>
              <a:t>hazard_pointer</a:t>
            </a:r>
            <a:r>
              <a:rPr lang="en-SG" sz="1600">
                <a:solidFill>
                  <a:srgbClr val="6600FF"/>
                </a:solidFill>
                <a:latin typeface="Courier New" panose="02070309020205020404" pitchFamily="49" charset="0"/>
              </a:rPr>
              <a:t>&gt;</a:t>
            </a:r>
            <a:r>
              <a:rPr lang="en-SG" sz="1600">
                <a:solidFill>
                  <a:srgbClr val="6600FF"/>
                </a:solidFill>
              </a:rPr>
              <a:t> is part of the standard library.</a:t>
            </a:r>
            <a:r>
              <a:rPr lang="ru-RU" sz="1600"/>
              <a:t> </a:t>
            </a:r>
            <a:r>
              <a:rPr lang="ru-RU" sz="1600">
                <a:hlinkClick r:id="rId6"/>
              </a:rPr>
              <a:t>[</a:t>
            </a:r>
            <a:r>
              <a:rPr lang="en-SG" sz="1600">
                <a:hlinkClick r:id="rId6"/>
              </a:rPr>
              <a:t>open-std.org]</a:t>
            </a:r>
            <a:r>
              <a:rPr lang="en-SG" sz="1600"/>
              <a:t>, </a:t>
            </a:r>
            <a:r>
              <a:rPr lang="en-SG" sz="1600">
                <a:hlinkClick r:id="rId7"/>
              </a:rPr>
              <a:t>[en.cppreference.com]</a:t>
            </a:r>
            <a:endParaRPr lang="ru-RU" sz="1600">
              <a:solidFill>
                <a:srgbClr val="6600FF"/>
              </a:solidFill>
            </a:endParaRPr>
          </a:p>
          <a:p>
            <a:pPr>
              <a:buNone/>
            </a:pPr>
            <a:endParaRPr lang="en-SG" sz="1600"/>
          </a:p>
          <a:p>
            <a:pPr>
              <a:buNone/>
            </a:pPr>
            <a:r>
              <a:rPr lang="en-SG" sz="1600" b="1"/>
              <a:t>Major production libraries:</a:t>
            </a:r>
            <a:br>
              <a:rPr lang="en-SG" sz="1600"/>
            </a:br>
            <a:r>
              <a:rPr lang="en-SG" sz="1600"/>
              <a:t>The HP implementation in Folly — “heavy use in production since 2017” (WG21 wording) — confirms the maturity of the approach and its demand beyond the OS kernel. </a:t>
            </a:r>
            <a:r>
              <a:rPr lang="ru-RU" sz="1600">
                <a:hlinkClick r:id="rId6"/>
              </a:rPr>
              <a:t>[open-std.org]</a:t>
            </a:r>
            <a:endParaRPr lang="ru-RU" sz="1600"/>
          </a:p>
          <a:p>
            <a:pPr>
              <a:buNone/>
            </a:pPr>
            <a:endParaRPr lang="ru-RU" sz="1600"/>
          </a:p>
          <a:p>
            <a:pPr>
              <a:buNone/>
            </a:pPr>
            <a:r>
              <a:rPr lang="en-SG" sz="1600" b="1"/>
              <a:t>Rust ecosystem:</a:t>
            </a:r>
            <a:br>
              <a:rPr lang="en-SG" sz="1600"/>
            </a:br>
            <a:r>
              <a:rPr lang="en-SG" sz="1600"/>
              <a:t>EBR in </a:t>
            </a:r>
            <a:r>
              <a:rPr lang="en-SG" sz="1600">
                <a:latin typeface="Courier New" panose="02070309020205020404" pitchFamily="49" charset="0"/>
              </a:rPr>
              <a:t>crossbeam-epoch</a:t>
            </a:r>
            <a:r>
              <a:rPr lang="en-SG" sz="1600"/>
              <a:t> is the de facto standard for lock-free structures in Rust; documentation and community articles describe the “pin → access → defer/free” model and practical reclamation scheduling. </a:t>
            </a:r>
            <a:r>
              <a:rPr lang="ru-RU" sz="1600">
                <a:hlinkClick r:id="rId8"/>
              </a:rPr>
              <a:t>[</a:t>
            </a:r>
            <a:r>
              <a:rPr lang="en-SG" sz="1600">
                <a:hlinkClick r:id="rId8"/>
              </a:rPr>
              <a:t>github.com]</a:t>
            </a:r>
            <a:r>
              <a:rPr lang="en-SG" sz="1600"/>
              <a:t>, </a:t>
            </a:r>
            <a:r>
              <a:rPr lang="en-SG" sz="1600">
                <a:hlinkClick r:id="rId9"/>
              </a:rPr>
              <a:t>[docs.rs] </a:t>
            </a:r>
            <a:endParaRPr lang="ru-RU" sz="1600"/>
          </a:p>
        </p:txBody>
      </p:sp>
    </p:spTree>
    <p:extLst>
      <p:ext uri="{BB962C8B-B14F-4D97-AF65-F5344CB8AC3E}">
        <p14:creationId xmlns:p14="http://schemas.microsoft.com/office/powerpoint/2010/main" val="9022052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138D6-561B-FE66-CFC9-F80E147CFFAD}"/>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2ED0F240-26E3-7D9D-6662-04B2A3090177}"/>
              </a:ext>
            </a:extLst>
          </p:cNvPr>
          <p:cNvSpPr txBox="1"/>
          <p:nvPr/>
        </p:nvSpPr>
        <p:spPr>
          <a:xfrm>
            <a:off x="233910" y="208621"/>
            <a:ext cx="7073670" cy="461665"/>
          </a:xfrm>
          <a:prstGeom prst="rect">
            <a:avLst/>
          </a:prstGeom>
          <a:solidFill>
            <a:srgbClr val="002060"/>
          </a:solidFill>
        </p:spPr>
        <p:txBody>
          <a:bodyPr wrap="square" rtlCol="0">
            <a:spAutoFit/>
          </a:bodyPr>
          <a:lstStyle/>
          <a:p>
            <a:r>
              <a:rPr lang="en-US" sz="2400">
                <a:solidFill>
                  <a:schemeClr val="bg1"/>
                </a:solidFill>
                <a:latin typeface="Ubuntu Condensed" panose="020B0506030602030204" pitchFamily="34" charset="0"/>
              </a:rPr>
              <a:t>Why SMR matters in production</a:t>
            </a:r>
            <a:r>
              <a:rPr lang="ru-RU" sz="2400">
                <a:solidFill>
                  <a:schemeClr val="bg1"/>
                </a:solidFill>
                <a:latin typeface="Ubuntu Condensed" panose="020B0506030602030204" pitchFamily="34" charset="0"/>
              </a:rPr>
              <a:t> – </a:t>
            </a:r>
            <a:r>
              <a:rPr lang="en-US" sz="2400">
                <a:solidFill>
                  <a:schemeClr val="bg1"/>
                </a:solidFill>
                <a:latin typeface="Ubuntu Condensed" panose="020B0506030602030204" pitchFamily="34" charset="0"/>
              </a:rPr>
              <a:t>publications</a:t>
            </a:r>
            <a:endParaRPr lang="ru-RU" sz="2400">
              <a:solidFill>
                <a:schemeClr val="bg1"/>
              </a:solidFill>
              <a:latin typeface="Ubuntu Condensed" panose="020B0506030602030204" pitchFamily="34" charset="0"/>
            </a:endParaRPr>
          </a:p>
        </p:txBody>
      </p:sp>
      <p:sp>
        <p:nvSpPr>
          <p:cNvPr id="7" name="Номер слайда 7">
            <a:extLst>
              <a:ext uri="{FF2B5EF4-FFF2-40B4-BE49-F238E27FC236}">
                <a16:creationId xmlns:a16="http://schemas.microsoft.com/office/drawing/2014/main" id="{2CCDFB0B-6FE0-30DF-F1C9-E6DD29F0BDF6}"/>
              </a:ext>
            </a:extLst>
          </p:cNvPr>
          <p:cNvSpPr>
            <a:spLocks noGrp="1"/>
          </p:cNvSpPr>
          <p:nvPr>
            <p:ph type="sldNum" sz="quarter" idx="12"/>
          </p:nvPr>
        </p:nvSpPr>
        <p:spPr>
          <a:xfrm>
            <a:off x="11725835" y="6402070"/>
            <a:ext cx="386155" cy="365125"/>
          </a:xfrm>
        </p:spPr>
        <p:txBody>
          <a:bodyPr/>
          <a:lstStyle/>
          <a:p>
            <a:pPr algn="ctr"/>
            <a:fld id="{E757BAED-F255-4CF1-96BA-8D7417A9C3BC}" type="slidenum">
              <a:rPr lang="ru-RU" sz="1800" smtClean="0">
                <a:latin typeface="Ubuntu Condensed" panose="020B0506030602030204" pitchFamily="34" charset="0"/>
              </a:rPr>
              <a:pPr algn="ctr"/>
              <a:t>29</a:t>
            </a:fld>
            <a:endParaRPr lang="ru-RU" sz="1800">
              <a:latin typeface="Ubuntu Condensed" panose="020B0506030602030204" pitchFamily="34" charset="0"/>
            </a:endParaRPr>
          </a:p>
        </p:txBody>
      </p:sp>
      <p:sp>
        <p:nvSpPr>
          <p:cNvPr id="5" name="Rectangle 2">
            <a:extLst>
              <a:ext uri="{FF2B5EF4-FFF2-40B4-BE49-F238E27FC236}">
                <a16:creationId xmlns:a16="http://schemas.microsoft.com/office/drawing/2014/main" id="{FD02F10B-3CC0-4016-408D-FB4D5489132A}"/>
              </a:ext>
            </a:extLst>
          </p:cNvPr>
          <p:cNvSpPr>
            <a:spLocks noChangeArrowheads="1"/>
          </p:cNvSpPr>
          <p:nvPr/>
        </p:nvSpPr>
        <p:spPr bwMode="auto">
          <a:xfrm>
            <a:off x="233910" y="790399"/>
            <a:ext cx="11491925" cy="5447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mj-lt"/>
              <a:buAutoNum type="arabicPeriod"/>
            </a:pPr>
            <a:r>
              <a:rPr kumimoji="0" lang="en-US" altLang="en-US" sz="1200" b="1" i="0" u="none" strike="noStrike" cap="none" normalizeH="0" baseline="0">
                <a:ln>
                  <a:noFill/>
                </a:ln>
                <a:solidFill>
                  <a:schemeClr val="tx1"/>
                </a:solidFill>
                <a:effectLst/>
              </a:rPr>
              <a:t>EBR vs. allocators: “batch free can be harmful”</a:t>
            </a:r>
            <a:br>
              <a:rPr kumimoji="0" lang="en-US" altLang="en-US" sz="1200" b="0" i="0" u="none" strike="noStrike" cap="none" normalizeH="0" baseline="0">
                <a:ln>
                  <a:noFill/>
                </a:ln>
                <a:solidFill>
                  <a:schemeClr val="tx1"/>
                </a:solidFill>
                <a:effectLst/>
              </a:rPr>
            </a:br>
            <a:r>
              <a:rPr kumimoji="0" lang="en-US" altLang="en-US" sz="1200" b="0" i="0" u="none" strike="noStrike" cap="none" normalizeH="0" baseline="0">
                <a:ln>
                  <a:noFill/>
                </a:ln>
                <a:solidFill>
                  <a:schemeClr val="tx1"/>
                </a:solidFill>
                <a:effectLst/>
              </a:rPr>
              <a:t>PPoPP’24 (Waterloo) shows that batch freeing, typical for EBR and some SMR algorithms, bypasses caching/amortization mechanisms in modern allocators → latency spikes and degradation; proposes simple “stretching” of frees over time and lightweight token-passing EBR, giving 1.5–2.6× speedup on a 192-thread machine. Full version — </a:t>
            </a:r>
            <a:r>
              <a:rPr kumimoji="0" lang="en-US" altLang="en-US" sz="1200" b="0" i="0" u="none" strike="noStrike" cap="none" normalizeH="0" baseline="0" err="1">
                <a:ln>
                  <a:noFill/>
                </a:ln>
                <a:solidFill>
                  <a:schemeClr val="tx1"/>
                </a:solidFill>
                <a:effectLst/>
              </a:rPr>
              <a:t>arXiv</a:t>
            </a:r>
            <a:r>
              <a:rPr kumimoji="0" lang="en-US" altLang="en-US" sz="1200" b="0" i="0" u="none" strike="noStrike" cap="none" normalizeH="0" baseline="0">
                <a:ln>
                  <a:noFill/>
                </a:ln>
                <a:solidFill>
                  <a:schemeClr val="tx1"/>
                </a:solidFill>
                <a:effectLst/>
              </a:rPr>
              <a:t>. </a:t>
            </a:r>
            <a:r>
              <a:rPr lang="en-SG" sz="1200">
                <a:hlinkClick r:id="rId2"/>
              </a:rPr>
              <a:t>[aturon.github.io]</a:t>
            </a:r>
            <a:r>
              <a:rPr lang="en-SG" sz="1200"/>
              <a:t>, </a:t>
            </a:r>
            <a:r>
              <a:rPr lang="en-SG" sz="1200">
                <a:hlinkClick r:id="rId3"/>
              </a:rPr>
              <a:t>[conf.researchr.org]</a:t>
            </a:r>
            <a:endParaRPr lang="en-SG" sz="1200"/>
          </a:p>
          <a:p>
            <a:pPr marL="0" marR="0" lvl="0" indent="0" algn="l" defTabSz="914400" rtl="0" eaLnBrk="0" fontAlgn="base" latinLnBrk="0" hangingPunct="0">
              <a:lnSpc>
                <a:spcPct val="100000"/>
              </a:lnSpc>
              <a:spcBef>
                <a:spcPct val="0"/>
              </a:spcBef>
              <a:spcAft>
                <a:spcPct val="0"/>
              </a:spcAft>
              <a:buClrTx/>
              <a:buSzTx/>
              <a:tabLst/>
            </a:pPr>
            <a:endParaRPr kumimoji="0" lang="en-US" altLang="en-US" sz="1200" b="1" i="0" u="none" strike="noStrike" cap="none" normalizeH="0" baseline="0">
              <a:ln>
                <a:noFill/>
              </a:ln>
              <a:solidFill>
                <a:schemeClr val="tx1"/>
              </a:solidFill>
              <a:effectLst/>
            </a:endParaRPr>
          </a:p>
          <a:p>
            <a:r>
              <a:rPr lang="en-US" altLang="en-US" sz="1200" b="1"/>
              <a:t>2. </a:t>
            </a:r>
            <a:r>
              <a:rPr kumimoji="0" lang="en-US" altLang="en-US" sz="1200" b="1" i="0" u="none" strike="noStrike" cap="none" normalizeH="0" baseline="0">
                <a:ln>
                  <a:noFill/>
                </a:ln>
                <a:solidFill>
                  <a:schemeClr val="tx1"/>
                </a:solidFill>
                <a:effectLst/>
              </a:rPr>
              <a:t>“Publish-on-Ping” and NBR/NBR+: reducing fence overhead in HP/HE</a:t>
            </a:r>
            <a:br>
              <a:rPr kumimoji="0" lang="en-US" altLang="en-US" sz="1200" b="0" i="0" u="none" strike="noStrike" cap="none" normalizeH="0" baseline="0">
                <a:ln>
                  <a:noFill/>
                </a:ln>
                <a:solidFill>
                  <a:schemeClr val="tx1"/>
                </a:solidFill>
                <a:effectLst/>
              </a:rPr>
            </a:br>
            <a:r>
              <a:rPr kumimoji="0" lang="en-US" altLang="en-US" sz="1200" b="0" i="0" u="none" strike="noStrike" cap="none" normalizeH="0" baseline="0">
                <a:ln>
                  <a:noFill/>
                </a:ln>
                <a:solidFill>
                  <a:schemeClr val="tx1"/>
                </a:solidFill>
                <a:effectLst/>
              </a:rPr>
              <a:t>New line of work (Waterloo, 2024–2025): reactive publication of protected references on demand (via POSIX signals) — instead of eager publication before every read; as a drop-in replacement for HP/HE, gives 1.2–4× speedup, and </a:t>
            </a:r>
            <a:r>
              <a:rPr kumimoji="0" lang="en-US" altLang="en-US" sz="1200" b="0" i="0" u="none" strike="noStrike" cap="none" normalizeH="0" baseline="0" err="1">
                <a:ln>
                  <a:noFill/>
                </a:ln>
                <a:solidFill>
                  <a:schemeClr val="tx1"/>
                </a:solidFill>
                <a:effectLst/>
              </a:rPr>
              <a:t>EpochPOP</a:t>
            </a:r>
            <a:r>
              <a:rPr kumimoji="0" lang="en-US" altLang="en-US" sz="1200" b="0" i="0" u="none" strike="noStrike" cap="none" normalizeH="0" baseline="0">
                <a:ln>
                  <a:noFill/>
                </a:ln>
                <a:solidFill>
                  <a:schemeClr val="tx1"/>
                </a:solidFill>
                <a:effectLst/>
              </a:rPr>
              <a:t> approaches EBR while preserving HP robustness. </a:t>
            </a:r>
            <a:r>
              <a:rPr lang="en-SG" sz="1200">
                <a:hlinkClick r:id="rId4"/>
              </a:rPr>
              <a:t>[arxiv.org]</a:t>
            </a:r>
            <a:r>
              <a:rPr lang="en-SG" sz="1200"/>
              <a:t>, </a:t>
            </a:r>
            <a:r>
              <a:rPr lang="en-SG" sz="1200">
                <a:hlinkClick r:id="rId5"/>
              </a:rPr>
              <a:t>[arxiv.org]</a:t>
            </a:r>
            <a:endParaRPr lang="en-SG" sz="1200"/>
          </a:p>
          <a:p>
            <a:endParaRPr lang="en-SG" altLang="en-US" sz="1200"/>
          </a:p>
          <a:p>
            <a:r>
              <a:rPr kumimoji="0" lang="en-US" altLang="en-US" sz="1200" b="1" i="0" u="none" strike="noStrike" cap="none" normalizeH="0" baseline="0">
                <a:ln>
                  <a:noFill/>
                </a:ln>
                <a:solidFill>
                  <a:schemeClr val="tx1"/>
                </a:solidFill>
                <a:effectLst/>
              </a:rPr>
              <a:t>3. Formal specifications of HP/RCU based on Concurrent Separation Logic</a:t>
            </a:r>
            <a:br>
              <a:rPr kumimoji="0" lang="en-US" altLang="en-US" sz="1200" b="0" i="0" u="none" strike="noStrike" cap="none" normalizeH="0" baseline="0">
                <a:ln>
                  <a:noFill/>
                </a:ln>
                <a:solidFill>
                  <a:schemeClr val="tx1"/>
                </a:solidFill>
                <a:effectLst/>
              </a:rPr>
            </a:br>
            <a:r>
              <a:rPr kumimoji="0" lang="en-US" altLang="en-US" sz="1200" b="0" i="0" u="none" strike="noStrike" cap="none" normalizeH="0" baseline="0">
                <a:ln>
                  <a:noFill/>
                </a:ln>
                <a:solidFill>
                  <a:schemeClr val="tx1"/>
                </a:solidFill>
                <a:effectLst/>
              </a:rPr>
              <a:t>OOPSLA’23 formalizes modular specifications of HP and RCU (Iris/Coq) and for the first time shows verification of realistic structures together with reclamation (Harris/Harris-Michael list, Chase-Lev deque, RDCSS), paving the way for “type-state/contract” checks at compiler level. </a:t>
            </a:r>
            <a:r>
              <a:rPr lang="ru-RU" sz="1200">
                <a:hlinkClick r:id="rId6"/>
              </a:rPr>
              <a:t>[</a:t>
            </a:r>
            <a:r>
              <a:rPr lang="en-SG" sz="1200">
                <a:hlinkClick r:id="rId6"/>
              </a:rPr>
              <a:t>uwspace.uwaterloo.ca]</a:t>
            </a:r>
            <a:endParaRPr lang="en-SG" sz="1200"/>
          </a:p>
          <a:p>
            <a:pPr>
              <a:buFont typeface="+mj-lt"/>
              <a:buAutoNum type="arabicPeriod"/>
            </a:pPr>
            <a:endParaRPr lang="en-SG" sz="1200"/>
          </a:p>
          <a:p>
            <a:r>
              <a:rPr kumimoji="0" lang="en-US" altLang="en-US" sz="1200" b="1" i="0" u="none" strike="noStrike" cap="none" normalizeH="0" baseline="0">
                <a:ln>
                  <a:noFill/>
                </a:ln>
                <a:solidFill>
                  <a:schemeClr val="tx1"/>
                </a:solidFill>
                <a:effectLst/>
              </a:rPr>
              <a:t>4. Linearizability under weak memory — recipes and automation</a:t>
            </a:r>
            <a:br>
              <a:rPr kumimoji="0" lang="en-US" altLang="en-US" sz="1200" b="0" i="0" u="none" strike="noStrike" cap="none" normalizeH="0" baseline="0">
                <a:ln>
                  <a:noFill/>
                </a:ln>
                <a:solidFill>
                  <a:schemeClr val="tx1"/>
                </a:solidFill>
                <a:effectLst/>
              </a:rPr>
            </a:br>
            <a:r>
              <a:rPr kumimoji="0" lang="en-US" altLang="en-US" sz="1200" b="0" i="0" u="none" strike="noStrike" cap="none" normalizeH="0" baseline="0">
                <a:ln>
                  <a:noFill/>
                </a:ln>
                <a:solidFill>
                  <a:schemeClr val="tx1"/>
                </a:solidFill>
                <a:effectLst/>
              </a:rPr>
              <a:t>PLDI’24 (“Proof recipe … in relaxed memory separation logic”) — proof methodology for Michael-Scott queue, elimination stack, and Folly MPMC under RMC; POPL’25 (RELINCHE) — automatic linearizability checking under RMC (bounded but practically scalable). Not SMR per se, but critical for integrating SMR with real memory models and compiler transformations. </a:t>
            </a:r>
            <a:r>
              <a:rPr lang="ru-RU" sz="1200">
                <a:hlinkClick r:id="rId7"/>
              </a:rPr>
              <a:t>[</a:t>
            </a:r>
            <a:r>
              <a:rPr lang="en-SG" sz="1200">
                <a:hlinkClick r:id="rId7"/>
              </a:rPr>
              <a:t>iris-project.org]</a:t>
            </a:r>
            <a:r>
              <a:rPr lang="en-SG" sz="1200"/>
              <a:t>, </a:t>
            </a:r>
            <a:r>
              <a:rPr lang="en-SG" sz="1200">
                <a:hlinkClick r:id="rId8"/>
              </a:rPr>
              <a:t>[iris-project.org]</a:t>
            </a:r>
            <a:endParaRPr lang="en-SG" sz="1200"/>
          </a:p>
          <a:p>
            <a:pPr marL="0" marR="0" lvl="0" indent="0" algn="l" defTabSz="914400" rtl="0" eaLnBrk="0" fontAlgn="base" latinLnBrk="0" hangingPunct="0">
              <a:lnSpc>
                <a:spcPct val="100000"/>
              </a:lnSpc>
              <a:spcBef>
                <a:spcPct val="0"/>
              </a:spcBef>
              <a:spcAft>
                <a:spcPct val="0"/>
              </a:spcAft>
              <a:buClrTx/>
              <a:buSzTx/>
              <a:tabLst/>
            </a:pPr>
            <a:endParaRPr kumimoji="0" lang="en-US" altLang="en-US" sz="1200" b="1" i="0" u="none" strike="noStrike" cap="none" normalizeH="0" baseline="0">
              <a:ln>
                <a:noFill/>
              </a:ln>
              <a:solidFill>
                <a:schemeClr val="tx1"/>
              </a:solidFill>
              <a:effectLst/>
            </a:endParaRPr>
          </a:p>
          <a:p>
            <a:pPr lvl="0" eaLnBrk="0" fontAlgn="base" hangingPunct="0">
              <a:spcBef>
                <a:spcPct val="0"/>
              </a:spcBef>
              <a:spcAft>
                <a:spcPct val="0"/>
              </a:spcAft>
            </a:pPr>
            <a:r>
              <a:rPr kumimoji="0" lang="en-US" altLang="en-US" sz="1200" b="1" i="0" u="none" strike="noStrike" cap="none" normalizeH="0" baseline="0">
                <a:ln>
                  <a:noFill/>
                </a:ln>
                <a:solidFill>
                  <a:schemeClr val="tx1"/>
                </a:solidFill>
                <a:effectLst/>
              </a:rPr>
              <a:t>5. HP for optimistic traversals: validating “marked” nodes</a:t>
            </a:r>
            <a:br>
              <a:rPr kumimoji="0" lang="en-US" altLang="en-US" sz="1200" b="0" i="0" u="none" strike="noStrike" cap="none" normalizeH="0" baseline="0">
                <a:ln>
                  <a:noFill/>
                </a:ln>
                <a:solidFill>
                  <a:schemeClr val="tx1"/>
                </a:solidFill>
                <a:effectLst/>
              </a:rPr>
            </a:br>
            <a:r>
              <a:rPr kumimoji="0" lang="en-US" altLang="en-US" sz="1200" b="0" i="0" u="none" strike="noStrike" cap="none" normalizeH="0" baseline="0">
                <a:ln>
                  <a:noFill/>
                </a:ln>
                <a:solidFill>
                  <a:schemeClr val="tx1"/>
                </a:solidFill>
                <a:effectLst/>
              </a:rPr>
              <a:t>POPL’25 proposes HP validation strategy compatible with optimistic traversals of trees/lists/skip-lists, with correctness in Iris and competitive performance to state-of-the-art SMR. </a:t>
            </a:r>
            <a:r>
              <a:rPr lang="en-US" altLang="en-US" sz="1200">
                <a:hlinkClick r:id="rId9"/>
              </a:rPr>
              <a:t>[POPL]</a:t>
            </a:r>
            <a:endParaRPr lang="en-US" altLang="en-US" sz="1200"/>
          </a:p>
          <a:p>
            <a:pPr lvl="0" eaLnBrk="0" fontAlgn="base" hangingPunct="0">
              <a:spcBef>
                <a:spcPct val="0"/>
              </a:spcBef>
              <a:spcAft>
                <a:spcPct val="0"/>
              </a:spcAft>
            </a:pPr>
            <a:endParaRPr kumimoji="0" lang="en-US" altLang="en-US" sz="1200" b="1" i="0" u="none" strike="noStrike" cap="none" normalizeH="0" baseline="0">
              <a:ln>
                <a:noFill/>
              </a:ln>
              <a:solidFill>
                <a:schemeClr val="tx1"/>
              </a:solidFill>
              <a:effectLst/>
            </a:endParaRPr>
          </a:p>
          <a:p>
            <a:r>
              <a:rPr kumimoji="0" lang="en-US" altLang="en-US" sz="1200" b="1" i="0" u="none" strike="noStrike" cap="none" normalizeH="0" baseline="0">
                <a:ln>
                  <a:noFill/>
                </a:ln>
                <a:solidFill>
                  <a:schemeClr val="tx1"/>
                </a:solidFill>
                <a:effectLst/>
              </a:rPr>
              <a:t>6. Benchmarking SMR as infrastructure</a:t>
            </a:r>
            <a:br>
              <a:rPr kumimoji="0" lang="en-US" altLang="en-US" sz="1200" b="0" i="0" u="none" strike="noStrike" cap="none" normalizeH="0" baseline="0">
                <a:ln>
                  <a:noFill/>
                </a:ln>
                <a:solidFill>
                  <a:schemeClr val="tx1"/>
                </a:solidFill>
                <a:effectLst/>
              </a:rPr>
            </a:br>
            <a:r>
              <a:rPr kumimoji="0" lang="en-US" altLang="en-US" sz="1200" b="0" i="0" u="none" strike="noStrike" cap="none" normalizeH="0" baseline="0">
                <a:ln>
                  <a:noFill/>
                </a:ln>
                <a:solidFill>
                  <a:schemeClr val="tx1"/>
                </a:solidFill>
                <a:effectLst/>
              </a:rPr>
              <a:t>SMR-benchmark (KAIST) aggregates implementations of HP/HP++, HP-BRCU, NBR+, VBR, EBR/PEBR and a set of structures, useful for compiler regression and A/B evaluations. </a:t>
            </a:r>
            <a:r>
              <a:rPr lang="ru-RU" sz="1200">
                <a:hlinkClick r:id="rId10"/>
              </a:rPr>
              <a:t>[</a:t>
            </a:r>
            <a:r>
              <a:rPr lang="en-SG" sz="1200">
                <a:hlinkClick r:id="rId10"/>
              </a:rPr>
              <a:t>iris-project.org]</a:t>
            </a:r>
            <a:endParaRPr lang="en-SG" sz="1200"/>
          </a:p>
          <a:p>
            <a:pPr marL="0" marR="0" lvl="0" indent="0" algn="l" defTabSz="914400" rtl="0" eaLnBrk="0" fontAlgn="base" latinLnBrk="0" hangingPunct="0">
              <a:lnSpc>
                <a:spcPct val="100000"/>
              </a:lnSpc>
              <a:spcBef>
                <a:spcPct val="0"/>
              </a:spcBef>
              <a:spcAft>
                <a:spcPct val="0"/>
              </a:spcAft>
              <a:buClrTx/>
              <a:buSzTx/>
              <a:tabLst/>
            </a:pPr>
            <a:endParaRPr kumimoji="0" lang="en-US" altLang="en-US" sz="1200" b="0" i="0" u="none" strike="noStrike" cap="none" normalizeH="0" baseline="0">
              <a:ln>
                <a:noFill/>
              </a:ln>
              <a:solidFill>
                <a:schemeClr val="tx1"/>
              </a:solidFill>
              <a:effectLst/>
            </a:endParaRPr>
          </a:p>
          <a:p>
            <a:pPr lvl="0" eaLnBrk="0" fontAlgn="base" hangingPunct="0">
              <a:spcBef>
                <a:spcPct val="0"/>
              </a:spcBef>
              <a:spcAft>
                <a:spcPct val="0"/>
              </a:spcAft>
            </a:pPr>
            <a:r>
              <a:rPr kumimoji="0" lang="en-US" altLang="en-US" sz="1200" b="1" i="0" u="none" strike="noStrike" cap="none" normalizeH="0" baseline="0">
                <a:ln>
                  <a:noFill/>
                </a:ln>
                <a:solidFill>
                  <a:schemeClr val="tx1"/>
                </a:solidFill>
                <a:effectLst/>
              </a:rPr>
              <a:t>7. Structure-specific schemes</a:t>
            </a:r>
            <a:br>
              <a:rPr kumimoji="0" lang="en-US" altLang="en-US" sz="1200" b="0" i="0" u="none" strike="noStrike" cap="none" normalizeH="0" baseline="0">
                <a:ln>
                  <a:noFill/>
                </a:ln>
                <a:solidFill>
                  <a:schemeClr val="tx1"/>
                </a:solidFill>
                <a:effectLst/>
              </a:rPr>
            </a:br>
            <a:r>
              <a:rPr kumimoji="0" lang="en-US" altLang="en-US" sz="1200" b="0" i="0" u="none" strike="noStrike" cap="none" normalizeH="0" baseline="0">
                <a:ln>
                  <a:noFill/>
                </a:ln>
                <a:solidFill>
                  <a:schemeClr val="tx1"/>
                </a:solidFill>
                <a:effectLst/>
              </a:rPr>
              <a:t>Margin Pointers (PPoPP’21) for search structures: guaranteed bounded “garbage memory” with low overhead; useful where EBR/HP are hard to integrate into traversal algorithms. </a:t>
            </a:r>
            <a:r>
              <a:rPr lang="en-SG" sz="1200">
                <a:hlinkClick r:id="rId11"/>
              </a:rPr>
              <a:t>[github.com]</a:t>
            </a:r>
            <a:endParaRPr kumimoji="0" lang="en-US" altLang="en-US" sz="1200" b="0" i="0" u="none" strike="noStrike" cap="none" normalizeH="0" baseline="0">
              <a:ln>
                <a:noFill/>
              </a:ln>
              <a:solidFill>
                <a:schemeClr val="tx1"/>
              </a:solidFill>
              <a:effectLst/>
            </a:endParaRPr>
          </a:p>
        </p:txBody>
      </p:sp>
    </p:spTree>
    <p:extLst>
      <p:ext uri="{BB962C8B-B14F-4D97-AF65-F5344CB8AC3E}">
        <p14:creationId xmlns:p14="http://schemas.microsoft.com/office/powerpoint/2010/main" val="37917075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F6D72-08CB-9993-0EA7-F3FECB72E657}"/>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71460350-CDBE-0851-E0C7-81CCD19A4D10}"/>
              </a:ext>
            </a:extLst>
          </p:cNvPr>
          <p:cNvSpPr txBox="1"/>
          <p:nvPr/>
        </p:nvSpPr>
        <p:spPr>
          <a:xfrm>
            <a:off x="233910" y="208621"/>
            <a:ext cx="7073670" cy="461665"/>
          </a:xfrm>
          <a:prstGeom prst="rect">
            <a:avLst/>
          </a:prstGeom>
          <a:solidFill>
            <a:srgbClr val="002060"/>
          </a:solidFill>
        </p:spPr>
        <p:txBody>
          <a:bodyPr wrap="square" rtlCol="0">
            <a:spAutoFit/>
          </a:bodyPr>
          <a:lstStyle/>
          <a:p>
            <a:r>
              <a:rPr lang="en-US" sz="2400">
                <a:solidFill>
                  <a:schemeClr val="bg1"/>
                </a:solidFill>
                <a:latin typeface="Ubuntu Condensed" panose="020B0506030602030204" pitchFamily="34" charset="0"/>
              </a:rPr>
              <a:t>Verifying/sanitizing hazard pointers</a:t>
            </a:r>
            <a:endParaRPr lang="ru-RU" sz="2400">
              <a:solidFill>
                <a:schemeClr val="bg1"/>
              </a:solidFill>
              <a:latin typeface="Ubuntu Condensed" panose="020B0506030602030204" pitchFamily="34" charset="0"/>
            </a:endParaRPr>
          </a:p>
        </p:txBody>
      </p:sp>
      <p:sp>
        <p:nvSpPr>
          <p:cNvPr id="7" name="Номер слайда 7">
            <a:extLst>
              <a:ext uri="{FF2B5EF4-FFF2-40B4-BE49-F238E27FC236}">
                <a16:creationId xmlns:a16="http://schemas.microsoft.com/office/drawing/2014/main" id="{F41FEFCB-250A-5B5F-0A2D-8C592F55F1E9}"/>
              </a:ext>
            </a:extLst>
          </p:cNvPr>
          <p:cNvSpPr>
            <a:spLocks noGrp="1"/>
          </p:cNvSpPr>
          <p:nvPr>
            <p:ph type="sldNum" sz="quarter" idx="12"/>
          </p:nvPr>
        </p:nvSpPr>
        <p:spPr>
          <a:xfrm>
            <a:off x="11725835" y="6402070"/>
            <a:ext cx="386155" cy="365125"/>
          </a:xfrm>
        </p:spPr>
        <p:txBody>
          <a:bodyPr/>
          <a:lstStyle/>
          <a:p>
            <a:pPr algn="ctr"/>
            <a:fld id="{E757BAED-F255-4CF1-96BA-8D7417A9C3BC}" type="slidenum">
              <a:rPr lang="ru-RU" sz="1800" smtClean="0">
                <a:latin typeface="Ubuntu Condensed" panose="020B0506030602030204" pitchFamily="34" charset="0"/>
              </a:rPr>
              <a:pPr algn="ctr"/>
              <a:t>30</a:t>
            </a:fld>
            <a:endParaRPr lang="ru-RU" sz="1800">
              <a:latin typeface="Ubuntu Condensed" panose="020B0506030602030204" pitchFamily="34" charset="0"/>
            </a:endParaRPr>
          </a:p>
        </p:txBody>
      </p:sp>
      <p:sp>
        <p:nvSpPr>
          <p:cNvPr id="8" name="TextBox 7">
            <a:extLst>
              <a:ext uri="{FF2B5EF4-FFF2-40B4-BE49-F238E27FC236}">
                <a16:creationId xmlns:a16="http://schemas.microsoft.com/office/drawing/2014/main" id="{1BA97571-629B-45D9-1033-C3BAC66BFB48}"/>
              </a:ext>
            </a:extLst>
          </p:cNvPr>
          <p:cNvSpPr txBox="1"/>
          <p:nvPr/>
        </p:nvSpPr>
        <p:spPr>
          <a:xfrm>
            <a:off x="233909" y="799605"/>
            <a:ext cx="5862091" cy="4929876"/>
          </a:xfrm>
          <a:prstGeom prst="rect">
            <a:avLst/>
          </a:prstGeom>
          <a:solidFill>
            <a:srgbClr val="1F1F1F"/>
          </a:solidFill>
        </p:spPr>
        <p:txBody>
          <a:bodyPr wrap="square">
            <a:spAutoFit/>
          </a:bodyPr>
          <a:lstStyle/>
          <a:p>
            <a:pPr>
              <a:lnSpc>
                <a:spcPts val="1425"/>
              </a:lnSpc>
              <a:buNone/>
            </a:pPr>
            <a:r>
              <a:rPr lang="en-US" sz="100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struct</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00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Node</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 std::</a:t>
            </a:r>
            <a:r>
              <a:rPr lang="en-US" sz="1000" b="0" err="1">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hazard_pointer_obj_base</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&lt;</a:t>
            </a:r>
            <a:r>
              <a:rPr lang="en-US" sz="100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Node</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&gt; {</a:t>
            </a:r>
          </a:p>
          <a:p>
            <a:pPr>
              <a:lnSpc>
                <a:spcPts val="1425"/>
              </a:lnSpc>
              <a:buNone/>
            </a:pP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00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int</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value;</a:t>
            </a:r>
          </a:p>
          <a:p>
            <a:pPr>
              <a:lnSpc>
                <a:spcPts val="1425"/>
              </a:lnSpc>
              <a:buNone/>
            </a:pP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00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std</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::atomic</a:t>
            </a:r>
            <a:r>
              <a:rPr lang="en-US" sz="10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&lt;</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Node</a:t>
            </a:r>
            <a:r>
              <a:rPr lang="en-US" sz="10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*&gt;</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next{</a:t>
            </a:r>
            <a:r>
              <a:rPr lang="en-US" sz="1000" b="0" err="1">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nullptr</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p>
          <a:p>
            <a:pPr>
              <a:lnSpc>
                <a:spcPts val="1425"/>
              </a:lnSpc>
              <a:buNone/>
            </a:pP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00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explicit</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000" b="0">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Node</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US" sz="100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int</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00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v</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 </a:t>
            </a:r>
            <a:r>
              <a:rPr lang="en-US" sz="1000" b="0">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value</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(v) {}</a:t>
            </a:r>
          </a:p>
          <a:p>
            <a:pPr>
              <a:lnSpc>
                <a:spcPts val="1425"/>
              </a:lnSpc>
              <a:buNone/>
            </a:pP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p>
          <a:p>
            <a:pPr>
              <a:lnSpc>
                <a:spcPts val="1425"/>
              </a:lnSpc>
              <a:buNone/>
            </a:pPr>
            <a:endPar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a:p>
            <a:pPr>
              <a:lnSpc>
                <a:spcPts val="1425"/>
              </a:lnSpc>
              <a:buNone/>
            </a:pPr>
            <a:r>
              <a:rPr lang="en-US" sz="100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class</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000" b="0" err="1">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LockFreeStack</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p>
          <a:p>
            <a:pPr>
              <a:lnSpc>
                <a:spcPts val="1425"/>
              </a:lnSpc>
              <a:buNone/>
            </a:pP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00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std</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::atomic</a:t>
            </a:r>
            <a:r>
              <a:rPr lang="en-US" sz="10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&lt;</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Node</a:t>
            </a:r>
            <a:r>
              <a:rPr lang="en-US" sz="10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*&gt;</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head{</a:t>
            </a:r>
            <a:r>
              <a:rPr lang="en-US" sz="1000" b="0" err="1">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nullptr</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p>
          <a:p>
            <a:pPr>
              <a:lnSpc>
                <a:spcPts val="1425"/>
              </a:lnSpc>
              <a:buNone/>
            </a:pPr>
            <a:r>
              <a:rPr lang="en-US" sz="100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public:</a:t>
            </a:r>
            <a:endPar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a:p>
            <a:pPr>
              <a:lnSpc>
                <a:spcPts val="1425"/>
              </a:lnSpc>
              <a:buNone/>
            </a:pP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00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void</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000" b="0">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push</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US" sz="100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int</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00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v</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p>
          <a:p>
            <a:pPr>
              <a:lnSpc>
                <a:spcPts val="1425"/>
              </a:lnSpc>
              <a:buNone/>
            </a:pP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Node</a:t>
            </a:r>
            <a:r>
              <a:rPr lang="en-US" sz="10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n </a:t>
            </a:r>
            <a:r>
              <a:rPr lang="en-US" sz="10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000" b="0">
                <a:solidFill>
                  <a:srgbClr val="C586C0"/>
                </a:solidFill>
                <a:effectLst/>
                <a:latin typeface="JetBrains Mono" panose="02000009000000000000" pitchFamily="49" charset="0"/>
                <a:ea typeface="JetBrains Mono" panose="02000009000000000000" pitchFamily="49" charset="0"/>
                <a:cs typeface="JetBrains Mono" panose="02000009000000000000" pitchFamily="49" charset="0"/>
              </a:rPr>
              <a:t>new</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000" b="0">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Node</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(v);</a:t>
            </a:r>
          </a:p>
          <a:p>
            <a:pPr>
              <a:lnSpc>
                <a:spcPts val="1425"/>
              </a:lnSpc>
              <a:buNone/>
            </a:pPr>
            <a:r>
              <a:rPr lang="en-US" sz="10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 Link the new node to current head.</a:t>
            </a:r>
            <a:endPar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a:p>
            <a:pPr>
              <a:lnSpc>
                <a:spcPts val="1425"/>
              </a:lnSpc>
              <a:buNone/>
            </a:pP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00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n</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-&gt;</a:t>
            </a:r>
            <a:r>
              <a:rPr lang="en-US" sz="100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next</a:t>
            </a:r>
            <a:r>
              <a:rPr lang="en-US" sz="10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US" sz="100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store</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p>
          <a:p>
            <a:pPr>
              <a:lnSpc>
                <a:spcPts val="1425"/>
              </a:lnSpc>
              <a:buNone/>
            </a:pPr>
            <a:r>
              <a:rPr lang="en-US" sz="1000">
                <a:solidFill>
                  <a:srgbClr val="CCCCCC"/>
                </a:solidFill>
                <a:latin typeface="JetBrains Mono" panose="02000009000000000000" pitchFamily="49" charset="0"/>
                <a:ea typeface="JetBrains Mono" panose="02000009000000000000" pitchFamily="49" charset="0"/>
                <a:cs typeface="JetBrains Mono" panose="02000009000000000000" pitchFamily="49" charset="0"/>
              </a:rPr>
              <a:t>          </a:t>
            </a:r>
            <a:r>
              <a:rPr lang="en-US" sz="100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head</a:t>
            </a:r>
            <a:r>
              <a:rPr lang="en-US" sz="10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US" sz="100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load</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US" sz="100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std</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US" sz="10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memory_order_relaxed</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00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std</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US" sz="10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memory_order_relaxed</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p>
          <a:p>
            <a:pPr>
              <a:lnSpc>
                <a:spcPts val="1425"/>
              </a:lnSpc>
              <a:buNone/>
            </a:pPr>
            <a:r>
              <a:rPr lang="en-US" sz="10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 Publish with CAS; release ensures 'value' and 'next’</a:t>
            </a:r>
          </a:p>
          <a:p>
            <a:pPr>
              <a:lnSpc>
                <a:spcPts val="1425"/>
              </a:lnSpc>
              <a:buNone/>
            </a:pPr>
            <a:r>
              <a:rPr lang="en-US" sz="1000">
                <a:solidFill>
                  <a:srgbClr val="6A9955"/>
                </a:solidFill>
                <a:latin typeface="JetBrains Mono" panose="02000009000000000000" pitchFamily="49" charset="0"/>
                <a:ea typeface="JetBrains Mono" panose="02000009000000000000" pitchFamily="49" charset="0"/>
                <a:cs typeface="JetBrains Mono" panose="02000009000000000000" pitchFamily="49" charset="0"/>
              </a:rPr>
              <a:t>        //</a:t>
            </a:r>
            <a:r>
              <a:rPr lang="en-US" sz="10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are visible to the popper.</a:t>
            </a:r>
            <a:endPar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a:p>
            <a:pPr>
              <a:lnSpc>
                <a:spcPts val="1425"/>
              </a:lnSpc>
              <a:buNone/>
            </a:pP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000" b="0">
                <a:solidFill>
                  <a:srgbClr val="C586C0"/>
                </a:solidFill>
                <a:effectLst/>
                <a:latin typeface="JetBrains Mono" panose="02000009000000000000" pitchFamily="49" charset="0"/>
                <a:ea typeface="JetBrains Mono" panose="02000009000000000000" pitchFamily="49" charset="0"/>
                <a:cs typeface="JetBrains Mono" panose="02000009000000000000" pitchFamily="49" charset="0"/>
              </a:rPr>
              <a:t>while</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0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US" sz="100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head</a:t>
            </a:r>
            <a:r>
              <a:rPr lang="en-US" sz="10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US" sz="100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compare_exchange_weak</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p>
          <a:p>
            <a:pPr>
              <a:lnSpc>
                <a:spcPts val="1425"/>
              </a:lnSpc>
              <a:buNone/>
            </a:pP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00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n</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-&gt;</a:t>
            </a:r>
            <a:r>
              <a:rPr lang="en-US" sz="100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next</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p>
          <a:p>
            <a:pPr>
              <a:lnSpc>
                <a:spcPts val="1425"/>
              </a:lnSpc>
              <a:buNone/>
            </a:pP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n,</a:t>
            </a:r>
          </a:p>
          <a:p>
            <a:pPr>
              <a:lnSpc>
                <a:spcPts val="1425"/>
              </a:lnSpc>
              <a:buNone/>
            </a:pP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00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std</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US" sz="10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memory_order_release</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p>
          <a:p>
            <a:pPr>
              <a:lnSpc>
                <a:spcPts val="1425"/>
              </a:lnSpc>
              <a:buNone/>
            </a:pP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00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std</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US" sz="10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memory_order_relaxed</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p>
          <a:p>
            <a:pPr>
              <a:lnSpc>
                <a:spcPts val="1425"/>
              </a:lnSpc>
              <a:buNone/>
            </a:pPr>
            <a:r>
              <a:rPr lang="en-US" sz="10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 CAS failed; n-&gt;next was updated to current </a:t>
            </a:r>
          </a:p>
          <a:p>
            <a:pPr>
              <a:lnSpc>
                <a:spcPts val="1425"/>
              </a:lnSpc>
              <a:buNone/>
            </a:pPr>
            <a:r>
              <a:rPr lang="en-US" sz="1000">
                <a:solidFill>
                  <a:srgbClr val="6A9955"/>
                </a:solidFill>
                <a:latin typeface="JetBrains Mono" panose="02000009000000000000" pitchFamily="49" charset="0"/>
                <a:ea typeface="JetBrains Mono" panose="02000009000000000000" pitchFamily="49" charset="0"/>
                <a:cs typeface="JetBrains Mono" panose="02000009000000000000" pitchFamily="49" charset="0"/>
              </a:rPr>
              <a:t>	// </a:t>
            </a:r>
            <a:r>
              <a:rPr lang="en-US" sz="10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head by </a:t>
            </a:r>
            <a:r>
              <a:rPr lang="en-US" sz="1000" b="0" err="1">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compare_exchange_weak</a:t>
            </a:r>
            <a:r>
              <a:rPr lang="en-US" sz="10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a:t>
            </a:r>
            <a:endPar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a:p>
            <a:pPr>
              <a:lnSpc>
                <a:spcPts val="1425"/>
              </a:lnSpc>
              <a:buNone/>
            </a:pP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p>
          <a:p>
            <a:pPr>
              <a:lnSpc>
                <a:spcPts val="1425"/>
              </a:lnSpc>
              <a:buNone/>
            </a:pP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b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br>
            <a:endPar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p:txBody>
      </p:sp>
      <p:sp>
        <p:nvSpPr>
          <p:cNvPr id="12" name="TextBox 11">
            <a:extLst>
              <a:ext uri="{FF2B5EF4-FFF2-40B4-BE49-F238E27FC236}">
                <a16:creationId xmlns:a16="http://schemas.microsoft.com/office/drawing/2014/main" id="{0D2AB240-2007-6597-EC51-C0CF09A93026}"/>
              </a:ext>
            </a:extLst>
          </p:cNvPr>
          <p:cNvSpPr txBox="1"/>
          <p:nvPr/>
        </p:nvSpPr>
        <p:spPr>
          <a:xfrm>
            <a:off x="4846090" y="802874"/>
            <a:ext cx="7265899" cy="4745082"/>
          </a:xfrm>
          <a:prstGeom prst="rect">
            <a:avLst/>
          </a:prstGeom>
          <a:solidFill>
            <a:srgbClr val="1F1F1F"/>
          </a:solidFill>
        </p:spPr>
        <p:txBody>
          <a:bodyPr wrap="square">
            <a:spAutoFit/>
          </a:bodyPr>
          <a:lstStyle/>
          <a:p>
            <a:pPr>
              <a:lnSpc>
                <a:spcPts val="1425"/>
              </a:lnSpc>
              <a:buNone/>
            </a:pP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00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std</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US" sz="100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optional</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&lt;</a:t>
            </a:r>
            <a:r>
              <a:rPr lang="en-US" sz="100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int</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&gt; </a:t>
            </a:r>
            <a:r>
              <a:rPr lang="en-US" sz="1000" b="0">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pop</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p>
          <a:p>
            <a:pPr>
              <a:lnSpc>
                <a:spcPts val="1425"/>
              </a:lnSpc>
              <a:buNone/>
            </a:pPr>
            <a:r>
              <a:rPr lang="en-US" sz="10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 Create a NONEMPTY hazard pointer guard. (Required.)</a:t>
            </a:r>
            <a:endPar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a:p>
            <a:pPr>
              <a:lnSpc>
                <a:spcPts val="1425"/>
              </a:lnSpc>
              <a:buNone/>
            </a:pP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00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auto</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hp </a:t>
            </a:r>
            <a:r>
              <a:rPr lang="en-US" sz="10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00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std</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US" sz="100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make_hazard_pointer</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p>
          <a:p>
            <a:pPr>
              <a:lnSpc>
                <a:spcPts val="1425"/>
              </a:lnSpc>
              <a:buNone/>
            </a:pPr>
            <a:endPar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a:p>
            <a:pPr>
              <a:lnSpc>
                <a:spcPts val="1425"/>
              </a:lnSpc>
              <a:buNone/>
            </a:pP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000" b="0">
                <a:solidFill>
                  <a:srgbClr val="C586C0"/>
                </a:solidFill>
                <a:effectLst/>
                <a:latin typeface="JetBrains Mono" panose="02000009000000000000" pitchFamily="49" charset="0"/>
                <a:ea typeface="JetBrains Mono" panose="02000009000000000000" pitchFamily="49" charset="0"/>
                <a:cs typeface="JetBrains Mono" panose="02000009000000000000" pitchFamily="49" charset="0"/>
              </a:rPr>
              <a:t>for</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 {</a:t>
            </a:r>
          </a:p>
          <a:p>
            <a:pPr>
              <a:lnSpc>
                <a:spcPts val="1425"/>
              </a:lnSpc>
              <a:buNone/>
            </a:pPr>
            <a:r>
              <a:rPr lang="en-US" sz="10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 Protect the current head atomically and get a stable pointer to it.</a:t>
            </a:r>
            <a:endPar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a:p>
            <a:pPr>
              <a:lnSpc>
                <a:spcPts val="1425"/>
              </a:lnSpc>
              <a:buNone/>
            </a:pP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Node</a:t>
            </a:r>
            <a:r>
              <a:rPr lang="en-US" sz="10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old </a:t>
            </a:r>
            <a:r>
              <a:rPr lang="en-US" sz="10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00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hp</a:t>
            </a:r>
            <a:r>
              <a:rPr lang="en-US" sz="10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US" sz="100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protect</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(head);</a:t>
            </a:r>
            <a:r>
              <a:rPr lang="en-US" sz="10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 returns a hazard-protected Node*</a:t>
            </a:r>
            <a:endPar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a:p>
            <a:pPr>
              <a:lnSpc>
                <a:spcPts val="1425"/>
              </a:lnSpc>
              <a:buNone/>
            </a:pP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000" b="0">
                <a:solidFill>
                  <a:srgbClr val="C586C0"/>
                </a:solidFill>
                <a:effectLst/>
                <a:latin typeface="JetBrains Mono" panose="02000009000000000000" pitchFamily="49" charset="0"/>
                <a:ea typeface="JetBrains Mono" panose="02000009000000000000" pitchFamily="49" charset="0"/>
                <a:cs typeface="JetBrains Mono" panose="02000009000000000000" pitchFamily="49" charset="0"/>
              </a:rPr>
              <a:t>if</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0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old) </a:t>
            </a:r>
            <a:r>
              <a:rPr lang="en-US" sz="1000" b="0">
                <a:solidFill>
                  <a:srgbClr val="C586C0"/>
                </a:solidFill>
                <a:effectLst/>
                <a:latin typeface="JetBrains Mono" panose="02000009000000000000" pitchFamily="49" charset="0"/>
                <a:ea typeface="JetBrains Mono" panose="02000009000000000000" pitchFamily="49" charset="0"/>
                <a:cs typeface="JetBrains Mono" panose="02000009000000000000" pitchFamily="49" charset="0"/>
              </a:rPr>
              <a:t>return</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00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std</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US" sz="10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nullopt</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p>
          <a:p>
            <a:pPr>
              <a:lnSpc>
                <a:spcPts val="1425"/>
              </a:lnSpc>
              <a:buNone/>
            </a:pP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Node</a:t>
            </a:r>
            <a:r>
              <a:rPr lang="en-US" sz="10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next </a:t>
            </a:r>
            <a:r>
              <a:rPr lang="en-US" sz="10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00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old</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-&gt;</a:t>
            </a:r>
            <a:r>
              <a:rPr lang="en-US" sz="100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next</a:t>
            </a:r>
            <a:r>
              <a:rPr lang="en-US" sz="10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US" sz="100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load</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US" sz="100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std</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US" sz="10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memory_order_relaxed</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p>
          <a:p>
            <a:pPr>
              <a:lnSpc>
                <a:spcPts val="1425"/>
              </a:lnSpc>
              <a:buNone/>
            </a:pPr>
            <a:r>
              <a:rPr lang="en-US" sz="10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 Attempt to remove 'old' from the stack.</a:t>
            </a:r>
            <a:endPar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a:p>
            <a:pPr>
              <a:lnSpc>
                <a:spcPts val="1425"/>
              </a:lnSpc>
              <a:buNone/>
            </a:pP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000" b="0">
                <a:solidFill>
                  <a:srgbClr val="C586C0"/>
                </a:solidFill>
                <a:effectLst/>
                <a:latin typeface="JetBrains Mono" panose="02000009000000000000" pitchFamily="49" charset="0"/>
                <a:ea typeface="JetBrains Mono" panose="02000009000000000000" pitchFamily="49" charset="0"/>
                <a:cs typeface="JetBrains Mono" panose="02000009000000000000" pitchFamily="49" charset="0"/>
              </a:rPr>
              <a:t>if</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00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head</a:t>
            </a:r>
            <a:r>
              <a:rPr lang="en-US" sz="10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US" sz="100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compare_exchange_weak</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p>
          <a:p>
            <a:pPr>
              <a:lnSpc>
                <a:spcPts val="1425"/>
              </a:lnSpc>
              <a:buNone/>
            </a:pP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old, next,</a:t>
            </a:r>
          </a:p>
          <a:p>
            <a:pPr>
              <a:lnSpc>
                <a:spcPts val="1425"/>
              </a:lnSpc>
              <a:buNone/>
            </a:pP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00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std</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US" sz="10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memory_order_acquire</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p>
          <a:p>
            <a:pPr>
              <a:lnSpc>
                <a:spcPts val="1425"/>
              </a:lnSpc>
              <a:buNone/>
            </a:pP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00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std</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US" sz="10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memory_order_relaxed</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p>
          <a:p>
            <a:pPr>
              <a:lnSpc>
                <a:spcPts val="1425"/>
              </a:lnSpc>
              <a:buNone/>
            </a:pP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00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int</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v </a:t>
            </a:r>
            <a:r>
              <a:rPr lang="en-US" sz="10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00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old</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-&gt;</a:t>
            </a:r>
            <a:r>
              <a:rPr lang="en-US" sz="100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value</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US" sz="10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 Safe while 'old' is hazard-protected.</a:t>
            </a:r>
            <a:endPar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a:p>
            <a:pPr>
              <a:lnSpc>
                <a:spcPts val="1425"/>
              </a:lnSpc>
              <a:buNone/>
            </a:pPr>
            <a:r>
              <a:rPr lang="en-US" sz="10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 Defer reclamation of 'old' to the HP library (default </a:t>
            </a:r>
            <a:r>
              <a:rPr lang="en-US" sz="1000" b="0" err="1">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deleter</a:t>
            </a:r>
            <a:r>
              <a:rPr lang="en-US" sz="10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delete).</a:t>
            </a:r>
            <a:endPar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a:p>
            <a:pPr>
              <a:lnSpc>
                <a:spcPts val="1425"/>
              </a:lnSpc>
              <a:buNone/>
            </a:pP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00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old</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-&gt;</a:t>
            </a:r>
            <a:r>
              <a:rPr lang="en-US" sz="1000" b="0">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retire</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US" sz="10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 will be freed when no HP protects it</a:t>
            </a:r>
            <a:endPar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a:p>
            <a:pPr>
              <a:lnSpc>
                <a:spcPts val="1425"/>
              </a:lnSpc>
              <a:buNone/>
            </a:pPr>
            <a:r>
              <a:rPr lang="en-US" sz="10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 Now allow the library to reclaim 'old' when appropriate.</a:t>
            </a:r>
            <a:endPar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a:p>
            <a:pPr>
              <a:lnSpc>
                <a:spcPts val="1425"/>
              </a:lnSpc>
              <a:buNone/>
            </a:pP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00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hp</a:t>
            </a:r>
            <a:r>
              <a:rPr lang="en-US" sz="10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US" sz="100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reset_protection</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p>
          <a:p>
            <a:pPr>
              <a:lnSpc>
                <a:spcPts val="1425"/>
              </a:lnSpc>
              <a:buNone/>
            </a:pP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000" b="0">
                <a:solidFill>
                  <a:srgbClr val="C586C0"/>
                </a:solidFill>
                <a:effectLst/>
                <a:latin typeface="JetBrains Mono" panose="02000009000000000000" pitchFamily="49" charset="0"/>
                <a:ea typeface="JetBrains Mono" panose="02000009000000000000" pitchFamily="49" charset="0"/>
                <a:cs typeface="JetBrains Mono" panose="02000009000000000000" pitchFamily="49" charset="0"/>
              </a:rPr>
              <a:t>return</a:t>
            </a: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v;</a:t>
            </a:r>
          </a:p>
          <a:p>
            <a:pPr>
              <a:lnSpc>
                <a:spcPts val="1425"/>
              </a:lnSpc>
              <a:buNone/>
            </a:pP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p>
          <a:p>
            <a:pPr>
              <a:lnSpc>
                <a:spcPts val="1425"/>
              </a:lnSpc>
              <a:buNone/>
            </a:pPr>
            <a:r>
              <a:rPr lang="en-US" sz="10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 CAS failed: head changed, loop and re-protect the new head.</a:t>
            </a:r>
            <a:endPar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a:p>
            <a:pPr>
              <a:lnSpc>
                <a:spcPts val="1425"/>
              </a:lnSpc>
              <a:buNone/>
            </a:pP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p>
          <a:p>
            <a:pPr>
              <a:lnSpc>
                <a:spcPts val="1425"/>
              </a:lnSpc>
              <a:buNone/>
            </a:pP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p>
          <a:p>
            <a:pPr>
              <a:lnSpc>
                <a:spcPts val="1425"/>
              </a:lnSpc>
              <a:buNone/>
            </a:pPr>
            <a:r>
              <a:rPr lang="en-US"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p>
        </p:txBody>
      </p:sp>
    </p:spTree>
    <p:extLst>
      <p:ext uri="{BB962C8B-B14F-4D97-AF65-F5344CB8AC3E}">
        <p14:creationId xmlns:p14="http://schemas.microsoft.com/office/powerpoint/2010/main" val="14582142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8510D-F688-4256-2816-CD80BD7F818C}"/>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54F265F1-1C51-5343-F732-3BFAE1A89FC6}"/>
              </a:ext>
            </a:extLst>
          </p:cNvPr>
          <p:cNvSpPr txBox="1"/>
          <p:nvPr/>
        </p:nvSpPr>
        <p:spPr>
          <a:xfrm>
            <a:off x="233910" y="208621"/>
            <a:ext cx="7073670" cy="461665"/>
          </a:xfrm>
          <a:prstGeom prst="rect">
            <a:avLst/>
          </a:prstGeom>
          <a:solidFill>
            <a:srgbClr val="002060"/>
          </a:solidFill>
        </p:spPr>
        <p:txBody>
          <a:bodyPr wrap="square" rtlCol="0">
            <a:spAutoFit/>
          </a:bodyPr>
          <a:lstStyle/>
          <a:p>
            <a:r>
              <a:rPr lang="en-US" sz="2400">
                <a:solidFill>
                  <a:schemeClr val="bg1"/>
                </a:solidFill>
                <a:latin typeface="Ubuntu Condensed" panose="020B0506030602030204" pitchFamily="34" charset="0"/>
              </a:rPr>
              <a:t>Verifying/sanitizing hazard pointers</a:t>
            </a:r>
            <a:endParaRPr lang="ru-RU" sz="2400">
              <a:solidFill>
                <a:schemeClr val="bg1"/>
              </a:solidFill>
              <a:latin typeface="Ubuntu Condensed" panose="020B0506030602030204" pitchFamily="34" charset="0"/>
            </a:endParaRPr>
          </a:p>
        </p:txBody>
      </p:sp>
      <p:sp>
        <p:nvSpPr>
          <p:cNvPr id="7" name="Номер слайда 7">
            <a:extLst>
              <a:ext uri="{FF2B5EF4-FFF2-40B4-BE49-F238E27FC236}">
                <a16:creationId xmlns:a16="http://schemas.microsoft.com/office/drawing/2014/main" id="{04B94AC3-35CF-69F4-11E7-DEF9F001E897}"/>
              </a:ext>
            </a:extLst>
          </p:cNvPr>
          <p:cNvSpPr>
            <a:spLocks noGrp="1"/>
          </p:cNvSpPr>
          <p:nvPr>
            <p:ph type="sldNum" sz="quarter" idx="12"/>
          </p:nvPr>
        </p:nvSpPr>
        <p:spPr>
          <a:xfrm>
            <a:off x="11725835" y="6402070"/>
            <a:ext cx="386155" cy="365125"/>
          </a:xfrm>
        </p:spPr>
        <p:txBody>
          <a:bodyPr/>
          <a:lstStyle/>
          <a:p>
            <a:pPr algn="ctr"/>
            <a:fld id="{E757BAED-F255-4CF1-96BA-8D7417A9C3BC}" type="slidenum">
              <a:rPr lang="ru-RU" sz="1800" smtClean="0">
                <a:latin typeface="Ubuntu Condensed" panose="020B0506030602030204" pitchFamily="34" charset="0"/>
              </a:rPr>
              <a:pPr algn="ctr"/>
              <a:t>31</a:t>
            </a:fld>
            <a:endParaRPr lang="ru-RU" sz="1800">
              <a:latin typeface="Ubuntu Condensed" panose="020B0506030602030204" pitchFamily="34" charset="0"/>
            </a:endParaRPr>
          </a:p>
        </p:txBody>
      </p:sp>
      <p:sp>
        <p:nvSpPr>
          <p:cNvPr id="4" name="TextBox 3">
            <a:extLst>
              <a:ext uri="{FF2B5EF4-FFF2-40B4-BE49-F238E27FC236}">
                <a16:creationId xmlns:a16="http://schemas.microsoft.com/office/drawing/2014/main" id="{1AC350CC-312A-BB3F-9DBE-F871877F47C6}"/>
              </a:ext>
            </a:extLst>
          </p:cNvPr>
          <p:cNvSpPr txBox="1"/>
          <p:nvPr/>
        </p:nvSpPr>
        <p:spPr>
          <a:xfrm>
            <a:off x="233910" y="668774"/>
            <a:ext cx="6096000" cy="615553"/>
          </a:xfrm>
          <a:prstGeom prst="rect">
            <a:avLst/>
          </a:prstGeom>
          <a:noFill/>
        </p:spPr>
        <p:txBody>
          <a:bodyPr wrap="square">
            <a:spAutoFit/>
          </a:bodyPr>
          <a:lstStyle/>
          <a:p>
            <a:r>
              <a:rPr lang="en-US" b="1">
                <a:solidFill>
                  <a:srgbClr val="6600FF"/>
                </a:solidFill>
              </a:rPr>
              <a:t>Mistake #1 — Using an empty hazard pointer</a:t>
            </a:r>
          </a:p>
          <a:p>
            <a:r>
              <a:rPr lang="en-SG" sz="1600" b="1"/>
              <a:t>Buggy code:</a:t>
            </a:r>
          </a:p>
        </p:txBody>
      </p:sp>
      <p:sp>
        <p:nvSpPr>
          <p:cNvPr id="6" name="TextBox 5">
            <a:extLst>
              <a:ext uri="{FF2B5EF4-FFF2-40B4-BE49-F238E27FC236}">
                <a16:creationId xmlns:a16="http://schemas.microsoft.com/office/drawing/2014/main" id="{EDE3FDFB-588C-C53E-31ED-5D121CD114BF}"/>
              </a:ext>
            </a:extLst>
          </p:cNvPr>
          <p:cNvSpPr txBox="1"/>
          <p:nvPr/>
        </p:nvSpPr>
        <p:spPr>
          <a:xfrm>
            <a:off x="233910" y="1766511"/>
            <a:ext cx="10972570" cy="830997"/>
          </a:xfrm>
          <a:prstGeom prst="rect">
            <a:avLst/>
          </a:prstGeom>
          <a:noFill/>
        </p:spPr>
        <p:txBody>
          <a:bodyPr wrap="square">
            <a:spAutoFit/>
          </a:bodyPr>
          <a:lstStyle/>
          <a:p>
            <a:r>
              <a:rPr lang="en-US" sz="1600" b="1"/>
              <a:t>Why this is wrong:</a:t>
            </a:r>
            <a:r>
              <a:rPr lang="en-US" sz="1600"/>
              <a:t> A default‑constructed std::</a:t>
            </a:r>
            <a:r>
              <a:rPr lang="en-US" sz="1600" err="1"/>
              <a:t>hazard_pointer</a:t>
            </a:r>
            <a:r>
              <a:rPr lang="en-US" sz="1600"/>
              <a:t> is </a:t>
            </a:r>
            <a:r>
              <a:rPr lang="en-US" sz="1600" i="1"/>
              <a:t>empty</a:t>
            </a:r>
            <a:r>
              <a:rPr lang="en-US" sz="1600"/>
              <a:t>. Only </a:t>
            </a:r>
            <a:r>
              <a:rPr lang="en-US" sz="1600" b="1"/>
              <a:t>nonempty</a:t>
            </a:r>
            <a:r>
              <a:rPr lang="en-US" sz="1600"/>
              <a:t> guards (created via std::</a:t>
            </a:r>
            <a:r>
              <a:rPr lang="en-US" sz="1600" err="1"/>
              <a:t>make_hazard_pointer</a:t>
            </a:r>
            <a:r>
              <a:rPr lang="en-US" sz="1600"/>
              <a:t>()) can protect objects. Using an empty guard leads to invalid behavior. </a:t>
            </a:r>
            <a:r>
              <a:rPr lang="en-US" sz="1600">
                <a:hlinkClick r:id="rId2"/>
              </a:rPr>
              <a:t>[open-std.org]</a:t>
            </a:r>
            <a:endParaRPr lang="en-US" sz="1600"/>
          </a:p>
          <a:p>
            <a:r>
              <a:rPr lang="en-US" sz="1600" b="1"/>
              <a:t>Fix:</a:t>
            </a:r>
            <a:endParaRPr lang="en-SG" sz="1600" b="1"/>
          </a:p>
        </p:txBody>
      </p:sp>
      <p:sp>
        <p:nvSpPr>
          <p:cNvPr id="10" name="TextBox 9">
            <a:extLst>
              <a:ext uri="{FF2B5EF4-FFF2-40B4-BE49-F238E27FC236}">
                <a16:creationId xmlns:a16="http://schemas.microsoft.com/office/drawing/2014/main" id="{634909DF-989F-1C85-705F-48FF9FF07CAC}"/>
              </a:ext>
            </a:extLst>
          </p:cNvPr>
          <p:cNvSpPr txBox="1"/>
          <p:nvPr/>
        </p:nvSpPr>
        <p:spPr>
          <a:xfrm>
            <a:off x="233910" y="1315105"/>
            <a:ext cx="9966730" cy="451406"/>
          </a:xfrm>
          <a:prstGeom prst="rect">
            <a:avLst/>
          </a:prstGeom>
          <a:solidFill>
            <a:srgbClr val="1F1F1F"/>
          </a:solidFill>
        </p:spPr>
        <p:txBody>
          <a:bodyPr wrap="square">
            <a:spAutoFit/>
          </a:bodyPr>
          <a:lstStyle/>
          <a:p>
            <a:pPr>
              <a:lnSpc>
                <a:spcPts val="1425"/>
              </a:lnSpc>
              <a:buNone/>
            </a:pPr>
            <a:r>
              <a:rPr lang="en-US" sz="130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std</a:t>
            </a:r>
            <a:r>
              <a:rPr lang="en-US"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US" sz="13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hazard_pointer</a:t>
            </a:r>
            <a:r>
              <a:rPr lang="en-US"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30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hp</a:t>
            </a:r>
            <a:r>
              <a:rPr lang="en-US"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US" sz="13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 EMPTY guard (default </a:t>
            </a:r>
            <a:r>
              <a:rPr lang="en-US" sz="1300" b="0" err="1">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ctor</a:t>
            </a:r>
            <a:r>
              <a:rPr lang="en-US" sz="13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a:t>
            </a:r>
            <a:endParaRPr lang="en-US"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a:p>
            <a:pPr>
              <a:lnSpc>
                <a:spcPts val="1425"/>
              </a:lnSpc>
              <a:buNone/>
            </a:pPr>
            <a:r>
              <a:rPr lang="en-US"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Node</a:t>
            </a:r>
            <a:r>
              <a:rPr lang="en-US" sz="13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US"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30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old</a:t>
            </a:r>
            <a:r>
              <a:rPr lang="en-US"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3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US"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30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hp</a:t>
            </a:r>
            <a:r>
              <a:rPr lang="en-US" sz="13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US" sz="130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protect</a:t>
            </a:r>
            <a:r>
              <a:rPr lang="en-US"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(head);</a:t>
            </a:r>
            <a:r>
              <a:rPr lang="en-US" sz="13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 ❌ Incorrect: only nonempty guards may protect</a:t>
            </a:r>
            <a:endParaRPr lang="en-US"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p:txBody>
      </p:sp>
      <p:sp>
        <p:nvSpPr>
          <p:cNvPr id="11" name="TextBox 10">
            <a:extLst>
              <a:ext uri="{FF2B5EF4-FFF2-40B4-BE49-F238E27FC236}">
                <a16:creationId xmlns:a16="http://schemas.microsoft.com/office/drawing/2014/main" id="{12A97658-12DC-92EB-3D9C-FD349F333D8B}"/>
              </a:ext>
            </a:extLst>
          </p:cNvPr>
          <p:cNvSpPr txBox="1"/>
          <p:nvPr/>
        </p:nvSpPr>
        <p:spPr>
          <a:xfrm>
            <a:off x="233910" y="2590642"/>
            <a:ext cx="9966730" cy="451406"/>
          </a:xfrm>
          <a:prstGeom prst="rect">
            <a:avLst/>
          </a:prstGeom>
          <a:solidFill>
            <a:srgbClr val="1F1F1F"/>
          </a:solidFill>
        </p:spPr>
        <p:txBody>
          <a:bodyPr wrap="square">
            <a:spAutoFit/>
          </a:bodyPr>
          <a:lstStyle/>
          <a:p>
            <a:pPr>
              <a:lnSpc>
                <a:spcPts val="1425"/>
              </a:lnSpc>
              <a:buNone/>
            </a:pPr>
            <a:r>
              <a:rPr lang="en-US" sz="130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auto</a:t>
            </a:r>
            <a:r>
              <a:rPr lang="en-US"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30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hp</a:t>
            </a:r>
            <a:r>
              <a:rPr lang="en-US"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3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US"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30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std</a:t>
            </a:r>
            <a:r>
              <a:rPr lang="en-US"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US" sz="130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make_hazard_pointer</a:t>
            </a:r>
            <a:r>
              <a:rPr lang="en-US"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US" sz="13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 ✅ nonempty guard</a:t>
            </a:r>
            <a:endParaRPr lang="en-US"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a:p>
            <a:pPr>
              <a:lnSpc>
                <a:spcPts val="1425"/>
              </a:lnSpc>
              <a:buNone/>
            </a:pPr>
            <a:r>
              <a:rPr lang="en-US"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Node</a:t>
            </a:r>
            <a:r>
              <a:rPr lang="en-US" sz="13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US"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30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old</a:t>
            </a:r>
            <a:r>
              <a:rPr lang="en-US"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3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US"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US" sz="130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hp</a:t>
            </a:r>
            <a:r>
              <a:rPr lang="en-US" sz="13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US" sz="130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protect</a:t>
            </a:r>
            <a:r>
              <a:rPr lang="en-US"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(head);</a:t>
            </a:r>
            <a:r>
              <a:rPr lang="en-US" sz="13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 safe: 'old' is now hazard‑protected</a:t>
            </a:r>
            <a:endParaRPr lang="en-US"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p:txBody>
      </p:sp>
      <p:sp>
        <p:nvSpPr>
          <p:cNvPr id="13" name="TextBox 12">
            <a:extLst>
              <a:ext uri="{FF2B5EF4-FFF2-40B4-BE49-F238E27FC236}">
                <a16:creationId xmlns:a16="http://schemas.microsoft.com/office/drawing/2014/main" id="{3DAC6A81-D313-14D6-02D2-4561409160A2}"/>
              </a:ext>
            </a:extLst>
          </p:cNvPr>
          <p:cNvSpPr txBox="1"/>
          <p:nvPr/>
        </p:nvSpPr>
        <p:spPr>
          <a:xfrm>
            <a:off x="233910" y="3108960"/>
            <a:ext cx="6096000" cy="615553"/>
          </a:xfrm>
          <a:prstGeom prst="rect">
            <a:avLst/>
          </a:prstGeom>
          <a:noFill/>
        </p:spPr>
        <p:txBody>
          <a:bodyPr wrap="square">
            <a:spAutoFit/>
          </a:bodyPr>
          <a:lstStyle/>
          <a:p>
            <a:r>
              <a:rPr lang="en-US" b="1">
                <a:solidFill>
                  <a:srgbClr val="6600FF"/>
                </a:solidFill>
              </a:rPr>
              <a:t>Mistake #2 — Accessing a node without protecting it</a:t>
            </a:r>
          </a:p>
          <a:p>
            <a:r>
              <a:rPr lang="en-SG" sz="1600" b="1"/>
              <a:t>Buggy code:</a:t>
            </a:r>
          </a:p>
        </p:txBody>
      </p:sp>
      <p:sp>
        <p:nvSpPr>
          <p:cNvPr id="14" name="TextBox 13">
            <a:extLst>
              <a:ext uri="{FF2B5EF4-FFF2-40B4-BE49-F238E27FC236}">
                <a16:creationId xmlns:a16="http://schemas.microsoft.com/office/drawing/2014/main" id="{EBBACEF4-5386-9FB8-F73A-56400BA6ADFB}"/>
              </a:ext>
            </a:extLst>
          </p:cNvPr>
          <p:cNvSpPr txBox="1"/>
          <p:nvPr/>
        </p:nvSpPr>
        <p:spPr>
          <a:xfrm>
            <a:off x="233910" y="4526710"/>
            <a:ext cx="10972570" cy="830997"/>
          </a:xfrm>
          <a:prstGeom prst="rect">
            <a:avLst/>
          </a:prstGeom>
          <a:noFill/>
        </p:spPr>
        <p:txBody>
          <a:bodyPr wrap="square">
            <a:spAutoFit/>
          </a:bodyPr>
          <a:lstStyle/>
          <a:p>
            <a:r>
              <a:rPr lang="en-US" sz="1600" b="1"/>
              <a:t>Why this is wrong:</a:t>
            </a:r>
            <a:r>
              <a:rPr lang="en-US" sz="1600"/>
              <a:t> Hazard protection covers </a:t>
            </a:r>
            <a:r>
              <a:rPr lang="en-US" sz="1600" b="1"/>
              <a:t>the object you protected</a:t>
            </a:r>
            <a:r>
              <a:rPr lang="en-US" sz="1600"/>
              <a:t> (</a:t>
            </a:r>
            <a:r>
              <a:rPr lang="en-US" sz="1600" err="1"/>
              <a:t>head_ptr</a:t>
            </a:r>
            <a:r>
              <a:rPr lang="en-US" sz="1600"/>
              <a:t>), not arbitrary pointers you later read from it. Another thread may retire and reclaim </a:t>
            </a:r>
            <a:r>
              <a:rPr lang="en-US" sz="1600" err="1"/>
              <a:t>next_ptr</a:t>
            </a:r>
            <a:r>
              <a:rPr lang="en-US" sz="1600"/>
              <a:t> concurrently. You must protect </a:t>
            </a:r>
            <a:r>
              <a:rPr lang="en-US" sz="1600" b="1"/>
              <a:t>each</a:t>
            </a:r>
            <a:r>
              <a:rPr lang="en-US" sz="1600"/>
              <a:t> node you plan to dereference. </a:t>
            </a:r>
            <a:r>
              <a:rPr lang="en-US" sz="1600">
                <a:hlinkClick r:id="rId3"/>
              </a:rPr>
              <a:t>[open-std.org]</a:t>
            </a:r>
            <a:endParaRPr lang="en-US" sz="1600"/>
          </a:p>
          <a:p>
            <a:r>
              <a:rPr lang="en-US" sz="1600" b="1"/>
              <a:t>Fix:</a:t>
            </a:r>
            <a:endParaRPr lang="en-SG" sz="1600" b="1"/>
          </a:p>
        </p:txBody>
      </p:sp>
      <p:sp>
        <p:nvSpPr>
          <p:cNvPr id="15" name="TextBox 14">
            <a:extLst>
              <a:ext uri="{FF2B5EF4-FFF2-40B4-BE49-F238E27FC236}">
                <a16:creationId xmlns:a16="http://schemas.microsoft.com/office/drawing/2014/main" id="{FD0733F3-05C7-2C1C-D400-E4A8A73B6995}"/>
              </a:ext>
            </a:extLst>
          </p:cNvPr>
          <p:cNvSpPr txBox="1"/>
          <p:nvPr/>
        </p:nvSpPr>
        <p:spPr>
          <a:xfrm>
            <a:off x="233910" y="3714651"/>
            <a:ext cx="9966730" cy="811056"/>
          </a:xfrm>
          <a:prstGeom prst="rect">
            <a:avLst/>
          </a:prstGeom>
          <a:solidFill>
            <a:srgbClr val="1F1F1F"/>
          </a:solidFill>
        </p:spPr>
        <p:txBody>
          <a:bodyPr wrap="square">
            <a:spAutoFit/>
          </a:bodyPr>
          <a:lstStyle/>
          <a:p>
            <a:pPr>
              <a:lnSpc>
                <a:spcPts val="1425"/>
              </a:lnSpc>
              <a:buNone/>
            </a:pPr>
            <a:r>
              <a:rPr lang="en-SG" sz="130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auto</a:t>
            </a: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30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hp_head</a:t>
            </a: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3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30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std</a:t>
            </a: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30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make_hazard_pointer</a:t>
            </a: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p>
          <a:p>
            <a:pPr>
              <a:lnSpc>
                <a:spcPts val="1425"/>
              </a:lnSpc>
              <a:buNone/>
            </a:pP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Node</a:t>
            </a:r>
            <a:r>
              <a:rPr lang="en-SG" sz="13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30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head_ptr</a:t>
            </a: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3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30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hp_head</a:t>
            </a:r>
            <a:r>
              <a:rPr lang="en-SG" sz="13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30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protect</a:t>
            </a: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(head);</a:t>
            </a:r>
            <a:r>
              <a:rPr lang="en-SG" sz="13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 protects '</a:t>
            </a:r>
            <a:r>
              <a:rPr lang="en-SG" sz="1300" b="0" err="1">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head_ptr</a:t>
            </a:r>
            <a:r>
              <a:rPr lang="en-SG" sz="13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a:t>
            </a:r>
            <a:endPar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a:p>
            <a:pPr>
              <a:lnSpc>
                <a:spcPts val="1425"/>
              </a:lnSpc>
              <a:buNone/>
            </a:pP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Node</a:t>
            </a:r>
            <a:r>
              <a:rPr lang="en-SG" sz="13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30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next_ptr</a:t>
            </a: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3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30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head_ptr</a:t>
            </a: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-&gt;</a:t>
            </a:r>
            <a:r>
              <a:rPr lang="en-SG" sz="130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next</a:t>
            </a:r>
            <a:r>
              <a:rPr lang="en-SG" sz="13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30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load</a:t>
            </a: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3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 ❌ not protected</a:t>
            </a:r>
            <a:endPar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a:p>
            <a:pPr>
              <a:lnSpc>
                <a:spcPts val="1425"/>
              </a:lnSpc>
              <a:buNone/>
            </a:pPr>
            <a:r>
              <a:rPr lang="en-SG" sz="130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int</a:t>
            </a: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30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x</a:t>
            </a: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3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30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next_ptr</a:t>
            </a: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-&gt;</a:t>
            </a:r>
            <a:r>
              <a:rPr lang="en-SG" sz="130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value</a:t>
            </a: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3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 use-after-free risk if '</a:t>
            </a:r>
            <a:r>
              <a:rPr lang="en-SG" sz="1300" b="0" err="1">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next_ptr</a:t>
            </a:r>
            <a:r>
              <a:rPr lang="en-SG" sz="13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retired</a:t>
            </a:r>
            <a:endPar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p:txBody>
      </p:sp>
      <p:sp>
        <p:nvSpPr>
          <p:cNvPr id="17" name="TextBox 16">
            <a:extLst>
              <a:ext uri="{FF2B5EF4-FFF2-40B4-BE49-F238E27FC236}">
                <a16:creationId xmlns:a16="http://schemas.microsoft.com/office/drawing/2014/main" id="{25BCA917-9899-3EA4-E431-8CD41CA5AAA8}"/>
              </a:ext>
            </a:extLst>
          </p:cNvPr>
          <p:cNvSpPr txBox="1"/>
          <p:nvPr/>
        </p:nvSpPr>
        <p:spPr>
          <a:xfrm>
            <a:off x="233910" y="5306728"/>
            <a:ext cx="9966730" cy="1349665"/>
          </a:xfrm>
          <a:prstGeom prst="rect">
            <a:avLst/>
          </a:prstGeom>
          <a:solidFill>
            <a:srgbClr val="1F1F1F"/>
          </a:solidFill>
        </p:spPr>
        <p:txBody>
          <a:bodyPr wrap="square">
            <a:spAutoFit/>
          </a:bodyPr>
          <a:lstStyle/>
          <a:p>
            <a:pPr>
              <a:lnSpc>
                <a:spcPts val="1425"/>
              </a:lnSpc>
              <a:buNone/>
            </a:pPr>
            <a:r>
              <a:rPr lang="en-SG" sz="130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auto</a:t>
            </a: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30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hp_head</a:t>
            </a: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3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30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std</a:t>
            </a: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30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make_hazard_pointer</a:t>
            </a: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p>
          <a:p>
            <a:pPr>
              <a:lnSpc>
                <a:spcPts val="1425"/>
              </a:lnSpc>
              <a:buNone/>
            </a:pP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Node</a:t>
            </a:r>
            <a:r>
              <a:rPr lang="en-SG" sz="13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30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head_ptr</a:t>
            </a: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3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30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hp_head</a:t>
            </a:r>
            <a:r>
              <a:rPr lang="en-SG" sz="13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30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protect</a:t>
            </a: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(head);</a:t>
            </a:r>
          </a:p>
          <a:p>
            <a:pPr>
              <a:lnSpc>
                <a:spcPts val="1425"/>
              </a:lnSpc>
              <a:buNone/>
            </a:pPr>
            <a:r>
              <a:rPr lang="en-SG" sz="130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auto</a:t>
            </a: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30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hp_next</a:t>
            </a: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3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30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std</a:t>
            </a: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30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make_hazard_pointer</a:t>
            </a: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p>
          <a:p>
            <a:pPr>
              <a:lnSpc>
                <a:spcPts val="1425"/>
              </a:lnSpc>
              <a:buNone/>
            </a:pP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Node</a:t>
            </a:r>
            <a:r>
              <a:rPr lang="en-SG" sz="13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30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next_ptr</a:t>
            </a: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3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30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hp_next</a:t>
            </a:r>
            <a:r>
              <a:rPr lang="en-SG" sz="13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30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protect</a:t>
            </a: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30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head_ptr</a:t>
            </a: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-&gt;</a:t>
            </a:r>
            <a:r>
              <a:rPr lang="en-SG" sz="130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next</a:t>
            </a: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3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 </a:t>
            </a:r>
            <a:r>
              <a:rPr lang="en-US" sz="1300">
                <a:solidFill>
                  <a:srgbClr val="6A9955"/>
                </a:solidFill>
                <a:latin typeface="JetBrains Mono" panose="02000009000000000000" pitchFamily="49" charset="0"/>
                <a:ea typeface="JetBrains Mono" panose="02000009000000000000" pitchFamily="49" charset="0"/>
                <a:cs typeface="JetBrains Mono" panose="02000009000000000000" pitchFamily="49" charset="0"/>
              </a:rPr>
              <a:t>✅ </a:t>
            </a:r>
            <a:r>
              <a:rPr lang="en-SG" sz="13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protect the atomic 'next' before </a:t>
            </a:r>
            <a:r>
              <a:rPr lang="en-SG" sz="1300" b="0" err="1">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deref</a:t>
            </a:r>
            <a:endPar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a:p>
            <a:pPr>
              <a:lnSpc>
                <a:spcPts val="1425"/>
              </a:lnSpc>
              <a:buNone/>
            </a:pPr>
            <a:r>
              <a:rPr lang="en-SG" sz="130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int</a:t>
            </a: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30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x</a:t>
            </a: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3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30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next_ptr</a:t>
            </a: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-&gt;</a:t>
            </a:r>
            <a:r>
              <a:rPr lang="en-SG" sz="130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value</a:t>
            </a: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3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 safe while </a:t>
            </a:r>
            <a:r>
              <a:rPr lang="en-SG" sz="1300" b="0" err="1">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hp_next</a:t>
            </a:r>
            <a:r>
              <a:rPr lang="en-SG" sz="13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protects '</a:t>
            </a:r>
            <a:r>
              <a:rPr lang="en-SG" sz="1300" b="0" err="1">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next_ptr</a:t>
            </a:r>
            <a:r>
              <a:rPr lang="en-SG" sz="13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a:t>
            </a:r>
            <a:endPar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a:p>
            <a:pPr>
              <a:lnSpc>
                <a:spcPts val="1425"/>
              </a:lnSpc>
              <a:buNone/>
            </a:pPr>
            <a:r>
              <a:rPr lang="en-SG" sz="130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hp_next</a:t>
            </a:r>
            <a:r>
              <a:rPr lang="en-SG" sz="13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30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reset_protection</a:t>
            </a: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p>
          <a:p>
            <a:pPr>
              <a:lnSpc>
                <a:spcPts val="1425"/>
              </a:lnSpc>
              <a:buNone/>
            </a:pPr>
            <a:r>
              <a:rPr lang="en-SG" sz="130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hp_head</a:t>
            </a:r>
            <a:r>
              <a:rPr lang="en-SG" sz="13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30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reset_protection</a:t>
            </a:r>
            <a:r>
              <a:rPr lang="en-SG" sz="13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p>
        </p:txBody>
      </p:sp>
    </p:spTree>
    <p:extLst>
      <p:ext uri="{BB962C8B-B14F-4D97-AF65-F5344CB8AC3E}">
        <p14:creationId xmlns:p14="http://schemas.microsoft.com/office/powerpoint/2010/main" val="35417044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99BA0-69D5-3C3F-0D6C-2F23F7CE85E9}"/>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1F600334-A8E7-C027-1624-4D85553853FC}"/>
              </a:ext>
            </a:extLst>
          </p:cNvPr>
          <p:cNvSpPr txBox="1"/>
          <p:nvPr/>
        </p:nvSpPr>
        <p:spPr>
          <a:xfrm>
            <a:off x="233910" y="208621"/>
            <a:ext cx="7073670" cy="461665"/>
          </a:xfrm>
          <a:prstGeom prst="rect">
            <a:avLst/>
          </a:prstGeom>
          <a:solidFill>
            <a:srgbClr val="002060"/>
          </a:solidFill>
        </p:spPr>
        <p:txBody>
          <a:bodyPr wrap="square" rtlCol="0">
            <a:spAutoFit/>
          </a:bodyPr>
          <a:lstStyle/>
          <a:p>
            <a:r>
              <a:rPr lang="en-US" sz="2400">
                <a:solidFill>
                  <a:schemeClr val="bg1"/>
                </a:solidFill>
                <a:latin typeface="Ubuntu Condensed" panose="020B0506030602030204" pitchFamily="34" charset="0"/>
              </a:rPr>
              <a:t>SMR-related optimizations: Hazard pointers</a:t>
            </a:r>
            <a:endParaRPr lang="ru-RU" sz="2400">
              <a:solidFill>
                <a:schemeClr val="bg1"/>
              </a:solidFill>
              <a:latin typeface="Ubuntu Condensed" panose="020B0506030602030204" pitchFamily="34" charset="0"/>
            </a:endParaRPr>
          </a:p>
        </p:txBody>
      </p:sp>
      <p:sp>
        <p:nvSpPr>
          <p:cNvPr id="7" name="Номер слайда 7">
            <a:extLst>
              <a:ext uri="{FF2B5EF4-FFF2-40B4-BE49-F238E27FC236}">
                <a16:creationId xmlns:a16="http://schemas.microsoft.com/office/drawing/2014/main" id="{C57035D0-180C-2461-137B-8C424D670429}"/>
              </a:ext>
            </a:extLst>
          </p:cNvPr>
          <p:cNvSpPr>
            <a:spLocks noGrp="1"/>
          </p:cNvSpPr>
          <p:nvPr>
            <p:ph type="sldNum" sz="quarter" idx="12"/>
          </p:nvPr>
        </p:nvSpPr>
        <p:spPr>
          <a:xfrm>
            <a:off x="11725835" y="6402070"/>
            <a:ext cx="386155" cy="365125"/>
          </a:xfrm>
        </p:spPr>
        <p:txBody>
          <a:bodyPr/>
          <a:lstStyle/>
          <a:p>
            <a:pPr algn="ctr"/>
            <a:fld id="{E757BAED-F255-4CF1-96BA-8D7417A9C3BC}" type="slidenum">
              <a:rPr lang="ru-RU" sz="1800" smtClean="0">
                <a:latin typeface="Ubuntu Condensed" panose="020B0506030602030204" pitchFamily="34" charset="0"/>
              </a:rPr>
              <a:pPr algn="ctr"/>
              <a:t>32</a:t>
            </a:fld>
            <a:endParaRPr lang="ru-RU" sz="1800">
              <a:latin typeface="Ubuntu Condensed" panose="020B0506030602030204" pitchFamily="34" charset="0"/>
            </a:endParaRPr>
          </a:p>
        </p:txBody>
      </p:sp>
      <p:sp>
        <p:nvSpPr>
          <p:cNvPr id="3" name="TextBox 2">
            <a:extLst>
              <a:ext uri="{FF2B5EF4-FFF2-40B4-BE49-F238E27FC236}">
                <a16:creationId xmlns:a16="http://schemas.microsoft.com/office/drawing/2014/main" id="{558A242B-D313-3C1B-638C-881AF43668DF}"/>
              </a:ext>
            </a:extLst>
          </p:cNvPr>
          <p:cNvSpPr txBox="1"/>
          <p:nvPr/>
        </p:nvSpPr>
        <p:spPr>
          <a:xfrm>
            <a:off x="233910" y="670286"/>
            <a:ext cx="11572010" cy="1384995"/>
          </a:xfrm>
          <a:prstGeom prst="rect">
            <a:avLst/>
          </a:prstGeom>
          <a:noFill/>
        </p:spPr>
        <p:txBody>
          <a:bodyPr wrap="square">
            <a:spAutoFit/>
          </a:bodyPr>
          <a:lstStyle/>
          <a:p>
            <a:pPr>
              <a:buNone/>
            </a:pPr>
            <a:r>
              <a:rPr lang="en-US" sz="1200" b="1"/>
              <a:t>1) Shaping of protected regions (protect‑region shaping)</a:t>
            </a:r>
          </a:p>
          <a:p>
            <a:pPr>
              <a:buNone/>
            </a:pPr>
            <a:r>
              <a:rPr lang="en-US" sz="1200" b="1"/>
              <a:t>Idea:</a:t>
            </a:r>
            <a:r>
              <a:rPr lang="en-US" sz="1200"/>
              <a:t> reduce the number of HP publications and fences via hoist/sink and fusion of protections.</a:t>
            </a:r>
          </a:p>
          <a:p>
            <a:pPr>
              <a:buFont typeface="Arial" panose="020B0604020202020204" pitchFamily="34" charset="0"/>
              <a:buChar char="•"/>
            </a:pPr>
            <a:r>
              <a:rPr lang="en-US" sz="1200" b="1"/>
              <a:t>Hoisting </a:t>
            </a:r>
            <a:r>
              <a:rPr lang="en-US" sz="1200" b="1">
                <a:latin typeface="Courier New" panose="02070309020205020404" pitchFamily="49" charset="0"/>
              </a:rPr>
              <a:t>protect</a:t>
            </a:r>
            <a:r>
              <a:rPr lang="en-US" sz="1200" b="1"/>
              <a:t> out of loop bodies</a:t>
            </a:r>
            <a:r>
              <a:rPr lang="en-US" sz="1200"/>
              <a:t> and </a:t>
            </a:r>
            <a:r>
              <a:rPr lang="en-US" sz="1200" b="1"/>
              <a:t>sinking </a:t>
            </a:r>
            <a:r>
              <a:rPr lang="en-US" sz="1200" b="1" err="1">
                <a:latin typeface="Courier New" panose="02070309020205020404" pitchFamily="49" charset="0"/>
              </a:rPr>
              <a:t>reset_protection</a:t>
            </a:r>
            <a:r>
              <a:rPr lang="en-US" sz="1200"/>
              <a:t> past the last use to cut expensive publications (and fences). This is possible if data‑flow analysis proves the same </a:t>
            </a:r>
            <a:r>
              <a:rPr lang="en-US" sz="1200">
                <a:latin typeface="Courier New" panose="02070309020205020404" pitchFamily="49" charset="0"/>
              </a:rPr>
              <a:t>atomic&lt;T*&gt;</a:t>
            </a:r>
            <a:r>
              <a:rPr lang="en-US" sz="1200"/>
              <a:t> is repeatedly read and dereferenced only after a successful protection.</a:t>
            </a:r>
            <a:br>
              <a:rPr lang="en-US" sz="1200"/>
            </a:br>
            <a:r>
              <a:rPr lang="en-US" sz="1200"/>
              <a:t>Sources: interface and semantics of </a:t>
            </a:r>
            <a:r>
              <a:rPr lang="en-US" sz="1200">
                <a:latin typeface="Courier New" panose="02070309020205020404" pitchFamily="49" charset="0"/>
              </a:rPr>
              <a:t>protect/</a:t>
            </a:r>
            <a:r>
              <a:rPr lang="en-US" sz="1200" err="1">
                <a:latin typeface="Courier New" panose="02070309020205020404" pitchFamily="49" charset="0"/>
              </a:rPr>
              <a:t>try_protect</a:t>
            </a:r>
            <a:r>
              <a:rPr lang="en-US" sz="1200"/>
              <a:t> — </a:t>
            </a:r>
            <a:r>
              <a:rPr lang="en-US" sz="1200">
                <a:hlinkClick r:id="rId2"/>
              </a:rPr>
              <a:t>P2530R3</a:t>
            </a:r>
            <a:r>
              <a:rPr lang="en-US" sz="1200"/>
              <a:t>, </a:t>
            </a:r>
            <a:r>
              <a:rPr lang="en-US" sz="1200" err="1">
                <a:hlinkClick r:id="rId3"/>
              </a:rPr>
              <a:t>cppreference</a:t>
            </a:r>
            <a:r>
              <a:rPr lang="en-US" sz="1200"/>
              <a:t>.</a:t>
            </a:r>
          </a:p>
          <a:p>
            <a:pPr>
              <a:buFont typeface="Arial" panose="020B0604020202020204" pitchFamily="34" charset="0"/>
              <a:buChar char="•"/>
            </a:pPr>
            <a:r>
              <a:rPr lang="en-US" sz="1200" b="1"/>
              <a:t>Batch‑protect:</a:t>
            </a:r>
            <a:r>
              <a:rPr lang="en-US" sz="1200"/>
              <a:t> replace a series of independent </a:t>
            </a:r>
            <a:r>
              <a:rPr lang="en-US" sz="1200">
                <a:latin typeface="Courier New" panose="02070309020205020404" pitchFamily="49" charset="0"/>
              </a:rPr>
              <a:t>protect</a:t>
            </a:r>
            <a:r>
              <a:rPr lang="en-US" sz="1200"/>
              <a:t> calls with a batched form when the </a:t>
            </a:r>
            <a:r>
              <a:rPr lang="en-US" sz="1200" b="1"/>
              <a:t>Hazard Pointer Batches</a:t>
            </a:r>
            <a:r>
              <a:rPr lang="en-US" sz="1200"/>
              <a:t> extension (proposal P3428R0) is available. This can reduce domain operations and publications. Source: </a:t>
            </a:r>
            <a:r>
              <a:rPr lang="en-US" sz="1200">
                <a:hlinkClick r:id="rId4"/>
              </a:rPr>
              <a:t>P3428R0</a:t>
            </a:r>
            <a:r>
              <a:rPr lang="en-US" sz="1200"/>
              <a:t>.</a:t>
            </a:r>
          </a:p>
        </p:txBody>
      </p:sp>
      <p:sp>
        <p:nvSpPr>
          <p:cNvPr id="4" name="TextBox 3">
            <a:extLst>
              <a:ext uri="{FF2B5EF4-FFF2-40B4-BE49-F238E27FC236}">
                <a16:creationId xmlns:a16="http://schemas.microsoft.com/office/drawing/2014/main" id="{ED31A715-29D0-5F0C-20C2-F98DC98E6D80}"/>
              </a:ext>
            </a:extLst>
          </p:cNvPr>
          <p:cNvSpPr txBox="1"/>
          <p:nvPr/>
        </p:nvSpPr>
        <p:spPr>
          <a:xfrm>
            <a:off x="233910" y="2120804"/>
            <a:ext cx="5138978" cy="276999"/>
          </a:xfrm>
          <a:prstGeom prst="rect">
            <a:avLst/>
          </a:prstGeom>
          <a:noFill/>
        </p:spPr>
        <p:txBody>
          <a:bodyPr wrap="square">
            <a:spAutoFit/>
          </a:bodyPr>
          <a:lstStyle/>
          <a:p>
            <a:r>
              <a:rPr lang="en-US" sz="1200" b="1"/>
              <a:t>Before (pattern with unnecessary publication):</a:t>
            </a:r>
          </a:p>
        </p:txBody>
      </p:sp>
      <p:sp>
        <p:nvSpPr>
          <p:cNvPr id="6" name="TextBox 5">
            <a:extLst>
              <a:ext uri="{FF2B5EF4-FFF2-40B4-BE49-F238E27FC236}">
                <a16:creationId xmlns:a16="http://schemas.microsoft.com/office/drawing/2014/main" id="{5E3E296F-ED08-7A69-2389-987F1FDC46CC}"/>
              </a:ext>
            </a:extLst>
          </p:cNvPr>
          <p:cNvSpPr txBox="1"/>
          <p:nvPr/>
        </p:nvSpPr>
        <p:spPr>
          <a:xfrm>
            <a:off x="233909" y="2388615"/>
            <a:ext cx="5138979" cy="2240357"/>
          </a:xfrm>
          <a:prstGeom prst="rect">
            <a:avLst/>
          </a:prstGeom>
          <a:solidFill>
            <a:srgbClr val="1F1F1F"/>
          </a:solidFill>
        </p:spPr>
        <p:txBody>
          <a:bodyPr wrap="square">
            <a:spAutoFit/>
          </a:bodyPr>
          <a:lstStyle/>
          <a:p>
            <a:pPr>
              <a:lnSpc>
                <a:spcPts val="1425"/>
              </a:lnSpc>
              <a:buNone/>
            </a:pPr>
            <a:r>
              <a:rPr lang="en-SG" sz="100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auto</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0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hp</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0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std</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0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make_hazard_pointer</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p>
          <a:p>
            <a:pPr>
              <a:lnSpc>
                <a:spcPts val="1425"/>
              </a:lnSpc>
              <a:buNone/>
            </a:pPr>
            <a:r>
              <a:rPr lang="en-SG" sz="1000" b="0">
                <a:solidFill>
                  <a:srgbClr val="C586C0"/>
                </a:solidFill>
                <a:effectLst/>
                <a:latin typeface="JetBrains Mono" panose="02000009000000000000" pitchFamily="49" charset="0"/>
                <a:ea typeface="JetBrains Mono" panose="02000009000000000000" pitchFamily="49" charset="0"/>
                <a:cs typeface="JetBrains Mono" panose="02000009000000000000" pitchFamily="49" charset="0"/>
              </a:rPr>
              <a:t>for</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 {</a:t>
            </a:r>
          </a:p>
          <a:p>
            <a:pPr>
              <a:lnSpc>
                <a:spcPts val="1425"/>
              </a:lnSpc>
              <a:buNone/>
            </a:pP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Node</a:t>
            </a:r>
            <a:r>
              <a:rPr lang="en-SG" sz="10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p </a:t>
            </a:r>
            <a:r>
              <a:rPr lang="en-SG" sz="10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0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hp</a:t>
            </a:r>
            <a:r>
              <a:rPr lang="en-SG" sz="10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0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protect</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(head);</a:t>
            </a:r>
            <a:r>
              <a:rPr lang="en-SG" sz="10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 publish every iteration</a:t>
            </a:r>
            <a:endPar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a:p>
            <a:pPr>
              <a:lnSpc>
                <a:spcPts val="1425"/>
              </a:lnSpc>
              <a:buNone/>
            </a:pP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Node</a:t>
            </a:r>
            <a:r>
              <a:rPr lang="en-SG" sz="10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n </a:t>
            </a:r>
            <a:r>
              <a:rPr lang="en-SG" sz="10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0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p</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-&gt;</a:t>
            </a:r>
            <a:r>
              <a:rPr lang="en-SG" sz="100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next</a:t>
            </a:r>
            <a:r>
              <a:rPr lang="en-SG" sz="10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0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load</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0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std</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memory_order_relaxed</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p>
          <a:p>
            <a:pPr>
              <a:lnSpc>
                <a:spcPts val="1425"/>
              </a:lnSpc>
              <a:buNone/>
            </a:pP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00" b="0">
                <a:solidFill>
                  <a:srgbClr val="C586C0"/>
                </a:solidFill>
                <a:effectLst/>
                <a:latin typeface="JetBrains Mono" panose="02000009000000000000" pitchFamily="49" charset="0"/>
                <a:ea typeface="JetBrains Mono" panose="02000009000000000000" pitchFamily="49" charset="0"/>
                <a:cs typeface="JetBrains Mono" panose="02000009000000000000" pitchFamily="49" charset="0"/>
              </a:rPr>
              <a:t>if</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0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head</a:t>
            </a:r>
            <a:r>
              <a:rPr lang="en-SG" sz="10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0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compare_exchange_weak</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(p, n,</a:t>
            </a:r>
          </a:p>
          <a:p>
            <a:pPr>
              <a:lnSpc>
                <a:spcPts val="1425"/>
              </a:lnSpc>
              <a:buNone/>
            </a:pP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0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std</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memory_order_acquire</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0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std</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memory_order_relaxed</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p>
          <a:p>
            <a:pPr>
              <a:lnSpc>
                <a:spcPts val="1425"/>
              </a:lnSpc>
              <a:buNone/>
            </a:pP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0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p</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-&gt;</a:t>
            </a:r>
            <a:r>
              <a:rPr lang="en-SG" sz="1000" b="0">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retire</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p>
          <a:p>
            <a:pPr>
              <a:lnSpc>
                <a:spcPts val="1425"/>
              </a:lnSpc>
              <a:buNone/>
            </a:pP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0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hp</a:t>
            </a:r>
            <a:r>
              <a:rPr lang="en-SG" sz="10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0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reset_protection</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p>
          <a:p>
            <a:pPr>
              <a:lnSpc>
                <a:spcPts val="1425"/>
              </a:lnSpc>
              <a:buNone/>
            </a:pP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00" b="0">
                <a:solidFill>
                  <a:srgbClr val="C586C0"/>
                </a:solidFill>
                <a:effectLst/>
                <a:latin typeface="JetBrains Mono" panose="02000009000000000000" pitchFamily="49" charset="0"/>
                <a:ea typeface="JetBrains Mono" panose="02000009000000000000" pitchFamily="49" charset="0"/>
                <a:cs typeface="JetBrains Mono" panose="02000009000000000000" pitchFamily="49" charset="0"/>
              </a:rPr>
              <a:t>break</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p>
          <a:p>
            <a:pPr>
              <a:lnSpc>
                <a:spcPts val="1425"/>
              </a:lnSpc>
              <a:buNone/>
            </a:pP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p>
          <a:p>
            <a:pPr>
              <a:lnSpc>
                <a:spcPts val="1425"/>
              </a:lnSpc>
              <a:buNone/>
            </a:pP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0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hp</a:t>
            </a:r>
            <a:r>
              <a:rPr lang="en-SG" sz="10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0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reset_protection</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 extra reset</a:t>
            </a:r>
            <a:endPar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a:p>
            <a:pPr>
              <a:lnSpc>
                <a:spcPts val="1425"/>
              </a:lnSpc>
              <a:buNone/>
            </a:pP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p>
        </p:txBody>
      </p:sp>
      <p:sp>
        <p:nvSpPr>
          <p:cNvPr id="10" name="TextBox 9">
            <a:extLst>
              <a:ext uri="{FF2B5EF4-FFF2-40B4-BE49-F238E27FC236}">
                <a16:creationId xmlns:a16="http://schemas.microsoft.com/office/drawing/2014/main" id="{A47B9E45-1FEC-9F18-F49C-08DD4027484B}"/>
              </a:ext>
            </a:extLst>
          </p:cNvPr>
          <p:cNvSpPr txBox="1"/>
          <p:nvPr/>
        </p:nvSpPr>
        <p:spPr>
          <a:xfrm>
            <a:off x="5580642" y="2388615"/>
            <a:ext cx="6531348" cy="2416367"/>
          </a:xfrm>
          <a:prstGeom prst="rect">
            <a:avLst/>
          </a:prstGeom>
          <a:solidFill>
            <a:srgbClr val="1F1F1F"/>
          </a:solidFill>
        </p:spPr>
        <p:txBody>
          <a:bodyPr wrap="square">
            <a:spAutoFit/>
          </a:bodyPr>
          <a:lstStyle/>
          <a:p>
            <a:pPr>
              <a:lnSpc>
                <a:spcPts val="1425"/>
              </a:lnSpc>
              <a:buNone/>
            </a:pPr>
            <a:r>
              <a:rPr lang="en-SG" sz="100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auto</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0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hp</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0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std</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0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make_hazard_pointer</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p>
          <a:p>
            <a:pPr>
              <a:lnSpc>
                <a:spcPts val="1425"/>
              </a:lnSpc>
              <a:buNone/>
            </a:pP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Node</a:t>
            </a:r>
            <a:r>
              <a:rPr lang="en-SG" sz="10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0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p</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00" b="0" err="1">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nullptr</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p>
          <a:p>
            <a:pPr>
              <a:lnSpc>
                <a:spcPts val="1425"/>
              </a:lnSpc>
              <a:buNone/>
            </a:pPr>
            <a:r>
              <a:rPr lang="en-SG" sz="1000" b="0">
                <a:solidFill>
                  <a:srgbClr val="C586C0"/>
                </a:solidFill>
                <a:effectLst/>
                <a:latin typeface="JetBrains Mono" panose="02000009000000000000" pitchFamily="49" charset="0"/>
                <a:ea typeface="JetBrains Mono" panose="02000009000000000000" pitchFamily="49" charset="0"/>
                <a:cs typeface="JetBrains Mono" panose="02000009000000000000" pitchFamily="49" charset="0"/>
              </a:rPr>
              <a:t>for</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 {</a:t>
            </a:r>
          </a:p>
          <a:p>
            <a:pPr>
              <a:lnSpc>
                <a:spcPts val="1425"/>
              </a:lnSpc>
              <a:buNone/>
            </a:pP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00" b="0">
                <a:solidFill>
                  <a:srgbClr val="C586C0"/>
                </a:solidFill>
                <a:effectLst/>
                <a:latin typeface="JetBrains Mono" panose="02000009000000000000" pitchFamily="49" charset="0"/>
                <a:ea typeface="JetBrains Mono" panose="02000009000000000000" pitchFamily="49" charset="0"/>
                <a:cs typeface="JetBrains Mono" panose="02000009000000000000" pitchFamily="49" charset="0"/>
              </a:rPr>
              <a:t>if</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0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hp</a:t>
            </a:r>
            <a:r>
              <a:rPr lang="en-SG" sz="10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0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try_protect</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(p, head)) </a:t>
            </a:r>
            <a:r>
              <a:rPr lang="en-SG" sz="1000" b="0">
                <a:solidFill>
                  <a:srgbClr val="C586C0"/>
                </a:solidFill>
                <a:effectLst/>
                <a:latin typeface="JetBrains Mono" panose="02000009000000000000" pitchFamily="49" charset="0"/>
                <a:ea typeface="JetBrains Mono" panose="02000009000000000000" pitchFamily="49" charset="0"/>
                <a:cs typeface="JetBrains Mono" panose="02000009000000000000" pitchFamily="49" charset="0"/>
              </a:rPr>
              <a:t>continue</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 publish only when pointer is stable</a:t>
            </a:r>
            <a:endPar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a:p>
            <a:pPr>
              <a:lnSpc>
                <a:spcPts val="1425"/>
              </a:lnSpc>
              <a:buNone/>
            </a:pP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Node</a:t>
            </a:r>
            <a:r>
              <a:rPr lang="en-SG" sz="10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n </a:t>
            </a:r>
            <a:r>
              <a:rPr lang="en-SG" sz="10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0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p</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-&gt;</a:t>
            </a:r>
            <a:r>
              <a:rPr lang="en-SG" sz="100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next</a:t>
            </a:r>
            <a:r>
              <a:rPr lang="en-SG" sz="10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0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load</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0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std</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memory_order_relaxed</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p>
          <a:p>
            <a:pPr>
              <a:lnSpc>
                <a:spcPts val="1425"/>
              </a:lnSpc>
              <a:buNone/>
            </a:pP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00" b="0">
                <a:solidFill>
                  <a:srgbClr val="C586C0"/>
                </a:solidFill>
                <a:effectLst/>
                <a:latin typeface="JetBrains Mono" panose="02000009000000000000" pitchFamily="49" charset="0"/>
                <a:ea typeface="JetBrains Mono" panose="02000009000000000000" pitchFamily="49" charset="0"/>
                <a:cs typeface="JetBrains Mono" panose="02000009000000000000" pitchFamily="49" charset="0"/>
              </a:rPr>
              <a:t>if</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0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head</a:t>
            </a:r>
            <a:r>
              <a:rPr lang="en-SG" sz="10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0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compare_exchange_weak</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(p, n,</a:t>
            </a:r>
          </a:p>
          <a:p>
            <a:pPr>
              <a:lnSpc>
                <a:spcPts val="1425"/>
              </a:lnSpc>
              <a:buNone/>
            </a:pP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0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std</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memory_order_acquire</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0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std</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memory_order_relaxed</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p>
          <a:p>
            <a:pPr>
              <a:lnSpc>
                <a:spcPts val="1425"/>
              </a:lnSpc>
              <a:buNone/>
            </a:pP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0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p</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-&gt;</a:t>
            </a:r>
            <a:r>
              <a:rPr lang="en-SG" sz="1000" b="0">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retire</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 schedule safe reclamation</a:t>
            </a:r>
            <a:endPar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a:p>
            <a:pPr>
              <a:lnSpc>
                <a:spcPts val="1425"/>
              </a:lnSpc>
              <a:buNone/>
            </a:pP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00" b="0">
                <a:solidFill>
                  <a:srgbClr val="C586C0"/>
                </a:solidFill>
                <a:effectLst/>
                <a:latin typeface="JetBrains Mono" panose="02000009000000000000" pitchFamily="49" charset="0"/>
                <a:ea typeface="JetBrains Mono" panose="02000009000000000000" pitchFamily="49" charset="0"/>
                <a:cs typeface="JetBrains Mono" panose="02000009000000000000" pitchFamily="49" charset="0"/>
              </a:rPr>
              <a:t>break</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 hazard remains protected until exit</a:t>
            </a:r>
            <a:endPar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a:p>
            <a:pPr>
              <a:lnSpc>
                <a:spcPts val="1425"/>
              </a:lnSpc>
              <a:buNone/>
            </a:pP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p>
          <a:p>
            <a:pPr>
              <a:lnSpc>
                <a:spcPts val="1425"/>
              </a:lnSpc>
              <a:buNone/>
            </a:pPr>
            <a:r>
              <a:rPr lang="en-SG" sz="10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 loop retries; hp keeps protection until next </a:t>
            </a:r>
            <a:r>
              <a:rPr lang="en-SG" sz="1000" b="0" err="1">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try_protect</a:t>
            </a:r>
            <a:r>
              <a:rPr lang="en-SG" sz="10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succeeds or scope ends</a:t>
            </a:r>
            <a:endPar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a:p>
            <a:pPr>
              <a:lnSpc>
                <a:spcPts val="1425"/>
              </a:lnSpc>
              <a:buNone/>
            </a:pP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p>
          <a:p>
            <a:pPr>
              <a:lnSpc>
                <a:spcPts val="1425"/>
              </a:lnSpc>
              <a:buNone/>
            </a:pPr>
            <a:r>
              <a:rPr lang="en-SG" sz="100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hp</a:t>
            </a:r>
            <a:r>
              <a:rPr lang="en-SG" sz="10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0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reset_protection</a:t>
            </a:r>
            <a:r>
              <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 single sink at the end</a:t>
            </a:r>
            <a:endParaRPr lang="en-SG" sz="10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p:txBody>
      </p:sp>
      <p:sp>
        <p:nvSpPr>
          <p:cNvPr id="12" name="TextBox 11">
            <a:extLst>
              <a:ext uri="{FF2B5EF4-FFF2-40B4-BE49-F238E27FC236}">
                <a16:creationId xmlns:a16="http://schemas.microsoft.com/office/drawing/2014/main" id="{51B3638C-8E9D-978E-2774-CA35AFEF7C9A}"/>
              </a:ext>
            </a:extLst>
          </p:cNvPr>
          <p:cNvSpPr txBox="1"/>
          <p:nvPr/>
        </p:nvSpPr>
        <p:spPr>
          <a:xfrm>
            <a:off x="5580642" y="2120804"/>
            <a:ext cx="6094948" cy="276999"/>
          </a:xfrm>
          <a:prstGeom prst="rect">
            <a:avLst/>
          </a:prstGeom>
          <a:noFill/>
        </p:spPr>
        <p:txBody>
          <a:bodyPr wrap="square">
            <a:spAutoFit/>
          </a:bodyPr>
          <a:lstStyle>
            <a:defPPr>
              <a:defRPr lang="ru-RU"/>
            </a:defPPr>
            <a:lvl1pPr>
              <a:defRPr sz="1200" b="1"/>
            </a:lvl1pPr>
          </a:lstStyle>
          <a:p>
            <a:r>
              <a:rPr lang="en-US"/>
              <a:t>After (use </a:t>
            </a:r>
            <a:r>
              <a:rPr lang="en-US" err="1"/>
              <a:t>try_protect</a:t>
            </a:r>
            <a:r>
              <a:rPr lang="en-US"/>
              <a:t> + hoist/sink):</a:t>
            </a:r>
            <a:endParaRPr lang="en-SG"/>
          </a:p>
        </p:txBody>
      </p:sp>
    </p:spTree>
    <p:extLst>
      <p:ext uri="{BB962C8B-B14F-4D97-AF65-F5344CB8AC3E}">
        <p14:creationId xmlns:p14="http://schemas.microsoft.com/office/powerpoint/2010/main" val="30306595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7467A-DC13-AA32-C131-655DF8FF2ABE}"/>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534F3DE4-3A1C-5FB2-5D69-C2F841895BD1}"/>
              </a:ext>
            </a:extLst>
          </p:cNvPr>
          <p:cNvSpPr txBox="1"/>
          <p:nvPr/>
        </p:nvSpPr>
        <p:spPr>
          <a:xfrm>
            <a:off x="233910" y="208621"/>
            <a:ext cx="7073670" cy="461665"/>
          </a:xfrm>
          <a:prstGeom prst="rect">
            <a:avLst/>
          </a:prstGeom>
          <a:solidFill>
            <a:srgbClr val="002060"/>
          </a:solidFill>
        </p:spPr>
        <p:txBody>
          <a:bodyPr wrap="square" rtlCol="0">
            <a:spAutoFit/>
          </a:bodyPr>
          <a:lstStyle/>
          <a:p>
            <a:r>
              <a:rPr lang="en-US" sz="2400">
                <a:solidFill>
                  <a:schemeClr val="bg1"/>
                </a:solidFill>
                <a:latin typeface="Ubuntu Condensed" panose="020B0506030602030204" pitchFamily="34" charset="0"/>
              </a:rPr>
              <a:t>SMR-related optimizations: Optimize publications</a:t>
            </a:r>
            <a:endParaRPr lang="ru-RU" sz="2400">
              <a:solidFill>
                <a:schemeClr val="bg1"/>
              </a:solidFill>
              <a:latin typeface="Ubuntu Condensed" panose="020B0506030602030204" pitchFamily="34" charset="0"/>
            </a:endParaRPr>
          </a:p>
        </p:txBody>
      </p:sp>
      <p:sp>
        <p:nvSpPr>
          <p:cNvPr id="7" name="Номер слайда 7">
            <a:extLst>
              <a:ext uri="{FF2B5EF4-FFF2-40B4-BE49-F238E27FC236}">
                <a16:creationId xmlns:a16="http://schemas.microsoft.com/office/drawing/2014/main" id="{28A26C2A-F027-CFBA-76BC-3C0FC17BE4E4}"/>
              </a:ext>
            </a:extLst>
          </p:cNvPr>
          <p:cNvSpPr>
            <a:spLocks noGrp="1"/>
          </p:cNvSpPr>
          <p:nvPr>
            <p:ph type="sldNum" sz="quarter" idx="12"/>
          </p:nvPr>
        </p:nvSpPr>
        <p:spPr>
          <a:xfrm>
            <a:off x="11725835" y="6402070"/>
            <a:ext cx="386155" cy="365125"/>
          </a:xfrm>
        </p:spPr>
        <p:txBody>
          <a:bodyPr/>
          <a:lstStyle/>
          <a:p>
            <a:pPr algn="ctr"/>
            <a:fld id="{E757BAED-F255-4CF1-96BA-8D7417A9C3BC}" type="slidenum">
              <a:rPr lang="ru-RU" sz="1800" smtClean="0">
                <a:latin typeface="Ubuntu Condensed" panose="020B0506030602030204" pitchFamily="34" charset="0"/>
              </a:rPr>
              <a:pPr algn="ctr"/>
              <a:t>33</a:t>
            </a:fld>
            <a:endParaRPr lang="ru-RU" sz="1800">
              <a:latin typeface="Ubuntu Condensed" panose="020B0506030602030204" pitchFamily="34" charset="0"/>
            </a:endParaRPr>
          </a:p>
        </p:txBody>
      </p:sp>
      <p:sp>
        <p:nvSpPr>
          <p:cNvPr id="3" name="TextBox 2">
            <a:extLst>
              <a:ext uri="{FF2B5EF4-FFF2-40B4-BE49-F238E27FC236}">
                <a16:creationId xmlns:a16="http://schemas.microsoft.com/office/drawing/2014/main" id="{4ACDBECC-2AE7-726D-49FE-70E31A100B9D}"/>
              </a:ext>
            </a:extLst>
          </p:cNvPr>
          <p:cNvSpPr txBox="1"/>
          <p:nvPr/>
        </p:nvSpPr>
        <p:spPr>
          <a:xfrm>
            <a:off x="233910" y="670286"/>
            <a:ext cx="11572010" cy="1200329"/>
          </a:xfrm>
          <a:prstGeom prst="rect">
            <a:avLst/>
          </a:prstGeom>
          <a:noFill/>
        </p:spPr>
        <p:txBody>
          <a:bodyPr wrap="square">
            <a:spAutoFit/>
          </a:bodyPr>
          <a:lstStyle/>
          <a:p>
            <a:r>
              <a:rPr lang="en-US" sz="1200" b="1"/>
              <a:t>2) Replacing “eager” publication with “reactive” (HP→NBR/NBR+ / Publish‑on‑Ping)</a:t>
            </a:r>
          </a:p>
          <a:p>
            <a:r>
              <a:rPr lang="en-US" sz="1200" b="1"/>
              <a:t>Idea:</a:t>
            </a:r>
            <a:r>
              <a:rPr lang="en-US" sz="1200"/>
              <a:t> stop publishing protection </a:t>
            </a:r>
            <a:r>
              <a:rPr lang="en-US" sz="1200" b="1"/>
              <a:t>before every read</a:t>
            </a:r>
            <a:r>
              <a:rPr lang="en-US" sz="1200"/>
              <a:t> — publish </a:t>
            </a:r>
            <a:r>
              <a:rPr lang="en-US" sz="1200" b="1"/>
              <a:t>on demand</a:t>
            </a:r>
            <a:r>
              <a:rPr lang="en-US" sz="1200"/>
              <a:t>, lowering fence overhead.</a:t>
            </a:r>
          </a:p>
          <a:p>
            <a:r>
              <a:rPr lang="en-US" sz="1200"/>
              <a:t>The Waterloo line of work (2024–2025) shows </a:t>
            </a:r>
            <a:r>
              <a:rPr lang="en-US" sz="1200" b="1"/>
              <a:t>Publish‑on‑Ping / NBR/NBR+</a:t>
            </a:r>
            <a:r>
              <a:rPr lang="en-US" sz="1200"/>
              <a:t> as a drop‑in replacement for HP/HE with 1.2–4× speedups and an </a:t>
            </a:r>
            <a:r>
              <a:rPr lang="en-US" sz="1200" err="1"/>
              <a:t>EpochPOP</a:t>
            </a:r>
            <a:r>
              <a:rPr lang="en-US" sz="1200"/>
              <a:t> variant that approaches EBR performance while retaining HP‑like robustness. A compiler can:</a:t>
            </a:r>
            <a:br>
              <a:rPr lang="en-US" sz="1200"/>
            </a:br>
            <a:r>
              <a:rPr lang="en-US" sz="1200"/>
              <a:t>(a) detect patterns of “eager protect in every iteration”;</a:t>
            </a:r>
            <a:br>
              <a:rPr lang="en-US" sz="1200"/>
            </a:br>
            <a:r>
              <a:rPr lang="en-US" sz="1200"/>
              <a:t>(b) switch them to library APIs of </a:t>
            </a:r>
            <a:r>
              <a:rPr lang="en-US" sz="1200" b="1"/>
              <a:t>NBR+</a:t>
            </a:r>
            <a:r>
              <a:rPr lang="en-US" sz="1200"/>
              <a:t>, if the target platform/runtime supports them (with proven protocol equivalence).</a:t>
            </a:r>
          </a:p>
        </p:txBody>
      </p:sp>
      <p:sp>
        <p:nvSpPr>
          <p:cNvPr id="4" name="TextBox 3">
            <a:extLst>
              <a:ext uri="{FF2B5EF4-FFF2-40B4-BE49-F238E27FC236}">
                <a16:creationId xmlns:a16="http://schemas.microsoft.com/office/drawing/2014/main" id="{D7D4367D-2D14-22CD-9ED5-B7FDDECFE168}"/>
              </a:ext>
            </a:extLst>
          </p:cNvPr>
          <p:cNvSpPr txBox="1"/>
          <p:nvPr/>
        </p:nvSpPr>
        <p:spPr>
          <a:xfrm>
            <a:off x="233910" y="2120804"/>
            <a:ext cx="5138978" cy="276999"/>
          </a:xfrm>
          <a:prstGeom prst="rect">
            <a:avLst/>
          </a:prstGeom>
          <a:noFill/>
        </p:spPr>
        <p:txBody>
          <a:bodyPr wrap="square">
            <a:spAutoFit/>
          </a:bodyPr>
          <a:lstStyle/>
          <a:p>
            <a:r>
              <a:rPr lang="en-US" sz="1200" b="1"/>
              <a:t>Before:</a:t>
            </a:r>
          </a:p>
        </p:txBody>
      </p:sp>
      <p:sp>
        <p:nvSpPr>
          <p:cNvPr id="6" name="TextBox 5">
            <a:extLst>
              <a:ext uri="{FF2B5EF4-FFF2-40B4-BE49-F238E27FC236}">
                <a16:creationId xmlns:a16="http://schemas.microsoft.com/office/drawing/2014/main" id="{4796FE1E-7EAF-6823-A0D9-9622D5331E94}"/>
              </a:ext>
            </a:extLst>
          </p:cNvPr>
          <p:cNvSpPr txBox="1"/>
          <p:nvPr/>
        </p:nvSpPr>
        <p:spPr>
          <a:xfrm>
            <a:off x="233909" y="2388615"/>
            <a:ext cx="5138979" cy="3312061"/>
          </a:xfrm>
          <a:prstGeom prst="rect">
            <a:avLst/>
          </a:prstGeom>
          <a:solidFill>
            <a:srgbClr val="1F1F1F"/>
          </a:solidFill>
        </p:spPr>
        <p:txBody>
          <a:bodyPr wrap="square">
            <a:spAutoFit/>
          </a:bodyPr>
          <a:lstStyle/>
          <a:p>
            <a:pPr>
              <a:lnSpc>
                <a:spcPts val="1425"/>
              </a:lnSpc>
              <a:buNone/>
            </a:pPr>
            <a:r>
              <a:rPr lang="en-SG" sz="1000" b="0">
                <a:solidFill>
                  <a:srgbClr val="569CD6"/>
                </a:solidFill>
                <a:effectLst/>
                <a:latin typeface="Consolas" panose="020B0609020204030204" pitchFamily="49" charset="0"/>
              </a:rPr>
              <a:t>struct</a:t>
            </a:r>
            <a:r>
              <a:rPr lang="en-SG" sz="1000" b="0">
                <a:solidFill>
                  <a:srgbClr val="CCCCCC"/>
                </a:solidFill>
                <a:effectLst/>
                <a:latin typeface="Consolas" panose="020B0609020204030204" pitchFamily="49" charset="0"/>
              </a:rPr>
              <a:t> </a:t>
            </a:r>
            <a:r>
              <a:rPr lang="en-SG" sz="1000" b="0">
                <a:solidFill>
                  <a:srgbClr val="4EC9B0"/>
                </a:solidFill>
                <a:effectLst/>
                <a:latin typeface="Consolas" panose="020B0609020204030204" pitchFamily="49" charset="0"/>
              </a:rPr>
              <a:t>Entry</a:t>
            </a:r>
            <a:r>
              <a:rPr lang="en-SG" sz="1000" b="0">
                <a:solidFill>
                  <a:srgbClr val="CCCCCC"/>
                </a:solidFill>
                <a:effectLst/>
                <a:latin typeface="Consolas" panose="020B0609020204030204" pitchFamily="49" charset="0"/>
              </a:rPr>
              <a:t> : </a:t>
            </a:r>
            <a:r>
              <a:rPr lang="en-SG" sz="1000" b="0">
                <a:solidFill>
                  <a:srgbClr val="4EC9B0"/>
                </a:solidFill>
                <a:effectLst/>
                <a:latin typeface="Consolas" panose="020B0609020204030204" pitchFamily="49" charset="0"/>
              </a:rPr>
              <a:t>std</a:t>
            </a:r>
            <a:r>
              <a:rPr lang="en-SG" sz="1000" b="0">
                <a:solidFill>
                  <a:srgbClr val="CCCCCC"/>
                </a:solidFill>
                <a:effectLst/>
                <a:latin typeface="Consolas" panose="020B0609020204030204" pitchFamily="49" charset="0"/>
              </a:rPr>
              <a:t>::</a:t>
            </a:r>
            <a:r>
              <a:rPr lang="en-SG" sz="1000" b="0" err="1">
                <a:solidFill>
                  <a:srgbClr val="4EC9B0"/>
                </a:solidFill>
                <a:effectLst/>
                <a:latin typeface="Consolas" panose="020B0609020204030204" pitchFamily="49" charset="0"/>
              </a:rPr>
              <a:t>hazard_pointer_obj_base</a:t>
            </a:r>
            <a:r>
              <a:rPr lang="en-SG" sz="1000" b="0">
                <a:solidFill>
                  <a:srgbClr val="CCCCCC"/>
                </a:solidFill>
                <a:effectLst/>
                <a:latin typeface="Consolas" panose="020B0609020204030204" pitchFamily="49" charset="0"/>
              </a:rPr>
              <a:t>&lt;</a:t>
            </a:r>
            <a:r>
              <a:rPr lang="en-SG" sz="1000" b="0">
                <a:solidFill>
                  <a:srgbClr val="4EC9B0"/>
                </a:solidFill>
                <a:effectLst/>
                <a:latin typeface="Consolas" panose="020B0609020204030204" pitchFamily="49" charset="0"/>
              </a:rPr>
              <a:t>Entry</a:t>
            </a:r>
            <a:r>
              <a:rPr lang="en-SG" sz="1000" b="0">
                <a:solidFill>
                  <a:srgbClr val="CCCCCC"/>
                </a:solidFill>
                <a:effectLst/>
                <a:latin typeface="Consolas" panose="020B0609020204030204" pitchFamily="49" charset="0"/>
              </a:rPr>
              <a:t>&gt; {</a:t>
            </a:r>
          </a:p>
          <a:p>
            <a:pPr>
              <a:lnSpc>
                <a:spcPts val="1425"/>
              </a:lnSpc>
              <a:buNone/>
            </a:pPr>
            <a:r>
              <a:rPr lang="en-SG" sz="1000" b="0">
                <a:solidFill>
                  <a:srgbClr val="CCCCCC"/>
                </a:solidFill>
                <a:effectLst/>
                <a:latin typeface="Consolas" panose="020B0609020204030204" pitchFamily="49" charset="0"/>
              </a:rPr>
              <a:t>  </a:t>
            </a:r>
            <a:r>
              <a:rPr lang="en-SG" sz="1000" b="0">
                <a:solidFill>
                  <a:srgbClr val="569CD6"/>
                </a:solidFill>
                <a:effectLst/>
                <a:latin typeface="Consolas" panose="020B0609020204030204" pitchFamily="49" charset="0"/>
              </a:rPr>
              <a:t>int</a:t>
            </a:r>
            <a:r>
              <a:rPr lang="en-SG" sz="1000" b="0">
                <a:solidFill>
                  <a:srgbClr val="CCCCCC"/>
                </a:solidFill>
                <a:effectLst/>
                <a:latin typeface="Consolas" panose="020B0609020204030204" pitchFamily="49" charset="0"/>
              </a:rPr>
              <a:t> key, value;</a:t>
            </a:r>
          </a:p>
          <a:p>
            <a:pPr>
              <a:lnSpc>
                <a:spcPts val="1425"/>
              </a:lnSpc>
              <a:buNone/>
            </a:pPr>
            <a:r>
              <a:rPr lang="en-SG" sz="1000" b="0">
                <a:solidFill>
                  <a:srgbClr val="CCCCCC"/>
                </a:solidFill>
                <a:effectLst/>
                <a:latin typeface="Consolas" panose="020B0609020204030204" pitchFamily="49" charset="0"/>
              </a:rPr>
              <a:t>  </a:t>
            </a:r>
            <a:r>
              <a:rPr lang="en-SG" sz="1000" b="0">
                <a:solidFill>
                  <a:srgbClr val="4EC9B0"/>
                </a:solidFill>
                <a:effectLst/>
                <a:latin typeface="Consolas" panose="020B0609020204030204" pitchFamily="49" charset="0"/>
              </a:rPr>
              <a:t>std</a:t>
            </a:r>
            <a:r>
              <a:rPr lang="en-SG" sz="1000" b="0">
                <a:solidFill>
                  <a:srgbClr val="CCCCCC"/>
                </a:solidFill>
                <a:effectLst/>
                <a:latin typeface="Consolas" panose="020B0609020204030204" pitchFamily="49" charset="0"/>
              </a:rPr>
              <a:t>::atomic</a:t>
            </a:r>
            <a:r>
              <a:rPr lang="en-SG" sz="1000" b="0">
                <a:solidFill>
                  <a:srgbClr val="D4D4D4"/>
                </a:solidFill>
                <a:effectLst/>
                <a:latin typeface="Consolas" panose="020B0609020204030204" pitchFamily="49" charset="0"/>
              </a:rPr>
              <a:t>&lt;</a:t>
            </a:r>
            <a:r>
              <a:rPr lang="en-SG" sz="1000" b="0">
                <a:solidFill>
                  <a:srgbClr val="CCCCCC"/>
                </a:solidFill>
                <a:effectLst/>
                <a:latin typeface="Consolas" panose="020B0609020204030204" pitchFamily="49" charset="0"/>
              </a:rPr>
              <a:t>Entry</a:t>
            </a:r>
            <a:r>
              <a:rPr lang="en-SG" sz="1000" b="0">
                <a:solidFill>
                  <a:srgbClr val="D4D4D4"/>
                </a:solidFill>
                <a:effectLst/>
                <a:latin typeface="Consolas" panose="020B0609020204030204" pitchFamily="49" charset="0"/>
              </a:rPr>
              <a:t>*&gt;</a:t>
            </a:r>
            <a:r>
              <a:rPr lang="en-SG" sz="1000" b="0">
                <a:solidFill>
                  <a:srgbClr val="CCCCCC"/>
                </a:solidFill>
                <a:effectLst/>
                <a:latin typeface="Consolas" panose="020B0609020204030204" pitchFamily="49" charset="0"/>
              </a:rPr>
              <a:t> next{</a:t>
            </a:r>
            <a:r>
              <a:rPr lang="en-SG" sz="1000" b="0" err="1">
                <a:solidFill>
                  <a:srgbClr val="569CD6"/>
                </a:solidFill>
                <a:effectLst/>
                <a:latin typeface="Consolas" panose="020B0609020204030204" pitchFamily="49" charset="0"/>
              </a:rPr>
              <a:t>nullptr</a:t>
            </a:r>
            <a:r>
              <a:rPr lang="en-SG" sz="1000" b="0">
                <a:solidFill>
                  <a:srgbClr val="CCCCCC"/>
                </a:solidFill>
                <a:effectLst/>
                <a:latin typeface="Consolas" panose="020B0609020204030204" pitchFamily="49" charset="0"/>
              </a:rPr>
              <a:t>};</a:t>
            </a:r>
          </a:p>
          <a:p>
            <a:pPr>
              <a:lnSpc>
                <a:spcPts val="1425"/>
              </a:lnSpc>
              <a:buNone/>
            </a:pPr>
            <a:r>
              <a:rPr lang="en-SG" sz="1000" b="0">
                <a:solidFill>
                  <a:srgbClr val="CCCCCC"/>
                </a:solidFill>
                <a:effectLst/>
                <a:latin typeface="Consolas" panose="020B0609020204030204" pitchFamily="49" charset="0"/>
              </a:rPr>
              <a:t>};</a:t>
            </a:r>
          </a:p>
          <a:p>
            <a:pPr>
              <a:lnSpc>
                <a:spcPts val="1425"/>
              </a:lnSpc>
              <a:buNone/>
            </a:pPr>
            <a:endParaRPr lang="en-SG" sz="1000" b="0">
              <a:solidFill>
                <a:srgbClr val="CCCCCC"/>
              </a:solidFill>
              <a:effectLst/>
              <a:latin typeface="Consolas" panose="020B0609020204030204" pitchFamily="49" charset="0"/>
            </a:endParaRPr>
          </a:p>
          <a:p>
            <a:pPr>
              <a:lnSpc>
                <a:spcPts val="1425"/>
              </a:lnSpc>
              <a:buNone/>
            </a:pPr>
            <a:r>
              <a:rPr lang="en-SG" sz="1000" b="0">
                <a:solidFill>
                  <a:srgbClr val="4EC9B0"/>
                </a:solidFill>
                <a:effectLst/>
                <a:latin typeface="Consolas" panose="020B0609020204030204" pitchFamily="49" charset="0"/>
              </a:rPr>
              <a:t>std</a:t>
            </a:r>
            <a:r>
              <a:rPr lang="en-SG" sz="1000" b="0">
                <a:solidFill>
                  <a:srgbClr val="CCCCCC"/>
                </a:solidFill>
                <a:effectLst/>
                <a:latin typeface="Consolas" panose="020B0609020204030204" pitchFamily="49" charset="0"/>
              </a:rPr>
              <a:t>::</a:t>
            </a:r>
            <a:r>
              <a:rPr lang="en-SG" sz="1000" b="0">
                <a:solidFill>
                  <a:srgbClr val="4EC9B0"/>
                </a:solidFill>
                <a:effectLst/>
                <a:latin typeface="Consolas" panose="020B0609020204030204" pitchFamily="49" charset="0"/>
              </a:rPr>
              <a:t>atomic</a:t>
            </a:r>
            <a:r>
              <a:rPr lang="en-SG" sz="1000" b="0">
                <a:solidFill>
                  <a:srgbClr val="D4D4D4"/>
                </a:solidFill>
                <a:effectLst/>
                <a:latin typeface="Consolas" panose="020B0609020204030204" pitchFamily="49" charset="0"/>
              </a:rPr>
              <a:t>&lt;</a:t>
            </a:r>
            <a:r>
              <a:rPr lang="en-SG" sz="1000" b="0">
                <a:solidFill>
                  <a:srgbClr val="4EC9B0"/>
                </a:solidFill>
                <a:effectLst/>
                <a:latin typeface="Consolas" panose="020B0609020204030204" pitchFamily="49" charset="0"/>
              </a:rPr>
              <a:t>Entry</a:t>
            </a:r>
            <a:r>
              <a:rPr lang="en-SG" sz="1000" b="0">
                <a:solidFill>
                  <a:srgbClr val="D4D4D4"/>
                </a:solidFill>
                <a:effectLst/>
                <a:latin typeface="Consolas" panose="020B0609020204030204" pitchFamily="49" charset="0"/>
              </a:rPr>
              <a:t>*&gt;</a:t>
            </a:r>
            <a:r>
              <a:rPr lang="en-SG" sz="1000" b="0">
                <a:solidFill>
                  <a:srgbClr val="CCCCCC"/>
                </a:solidFill>
                <a:effectLst/>
                <a:latin typeface="Consolas" panose="020B0609020204030204" pitchFamily="49" charset="0"/>
              </a:rPr>
              <a:t> </a:t>
            </a:r>
            <a:r>
              <a:rPr lang="en-SG" sz="1000" b="0" err="1">
                <a:solidFill>
                  <a:srgbClr val="9CDCFE"/>
                </a:solidFill>
                <a:effectLst/>
                <a:latin typeface="Consolas" panose="020B0609020204030204" pitchFamily="49" charset="0"/>
              </a:rPr>
              <a:t>table_head</a:t>
            </a:r>
            <a:r>
              <a:rPr lang="en-SG" sz="1000" b="0">
                <a:solidFill>
                  <a:srgbClr val="CCCCCC"/>
                </a:solidFill>
                <a:effectLst/>
                <a:latin typeface="Consolas" panose="020B0609020204030204" pitchFamily="49" charset="0"/>
              </a:rPr>
              <a:t>{</a:t>
            </a:r>
            <a:r>
              <a:rPr lang="en-SG" sz="1000" b="0" err="1">
                <a:solidFill>
                  <a:srgbClr val="569CD6"/>
                </a:solidFill>
                <a:effectLst/>
                <a:latin typeface="Consolas" panose="020B0609020204030204" pitchFamily="49" charset="0"/>
              </a:rPr>
              <a:t>nullptr</a:t>
            </a:r>
            <a:r>
              <a:rPr lang="en-SG" sz="1000" b="0">
                <a:solidFill>
                  <a:srgbClr val="CCCCCC"/>
                </a:solidFill>
                <a:effectLst/>
                <a:latin typeface="Consolas" panose="020B0609020204030204" pitchFamily="49" charset="0"/>
              </a:rPr>
              <a:t>};</a:t>
            </a:r>
          </a:p>
          <a:p>
            <a:pPr>
              <a:lnSpc>
                <a:spcPts val="1425"/>
              </a:lnSpc>
              <a:buNone/>
            </a:pPr>
            <a:r>
              <a:rPr lang="en-SG" sz="1000" b="0">
                <a:solidFill>
                  <a:srgbClr val="569CD6"/>
                </a:solidFill>
                <a:effectLst/>
                <a:latin typeface="Consolas" panose="020B0609020204030204" pitchFamily="49" charset="0"/>
              </a:rPr>
              <a:t>int</a:t>
            </a:r>
            <a:r>
              <a:rPr lang="en-SG" sz="1000" b="0">
                <a:solidFill>
                  <a:srgbClr val="CCCCCC"/>
                </a:solidFill>
                <a:effectLst/>
                <a:latin typeface="Consolas" panose="020B0609020204030204" pitchFamily="49" charset="0"/>
              </a:rPr>
              <a:t> </a:t>
            </a:r>
            <a:r>
              <a:rPr lang="en-SG" sz="1000" b="0" err="1">
                <a:solidFill>
                  <a:srgbClr val="DCDCAA"/>
                </a:solidFill>
                <a:effectLst/>
                <a:latin typeface="Consolas" panose="020B0609020204030204" pitchFamily="49" charset="0"/>
              </a:rPr>
              <a:t>lookup_hp</a:t>
            </a:r>
            <a:r>
              <a:rPr lang="en-SG" sz="1000" b="0">
                <a:solidFill>
                  <a:srgbClr val="CCCCCC"/>
                </a:solidFill>
                <a:effectLst/>
                <a:latin typeface="Consolas" panose="020B0609020204030204" pitchFamily="49" charset="0"/>
              </a:rPr>
              <a:t>(</a:t>
            </a:r>
            <a:r>
              <a:rPr lang="en-SG" sz="1000" b="0">
                <a:solidFill>
                  <a:srgbClr val="569CD6"/>
                </a:solidFill>
                <a:effectLst/>
                <a:latin typeface="Consolas" panose="020B0609020204030204" pitchFamily="49" charset="0"/>
              </a:rPr>
              <a:t>int</a:t>
            </a:r>
            <a:r>
              <a:rPr lang="en-SG" sz="1000" b="0">
                <a:solidFill>
                  <a:srgbClr val="CCCCCC"/>
                </a:solidFill>
                <a:effectLst/>
                <a:latin typeface="Consolas" panose="020B0609020204030204" pitchFamily="49" charset="0"/>
              </a:rPr>
              <a:t> </a:t>
            </a:r>
            <a:r>
              <a:rPr lang="en-SG" sz="1000" b="0">
                <a:solidFill>
                  <a:srgbClr val="9CDCFE"/>
                </a:solidFill>
                <a:effectLst/>
                <a:latin typeface="Consolas" panose="020B0609020204030204" pitchFamily="49" charset="0"/>
              </a:rPr>
              <a:t>k</a:t>
            </a:r>
            <a:r>
              <a:rPr lang="en-SG" sz="1000" b="0">
                <a:solidFill>
                  <a:srgbClr val="CCCCCC"/>
                </a:solidFill>
                <a:effectLst/>
                <a:latin typeface="Consolas" panose="020B0609020204030204" pitchFamily="49" charset="0"/>
              </a:rPr>
              <a:t>) {</a:t>
            </a:r>
          </a:p>
          <a:p>
            <a:pPr>
              <a:lnSpc>
                <a:spcPts val="1425"/>
              </a:lnSpc>
              <a:buNone/>
            </a:pPr>
            <a:r>
              <a:rPr lang="en-SG" sz="1000" b="0">
                <a:solidFill>
                  <a:srgbClr val="CCCCCC"/>
                </a:solidFill>
                <a:effectLst/>
                <a:latin typeface="Consolas" panose="020B0609020204030204" pitchFamily="49" charset="0"/>
              </a:rPr>
              <a:t>  </a:t>
            </a:r>
            <a:r>
              <a:rPr lang="en-SG" sz="1000" b="0">
                <a:solidFill>
                  <a:srgbClr val="569CD6"/>
                </a:solidFill>
                <a:effectLst/>
                <a:latin typeface="Consolas" panose="020B0609020204030204" pitchFamily="49" charset="0"/>
              </a:rPr>
              <a:t>auto</a:t>
            </a:r>
            <a:r>
              <a:rPr lang="en-SG" sz="1000" b="0">
                <a:solidFill>
                  <a:srgbClr val="CCCCCC"/>
                </a:solidFill>
                <a:effectLst/>
                <a:latin typeface="Consolas" panose="020B0609020204030204" pitchFamily="49" charset="0"/>
              </a:rPr>
              <a:t> </a:t>
            </a:r>
            <a:r>
              <a:rPr lang="en-SG" sz="1000" b="0">
                <a:solidFill>
                  <a:srgbClr val="9CDCFE"/>
                </a:solidFill>
                <a:effectLst/>
                <a:latin typeface="Consolas" panose="020B0609020204030204" pitchFamily="49" charset="0"/>
              </a:rPr>
              <a:t>hp</a:t>
            </a:r>
            <a:r>
              <a:rPr lang="en-SG" sz="1000" b="0">
                <a:solidFill>
                  <a:srgbClr val="CCCCCC"/>
                </a:solidFill>
                <a:effectLst/>
                <a:latin typeface="Consolas" panose="020B0609020204030204" pitchFamily="49" charset="0"/>
              </a:rPr>
              <a:t> </a:t>
            </a:r>
            <a:r>
              <a:rPr lang="en-SG" sz="1000" b="0">
                <a:solidFill>
                  <a:srgbClr val="D4D4D4"/>
                </a:solidFill>
                <a:effectLst/>
                <a:latin typeface="Consolas" panose="020B0609020204030204" pitchFamily="49" charset="0"/>
              </a:rPr>
              <a:t>=</a:t>
            </a:r>
            <a:r>
              <a:rPr lang="en-SG" sz="1000" b="0">
                <a:solidFill>
                  <a:srgbClr val="CCCCCC"/>
                </a:solidFill>
                <a:effectLst/>
                <a:latin typeface="Consolas" panose="020B0609020204030204" pitchFamily="49" charset="0"/>
              </a:rPr>
              <a:t> </a:t>
            </a:r>
            <a:r>
              <a:rPr lang="en-SG" sz="1000" b="0">
                <a:solidFill>
                  <a:srgbClr val="4EC9B0"/>
                </a:solidFill>
                <a:effectLst/>
                <a:latin typeface="Consolas" panose="020B0609020204030204" pitchFamily="49" charset="0"/>
              </a:rPr>
              <a:t>std</a:t>
            </a:r>
            <a:r>
              <a:rPr lang="en-SG" sz="1000" b="0">
                <a:solidFill>
                  <a:srgbClr val="CCCCCC"/>
                </a:solidFill>
                <a:effectLst/>
                <a:latin typeface="Consolas" panose="020B0609020204030204" pitchFamily="49" charset="0"/>
              </a:rPr>
              <a:t>::</a:t>
            </a:r>
            <a:r>
              <a:rPr lang="en-SG" sz="1000" b="0" err="1">
                <a:solidFill>
                  <a:srgbClr val="DCDCAA"/>
                </a:solidFill>
                <a:effectLst/>
                <a:latin typeface="Consolas" panose="020B0609020204030204" pitchFamily="49" charset="0"/>
              </a:rPr>
              <a:t>make_hazard_pointer</a:t>
            </a:r>
            <a:r>
              <a:rPr lang="en-SG" sz="1000" b="0">
                <a:solidFill>
                  <a:srgbClr val="CCCCCC"/>
                </a:solidFill>
                <a:effectLst/>
                <a:latin typeface="Consolas" panose="020B0609020204030204" pitchFamily="49" charset="0"/>
              </a:rPr>
              <a:t>();</a:t>
            </a:r>
          </a:p>
          <a:p>
            <a:pPr>
              <a:lnSpc>
                <a:spcPts val="1425"/>
              </a:lnSpc>
              <a:buNone/>
            </a:pPr>
            <a:r>
              <a:rPr lang="en-SG" sz="1000" b="0">
                <a:solidFill>
                  <a:srgbClr val="CCCCCC"/>
                </a:solidFill>
                <a:effectLst/>
                <a:latin typeface="Consolas" panose="020B0609020204030204" pitchFamily="49" charset="0"/>
              </a:rPr>
              <a:t>  </a:t>
            </a:r>
            <a:r>
              <a:rPr lang="en-SG" sz="1000" b="0">
                <a:solidFill>
                  <a:srgbClr val="C586C0"/>
                </a:solidFill>
                <a:effectLst/>
                <a:latin typeface="Consolas" panose="020B0609020204030204" pitchFamily="49" charset="0"/>
              </a:rPr>
              <a:t>for</a:t>
            </a:r>
            <a:r>
              <a:rPr lang="en-SG" sz="1000" b="0">
                <a:solidFill>
                  <a:srgbClr val="CCCCCC"/>
                </a:solidFill>
                <a:effectLst/>
                <a:latin typeface="Consolas" panose="020B0609020204030204" pitchFamily="49" charset="0"/>
              </a:rPr>
              <a:t> (</a:t>
            </a:r>
            <a:r>
              <a:rPr lang="en-SG" sz="1000" b="0">
                <a:solidFill>
                  <a:srgbClr val="4EC9B0"/>
                </a:solidFill>
                <a:effectLst/>
                <a:latin typeface="Consolas" panose="020B0609020204030204" pitchFamily="49" charset="0"/>
              </a:rPr>
              <a:t>Entry</a:t>
            </a:r>
            <a:r>
              <a:rPr lang="en-SG" sz="1000" b="0">
                <a:solidFill>
                  <a:srgbClr val="D4D4D4"/>
                </a:solidFill>
                <a:effectLst/>
                <a:latin typeface="Consolas" panose="020B0609020204030204" pitchFamily="49" charset="0"/>
              </a:rPr>
              <a:t>*</a:t>
            </a:r>
            <a:r>
              <a:rPr lang="en-SG" sz="1000" b="0">
                <a:solidFill>
                  <a:srgbClr val="CCCCCC"/>
                </a:solidFill>
                <a:effectLst/>
                <a:latin typeface="Consolas" panose="020B0609020204030204" pitchFamily="49" charset="0"/>
              </a:rPr>
              <a:t> </a:t>
            </a:r>
            <a:r>
              <a:rPr lang="en-SG" sz="1000" b="0">
                <a:solidFill>
                  <a:srgbClr val="9CDCFE"/>
                </a:solidFill>
                <a:effectLst/>
                <a:latin typeface="Consolas" panose="020B0609020204030204" pitchFamily="49" charset="0"/>
              </a:rPr>
              <a:t>e</a:t>
            </a:r>
            <a:r>
              <a:rPr lang="en-SG" sz="1000" b="0">
                <a:solidFill>
                  <a:srgbClr val="CCCCCC"/>
                </a:solidFill>
                <a:effectLst/>
                <a:latin typeface="Consolas" panose="020B0609020204030204" pitchFamily="49" charset="0"/>
              </a:rPr>
              <a:t> </a:t>
            </a:r>
            <a:r>
              <a:rPr lang="en-SG" sz="1000" b="0">
                <a:solidFill>
                  <a:srgbClr val="D4D4D4"/>
                </a:solidFill>
                <a:effectLst/>
                <a:latin typeface="Consolas" panose="020B0609020204030204" pitchFamily="49" charset="0"/>
              </a:rPr>
              <a:t>=</a:t>
            </a:r>
            <a:r>
              <a:rPr lang="en-SG" sz="1000" b="0">
                <a:solidFill>
                  <a:srgbClr val="CCCCCC"/>
                </a:solidFill>
                <a:effectLst/>
                <a:latin typeface="Consolas" panose="020B0609020204030204" pitchFamily="49" charset="0"/>
              </a:rPr>
              <a:t> </a:t>
            </a:r>
            <a:r>
              <a:rPr lang="en-SG" sz="1000" b="0" err="1">
                <a:solidFill>
                  <a:srgbClr val="9CDCFE"/>
                </a:solidFill>
                <a:effectLst/>
                <a:latin typeface="Consolas" panose="020B0609020204030204" pitchFamily="49" charset="0"/>
              </a:rPr>
              <a:t>hp</a:t>
            </a:r>
            <a:r>
              <a:rPr lang="en-SG" sz="1000" b="0" err="1">
                <a:solidFill>
                  <a:srgbClr val="CCCCCC"/>
                </a:solidFill>
                <a:effectLst/>
                <a:latin typeface="Consolas" panose="020B0609020204030204" pitchFamily="49" charset="0"/>
              </a:rPr>
              <a:t>.</a:t>
            </a:r>
            <a:r>
              <a:rPr lang="en-SG" sz="1000" b="0" err="1">
                <a:solidFill>
                  <a:srgbClr val="DCDCAA"/>
                </a:solidFill>
                <a:effectLst/>
                <a:latin typeface="Consolas" panose="020B0609020204030204" pitchFamily="49" charset="0"/>
              </a:rPr>
              <a:t>protect</a:t>
            </a:r>
            <a:r>
              <a:rPr lang="en-SG" sz="1000" b="0">
                <a:solidFill>
                  <a:srgbClr val="CCCCCC"/>
                </a:solidFill>
                <a:effectLst/>
                <a:latin typeface="Consolas" panose="020B0609020204030204" pitchFamily="49" charset="0"/>
              </a:rPr>
              <a:t>(</a:t>
            </a:r>
            <a:r>
              <a:rPr lang="en-SG" sz="1000" b="0" err="1">
                <a:solidFill>
                  <a:srgbClr val="9CDCFE"/>
                </a:solidFill>
                <a:effectLst/>
                <a:latin typeface="Consolas" panose="020B0609020204030204" pitchFamily="49" charset="0"/>
              </a:rPr>
              <a:t>table_head</a:t>
            </a:r>
            <a:r>
              <a:rPr lang="en-SG" sz="1000" b="0">
                <a:solidFill>
                  <a:srgbClr val="CCCCCC"/>
                </a:solidFill>
                <a:effectLst/>
                <a:latin typeface="Consolas" panose="020B0609020204030204" pitchFamily="49" charset="0"/>
              </a:rPr>
              <a:t>); </a:t>
            </a:r>
            <a:r>
              <a:rPr lang="en-SG" sz="1000" b="0">
                <a:solidFill>
                  <a:srgbClr val="9CDCFE"/>
                </a:solidFill>
                <a:effectLst/>
                <a:latin typeface="Consolas" panose="020B0609020204030204" pitchFamily="49" charset="0"/>
              </a:rPr>
              <a:t>e</a:t>
            </a:r>
            <a:r>
              <a:rPr lang="en-SG" sz="1000" b="0">
                <a:solidFill>
                  <a:srgbClr val="CCCCCC"/>
                </a:solidFill>
                <a:effectLst/>
                <a:latin typeface="Consolas" panose="020B0609020204030204" pitchFamily="49" charset="0"/>
              </a:rPr>
              <a:t>; </a:t>
            </a:r>
            <a:r>
              <a:rPr lang="en-SG" sz="1000" b="0">
                <a:solidFill>
                  <a:srgbClr val="9CDCFE"/>
                </a:solidFill>
                <a:effectLst/>
                <a:latin typeface="Consolas" panose="020B0609020204030204" pitchFamily="49" charset="0"/>
              </a:rPr>
              <a:t>e</a:t>
            </a:r>
            <a:r>
              <a:rPr lang="en-SG" sz="1000" b="0">
                <a:solidFill>
                  <a:srgbClr val="CCCCCC"/>
                </a:solidFill>
                <a:effectLst/>
                <a:latin typeface="Consolas" panose="020B0609020204030204" pitchFamily="49" charset="0"/>
              </a:rPr>
              <a:t> </a:t>
            </a:r>
            <a:r>
              <a:rPr lang="en-SG" sz="1000" b="0">
                <a:solidFill>
                  <a:srgbClr val="D4D4D4"/>
                </a:solidFill>
                <a:effectLst/>
                <a:latin typeface="Consolas" panose="020B0609020204030204" pitchFamily="49" charset="0"/>
              </a:rPr>
              <a:t>=</a:t>
            </a:r>
            <a:r>
              <a:rPr lang="en-SG" sz="1000" b="0">
                <a:solidFill>
                  <a:srgbClr val="CCCCCC"/>
                </a:solidFill>
                <a:effectLst/>
                <a:latin typeface="Consolas" panose="020B0609020204030204" pitchFamily="49" charset="0"/>
              </a:rPr>
              <a:t> </a:t>
            </a:r>
            <a:r>
              <a:rPr lang="en-SG" sz="1000" b="0" err="1">
                <a:solidFill>
                  <a:srgbClr val="9CDCFE"/>
                </a:solidFill>
                <a:effectLst/>
                <a:latin typeface="Consolas" panose="020B0609020204030204" pitchFamily="49" charset="0"/>
              </a:rPr>
              <a:t>hp</a:t>
            </a:r>
            <a:r>
              <a:rPr lang="en-SG" sz="1000" b="0" err="1">
                <a:solidFill>
                  <a:srgbClr val="CCCCCC"/>
                </a:solidFill>
                <a:effectLst/>
                <a:latin typeface="Consolas" panose="020B0609020204030204" pitchFamily="49" charset="0"/>
              </a:rPr>
              <a:t>.</a:t>
            </a:r>
            <a:r>
              <a:rPr lang="en-SG" sz="1000" b="0" err="1">
                <a:solidFill>
                  <a:srgbClr val="DCDCAA"/>
                </a:solidFill>
                <a:effectLst/>
                <a:latin typeface="Consolas" panose="020B0609020204030204" pitchFamily="49" charset="0"/>
              </a:rPr>
              <a:t>protect</a:t>
            </a:r>
            <a:r>
              <a:rPr lang="en-SG" sz="1000" b="0">
                <a:solidFill>
                  <a:srgbClr val="CCCCCC"/>
                </a:solidFill>
                <a:effectLst/>
                <a:latin typeface="Consolas" panose="020B0609020204030204" pitchFamily="49" charset="0"/>
              </a:rPr>
              <a:t>(</a:t>
            </a:r>
            <a:r>
              <a:rPr lang="en-SG" sz="1000" b="0">
                <a:solidFill>
                  <a:srgbClr val="9CDCFE"/>
                </a:solidFill>
                <a:effectLst/>
                <a:latin typeface="Consolas" panose="020B0609020204030204" pitchFamily="49" charset="0"/>
              </a:rPr>
              <a:t>e</a:t>
            </a:r>
            <a:r>
              <a:rPr lang="en-SG" sz="1000" b="0">
                <a:solidFill>
                  <a:srgbClr val="CCCCCC"/>
                </a:solidFill>
                <a:effectLst/>
                <a:latin typeface="Consolas" panose="020B0609020204030204" pitchFamily="49" charset="0"/>
              </a:rPr>
              <a:t>-&gt;</a:t>
            </a:r>
            <a:r>
              <a:rPr lang="en-SG" sz="1000" b="0">
                <a:solidFill>
                  <a:srgbClr val="9CDCFE"/>
                </a:solidFill>
                <a:effectLst/>
                <a:latin typeface="Consolas" panose="020B0609020204030204" pitchFamily="49" charset="0"/>
              </a:rPr>
              <a:t>next</a:t>
            </a:r>
            <a:r>
              <a:rPr lang="en-SG" sz="1000" b="0">
                <a:solidFill>
                  <a:srgbClr val="CCCCCC"/>
                </a:solidFill>
                <a:effectLst/>
                <a:latin typeface="Consolas" panose="020B0609020204030204" pitchFamily="49" charset="0"/>
              </a:rPr>
              <a:t>)) {</a:t>
            </a:r>
            <a:r>
              <a:rPr lang="en-SG" sz="1000" b="0">
                <a:solidFill>
                  <a:srgbClr val="6A9955"/>
                </a:solidFill>
                <a:effectLst/>
                <a:latin typeface="Consolas" panose="020B0609020204030204" pitchFamily="49" charset="0"/>
              </a:rPr>
              <a:t> // publish each step</a:t>
            </a:r>
            <a:endParaRPr lang="en-SG" sz="1000" b="0">
              <a:solidFill>
                <a:srgbClr val="CCCCCC"/>
              </a:solidFill>
              <a:effectLst/>
              <a:latin typeface="Consolas" panose="020B0609020204030204" pitchFamily="49" charset="0"/>
            </a:endParaRPr>
          </a:p>
          <a:p>
            <a:pPr>
              <a:lnSpc>
                <a:spcPts val="1425"/>
              </a:lnSpc>
              <a:buNone/>
            </a:pPr>
            <a:r>
              <a:rPr lang="en-SG" sz="1000" b="0">
                <a:solidFill>
                  <a:srgbClr val="CCCCCC"/>
                </a:solidFill>
                <a:effectLst/>
                <a:latin typeface="Consolas" panose="020B0609020204030204" pitchFamily="49" charset="0"/>
              </a:rPr>
              <a:t>    </a:t>
            </a:r>
            <a:r>
              <a:rPr lang="en-SG" sz="1000" b="0">
                <a:solidFill>
                  <a:srgbClr val="C586C0"/>
                </a:solidFill>
                <a:effectLst/>
                <a:latin typeface="Consolas" panose="020B0609020204030204" pitchFamily="49" charset="0"/>
              </a:rPr>
              <a:t>if</a:t>
            </a:r>
            <a:r>
              <a:rPr lang="en-SG" sz="1000" b="0">
                <a:solidFill>
                  <a:srgbClr val="CCCCCC"/>
                </a:solidFill>
                <a:effectLst/>
                <a:latin typeface="Consolas" panose="020B0609020204030204" pitchFamily="49" charset="0"/>
              </a:rPr>
              <a:t> (</a:t>
            </a:r>
            <a:r>
              <a:rPr lang="en-SG" sz="1000" b="0">
                <a:solidFill>
                  <a:srgbClr val="9CDCFE"/>
                </a:solidFill>
                <a:effectLst/>
                <a:latin typeface="Consolas" panose="020B0609020204030204" pitchFamily="49" charset="0"/>
              </a:rPr>
              <a:t>e</a:t>
            </a:r>
            <a:r>
              <a:rPr lang="en-SG" sz="1000" b="0">
                <a:solidFill>
                  <a:srgbClr val="CCCCCC"/>
                </a:solidFill>
                <a:effectLst/>
                <a:latin typeface="Consolas" panose="020B0609020204030204" pitchFamily="49" charset="0"/>
              </a:rPr>
              <a:t>-&gt;</a:t>
            </a:r>
            <a:r>
              <a:rPr lang="en-SG" sz="1000" b="0">
                <a:solidFill>
                  <a:srgbClr val="9CDCFE"/>
                </a:solidFill>
                <a:effectLst/>
                <a:latin typeface="Consolas" panose="020B0609020204030204" pitchFamily="49" charset="0"/>
              </a:rPr>
              <a:t>key</a:t>
            </a:r>
            <a:r>
              <a:rPr lang="en-SG" sz="1000" b="0">
                <a:solidFill>
                  <a:srgbClr val="CCCCCC"/>
                </a:solidFill>
                <a:effectLst/>
                <a:latin typeface="Consolas" panose="020B0609020204030204" pitchFamily="49" charset="0"/>
              </a:rPr>
              <a:t> </a:t>
            </a:r>
            <a:r>
              <a:rPr lang="en-SG" sz="1000" b="0">
                <a:solidFill>
                  <a:srgbClr val="D4D4D4"/>
                </a:solidFill>
                <a:effectLst/>
                <a:latin typeface="Consolas" panose="020B0609020204030204" pitchFamily="49" charset="0"/>
              </a:rPr>
              <a:t>==</a:t>
            </a:r>
            <a:r>
              <a:rPr lang="en-SG" sz="1000" b="0">
                <a:solidFill>
                  <a:srgbClr val="CCCCCC"/>
                </a:solidFill>
                <a:effectLst/>
                <a:latin typeface="Consolas" panose="020B0609020204030204" pitchFamily="49" charset="0"/>
              </a:rPr>
              <a:t> </a:t>
            </a:r>
            <a:r>
              <a:rPr lang="en-SG" sz="1000" b="0">
                <a:solidFill>
                  <a:srgbClr val="9CDCFE"/>
                </a:solidFill>
                <a:effectLst/>
                <a:latin typeface="Consolas" panose="020B0609020204030204" pitchFamily="49" charset="0"/>
              </a:rPr>
              <a:t>k</a:t>
            </a:r>
            <a:r>
              <a:rPr lang="en-SG" sz="1000" b="0">
                <a:solidFill>
                  <a:srgbClr val="CCCCCC"/>
                </a:solidFill>
                <a:effectLst/>
                <a:latin typeface="Consolas" panose="020B0609020204030204" pitchFamily="49" charset="0"/>
              </a:rPr>
              <a:t>) {</a:t>
            </a:r>
          </a:p>
          <a:p>
            <a:pPr>
              <a:lnSpc>
                <a:spcPts val="1425"/>
              </a:lnSpc>
              <a:buNone/>
            </a:pPr>
            <a:r>
              <a:rPr lang="en-SG" sz="1000" b="0">
                <a:solidFill>
                  <a:srgbClr val="CCCCCC"/>
                </a:solidFill>
                <a:effectLst/>
                <a:latin typeface="Consolas" panose="020B0609020204030204" pitchFamily="49" charset="0"/>
              </a:rPr>
              <a:t>      </a:t>
            </a:r>
            <a:r>
              <a:rPr lang="en-SG" sz="1000" b="0" err="1">
                <a:solidFill>
                  <a:srgbClr val="9CDCFE"/>
                </a:solidFill>
                <a:effectLst/>
                <a:latin typeface="Consolas" panose="020B0609020204030204" pitchFamily="49" charset="0"/>
              </a:rPr>
              <a:t>hp</a:t>
            </a:r>
            <a:r>
              <a:rPr lang="en-SG" sz="1000" b="0" err="1">
                <a:solidFill>
                  <a:srgbClr val="CCCCCC"/>
                </a:solidFill>
                <a:effectLst/>
                <a:latin typeface="Consolas" panose="020B0609020204030204" pitchFamily="49" charset="0"/>
              </a:rPr>
              <a:t>.</a:t>
            </a:r>
            <a:r>
              <a:rPr lang="en-SG" sz="1000" b="0" err="1">
                <a:solidFill>
                  <a:srgbClr val="DCDCAA"/>
                </a:solidFill>
                <a:effectLst/>
                <a:latin typeface="Consolas" panose="020B0609020204030204" pitchFamily="49" charset="0"/>
              </a:rPr>
              <a:t>reset_protection</a:t>
            </a:r>
            <a:r>
              <a:rPr lang="en-SG" sz="1000" b="0">
                <a:solidFill>
                  <a:srgbClr val="CCCCCC"/>
                </a:solidFill>
                <a:effectLst/>
                <a:latin typeface="Consolas" panose="020B0609020204030204" pitchFamily="49" charset="0"/>
              </a:rPr>
              <a:t>();</a:t>
            </a:r>
          </a:p>
          <a:p>
            <a:pPr>
              <a:lnSpc>
                <a:spcPts val="1425"/>
              </a:lnSpc>
              <a:buNone/>
            </a:pPr>
            <a:r>
              <a:rPr lang="en-SG" sz="1000" b="0">
                <a:solidFill>
                  <a:srgbClr val="CCCCCC"/>
                </a:solidFill>
                <a:effectLst/>
                <a:latin typeface="Consolas" panose="020B0609020204030204" pitchFamily="49" charset="0"/>
              </a:rPr>
              <a:t>      </a:t>
            </a:r>
            <a:r>
              <a:rPr lang="en-SG" sz="1000" b="0">
                <a:solidFill>
                  <a:srgbClr val="C586C0"/>
                </a:solidFill>
                <a:effectLst/>
                <a:latin typeface="Consolas" panose="020B0609020204030204" pitchFamily="49" charset="0"/>
              </a:rPr>
              <a:t>return</a:t>
            </a:r>
            <a:r>
              <a:rPr lang="en-SG" sz="1000" b="0">
                <a:solidFill>
                  <a:srgbClr val="CCCCCC"/>
                </a:solidFill>
                <a:effectLst/>
                <a:latin typeface="Consolas" panose="020B0609020204030204" pitchFamily="49" charset="0"/>
              </a:rPr>
              <a:t> </a:t>
            </a:r>
            <a:r>
              <a:rPr lang="en-SG" sz="1000" b="0">
                <a:solidFill>
                  <a:srgbClr val="9CDCFE"/>
                </a:solidFill>
                <a:effectLst/>
                <a:latin typeface="Consolas" panose="020B0609020204030204" pitchFamily="49" charset="0"/>
              </a:rPr>
              <a:t>e</a:t>
            </a:r>
            <a:r>
              <a:rPr lang="en-SG" sz="1000" b="0">
                <a:solidFill>
                  <a:srgbClr val="CCCCCC"/>
                </a:solidFill>
                <a:effectLst/>
                <a:latin typeface="Consolas" panose="020B0609020204030204" pitchFamily="49" charset="0"/>
              </a:rPr>
              <a:t>-&gt;</a:t>
            </a:r>
            <a:r>
              <a:rPr lang="en-SG" sz="1000" b="0">
                <a:solidFill>
                  <a:srgbClr val="9CDCFE"/>
                </a:solidFill>
                <a:effectLst/>
                <a:latin typeface="Consolas" panose="020B0609020204030204" pitchFamily="49" charset="0"/>
              </a:rPr>
              <a:t>value</a:t>
            </a:r>
            <a:r>
              <a:rPr lang="en-SG" sz="1000" b="0">
                <a:solidFill>
                  <a:srgbClr val="CCCCCC"/>
                </a:solidFill>
                <a:effectLst/>
                <a:latin typeface="Consolas" panose="020B0609020204030204" pitchFamily="49" charset="0"/>
              </a:rPr>
              <a:t>;</a:t>
            </a:r>
          </a:p>
          <a:p>
            <a:pPr>
              <a:lnSpc>
                <a:spcPts val="1425"/>
              </a:lnSpc>
              <a:buNone/>
            </a:pPr>
            <a:r>
              <a:rPr lang="en-SG" sz="1000" b="0">
                <a:solidFill>
                  <a:srgbClr val="CCCCCC"/>
                </a:solidFill>
                <a:effectLst/>
                <a:latin typeface="Consolas" panose="020B0609020204030204" pitchFamily="49" charset="0"/>
              </a:rPr>
              <a:t>    }</a:t>
            </a:r>
          </a:p>
          <a:p>
            <a:pPr>
              <a:lnSpc>
                <a:spcPts val="1425"/>
              </a:lnSpc>
              <a:buNone/>
            </a:pPr>
            <a:r>
              <a:rPr lang="en-SG" sz="1000" b="0">
                <a:solidFill>
                  <a:srgbClr val="CCCCCC"/>
                </a:solidFill>
                <a:effectLst/>
                <a:latin typeface="Consolas" panose="020B0609020204030204" pitchFamily="49" charset="0"/>
              </a:rPr>
              <a:t>  }</a:t>
            </a:r>
          </a:p>
          <a:p>
            <a:pPr>
              <a:lnSpc>
                <a:spcPts val="1425"/>
              </a:lnSpc>
              <a:buNone/>
            </a:pPr>
            <a:r>
              <a:rPr lang="en-SG" sz="1000" b="0">
                <a:solidFill>
                  <a:srgbClr val="CCCCCC"/>
                </a:solidFill>
                <a:effectLst/>
                <a:latin typeface="Consolas" panose="020B0609020204030204" pitchFamily="49" charset="0"/>
              </a:rPr>
              <a:t>  </a:t>
            </a:r>
            <a:r>
              <a:rPr lang="en-SG" sz="1000" b="0" err="1">
                <a:solidFill>
                  <a:srgbClr val="9CDCFE"/>
                </a:solidFill>
                <a:effectLst/>
                <a:latin typeface="Consolas" panose="020B0609020204030204" pitchFamily="49" charset="0"/>
              </a:rPr>
              <a:t>hp</a:t>
            </a:r>
            <a:r>
              <a:rPr lang="en-SG" sz="1000" b="0" err="1">
                <a:solidFill>
                  <a:srgbClr val="CCCCCC"/>
                </a:solidFill>
                <a:effectLst/>
                <a:latin typeface="Consolas" panose="020B0609020204030204" pitchFamily="49" charset="0"/>
              </a:rPr>
              <a:t>.</a:t>
            </a:r>
            <a:r>
              <a:rPr lang="en-SG" sz="1000" b="0" err="1">
                <a:solidFill>
                  <a:srgbClr val="DCDCAA"/>
                </a:solidFill>
                <a:effectLst/>
                <a:latin typeface="Consolas" panose="020B0609020204030204" pitchFamily="49" charset="0"/>
              </a:rPr>
              <a:t>reset_protection</a:t>
            </a:r>
            <a:r>
              <a:rPr lang="en-SG" sz="1000" b="0">
                <a:solidFill>
                  <a:srgbClr val="CCCCCC"/>
                </a:solidFill>
                <a:effectLst/>
                <a:latin typeface="Consolas" panose="020B0609020204030204" pitchFamily="49" charset="0"/>
              </a:rPr>
              <a:t>();</a:t>
            </a:r>
          </a:p>
          <a:p>
            <a:pPr>
              <a:lnSpc>
                <a:spcPts val="1425"/>
              </a:lnSpc>
              <a:buNone/>
            </a:pPr>
            <a:r>
              <a:rPr lang="en-SG" sz="1000" b="0">
                <a:solidFill>
                  <a:srgbClr val="CCCCCC"/>
                </a:solidFill>
                <a:effectLst/>
                <a:latin typeface="Consolas" panose="020B0609020204030204" pitchFamily="49" charset="0"/>
              </a:rPr>
              <a:t>  </a:t>
            </a:r>
            <a:r>
              <a:rPr lang="en-SG" sz="1000" b="0">
                <a:solidFill>
                  <a:srgbClr val="C586C0"/>
                </a:solidFill>
                <a:effectLst/>
                <a:latin typeface="Consolas" panose="020B0609020204030204" pitchFamily="49" charset="0"/>
              </a:rPr>
              <a:t>return</a:t>
            </a:r>
            <a:r>
              <a:rPr lang="en-SG" sz="1000" b="0">
                <a:solidFill>
                  <a:srgbClr val="CCCCCC"/>
                </a:solidFill>
                <a:effectLst/>
                <a:latin typeface="Consolas" panose="020B0609020204030204" pitchFamily="49" charset="0"/>
              </a:rPr>
              <a:t> </a:t>
            </a:r>
            <a:r>
              <a:rPr lang="en-SG" sz="1000" b="0">
                <a:solidFill>
                  <a:srgbClr val="D4D4D4"/>
                </a:solidFill>
                <a:effectLst/>
                <a:latin typeface="Consolas" panose="020B0609020204030204" pitchFamily="49" charset="0"/>
              </a:rPr>
              <a:t>-</a:t>
            </a:r>
            <a:r>
              <a:rPr lang="en-SG" sz="1000" b="0">
                <a:solidFill>
                  <a:srgbClr val="B5CEA8"/>
                </a:solidFill>
                <a:effectLst/>
                <a:latin typeface="Consolas" panose="020B0609020204030204" pitchFamily="49" charset="0"/>
              </a:rPr>
              <a:t>1</a:t>
            </a:r>
            <a:r>
              <a:rPr lang="en-SG" sz="1000" b="0">
                <a:solidFill>
                  <a:srgbClr val="CCCCCC"/>
                </a:solidFill>
                <a:effectLst/>
                <a:latin typeface="Consolas" panose="020B0609020204030204" pitchFamily="49" charset="0"/>
              </a:rPr>
              <a:t>;</a:t>
            </a:r>
          </a:p>
          <a:p>
            <a:pPr>
              <a:lnSpc>
                <a:spcPts val="1425"/>
              </a:lnSpc>
              <a:buNone/>
            </a:pPr>
            <a:r>
              <a:rPr lang="en-SG" sz="1000" b="0">
                <a:solidFill>
                  <a:srgbClr val="CCCCCC"/>
                </a:solidFill>
                <a:effectLst/>
                <a:latin typeface="Consolas" panose="020B0609020204030204" pitchFamily="49" charset="0"/>
              </a:rPr>
              <a:t>}</a:t>
            </a:r>
          </a:p>
        </p:txBody>
      </p:sp>
      <p:sp>
        <p:nvSpPr>
          <p:cNvPr id="10" name="TextBox 9">
            <a:extLst>
              <a:ext uri="{FF2B5EF4-FFF2-40B4-BE49-F238E27FC236}">
                <a16:creationId xmlns:a16="http://schemas.microsoft.com/office/drawing/2014/main" id="{E9A92877-52E3-D780-2ABB-BBC8132E4213}"/>
              </a:ext>
            </a:extLst>
          </p:cNvPr>
          <p:cNvSpPr txBox="1"/>
          <p:nvPr/>
        </p:nvSpPr>
        <p:spPr>
          <a:xfrm>
            <a:off x="5423338" y="2388615"/>
            <a:ext cx="6688652" cy="3850670"/>
          </a:xfrm>
          <a:prstGeom prst="rect">
            <a:avLst/>
          </a:prstGeom>
          <a:solidFill>
            <a:srgbClr val="1F1F1F"/>
          </a:solidFill>
        </p:spPr>
        <p:txBody>
          <a:bodyPr wrap="square">
            <a:spAutoFit/>
          </a:bodyPr>
          <a:lstStyle/>
          <a:p>
            <a:pPr>
              <a:lnSpc>
                <a:spcPts val="1425"/>
              </a:lnSpc>
              <a:buNone/>
            </a:pPr>
            <a:r>
              <a:rPr lang="en-SG" sz="1000" b="0">
                <a:solidFill>
                  <a:srgbClr val="569CD6"/>
                </a:solidFill>
                <a:effectLst/>
                <a:latin typeface="Consolas" panose="020B0609020204030204" pitchFamily="49" charset="0"/>
              </a:rPr>
              <a:t>struct</a:t>
            </a:r>
            <a:r>
              <a:rPr lang="en-SG" sz="1000" b="0">
                <a:solidFill>
                  <a:srgbClr val="CCCCCC"/>
                </a:solidFill>
                <a:effectLst/>
                <a:latin typeface="Consolas" panose="020B0609020204030204" pitchFamily="49" charset="0"/>
              </a:rPr>
              <a:t> </a:t>
            </a:r>
            <a:r>
              <a:rPr lang="en-SG" sz="1000" b="0">
                <a:solidFill>
                  <a:srgbClr val="4EC9B0"/>
                </a:solidFill>
                <a:effectLst/>
                <a:latin typeface="Consolas" panose="020B0609020204030204" pitchFamily="49" charset="0"/>
              </a:rPr>
              <a:t>Entry</a:t>
            </a:r>
            <a:r>
              <a:rPr lang="en-SG" sz="1000" b="0">
                <a:solidFill>
                  <a:srgbClr val="CCCCCC"/>
                </a:solidFill>
                <a:effectLst/>
                <a:latin typeface="Consolas" panose="020B0609020204030204" pitchFamily="49" charset="0"/>
              </a:rPr>
              <a:t> : </a:t>
            </a:r>
            <a:r>
              <a:rPr lang="en-SG" sz="1000" b="0">
                <a:solidFill>
                  <a:srgbClr val="4EC9B0"/>
                </a:solidFill>
                <a:effectLst/>
                <a:latin typeface="Consolas" panose="020B0609020204030204" pitchFamily="49" charset="0"/>
              </a:rPr>
              <a:t>std</a:t>
            </a:r>
            <a:r>
              <a:rPr lang="en-SG" sz="1000" b="0">
                <a:solidFill>
                  <a:srgbClr val="CCCCCC"/>
                </a:solidFill>
                <a:effectLst/>
                <a:latin typeface="Consolas" panose="020B0609020204030204" pitchFamily="49" charset="0"/>
              </a:rPr>
              <a:t>::</a:t>
            </a:r>
            <a:r>
              <a:rPr lang="en-SG" sz="1000" b="0" err="1">
                <a:solidFill>
                  <a:srgbClr val="4EC9B0"/>
                </a:solidFill>
                <a:effectLst/>
                <a:latin typeface="Consolas" panose="020B0609020204030204" pitchFamily="49" charset="0"/>
              </a:rPr>
              <a:t>rcu_obj_base</a:t>
            </a:r>
            <a:r>
              <a:rPr lang="en-SG" sz="1000" b="0">
                <a:solidFill>
                  <a:srgbClr val="CCCCCC"/>
                </a:solidFill>
                <a:effectLst/>
                <a:latin typeface="Consolas" panose="020B0609020204030204" pitchFamily="49" charset="0"/>
              </a:rPr>
              <a:t>&lt;</a:t>
            </a:r>
            <a:r>
              <a:rPr lang="en-SG" sz="1000" b="0">
                <a:solidFill>
                  <a:srgbClr val="4EC9B0"/>
                </a:solidFill>
                <a:effectLst/>
                <a:latin typeface="Consolas" panose="020B0609020204030204" pitchFamily="49" charset="0"/>
              </a:rPr>
              <a:t>Entry</a:t>
            </a:r>
            <a:r>
              <a:rPr lang="en-SG" sz="1000" b="0">
                <a:solidFill>
                  <a:srgbClr val="CCCCCC"/>
                </a:solidFill>
                <a:effectLst/>
                <a:latin typeface="Consolas" panose="020B0609020204030204" pitchFamily="49" charset="0"/>
              </a:rPr>
              <a:t>&gt; {</a:t>
            </a:r>
            <a:r>
              <a:rPr lang="en-SG" sz="1000" b="0">
                <a:solidFill>
                  <a:srgbClr val="6A9955"/>
                </a:solidFill>
                <a:effectLst/>
                <a:latin typeface="Consolas" panose="020B0609020204030204" pitchFamily="49" charset="0"/>
              </a:rPr>
              <a:t>  // intrusive RCU</a:t>
            </a:r>
            <a:endParaRPr lang="en-SG" sz="1000" b="0">
              <a:solidFill>
                <a:srgbClr val="CCCCCC"/>
              </a:solidFill>
              <a:effectLst/>
              <a:latin typeface="Consolas" panose="020B0609020204030204" pitchFamily="49" charset="0"/>
            </a:endParaRPr>
          </a:p>
          <a:p>
            <a:pPr>
              <a:lnSpc>
                <a:spcPts val="1425"/>
              </a:lnSpc>
              <a:buNone/>
            </a:pPr>
            <a:r>
              <a:rPr lang="en-SG" sz="1000" b="0">
                <a:solidFill>
                  <a:srgbClr val="CCCCCC"/>
                </a:solidFill>
                <a:effectLst/>
                <a:latin typeface="Consolas" panose="020B0609020204030204" pitchFamily="49" charset="0"/>
              </a:rPr>
              <a:t>  </a:t>
            </a:r>
            <a:r>
              <a:rPr lang="en-SG" sz="1000" b="0">
                <a:solidFill>
                  <a:srgbClr val="569CD6"/>
                </a:solidFill>
                <a:effectLst/>
                <a:latin typeface="Consolas" panose="020B0609020204030204" pitchFamily="49" charset="0"/>
              </a:rPr>
              <a:t>int</a:t>
            </a:r>
            <a:r>
              <a:rPr lang="en-SG" sz="1000" b="0">
                <a:solidFill>
                  <a:srgbClr val="CCCCCC"/>
                </a:solidFill>
                <a:effectLst/>
                <a:latin typeface="Consolas" panose="020B0609020204030204" pitchFamily="49" charset="0"/>
              </a:rPr>
              <a:t> key, value;</a:t>
            </a:r>
          </a:p>
          <a:p>
            <a:pPr>
              <a:lnSpc>
                <a:spcPts val="1425"/>
              </a:lnSpc>
              <a:buNone/>
            </a:pPr>
            <a:r>
              <a:rPr lang="en-SG" sz="1000" b="0">
                <a:solidFill>
                  <a:srgbClr val="CCCCCC"/>
                </a:solidFill>
                <a:effectLst/>
                <a:latin typeface="Consolas" panose="020B0609020204030204" pitchFamily="49" charset="0"/>
              </a:rPr>
              <a:t>  </a:t>
            </a:r>
            <a:r>
              <a:rPr lang="en-SG" sz="1000" b="0">
                <a:solidFill>
                  <a:srgbClr val="4EC9B0"/>
                </a:solidFill>
                <a:effectLst/>
                <a:latin typeface="Consolas" panose="020B0609020204030204" pitchFamily="49" charset="0"/>
              </a:rPr>
              <a:t>std</a:t>
            </a:r>
            <a:r>
              <a:rPr lang="en-SG" sz="1000" b="0">
                <a:solidFill>
                  <a:srgbClr val="CCCCCC"/>
                </a:solidFill>
                <a:effectLst/>
                <a:latin typeface="Consolas" panose="020B0609020204030204" pitchFamily="49" charset="0"/>
              </a:rPr>
              <a:t>::atomic</a:t>
            </a:r>
            <a:r>
              <a:rPr lang="en-SG" sz="1000" b="0">
                <a:solidFill>
                  <a:srgbClr val="D4D4D4"/>
                </a:solidFill>
                <a:effectLst/>
                <a:latin typeface="Consolas" panose="020B0609020204030204" pitchFamily="49" charset="0"/>
              </a:rPr>
              <a:t>&lt;</a:t>
            </a:r>
            <a:r>
              <a:rPr lang="en-SG" sz="1000" b="0">
                <a:solidFill>
                  <a:srgbClr val="CCCCCC"/>
                </a:solidFill>
                <a:effectLst/>
                <a:latin typeface="Consolas" panose="020B0609020204030204" pitchFamily="49" charset="0"/>
              </a:rPr>
              <a:t>Entry</a:t>
            </a:r>
            <a:r>
              <a:rPr lang="en-SG" sz="1000" b="0">
                <a:solidFill>
                  <a:srgbClr val="D4D4D4"/>
                </a:solidFill>
                <a:effectLst/>
                <a:latin typeface="Consolas" panose="020B0609020204030204" pitchFamily="49" charset="0"/>
              </a:rPr>
              <a:t>*&gt;</a:t>
            </a:r>
            <a:r>
              <a:rPr lang="en-SG" sz="1000" b="0">
                <a:solidFill>
                  <a:srgbClr val="CCCCCC"/>
                </a:solidFill>
                <a:effectLst/>
                <a:latin typeface="Consolas" panose="020B0609020204030204" pitchFamily="49" charset="0"/>
              </a:rPr>
              <a:t> next{</a:t>
            </a:r>
            <a:r>
              <a:rPr lang="en-SG" sz="1000" b="0" err="1">
                <a:solidFill>
                  <a:srgbClr val="569CD6"/>
                </a:solidFill>
                <a:effectLst/>
                <a:latin typeface="Consolas" panose="020B0609020204030204" pitchFamily="49" charset="0"/>
              </a:rPr>
              <a:t>nullptr</a:t>
            </a:r>
            <a:r>
              <a:rPr lang="en-SG" sz="1000" b="0">
                <a:solidFill>
                  <a:srgbClr val="CCCCCC"/>
                </a:solidFill>
                <a:effectLst/>
                <a:latin typeface="Consolas" panose="020B0609020204030204" pitchFamily="49" charset="0"/>
              </a:rPr>
              <a:t>};</a:t>
            </a:r>
          </a:p>
          <a:p>
            <a:pPr>
              <a:lnSpc>
                <a:spcPts val="1425"/>
              </a:lnSpc>
              <a:buNone/>
            </a:pPr>
            <a:r>
              <a:rPr lang="en-SG" sz="1000" b="0">
                <a:solidFill>
                  <a:srgbClr val="CCCCCC"/>
                </a:solidFill>
                <a:effectLst/>
                <a:latin typeface="Consolas" panose="020B0609020204030204" pitchFamily="49" charset="0"/>
              </a:rPr>
              <a:t>};</a:t>
            </a:r>
            <a:br>
              <a:rPr lang="en-SG" sz="1000" b="0">
                <a:solidFill>
                  <a:srgbClr val="CCCCCC"/>
                </a:solidFill>
                <a:effectLst/>
                <a:latin typeface="Consolas" panose="020B0609020204030204" pitchFamily="49" charset="0"/>
              </a:rPr>
            </a:br>
            <a:endParaRPr lang="en-SG" sz="1000" b="0">
              <a:solidFill>
                <a:srgbClr val="CCCCCC"/>
              </a:solidFill>
              <a:effectLst/>
              <a:latin typeface="Consolas" panose="020B0609020204030204" pitchFamily="49" charset="0"/>
            </a:endParaRPr>
          </a:p>
          <a:p>
            <a:pPr>
              <a:lnSpc>
                <a:spcPts val="1425"/>
              </a:lnSpc>
              <a:buNone/>
            </a:pPr>
            <a:r>
              <a:rPr lang="en-SG" sz="1000" b="0">
                <a:solidFill>
                  <a:srgbClr val="4EC9B0"/>
                </a:solidFill>
                <a:effectLst/>
                <a:latin typeface="Consolas" panose="020B0609020204030204" pitchFamily="49" charset="0"/>
              </a:rPr>
              <a:t>std</a:t>
            </a:r>
            <a:r>
              <a:rPr lang="en-SG" sz="1000" b="0">
                <a:solidFill>
                  <a:srgbClr val="CCCCCC"/>
                </a:solidFill>
                <a:effectLst/>
                <a:latin typeface="Consolas" panose="020B0609020204030204" pitchFamily="49" charset="0"/>
              </a:rPr>
              <a:t>::</a:t>
            </a:r>
            <a:r>
              <a:rPr lang="en-SG" sz="1000" b="0">
                <a:solidFill>
                  <a:srgbClr val="4EC9B0"/>
                </a:solidFill>
                <a:effectLst/>
                <a:latin typeface="Consolas" panose="020B0609020204030204" pitchFamily="49" charset="0"/>
              </a:rPr>
              <a:t>atomic</a:t>
            </a:r>
            <a:r>
              <a:rPr lang="en-SG" sz="1000" b="0">
                <a:solidFill>
                  <a:srgbClr val="D4D4D4"/>
                </a:solidFill>
                <a:effectLst/>
                <a:latin typeface="Consolas" panose="020B0609020204030204" pitchFamily="49" charset="0"/>
              </a:rPr>
              <a:t>&lt;</a:t>
            </a:r>
            <a:r>
              <a:rPr lang="en-SG" sz="1000" b="0">
                <a:solidFill>
                  <a:srgbClr val="4EC9B0"/>
                </a:solidFill>
                <a:effectLst/>
                <a:latin typeface="Consolas" panose="020B0609020204030204" pitchFamily="49" charset="0"/>
              </a:rPr>
              <a:t>Entry</a:t>
            </a:r>
            <a:r>
              <a:rPr lang="en-SG" sz="1000" b="0">
                <a:solidFill>
                  <a:srgbClr val="D4D4D4"/>
                </a:solidFill>
                <a:effectLst/>
                <a:latin typeface="Consolas" panose="020B0609020204030204" pitchFamily="49" charset="0"/>
              </a:rPr>
              <a:t>*&gt;</a:t>
            </a:r>
            <a:r>
              <a:rPr lang="en-SG" sz="1000" b="0">
                <a:solidFill>
                  <a:srgbClr val="CCCCCC"/>
                </a:solidFill>
                <a:effectLst/>
                <a:latin typeface="Consolas" panose="020B0609020204030204" pitchFamily="49" charset="0"/>
              </a:rPr>
              <a:t> </a:t>
            </a:r>
            <a:r>
              <a:rPr lang="en-SG" sz="1000" b="0" err="1">
                <a:solidFill>
                  <a:srgbClr val="9CDCFE"/>
                </a:solidFill>
                <a:effectLst/>
                <a:latin typeface="Consolas" panose="020B0609020204030204" pitchFamily="49" charset="0"/>
              </a:rPr>
              <a:t>table_head</a:t>
            </a:r>
            <a:r>
              <a:rPr lang="en-SG" sz="1000" b="0">
                <a:solidFill>
                  <a:srgbClr val="CCCCCC"/>
                </a:solidFill>
                <a:effectLst/>
                <a:latin typeface="Consolas" panose="020B0609020204030204" pitchFamily="49" charset="0"/>
              </a:rPr>
              <a:t>{</a:t>
            </a:r>
            <a:r>
              <a:rPr lang="en-SG" sz="1000" b="0" err="1">
                <a:solidFill>
                  <a:srgbClr val="569CD6"/>
                </a:solidFill>
                <a:effectLst/>
                <a:latin typeface="Consolas" panose="020B0609020204030204" pitchFamily="49" charset="0"/>
              </a:rPr>
              <a:t>nullptr</a:t>
            </a:r>
            <a:r>
              <a:rPr lang="en-SG" sz="1000" b="0">
                <a:solidFill>
                  <a:srgbClr val="CCCCCC"/>
                </a:solidFill>
                <a:effectLst/>
                <a:latin typeface="Consolas" panose="020B0609020204030204" pitchFamily="49" charset="0"/>
              </a:rPr>
              <a:t>};</a:t>
            </a:r>
          </a:p>
          <a:p>
            <a:pPr>
              <a:lnSpc>
                <a:spcPts val="1425"/>
              </a:lnSpc>
              <a:buNone/>
            </a:pPr>
            <a:r>
              <a:rPr lang="en-SG" sz="1000" b="0">
                <a:solidFill>
                  <a:srgbClr val="569CD6"/>
                </a:solidFill>
                <a:effectLst/>
                <a:latin typeface="Consolas" panose="020B0609020204030204" pitchFamily="49" charset="0"/>
              </a:rPr>
              <a:t>int</a:t>
            </a:r>
            <a:r>
              <a:rPr lang="en-SG" sz="1000" b="0">
                <a:solidFill>
                  <a:srgbClr val="CCCCCC"/>
                </a:solidFill>
                <a:effectLst/>
                <a:latin typeface="Consolas" panose="020B0609020204030204" pitchFamily="49" charset="0"/>
              </a:rPr>
              <a:t> </a:t>
            </a:r>
            <a:r>
              <a:rPr lang="en-SG" sz="1000" b="0" err="1">
                <a:solidFill>
                  <a:srgbClr val="DCDCAA"/>
                </a:solidFill>
                <a:effectLst/>
                <a:latin typeface="Consolas" panose="020B0609020204030204" pitchFamily="49" charset="0"/>
              </a:rPr>
              <a:t>lookup_rcu</a:t>
            </a:r>
            <a:r>
              <a:rPr lang="en-SG" sz="1000" b="0">
                <a:solidFill>
                  <a:srgbClr val="CCCCCC"/>
                </a:solidFill>
                <a:effectLst/>
                <a:latin typeface="Consolas" panose="020B0609020204030204" pitchFamily="49" charset="0"/>
              </a:rPr>
              <a:t>(</a:t>
            </a:r>
            <a:r>
              <a:rPr lang="en-SG" sz="1000" b="0">
                <a:solidFill>
                  <a:srgbClr val="569CD6"/>
                </a:solidFill>
                <a:effectLst/>
                <a:latin typeface="Consolas" panose="020B0609020204030204" pitchFamily="49" charset="0"/>
              </a:rPr>
              <a:t>int</a:t>
            </a:r>
            <a:r>
              <a:rPr lang="en-SG" sz="1000" b="0">
                <a:solidFill>
                  <a:srgbClr val="CCCCCC"/>
                </a:solidFill>
                <a:effectLst/>
                <a:latin typeface="Consolas" panose="020B0609020204030204" pitchFamily="49" charset="0"/>
              </a:rPr>
              <a:t> </a:t>
            </a:r>
            <a:r>
              <a:rPr lang="en-SG" sz="1000" b="0">
                <a:solidFill>
                  <a:srgbClr val="9CDCFE"/>
                </a:solidFill>
                <a:effectLst/>
                <a:latin typeface="Consolas" panose="020B0609020204030204" pitchFamily="49" charset="0"/>
              </a:rPr>
              <a:t>k</a:t>
            </a:r>
            <a:r>
              <a:rPr lang="en-SG" sz="1000" b="0">
                <a:solidFill>
                  <a:srgbClr val="CCCCCC"/>
                </a:solidFill>
                <a:effectLst/>
                <a:latin typeface="Consolas" panose="020B0609020204030204" pitchFamily="49" charset="0"/>
              </a:rPr>
              <a:t>) {</a:t>
            </a:r>
          </a:p>
          <a:p>
            <a:pPr>
              <a:lnSpc>
                <a:spcPts val="1425"/>
              </a:lnSpc>
              <a:buNone/>
            </a:pPr>
            <a:r>
              <a:rPr lang="en-SG" sz="1000" b="0">
                <a:solidFill>
                  <a:srgbClr val="6A9955"/>
                </a:solidFill>
                <a:effectLst/>
                <a:latin typeface="Consolas" panose="020B0609020204030204" pitchFamily="49" charset="0"/>
              </a:rPr>
              <a:t>  // Enter read-side critical section (idiom: scoped guard on default domain)</a:t>
            </a:r>
            <a:endParaRPr lang="en-SG" sz="1000" b="0">
              <a:solidFill>
                <a:srgbClr val="CCCCCC"/>
              </a:solidFill>
              <a:effectLst/>
              <a:latin typeface="Consolas" panose="020B0609020204030204" pitchFamily="49" charset="0"/>
            </a:endParaRPr>
          </a:p>
          <a:p>
            <a:pPr>
              <a:lnSpc>
                <a:spcPts val="1425"/>
              </a:lnSpc>
              <a:buNone/>
            </a:pPr>
            <a:r>
              <a:rPr lang="en-SG" sz="1000" b="0">
                <a:solidFill>
                  <a:srgbClr val="CCCCCC"/>
                </a:solidFill>
                <a:effectLst/>
                <a:latin typeface="Consolas" panose="020B0609020204030204" pitchFamily="49" charset="0"/>
              </a:rPr>
              <a:t>  </a:t>
            </a:r>
            <a:r>
              <a:rPr lang="en-SG" sz="1000" b="0">
                <a:solidFill>
                  <a:srgbClr val="4EC9B0"/>
                </a:solidFill>
                <a:effectLst/>
                <a:latin typeface="Consolas" panose="020B0609020204030204" pitchFamily="49" charset="0"/>
              </a:rPr>
              <a:t>std</a:t>
            </a:r>
            <a:r>
              <a:rPr lang="en-SG" sz="1000" b="0">
                <a:solidFill>
                  <a:srgbClr val="CCCCCC"/>
                </a:solidFill>
                <a:effectLst/>
                <a:latin typeface="Consolas" panose="020B0609020204030204" pitchFamily="49" charset="0"/>
              </a:rPr>
              <a:t>::</a:t>
            </a:r>
            <a:r>
              <a:rPr lang="en-SG" sz="1000" b="0" err="1">
                <a:solidFill>
                  <a:srgbClr val="CCCCCC"/>
                </a:solidFill>
                <a:effectLst/>
                <a:latin typeface="Consolas" panose="020B0609020204030204" pitchFamily="49" charset="0"/>
              </a:rPr>
              <a:t>scoped_lock</a:t>
            </a:r>
            <a:r>
              <a:rPr lang="en-SG" sz="1000" b="0">
                <a:solidFill>
                  <a:srgbClr val="CCCCCC"/>
                </a:solidFill>
                <a:effectLst/>
                <a:latin typeface="Consolas" panose="020B0609020204030204" pitchFamily="49" charset="0"/>
              </a:rPr>
              <a:t> </a:t>
            </a:r>
            <a:r>
              <a:rPr lang="en-SG" sz="1000" b="0" err="1">
                <a:solidFill>
                  <a:srgbClr val="9CDCFE"/>
                </a:solidFill>
                <a:effectLst/>
                <a:latin typeface="Consolas" panose="020B0609020204030204" pitchFamily="49" charset="0"/>
              </a:rPr>
              <a:t>read_guard</a:t>
            </a:r>
            <a:r>
              <a:rPr lang="en-SG" sz="1000" b="0">
                <a:solidFill>
                  <a:srgbClr val="CCCCCC"/>
                </a:solidFill>
                <a:effectLst/>
                <a:latin typeface="Consolas" panose="020B0609020204030204" pitchFamily="49" charset="0"/>
              </a:rPr>
              <a:t>(</a:t>
            </a:r>
            <a:r>
              <a:rPr lang="en-SG" sz="1000" b="0">
                <a:solidFill>
                  <a:srgbClr val="4EC9B0"/>
                </a:solidFill>
                <a:effectLst/>
                <a:latin typeface="Consolas" panose="020B0609020204030204" pitchFamily="49" charset="0"/>
              </a:rPr>
              <a:t>std</a:t>
            </a:r>
            <a:r>
              <a:rPr lang="en-SG" sz="1000" b="0">
                <a:solidFill>
                  <a:srgbClr val="CCCCCC"/>
                </a:solidFill>
                <a:effectLst/>
                <a:latin typeface="Consolas" panose="020B0609020204030204" pitchFamily="49" charset="0"/>
              </a:rPr>
              <a:t>::</a:t>
            </a:r>
            <a:r>
              <a:rPr lang="en-SG" sz="1000" b="0" err="1">
                <a:solidFill>
                  <a:srgbClr val="DCDCAA"/>
                </a:solidFill>
                <a:effectLst/>
                <a:latin typeface="Consolas" panose="020B0609020204030204" pitchFamily="49" charset="0"/>
              </a:rPr>
              <a:t>rcu_default_domain</a:t>
            </a:r>
            <a:r>
              <a:rPr lang="en-SG" sz="1000" b="0">
                <a:solidFill>
                  <a:srgbClr val="CCCCCC"/>
                </a:solidFill>
                <a:effectLst/>
                <a:latin typeface="Consolas" panose="020B0609020204030204" pitchFamily="49" charset="0"/>
              </a:rPr>
              <a:t>());</a:t>
            </a:r>
            <a:r>
              <a:rPr lang="en-SG" sz="1000" b="0">
                <a:solidFill>
                  <a:srgbClr val="6A9955"/>
                </a:solidFill>
                <a:effectLst/>
                <a:latin typeface="Consolas" panose="020B0609020204030204" pitchFamily="49" charset="0"/>
              </a:rPr>
              <a:t>  // as illustrated in </a:t>
            </a:r>
            <a:r>
              <a:rPr lang="en-SG" sz="1000" b="0" err="1">
                <a:solidFill>
                  <a:srgbClr val="6A9955"/>
                </a:solidFill>
                <a:effectLst/>
                <a:latin typeface="Consolas" panose="020B0609020204030204" pitchFamily="49" charset="0"/>
              </a:rPr>
              <a:t>Modernes</a:t>
            </a:r>
            <a:r>
              <a:rPr lang="en-SG" sz="1000" b="0">
                <a:solidFill>
                  <a:srgbClr val="6A9955"/>
                </a:solidFill>
                <a:effectLst/>
                <a:latin typeface="Consolas" panose="020B0609020204030204" pitchFamily="49" charset="0"/>
              </a:rPr>
              <a:t> C++</a:t>
            </a:r>
            <a:endParaRPr lang="en-SG" sz="1000" b="0">
              <a:solidFill>
                <a:srgbClr val="CCCCCC"/>
              </a:solidFill>
              <a:effectLst/>
              <a:latin typeface="Consolas" panose="020B0609020204030204" pitchFamily="49" charset="0"/>
            </a:endParaRPr>
          </a:p>
          <a:p>
            <a:pPr>
              <a:lnSpc>
                <a:spcPts val="1425"/>
              </a:lnSpc>
              <a:buNone/>
            </a:pPr>
            <a:r>
              <a:rPr lang="en-SG" sz="1000" b="0">
                <a:solidFill>
                  <a:srgbClr val="CCCCCC"/>
                </a:solidFill>
                <a:effectLst/>
                <a:latin typeface="Consolas" panose="020B0609020204030204" pitchFamily="49" charset="0"/>
              </a:rPr>
              <a:t>  </a:t>
            </a:r>
            <a:r>
              <a:rPr lang="en-SG" sz="1000" b="0">
                <a:solidFill>
                  <a:srgbClr val="4EC9B0"/>
                </a:solidFill>
                <a:effectLst/>
                <a:latin typeface="Consolas" panose="020B0609020204030204" pitchFamily="49" charset="0"/>
              </a:rPr>
              <a:t>Entry</a:t>
            </a:r>
            <a:r>
              <a:rPr lang="en-SG" sz="1000" b="0">
                <a:solidFill>
                  <a:srgbClr val="D4D4D4"/>
                </a:solidFill>
                <a:effectLst/>
                <a:latin typeface="Consolas" panose="020B0609020204030204" pitchFamily="49" charset="0"/>
              </a:rPr>
              <a:t>*</a:t>
            </a:r>
            <a:r>
              <a:rPr lang="en-SG" sz="1000" b="0">
                <a:solidFill>
                  <a:srgbClr val="CCCCCC"/>
                </a:solidFill>
                <a:effectLst/>
                <a:latin typeface="Consolas" panose="020B0609020204030204" pitchFamily="49" charset="0"/>
              </a:rPr>
              <a:t> </a:t>
            </a:r>
            <a:r>
              <a:rPr lang="en-SG" sz="1000" b="0">
                <a:solidFill>
                  <a:srgbClr val="9CDCFE"/>
                </a:solidFill>
                <a:effectLst/>
                <a:latin typeface="Consolas" panose="020B0609020204030204" pitchFamily="49" charset="0"/>
              </a:rPr>
              <a:t>e</a:t>
            </a:r>
            <a:r>
              <a:rPr lang="en-SG" sz="1000" b="0">
                <a:solidFill>
                  <a:srgbClr val="CCCCCC"/>
                </a:solidFill>
                <a:effectLst/>
                <a:latin typeface="Consolas" panose="020B0609020204030204" pitchFamily="49" charset="0"/>
              </a:rPr>
              <a:t> </a:t>
            </a:r>
            <a:r>
              <a:rPr lang="en-SG" sz="1000" b="0">
                <a:solidFill>
                  <a:srgbClr val="D4D4D4"/>
                </a:solidFill>
                <a:effectLst/>
                <a:latin typeface="Consolas" panose="020B0609020204030204" pitchFamily="49" charset="0"/>
              </a:rPr>
              <a:t>=</a:t>
            </a:r>
            <a:r>
              <a:rPr lang="en-SG" sz="1000" b="0">
                <a:solidFill>
                  <a:srgbClr val="CCCCCC"/>
                </a:solidFill>
                <a:effectLst/>
                <a:latin typeface="Consolas" panose="020B0609020204030204" pitchFamily="49" charset="0"/>
              </a:rPr>
              <a:t> </a:t>
            </a:r>
            <a:r>
              <a:rPr lang="en-SG" sz="1000" b="0" err="1">
                <a:solidFill>
                  <a:srgbClr val="9CDCFE"/>
                </a:solidFill>
                <a:effectLst/>
                <a:latin typeface="Consolas" panose="020B0609020204030204" pitchFamily="49" charset="0"/>
              </a:rPr>
              <a:t>table_head</a:t>
            </a:r>
            <a:r>
              <a:rPr lang="en-SG" sz="1000" b="0" err="1">
                <a:solidFill>
                  <a:srgbClr val="CCCCCC"/>
                </a:solidFill>
                <a:effectLst/>
                <a:latin typeface="Consolas" panose="020B0609020204030204" pitchFamily="49" charset="0"/>
              </a:rPr>
              <a:t>.</a:t>
            </a:r>
            <a:r>
              <a:rPr lang="en-SG" sz="1000" b="0" err="1">
                <a:solidFill>
                  <a:srgbClr val="DCDCAA"/>
                </a:solidFill>
                <a:effectLst/>
                <a:latin typeface="Consolas" panose="020B0609020204030204" pitchFamily="49" charset="0"/>
              </a:rPr>
              <a:t>load</a:t>
            </a:r>
            <a:r>
              <a:rPr lang="en-SG" sz="1000" b="0">
                <a:solidFill>
                  <a:srgbClr val="CCCCCC"/>
                </a:solidFill>
                <a:effectLst/>
                <a:latin typeface="Consolas" panose="020B0609020204030204" pitchFamily="49" charset="0"/>
              </a:rPr>
              <a:t>(</a:t>
            </a:r>
            <a:r>
              <a:rPr lang="en-SG" sz="1000" b="0">
                <a:solidFill>
                  <a:srgbClr val="4EC9B0"/>
                </a:solidFill>
                <a:effectLst/>
                <a:latin typeface="Consolas" panose="020B0609020204030204" pitchFamily="49" charset="0"/>
              </a:rPr>
              <a:t>std</a:t>
            </a:r>
            <a:r>
              <a:rPr lang="en-SG" sz="1000" b="0">
                <a:solidFill>
                  <a:srgbClr val="CCCCCC"/>
                </a:solidFill>
                <a:effectLst/>
                <a:latin typeface="Consolas" panose="020B0609020204030204" pitchFamily="49" charset="0"/>
              </a:rPr>
              <a:t>::</a:t>
            </a:r>
            <a:r>
              <a:rPr lang="en-SG" sz="1000" b="0" err="1">
                <a:solidFill>
                  <a:srgbClr val="4FC1FF"/>
                </a:solidFill>
                <a:effectLst/>
                <a:latin typeface="Consolas" panose="020B0609020204030204" pitchFamily="49" charset="0"/>
              </a:rPr>
              <a:t>memory_order_acquire</a:t>
            </a:r>
            <a:r>
              <a:rPr lang="en-SG" sz="1000" b="0">
                <a:solidFill>
                  <a:srgbClr val="CCCCCC"/>
                </a:solidFill>
                <a:effectLst/>
                <a:latin typeface="Consolas" panose="020B0609020204030204" pitchFamily="49" charset="0"/>
              </a:rPr>
              <a:t>);</a:t>
            </a:r>
          </a:p>
          <a:p>
            <a:pPr>
              <a:lnSpc>
                <a:spcPts val="1425"/>
              </a:lnSpc>
              <a:buNone/>
            </a:pPr>
            <a:r>
              <a:rPr lang="en-SG" sz="1000" b="0">
                <a:solidFill>
                  <a:srgbClr val="CCCCCC"/>
                </a:solidFill>
                <a:effectLst/>
                <a:latin typeface="Consolas" panose="020B0609020204030204" pitchFamily="49" charset="0"/>
              </a:rPr>
              <a:t>  </a:t>
            </a:r>
            <a:r>
              <a:rPr lang="en-SG" sz="1000" b="0">
                <a:solidFill>
                  <a:srgbClr val="C586C0"/>
                </a:solidFill>
                <a:effectLst/>
                <a:latin typeface="Consolas" panose="020B0609020204030204" pitchFamily="49" charset="0"/>
              </a:rPr>
              <a:t>for</a:t>
            </a:r>
            <a:r>
              <a:rPr lang="en-SG" sz="1000" b="0">
                <a:solidFill>
                  <a:srgbClr val="CCCCCC"/>
                </a:solidFill>
                <a:effectLst/>
                <a:latin typeface="Consolas" panose="020B0609020204030204" pitchFamily="49" charset="0"/>
              </a:rPr>
              <a:t> (; </a:t>
            </a:r>
            <a:r>
              <a:rPr lang="en-SG" sz="1000" b="0">
                <a:solidFill>
                  <a:srgbClr val="9CDCFE"/>
                </a:solidFill>
                <a:effectLst/>
                <a:latin typeface="Consolas" panose="020B0609020204030204" pitchFamily="49" charset="0"/>
              </a:rPr>
              <a:t>e</a:t>
            </a:r>
            <a:r>
              <a:rPr lang="en-SG" sz="1000" b="0">
                <a:solidFill>
                  <a:srgbClr val="CCCCCC"/>
                </a:solidFill>
                <a:effectLst/>
                <a:latin typeface="Consolas" panose="020B0609020204030204" pitchFamily="49" charset="0"/>
              </a:rPr>
              <a:t>; </a:t>
            </a:r>
            <a:r>
              <a:rPr lang="en-SG" sz="1000" b="0">
                <a:solidFill>
                  <a:srgbClr val="9CDCFE"/>
                </a:solidFill>
                <a:effectLst/>
                <a:latin typeface="Consolas" panose="020B0609020204030204" pitchFamily="49" charset="0"/>
              </a:rPr>
              <a:t>e</a:t>
            </a:r>
            <a:r>
              <a:rPr lang="en-SG" sz="1000" b="0">
                <a:solidFill>
                  <a:srgbClr val="CCCCCC"/>
                </a:solidFill>
                <a:effectLst/>
                <a:latin typeface="Consolas" panose="020B0609020204030204" pitchFamily="49" charset="0"/>
              </a:rPr>
              <a:t> </a:t>
            </a:r>
            <a:r>
              <a:rPr lang="en-SG" sz="1000" b="0">
                <a:solidFill>
                  <a:srgbClr val="D4D4D4"/>
                </a:solidFill>
                <a:effectLst/>
                <a:latin typeface="Consolas" panose="020B0609020204030204" pitchFamily="49" charset="0"/>
              </a:rPr>
              <a:t>=</a:t>
            </a:r>
            <a:r>
              <a:rPr lang="en-SG" sz="1000" b="0">
                <a:solidFill>
                  <a:srgbClr val="CCCCCC"/>
                </a:solidFill>
                <a:effectLst/>
                <a:latin typeface="Consolas" panose="020B0609020204030204" pitchFamily="49" charset="0"/>
              </a:rPr>
              <a:t> </a:t>
            </a:r>
            <a:r>
              <a:rPr lang="en-SG" sz="1000" b="0">
                <a:solidFill>
                  <a:srgbClr val="9CDCFE"/>
                </a:solidFill>
                <a:effectLst/>
                <a:latin typeface="Consolas" panose="020B0609020204030204" pitchFamily="49" charset="0"/>
              </a:rPr>
              <a:t>e</a:t>
            </a:r>
            <a:r>
              <a:rPr lang="en-SG" sz="1000" b="0">
                <a:solidFill>
                  <a:srgbClr val="CCCCCC"/>
                </a:solidFill>
                <a:effectLst/>
                <a:latin typeface="Consolas" panose="020B0609020204030204" pitchFamily="49" charset="0"/>
              </a:rPr>
              <a:t>-&gt;</a:t>
            </a:r>
            <a:r>
              <a:rPr lang="en-SG" sz="1000" b="0" err="1">
                <a:solidFill>
                  <a:srgbClr val="9CDCFE"/>
                </a:solidFill>
                <a:effectLst/>
                <a:latin typeface="Consolas" panose="020B0609020204030204" pitchFamily="49" charset="0"/>
              </a:rPr>
              <a:t>next</a:t>
            </a:r>
            <a:r>
              <a:rPr lang="en-SG" sz="1000" b="0" err="1">
                <a:solidFill>
                  <a:srgbClr val="CCCCCC"/>
                </a:solidFill>
                <a:effectLst/>
                <a:latin typeface="Consolas" panose="020B0609020204030204" pitchFamily="49" charset="0"/>
              </a:rPr>
              <a:t>.</a:t>
            </a:r>
            <a:r>
              <a:rPr lang="en-SG" sz="1000" b="0" err="1">
                <a:solidFill>
                  <a:srgbClr val="DCDCAA"/>
                </a:solidFill>
                <a:effectLst/>
                <a:latin typeface="Consolas" panose="020B0609020204030204" pitchFamily="49" charset="0"/>
              </a:rPr>
              <a:t>load</a:t>
            </a:r>
            <a:r>
              <a:rPr lang="en-SG" sz="1000" b="0">
                <a:solidFill>
                  <a:srgbClr val="CCCCCC"/>
                </a:solidFill>
                <a:effectLst/>
                <a:latin typeface="Consolas" panose="020B0609020204030204" pitchFamily="49" charset="0"/>
              </a:rPr>
              <a:t>(</a:t>
            </a:r>
            <a:r>
              <a:rPr lang="en-SG" sz="1000" b="0">
                <a:solidFill>
                  <a:srgbClr val="4EC9B0"/>
                </a:solidFill>
                <a:effectLst/>
                <a:latin typeface="Consolas" panose="020B0609020204030204" pitchFamily="49" charset="0"/>
              </a:rPr>
              <a:t>std</a:t>
            </a:r>
            <a:r>
              <a:rPr lang="en-SG" sz="1000" b="0">
                <a:solidFill>
                  <a:srgbClr val="CCCCCC"/>
                </a:solidFill>
                <a:effectLst/>
                <a:latin typeface="Consolas" panose="020B0609020204030204" pitchFamily="49" charset="0"/>
              </a:rPr>
              <a:t>::</a:t>
            </a:r>
            <a:r>
              <a:rPr lang="en-SG" sz="1000" b="0" err="1">
                <a:solidFill>
                  <a:srgbClr val="4FC1FF"/>
                </a:solidFill>
                <a:effectLst/>
                <a:latin typeface="Consolas" panose="020B0609020204030204" pitchFamily="49" charset="0"/>
              </a:rPr>
              <a:t>memory_order_relaxed</a:t>
            </a:r>
            <a:r>
              <a:rPr lang="en-SG" sz="1000" b="0">
                <a:solidFill>
                  <a:srgbClr val="CCCCCC"/>
                </a:solidFill>
                <a:effectLst/>
                <a:latin typeface="Consolas" panose="020B0609020204030204" pitchFamily="49" charset="0"/>
              </a:rPr>
              <a:t>)) {</a:t>
            </a:r>
          </a:p>
          <a:p>
            <a:pPr>
              <a:lnSpc>
                <a:spcPts val="1425"/>
              </a:lnSpc>
              <a:buNone/>
            </a:pPr>
            <a:r>
              <a:rPr lang="en-SG" sz="1000" b="0">
                <a:solidFill>
                  <a:srgbClr val="CCCCCC"/>
                </a:solidFill>
                <a:effectLst/>
                <a:latin typeface="Consolas" panose="020B0609020204030204" pitchFamily="49" charset="0"/>
              </a:rPr>
              <a:t>    </a:t>
            </a:r>
            <a:r>
              <a:rPr lang="en-SG" sz="1000" b="0">
                <a:solidFill>
                  <a:srgbClr val="C586C0"/>
                </a:solidFill>
                <a:effectLst/>
                <a:latin typeface="Consolas" panose="020B0609020204030204" pitchFamily="49" charset="0"/>
              </a:rPr>
              <a:t>if</a:t>
            </a:r>
            <a:r>
              <a:rPr lang="en-SG" sz="1000" b="0">
                <a:solidFill>
                  <a:srgbClr val="CCCCCC"/>
                </a:solidFill>
                <a:effectLst/>
                <a:latin typeface="Consolas" panose="020B0609020204030204" pitchFamily="49" charset="0"/>
              </a:rPr>
              <a:t> (</a:t>
            </a:r>
            <a:r>
              <a:rPr lang="en-SG" sz="1000" b="0">
                <a:solidFill>
                  <a:srgbClr val="9CDCFE"/>
                </a:solidFill>
                <a:effectLst/>
                <a:latin typeface="Consolas" panose="020B0609020204030204" pitchFamily="49" charset="0"/>
              </a:rPr>
              <a:t>e</a:t>
            </a:r>
            <a:r>
              <a:rPr lang="en-SG" sz="1000" b="0">
                <a:solidFill>
                  <a:srgbClr val="CCCCCC"/>
                </a:solidFill>
                <a:effectLst/>
                <a:latin typeface="Consolas" panose="020B0609020204030204" pitchFamily="49" charset="0"/>
              </a:rPr>
              <a:t>-&gt;</a:t>
            </a:r>
            <a:r>
              <a:rPr lang="en-SG" sz="1000" b="0">
                <a:solidFill>
                  <a:srgbClr val="9CDCFE"/>
                </a:solidFill>
                <a:effectLst/>
                <a:latin typeface="Consolas" panose="020B0609020204030204" pitchFamily="49" charset="0"/>
              </a:rPr>
              <a:t>key</a:t>
            </a:r>
            <a:r>
              <a:rPr lang="en-SG" sz="1000" b="0">
                <a:solidFill>
                  <a:srgbClr val="CCCCCC"/>
                </a:solidFill>
                <a:effectLst/>
                <a:latin typeface="Consolas" panose="020B0609020204030204" pitchFamily="49" charset="0"/>
              </a:rPr>
              <a:t> </a:t>
            </a:r>
            <a:r>
              <a:rPr lang="en-SG" sz="1000" b="0">
                <a:solidFill>
                  <a:srgbClr val="D4D4D4"/>
                </a:solidFill>
                <a:effectLst/>
                <a:latin typeface="Consolas" panose="020B0609020204030204" pitchFamily="49" charset="0"/>
              </a:rPr>
              <a:t>==</a:t>
            </a:r>
            <a:r>
              <a:rPr lang="en-SG" sz="1000" b="0">
                <a:solidFill>
                  <a:srgbClr val="CCCCCC"/>
                </a:solidFill>
                <a:effectLst/>
                <a:latin typeface="Consolas" panose="020B0609020204030204" pitchFamily="49" charset="0"/>
              </a:rPr>
              <a:t> </a:t>
            </a:r>
            <a:r>
              <a:rPr lang="en-SG" sz="1000" b="0">
                <a:solidFill>
                  <a:srgbClr val="9CDCFE"/>
                </a:solidFill>
                <a:effectLst/>
                <a:latin typeface="Consolas" panose="020B0609020204030204" pitchFamily="49" charset="0"/>
              </a:rPr>
              <a:t>k</a:t>
            </a:r>
            <a:r>
              <a:rPr lang="en-SG" sz="1000" b="0">
                <a:solidFill>
                  <a:srgbClr val="CCCCCC"/>
                </a:solidFill>
                <a:effectLst/>
                <a:latin typeface="Consolas" panose="020B0609020204030204" pitchFamily="49" charset="0"/>
              </a:rPr>
              <a:t>) </a:t>
            </a:r>
            <a:r>
              <a:rPr lang="en-SG" sz="1000" b="0">
                <a:solidFill>
                  <a:srgbClr val="C586C0"/>
                </a:solidFill>
                <a:effectLst/>
                <a:latin typeface="Consolas" panose="020B0609020204030204" pitchFamily="49" charset="0"/>
              </a:rPr>
              <a:t>return</a:t>
            </a:r>
            <a:r>
              <a:rPr lang="en-SG" sz="1000" b="0">
                <a:solidFill>
                  <a:srgbClr val="CCCCCC"/>
                </a:solidFill>
                <a:effectLst/>
                <a:latin typeface="Consolas" panose="020B0609020204030204" pitchFamily="49" charset="0"/>
              </a:rPr>
              <a:t> </a:t>
            </a:r>
            <a:r>
              <a:rPr lang="en-SG" sz="1000" b="0">
                <a:solidFill>
                  <a:srgbClr val="9CDCFE"/>
                </a:solidFill>
                <a:effectLst/>
                <a:latin typeface="Consolas" panose="020B0609020204030204" pitchFamily="49" charset="0"/>
              </a:rPr>
              <a:t>e</a:t>
            </a:r>
            <a:r>
              <a:rPr lang="en-SG" sz="1000" b="0">
                <a:solidFill>
                  <a:srgbClr val="CCCCCC"/>
                </a:solidFill>
                <a:effectLst/>
                <a:latin typeface="Consolas" panose="020B0609020204030204" pitchFamily="49" charset="0"/>
              </a:rPr>
              <a:t>-&gt;</a:t>
            </a:r>
            <a:r>
              <a:rPr lang="en-SG" sz="1000" b="0">
                <a:solidFill>
                  <a:srgbClr val="9CDCFE"/>
                </a:solidFill>
                <a:effectLst/>
                <a:latin typeface="Consolas" panose="020B0609020204030204" pitchFamily="49" charset="0"/>
              </a:rPr>
              <a:t>value</a:t>
            </a:r>
            <a:r>
              <a:rPr lang="en-SG" sz="1000" b="0">
                <a:solidFill>
                  <a:srgbClr val="CCCCCC"/>
                </a:solidFill>
                <a:effectLst/>
                <a:latin typeface="Consolas" panose="020B0609020204030204" pitchFamily="49" charset="0"/>
              </a:rPr>
              <a:t>;</a:t>
            </a:r>
            <a:r>
              <a:rPr lang="en-SG" sz="1000" b="0">
                <a:solidFill>
                  <a:srgbClr val="6A9955"/>
                </a:solidFill>
                <a:effectLst/>
                <a:latin typeface="Consolas" panose="020B0609020204030204" pitchFamily="49" charset="0"/>
              </a:rPr>
              <a:t>  // safe during the read-side section</a:t>
            </a:r>
            <a:endParaRPr lang="en-SG" sz="1000" b="0">
              <a:solidFill>
                <a:srgbClr val="CCCCCC"/>
              </a:solidFill>
              <a:effectLst/>
              <a:latin typeface="Consolas" panose="020B0609020204030204" pitchFamily="49" charset="0"/>
            </a:endParaRPr>
          </a:p>
          <a:p>
            <a:pPr>
              <a:lnSpc>
                <a:spcPts val="1425"/>
              </a:lnSpc>
              <a:buNone/>
            </a:pPr>
            <a:r>
              <a:rPr lang="en-SG" sz="1000" b="0">
                <a:solidFill>
                  <a:srgbClr val="CCCCCC"/>
                </a:solidFill>
                <a:effectLst/>
                <a:latin typeface="Consolas" panose="020B0609020204030204" pitchFamily="49" charset="0"/>
              </a:rPr>
              <a:t>  }</a:t>
            </a:r>
          </a:p>
          <a:p>
            <a:pPr>
              <a:lnSpc>
                <a:spcPts val="1425"/>
              </a:lnSpc>
              <a:buNone/>
            </a:pPr>
            <a:r>
              <a:rPr lang="en-SG" sz="1000" b="0">
                <a:solidFill>
                  <a:srgbClr val="CCCCCC"/>
                </a:solidFill>
                <a:effectLst/>
                <a:latin typeface="Consolas" panose="020B0609020204030204" pitchFamily="49" charset="0"/>
              </a:rPr>
              <a:t>  </a:t>
            </a:r>
            <a:r>
              <a:rPr lang="en-SG" sz="1000" b="0">
                <a:solidFill>
                  <a:srgbClr val="C586C0"/>
                </a:solidFill>
                <a:effectLst/>
                <a:latin typeface="Consolas" panose="020B0609020204030204" pitchFamily="49" charset="0"/>
              </a:rPr>
              <a:t>return</a:t>
            </a:r>
            <a:r>
              <a:rPr lang="en-SG" sz="1000" b="0">
                <a:solidFill>
                  <a:srgbClr val="CCCCCC"/>
                </a:solidFill>
                <a:effectLst/>
                <a:latin typeface="Consolas" panose="020B0609020204030204" pitchFamily="49" charset="0"/>
              </a:rPr>
              <a:t> </a:t>
            </a:r>
            <a:r>
              <a:rPr lang="en-SG" sz="1000" b="0">
                <a:solidFill>
                  <a:srgbClr val="D4D4D4"/>
                </a:solidFill>
                <a:effectLst/>
                <a:latin typeface="Consolas" panose="020B0609020204030204" pitchFamily="49" charset="0"/>
              </a:rPr>
              <a:t>-</a:t>
            </a:r>
            <a:r>
              <a:rPr lang="en-SG" sz="1000" b="0">
                <a:solidFill>
                  <a:srgbClr val="B5CEA8"/>
                </a:solidFill>
                <a:effectLst/>
                <a:latin typeface="Consolas" panose="020B0609020204030204" pitchFamily="49" charset="0"/>
              </a:rPr>
              <a:t>1</a:t>
            </a:r>
            <a:r>
              <a:rPr lang="en-SG" sz="1000" b="0">
                <a:solidFill>
                  <a:srgbClr val="CCCCCC"/>
                </a:solidFill>
                <a:effectLst/>
                <a:latin typeface="Consolas" panose="020B0609020204030204" pitchFamily="49" charset="0"/>
              </a:rPr>
              <a:t>;</a:t>
            </a:r>
          </a:p>
          <a:p>
            <a:pPr>
              <a:lnSpc>
                <a:spcPts val="1425"/>
              </a:lnSpc>
              <a:buNone/>
            </a:pPr>
            <a:r>
              <a:rPr lang="en-SG" sz="1000" b="0">
                <a:solidFill>
                  <a:srgbClr val="CCCCCC"/>
                </a:solidFill>
                <a:effectLst/>
                <a:latin typeface="Consolas" panose="020B0609020204030204" pitchFamily="49" charset="0"/>
              </a:rPr>
              <a:t>}</a:t>
            </a:r>
          </a:p>
          <a:p>
            <a:pPr>
              <a:lnSpc>
                <a:spcPts val="1425"/>
              </a:lnSpc>
              <a:buNone/>
            </a:pPr>
            <a:endParaRPr lang="en-SG" sz="1000" b="0">
              <a:solidFill>
                <a:srgbClr val="CCCCCC"/>
              </a:solidFill>
              <a:effectLst/>
              <a:latin typeface="Consolas" panose="020B0609020204030204" pitchFamily="49" charset="0"/>
            </a:endParaRPr>
          </a:p>
          <a:p>
            <a:pPr>
              <a:lnSpc>
                <a:spcPts val="1425"/>
              </a:lnSpc>
              <a:buNone/>
            </a:pPr>
            <a:r>
              <a:rPr lang="en-SG" sz="1000" b="0">
                <a:solidFill>
                  <a:srgbClr val="569CD6"/>
                </a:solidFill>
                <a:effectLst/>
                <a:latin typeface="Consolas" panose="020B0609020204030204" pitchFamily="49" charset="0"/>
              </a:rPr>
              <a:t>void</a:t>
            </a:r>
            <a:r>
              <a:rPr lang="en-SG" sz="1000" b="0">
                <a:solidFill>
                  <a:srgbClr val="CCCCCC"/>
                </a:solidFill>
                <a:effectLst/>
                <a:latin typeface="Consolas" panose="020B0609020204030204" pitchFamily="49" charset="0"/>
              </a:rPr>
              <a:t> </a:t>
            </a:r>
            <a:r>
              <a:rPr lang="en-SG" sz="1000" b="0" err="1">
                <a:solidFill>
                  <a:srgbClr val="DCDCAA"/>
                </a:solidFill>
                <a:effectLst/>
                <a:latin typeface="Consolas" panose="020B0609020204030204" pitchFamily="49" charset="0"/>
              </a:rPr>
              <a:t>erase_rcu</a:t>
            </a:r>
            <a:r>
              <a:rPr lang="en-SG" sz="1000" b="0">
                <a:solidFill>
                  <a:srgbClr val="CCCCCC"/>
                </a:solidFill>
                <a:effectLst/>
                <a:latin typeface="Consolas" panose="020B0609020204030204" pitchFamily="49" charset="0"/>
              </a:rPr>
              <a:t>(</a:t>
            </a:r>
            <a:r>
              <a:rPr lang="en-SG" sz="1000" b="0">
                <a:solidFill>
                  <a:srgbClr val="569CD6"/>
                </a:solidFill>
                <a:effectLst/>
                <a:latin typeface="Consolas" panose="020B0609020204030204" pitchFamily="49" charset="0"/>
              </a:rPr>
              <a:t>int</a:t>
            </a:r>
            <a:r>
              <a:rPr lang="en-SG" sz="1000" b="0">
                <a:solidFill>
                  <a:srgbClr val="CCCCCC"/>
                </a:solidFill>
                <a:effectLst/>
                <a:latin typeface="Consolas" panose="020B0609020204030204" pitchFamily="49" charset="0"/>
              </a:rPr>
              <a:t> </a:t>
            </a:r>
            <a:r>
              <a:rPr lang="en-SG" sz="1000" b="0">
                <a:solidFill>
                  <a:srgbClr val="9CDCFE"/>
                </a:solidFill>
                <a:effectLst/>
                <a:latin typeface="Consolas" panose="020B0609020204030204" pitchFamily="49" charset="0"/>
              </a:rPr>
              <a:t>k</a:t>
            </a:r>
            <a:r>
              <a:rPr lang="en-SG" sz="1000" b="0">
                <a:solidFill>
                  <a:srgbClr val="CCCCCC"/>
                </a:solidFill>
                <a:effectLst/>
                <a:latin typeface="Consolas" panose="020B0609020204030204" pitchFamily="49" charset="0"/>
              </a:rPr>
              <a:t>) {</a:t>
            </a:r>
          </a:p>
          <a:p>
            <a:pPr>
              <a:lnSpc>
                <a:spcPts val="1425"/>
              </a:lnSpc>
              <a:buNone/>
            </a:pPr>
            <a:r>
              <a:rPr lang="en-SG" sz="1000" b="0">
                <a:solidFill>
                  <a:srgbClr val="6A9955"/>
                </a:solidFill>
                <a:effectLst/>
                <a:latin typeface="Consolas" panose="020B0609020204030204" pitchFamily="49" charset="0"/>
              </a:rPr>
              <a:t>  // Unlink 'removed' (omitted), then wait a grace period before reclaim</a:t>
            </a:r>
            <a:endParaRPr lang="en-SG" sz="1000" b="0">
              <a:solidFill>
                <a:srgbClr val="CCCCCC"/>
              </a:solidFill>
              <a:effectLst/>
              <a:latin typeface="Consolas" panose="020B0609020204030204" pitchFamily="49" charset="0"/>
            </a:endParaRPr>
          </a:p>
          <a:p>
            <a:pPr>
              <a:lnSpc>
                <a:spcPts val="1425"/>
              </a:lnSpc>
              <a:buNone/>
            </a:pPr>
            <a:r>
              <a:rPr lang="en-SG" sz="1000" b="0">
                <a:solidFill>
                  <a:srgbClr val="CCCCCC"/>
                </a:solidFill>
                <a:effectLst/>
                <a:latin typeface="Consolas" panose="020B0609020204030204" pitchFamily="49" charset="0"/>
              </a:rPr>
              <a:t>  </a:t>
            </a:r>
            <a:r>
              <a:rPr lang="en-SG" sz="1000" b="0">
                <a:solidFill>
                  <a:srgbClr val="4EC9B0"/>
                </a:solidFill>
                <a:effectLst/>
                <a:latin typeface="Consolas" panose="020B0609020204030204" pitchFamily="49" charset="0"/>
              </a:rPr>
              <a:t>std</a:t>
            </a:r>
            <a:r>
              <a:rPr lang="en-SG" sz="1000" b="0">
                <a:solidFill>
                  <a:srgbClr val="CCCCCC"/>
                </a:solidFill>
                <a:effectLst/>
                <a:latin typeface="Consolas" panose="020B0609020204030204" pitchFamily="49" charset="0"/>
              </a:rPr>
              <a:t>::</a:t>
            </a:r>
            <a:r>
              <a:rPr lang="en-SG" sz="1000" b="0" err="1">
                <a:solidFill>
                  <a:srgbClr val="DCDCAA"/>
                </a:solidFill>
                <a:effectLst/>
                <a:latin typeface="Consolas" panose="020B0609020204030204" pitchFamily="49" charset="0"/>
              </a:rPr>
              <a:t>rcu_synchronize</a:t>
            </a:r>
            <a:r>
              <a:rPr lang="en-SG" sz="1000" b="0">
                <a:solidFill>
                  <a:srgbClr val="CCCCCC"/>
                </a:solidFill>
                <a:effectLst/>
                <a:latin typeface="Consolas" panose="020B0609020204030204" pitchFamily="49" charset="0"/>
              </a:rPr>
              <a:t>();</a:t>
            </a:r>
            <a:r>
              <a:rPr lang="en-SG" sz="1000" b="0">
                <a:solidFill>
                  <a:srgbClr val="6A9955"/>
                </a:solidFill>
                <a:effectLst/>
                <a:latin typeface="Consolas" panose="020B0609020204030204" pitchFamily="49" charset="0"/>
              </a:rPr>
              <a:t>          // wait for pre-existing readers to exit</a:t>
            </a:r>
            <a:endParaRPr lang="en-SG" sz="1000" b="0">
              <a:solidFill>
                <a:srgbClr val="CCCCCC"/>
              </a:solidFill>
              <a:effectLst/>
              <a:latin typeface="Consolas" panose="020B0609020204030204" pitchFamily="49" charset="0"/>
            </a:endParaRPr>
          </a:p>
          <a:p>
            <a:pPr>
              <a:lnSpc>
                <a:spcPts val="1425"/>
              </a:lnSpc>
              <a:buNone/>
            </a:pPr>
            <a:r>
              <a:rPr lang="en-SG" sz="1000" b="0">
                <a:solidFill>
                  <a:srgbClr val="6A9955"/>
                </a:solidFill>
                <a:effectLst/>
                <a:latin typeface="Consolas" panose="020B0609020204030204" pitchFamily="49" charset="0"/>
              </a:rPr>
              <a:t>  // Now safely delete retired nodes (not shown)</a:t>
            </a:r>
            <a:endParaRPr lang="en-SG" sz="1000" b="0">
              <a:solidFill>
                <a:srgbClr val="CCCCCC"/>
              </a:solidFill>
              <a:effectLst/>
              <a:latin typeface="Consolas" panose="020B0609020204030204" pitchFamily="49" charset="0"/>
            </a:endParaRPr>
          </a:p>
          <a:p>
            <a:pPr>
              <a:lnSpc>
                <a:spcPts val="1425"/>
              </a:lnSpc>
              <a:buNone/>
            </a:pPr>
            <a:r>
              <a:rPr lang="en-SG" sz="1000" b="0">
                <a:solidFill>
                  <a:srgbClr val="CCCCCC"/>
                </a:solidFill>
                <a:effectLst/>
                <a:latin typeface="Consolas" panose="020B0609020204030204" pitchFamily="49" charset="0"/>
              </a:rPr>
              <a:t>}</a:t>
            </a:r>
          </a:p>
        </p:txBody>
      </p:sp>
      <p:sp>
        <p:nvSpPr>
          <p:cNvPr id="12" name="TextBox 11">
            <a:extLst>
              <a:ext uri="{FF2B5EF4-FFF2-40B4-BE49-F238E27FC236}">
                <a16:creationId xmlns:a16="http://schemas.microsoft.com/office/drawing/2014/main" id="{E10BBAC3-A2D7-75A0-7B50-2F663D42C145}"/>
              </a:ext>
            </a:extLst>
          </p:cNvPr>
          <p:cNvSpPr txBox="1"/>
          <p:nvPr/>
        </p:nvSpPr>
        <p:spPr>
          <a:xfrm>
            <a:off x="5580642" y="2120804"/>
            <a:ext cx="6094948" cy="276999"/>
          </a:xfrm>
          <a:prstGeom prst="rect">
            <a:avLst/>
          </a:prstGeom>
          <a:noFill/>
        </p:spPr>
        <p:txBody>
          <a:bodyPr wrap="square">
            <a:spAutoFit/>
          </a:bodyPr>
          <a:lstStyle>
            <a:defPPr>
              <a:defRPr lang="ru-RU"/>
            </a:defPPr>
            <a:lvl1pPr>
              <a:defRPr sz="1200" b="1"/>
            </a:lvl1pPr>
          </a:lstStyle>
          <a:p>
            <a:r>
              <a:rPr lang="en-US"/>
              <a:t>After</a:t>
            </a:r>
            <a:endParaRPr lang="en-SG"/>
          </a:p>
        </p:txBody>
      </p:sp>
    </p:spTree>
    <p:extLst>
      <p:ext uri="{BB962C8B-B14F-4D97-AF65-F5344CB8AC3E}">
        <p14:creationId xmlns:p14="http://schemas.microsoft.com/office/powerpoint/2010/main" val="22275957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0216D-73E5-3206-1EE5-2AD8299FCB84}"/>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324CA8F8-A3ED-E026-CE26-D725A8D855CE}"/>
              </a:ext>
            </a:extLst>
          </p:cNvPr>
          <p:cNvSpPr txBox="1"/>
          <p:nvPr/>
        </p:nvSpPr>
        <p:spPr>
          <a:xfrm>
            <a:off x="233910" y="208621"/>
            <a:ext cx="7073670" cy="461665"/>
          </a:xfrm>
          <a:prstGeom prst="rect">
            <a:avLst/>
          </a:prstGeom>
          <a:solidFill>
            <a:srgbClr val="002060"/>
          </a:solidFill>
        </p:spPr>
        <p:txBody>
          <a:bodyPr wrap="square" rtlCol="0">
            <a:spAutoFit/>
          </a:bodyPr>
          <a:lstStyle/>
          <a:p>
            <a:r>
              <a:rPr lang="en-US" sz="2400">
                <a:solidFill>
                  <a:schemeClr val="bg1"/>
                </a:solidFill>
                <a:latin typeface="Ubuntu Condensed" panose="020B0506030602030204" pitchFamily="34" charset="0"/>
              </a:rPr>
              <a:t>SMR-related optimizations: Hazard pointers</a:t>
            </a:r>
            <a:endParaRPr lang="ru-RU" sz="2400">
              <a:solidFill>
                <a:schemeClr val="bg1"/>
              </a:solidFill>
              <a:latin typeface="Ubuntu Condensed" panose="020B0506030602030204" pitchFamily="34" charset="0"/>
            </a:endParaRPr>
          </a:p>
        </p:txBody>
      </p:sp>
      <p:sp>
        <p:nvSpPr>
          <p:cNvPr id="7" name="Номер слайда 7">
            <a:extLst>
              <a:ext uri="{FF2B5EF4-FFF2-40B4-BE49-F238E27FC236}">
                <a16:creationId xmlns:a16="http://schemas.microsoft.com/office/drawing/2014/main" id="{5CD0FE4F-784E-5F9B-810C-2422739D5DFC}"/>
              </a:ext>
            </a:extLst>
          </p:cNvPr>
          <p:cNvSpPr>
            <a:spLocks noGrp="1"/>
          </p:cNvSpPr>
          <p:nvPr>
            <p:ph type="sldNum" sz="quarter" idx="12"/>
          </p:nvPr>
        </p:nvSpPr>
        <p:spPr>
          <a:xfrm>
            <a:off x="11725835" y="6402070"/>
            <a:ext cx="386155" cy="365125"/>
          </a:xfrm>
        </p:spPr>
        <p:txBody>
          <a:bodyPr/>
          <a:lstStyle/>
          <a:p>
            <a:pPr algn="ctr"/>
            <a:fld id="{E757BAED-F255-4CF1-96BA-8D7417A9C3BC}" type="slidenum">
              <a:rPr lang="ru-RU" sz="1800" smtClean="0">
                <a:latin typeface="Ubuntu Condensed" panose="020B0506030602030204" pitchFamily="34" charset="0"/>
              </a:rPr>
              <a:pPr algn="ctr"/>
              <a:t>34</a:t>
            </a:fld>
            <a:endParaRPr lang="ru-RU" sz="1800">
              <a:latin typeface="Ubuntu Condensed" panose="020B0506030602030204" pitchFamily="34" charset="0"/>
            </a:endParaRPr>
          </a:p>
        </p:txBody>
      </p:sp>
      <p:sp>
        <p:nvSpPr>
          <p:cNvPr id="3" name="TextBox 2">
            <a:extLst>
              <a:ext uri="{FF2B5EF4-FFF2-40B4-BE49-F238E27FC236}">
                <a16:creationId xmlns:a16="http://schemas.microsoft.com/office/drawing/2014/main" id="{845C89DE-D7D9-49A8-688C-6117312384BE}"/>
              </a:ext>
            </a:extLst>
          </p:cNvPr>
          <p:cNvSpPr txBox="1"/>
          <p:nvPr/>
        </p:nvSpPr>
        <p:spPr>
          <a:xfrm>
            <a:off x="233910" y="670286"/>
            <a:ext cx="11572010" cy="2123658"/>
          </a:xfrm>
          <a:prstGeom prst="rect">
            <a:avLst/>
          </a:prstGeom>
          <a:noFill/>
        </p:spPr>
        <p:txBody>
          <a:bodyPr wrap="square">
            <a:spAutoFit/>
          </a:bodyPr>
          <a:lstStyle/>
          <a:p>
            <a:r>
              <a:rPr lang="en-US" sz="1200" i="1"/>
              <a:t>Daewoo Kim, Trevor Brown, and Ajay Singh. 2024. Are Your Epochs Too Epic? Batch Free Can Be Harmful. In Proceedings of the 29th ACM SIGPLAN Annual Symposium on Principles and Practice of Parallel Programming (</a:t>
            </a:r>
            <a:r>
              <a:rPr lang="en-US" sz="1200" i="1" err="1"/>
              <a:t>PPoPP</a:t>
            </a:r>
            <a:r>
              <a:rPr lang="en-US" sz="1200" i="1"/>
              <a:t> '24). Association for Computing Machinery, New York, NY, USA, 30–41. https://doi.org/10.1145/3627535.3638491</a:t>
            </a:r>
          </a:p>
          <a:p>
            <a:r>
              <a:rPr lang="en-US" sz="1200" b="1"/>
              <a:t>3) </a:t>
            </a:r>
            <a:r>
              <a:rPr lang="en-US" sz="1200"/>
              <a:t>EBR/HP‑aware “free scheduling”: smoothing retire bursts </a:t>
            </a:r>
          </a:p>
          <a:p>
            <a:r>
              <a:rPr lang="en-US" sz="1200" b="1"/>
              <a:t>Idea:</a:t>
            </a:r>
            <a:r>
              <a:rPr lang="en-US" sz="1200"/>
              <a:t> spread large retire()/free() waves over time so they do not slam the allocator in “batches.”</a:t>
            </a:r>
          </a:p>
          <a:p>
            <a:r>
              <a:rPr lang="en-US" sz="1200"/>
              <a:t>PPoPP’24 shows that </a:t>
            </a:r>
            <a:r>
              <a:rPr lang="en-US" sz="1200" b="1"/>
              <a:t>batch free</a:t>
            </a:r>
            <a:r>
              <a:rPr lang="en-US" sz="1200"/>
              <a:t> in SMR (including EBR) is </a:t>
            </a:r>
            <a:r>
              <a:rPr lang="en-US" sz="1200" b="1"/>
              <a:t>harmful</a:t>
            </a:r>
            <a:r>
              <a:rPr lang="en-US" sz="1200"/>
              <a:t> for latency and can reduce throughput; they propose simple “time‑stretching” and token‑passing techniques that yield 1.5–2.6× on a 192‑thread box. A compiler pass can:</a:t>
            </a:r>
            <a:br>
              <a:rPr lang="en-US" sz="1200"/>
            </a:br>
            <a:r>
              <a:rPr lang="en-US" sz="1200"/>
              <a:t>— find IR sites with clusters of retire (or list draining frees);</a:t>
            </a:r>
            <a:br>
              <a:rPr lang="en-US" sz="1200"/>
            </a:br>
            <a:r>
              <a:rPr lang="en-US" sz="1200"/>
              <a:t>— rewrite them to calls into a reclamation scheduler (quota/tick, cooperative draining).</a:t>
            </a:r>
            <a:br>
              <a:rPr lang="en-US" sz="1200"/>
            </a:br>
            <a:r>
              <a:rPr lang="en-US" sz="1200"/>
              <a:t>Sources: conference overview and results — https://conf.researchr.org/home/ppopp-2024, analysis with charts — https://aturon.github.io/blog/2024/02/ppopp-batch-free/.</a:t>
            </a:r>
          </a:p>
          <a:p>
            <a:r>
              <a:rPr lang="en-US" sz="1200"/>
              <a:t>For </a:t>
            </a:r>
            <a:r>
              <a:rPr lang="en-US" sz="1200" b="1"/>
              <a:t>HP</a:t>
            </a:r>
            <a:r>
              <a:rPr lang="en-US" sz="1200"/>
              <a:t> (C++26) you can similarly employ </a:t>
            </a:r>
            <a:r>
              <a:rPr lang="en-US" sz="1200" b="1"/>
              <a:t>cohorts / synchronous reclamation</a:t>
            </a:r>
            <a:r>
              <a:rPr lang="en-US" sz="1200"/>
              <a:t>: the compiler assigns “cohorts” to objects and inserts controlled synchronous reclamation points (deterministic freeing off the hot path).</a:t>
            </a:r>
          </a:p>
        </p:txBody>
      </p:sp>
      <p:sp>
        <p:nvSpPr>
          <p:cNvPr id="4" name="TextBox 3">
            <a:extLst>
              <a:ext uri="{FF2B5EF4-FFF2-40B4-BE49-F238E27FC236}">
                <a16:creationId xmlns:a16="http://schemas.microsoft.com/office/drawing/2014/main" id="{1D1B743A-704D-1B63-0D40-0585F572E6A2}"/>
              </a:ext>
            </a:extLst>
          </p:cNvPr>
          <p:cNvSpPr txBox="1"/>
          <p:nvPr/>
        </p:nvSpPr>
        <p:spPr>
          <a:xfrm>
            <a:off x="233910" y="2770345"/>
            <a:ext cx="5138978" cy="276999"/>
          </a:xfrm>
          <a:prstGeom prst="rect">
            <a:avLst/>
          </a:prstGeom>
          <a:noFill/>
        </p:spPr>
        <p:txBody>
          <a:bodyPr wrap="square">
            <a:spAutoFit/>
          </a:bodyPr>
          <a:lstStyle/>
          <a:p>
            <a:r>
              <a:rPr lang="en-US" sz="1200" b="1"/>
              <a:t>Before (bulk retire() in a tight loop):</a:t>
            </a:r>
          </a:p>
        </p:txBody>
      </p:sp>
      <p:sp>
        <p:nvSpPr>
          <p:cNvPr id="6" name="TextBox 5">
            <a:extLst>
              <a:ext uri="{FF2B5EF4-FFF2-40B4-BE49-F238E27FC236}">
                <a16:creationId xmlns:a16="http://schemas.microsoft.com/office/drawing/2014/main" id="{3BFDDAC5-067C-791F-BD44-92777FACAA68}"/>
              </a:ext>
            </a:extLst>
          </p:cNvPr>
          <p:cNvSpPr txBox="1"/>
          <p:nvPr/>
        </p:nvSpPr>
        <p:spPr>
          <a:xfrm>
            <a:off x="233909" y="3038156"/>
            <a:ext cx="4647095" cy="1700017"/>
          </a:xfrm>
          <a:prstGeom prst="rect">
            <a:avLst/>
          </a:prstGeom>
          <a:solidFill>
            <a:srgbClr val="1F1F1F"/>
          </a:solidFill>
        </p:spPr>
        <p:txBody>
          <a:bodyPr wrap="square">
            <a:spAutoFit/>
          </a:bodyPr>
          <a:lstStyle/>
          <a:p>
            <a:pPr>
              <a:lnSpc>
                <a:spcPts val="1425"/>
              </a:lnSpc>
              <a:buNone/>
            </a:pPr>
            <a:r>
              <a:rPr lang="en-SG" sz="105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struct</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5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Node</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 </a:t>
            </a:r>
            <a:r>
              <a:rPr lang="en-SG" sz="105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std</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50" b="0" err="1">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hazard_pointer_obj_base</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&lt;</a:t>
            </a:r>
            <a:r>
              <a:rPr lang="en-SG" sz="105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Node</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&gt; { … };</a:t>
            </a:r>
          </a:p>
          <a:p>
            <a:pPr>
              <a:lnSpc>
                <a:spcPts val="1425"/>
              </a:lnSpc>
              <a:buNone/>
            </a:pPr>
            <a:endPar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a:p>
            <a:pPr>
              <a:lnSpc>
                <a:spcPts val="1425"/>
              </a:lnSpc>
              <a:buNone/>
            </a:pPr>
            <a:r>
              <a:rPr lang="en-SG" sz="105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void</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5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bulk_delete</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5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std</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5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vector</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&lt;</a:t>
            </a:r>
            <a:r>
              <a:rPr lang="en-SG" sz="105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Node</a:t>
            </a:r>
            <a:r>
              <a:rPr lang="en-SG" sz="105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&gt;</a:t>
            </a:r>
            <a:r>
              <a:rPr lang="en-SG" sz="105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&amp;</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5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nodes</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p>
          <a:p>
            <a:pPr>
              <a:lnSpc>
                <a:spcPts val="1425"/>
              </a:lnSpc>
              <a:buNone/>
            </a:pP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50" b="0">
                <a:solidFill>
                  <a:srgbClr val="C586C0"/>
                </a:solidFill>
                <a:effectLst/>
                <a:latin typeface="JetBrains Mono" panose="02000009000000000000" pitchFamily="49" charset="0"/>
                <a:ea typeface="JetBrains Mono" panose="02000009000000000000" pitchFamily="49" charset="0"/>
                <a:cs typeface="JetBrains Mono" panose="02000009000000000000" pitchFamily="49" charset="0"/>
              </a:rPr>
              <a:t>for</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5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Node</a:t>
            </a:r>
            <a:r>
              <a:rPr lang="en-SG" sz="105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5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n</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 </a:t>
            </a:r>
            <a:r>
              <a:rPr lang="en-SG" sz="105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nodes</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p>
          <a:p>
            <a:pPr>
              <a:lnSpc>
                <a:spcPts val="1425"/>
              </a:lnSpc>
              <a:buNone/>
            </a:pP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5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n</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-&gt;</a:t>
            </a:r>
            <a:r>
              <a:rPr lang="en-SG" sz="1050" b="0">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retire</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5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a:t>
            </a:r>
          </a:p>
          <a:p>
            <a:pPr>
              <a:lnSpc>
                <a:spcPts val="1425"/>
              </a:lnSpc>
              <a:buNone/>
            </a:pPr>
            <a:r>
              <a:rPr lang="en-SG" sz="1050">
                <a:solidFill>
                  <a:srgbClr val="6A9955"/>
                </a:solidFill>
                <a:latin typeface="JetBrains Mono" panose="02000009000000000000" pitchFamily="49" charset="0"/>
                <a:ea typeface="JetBrains Mono" panose="02000009000000000000" pitchFamily="49" charset="0"/>
                <a:cs typeface="JetBrains Mono" panose="02000009000000000000" pitchFamily="49" charset="0"/>
              </a:rPr>
              <a:t>    </a:t>
            </a:r>
            <a:r>
              <a:rPr lang="en-SG" sz="105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thousands of retires -&gt; </a:t>
            </a:r>
          </a:p>
          <a:p>
            <a:pPr>
              <a:lnSpc>
                <a:spcPts val="1425"/>
              </a:lnSpc>
              <a:buNone/>
            </a:pPr>
            <a:r>
              <a:rPr lang="en-SG" sz="1050">
                <a:solidFill>
                  <a:srgbClr val="6A9955"/>
                </a:solidFill>
                <a:latin typeface="JetBrains Mono" panose="02000009000000000000" pitchFamily="49" charset="0"/>
                <a:ea typeface="JetBrains Mono" panose="02000009000000000000" pitchFamily="49" charset="0"/>
                <a:cs typeface="JetBrains Mono" panose="02000009000000000000" pitchFamily="49" charset="0"/>
              </a:rPr>
              <a:t>    //                      </a:t>
            </a:r>
            <a:r>
              <a:rPr lang="en-SG" sz="105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batch-free spike downstream</a:t>
            </a:r>
            <a:endPar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a:p>
            <a:pPr>
              <a:lnSpc>
                <a:spcPts val="1425"/>
              </a:lnSpc>
              <a:buNone/>
            </a:pP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p>
          <a:p>
            <a:pPr>
              <a:lnSpc>
                <a:spcPts val="1425"/>
              </a:lnSpc>
              <a:buNone/>
            </a:pP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p>
        </p:txBody>
      </p:sp>
      <p:sp>
        <p:nvSpPr>
          <p:cNvPr id="10" name="TextBox 9">
            <a:extLst>
              <a:ext uri="{FF2B5EF4-FFF2-40B4-BE49-F238E27FC236}">
                <a16:creationId xmlns:a16="http://schemas.microsoft.com/office/drawing/2014/main" id="{D6E1CC88-6719-43B2-B75D-1463EC08F8E6}"/>
              </a:ext>
            </a:extLst>
          </p:cNvPr>
          <p:cNvSpPr txBox="1"/>
          <p:nvPr/>
        </p:nvSpPr>
        <p:spPr>
          <a:xfrm>
            <a:off x="5194486" y="3038156"/>
            <a:ext cx="6763603" cy="3490123"/>
          </a:xfrm>
          <a:prstGeom prst="rect">
            <a:avLst/>
          </a:prstGeom>
          <a:solidFill>
            <a:srgbClr val="1F1F1F"/>
          </a:solidFill>
        </p:spPr>
        <p:txBody>
          <a:bodyPr wrap="square">
            <a:spAutoFit/>
          </a:bodyPr>
          <a:lstStyle/>
          <a:p>
            <a:pPr>
              <a:lnSpc>
                <a:spcPts val="1425"/>
              </a:lnSpc>
              <a:buNone/>
            </a:pPr>
            <a:r>
              <a:rPr lang="en-SG" sz="105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struct</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5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Node</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 </a:t>
            </a:r>
            <a:r>
              <a:rPr lang="en-SG" sz="105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std</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50" b="0" err="1">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hazard_pointer_obj_base</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&lt;</a:t>
            </a:r>
            <a:r>
              <a:rPr lang="en-SG" sz="105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Node</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&gt; {</a:t>
            </a:r>
            <a:r>
              <a:rPr lang="en-SG" sz="105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 ... */</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b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br>
            <a:endPar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a:p>
            <a:pPr>
              <a:lnSpc>
                <a:spcPts val="1425"/>
              </a:lnSpc>
              <a:buNone/>
            </a:pPr>
            <a:r>
              <a:rPr lang="en-SG" sz="105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class</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50" b="0" err="1">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ReclaimScheduler</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p>
          <a:p>
            <a:pPr>
              <a:lnSpc>
                <a:spcPts val="1425"/>
              </a:lnSpc>
              <a:buNone/>
            </a:pP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5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void</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50" b="0">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schedule</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5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Node</a:t>
            </a:r>
            <a:r>
              <a:rPr lang="en-SG" sz="105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5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n</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 </a:t>
            </a:r>
            <a:r>
              <a:rPr lang="en-SG" sz="105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q_</a:t>
            </a:r>
            <a:r>
              <a:rPr lang="en-SG" sz="105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5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push</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5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n</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p>
          <a:p>
            <a:pPr>
              <a:lnSpc>
                <a:spcPts val="1425"/>
              </a:lnSpc>
              <a:buNone/>
            </a:pPr>
            <a:r>
              <a:rPr lang="en-SG" sz="105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 drain with a small quota per tick</a:t>
            </a:r>
            <a:endPar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a:p>
            <a:pPr>
              <a:lnSpc>
                <a:spcPts val="1425"/>
              </a:lnSpc>
              <a:buNone/>
            </a:pP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5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void</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5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drain_tick</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50" b="0" err="1">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size_t</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5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quota</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5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50" b="0">
                <a:solidFill>
                  <a:srgbClr val="B5CEA8"/>
                </a:solidFill>
                <a:effectLst/>
                <a:latin typeface="JetBrains Mono" panose="02000009000000000000" pitchFamily="49" charset="0"/>
                <a:ea typeface="JetBrains Mono" panose="02000009000000000000" pitchFamily="49" charset="0"/>
                <a:cs typeface="JetBrains Mono" panose="02000009000000000000" pitchFamily="49" charset="0"/>
              </a:rPr>
              <a:t>64</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p>
          <a:p>
            <a:pPr>
              <a:lnSpc>
                <a:spcPts val="1425"/>
              </a:lnSpc>
              <a:buNone/>
            </a:pP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50" b="0">
                <a:solidFill>
                  <a:srgbClr val="C586C0"/>
                </a:solidFill>
                <a:effectLst/>
                <a:latin typeface="JetBrains Mono" panose="02000009000000000000" pitchFamily="49" charset="0"/>
                <a:ea typeface="JetBrains Mono" panose="02000009000000000000" pitchFamily="49" charset="0"/>
                <a:cs typeface="JetBrains Mono" panose="02000009000000000000" pitchFamily="49" charset="0"/>
              </a:rPr>
              <a:t>while</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5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quota</a:t>
            </a:r>
            <a:r>
              <a:rPr lang="en-SG" sz="105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5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&amp;&amp;</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5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5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q_</a:t>
            </a:r>
            <a:r>
              <a:rPr lang="en-SG" sz="105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5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empty</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p>
          <a:p>
            <a:pPr>
              <a:lnSpc>
                <a:spcPts val="1425"/>
              </a:lnSpc>
              <a:buNone/>
            </a:pP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5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Node</a:t>
            </a:r>
            <a:r>
              <a:rPr lang="en-SG" sz="105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5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n</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5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5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q_</a:t>
            </a:r>
            <a:r>
              <a:rPr lang="en-SG" sz="105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5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front</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5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q_</a:t>
            </a:r>
            <a:r>
              <a:rPr lang="en-SG" sz="105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5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pop</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p>
          <a:p>
            <a:pPr>
              <a:lnSpc>
                <a:spcPts val="1425"/>
              </a:lnSpc>
              <a:buNone/>
            </a:pP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5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n</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-&gt;</a:t>
            </a:r>
            <a:r>
              <a:rPr lang="en-SG" sz="1050" b="0">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retire</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5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 library decides when to free</a:t>
            </a:r>
            <a:endPar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a:p>
            <a:pPr>
              <a:lnSpc>
                <a:spcPts val="1425"/>
              </a:lnSpc>
              <a:buNone/>
            </a:pP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p>
          <a:p>
            <a:pPr>
              <a:lnSpc>
                <a:spcPts val="1425"/>
              </a:lnSpc>
              <a:buNone/>
            </a:pP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p>
          <a:p>
            <a:pPr>
              <a:lnSpc>
                <a:spcPts val="1425"/>
              </a:lnSpc>
              <a:buNone/>
            </a:pP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5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std</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::queue</a:t>
            </a:r>
            <a:r>
              <a:rPr lang="en-SG" sz="105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&lt;</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Node</a:t>
            </a:r>
            <a:r>
              <a:rPr lang="en-SG" sz="105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*&gt;</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q_;</a:t>
            </a:r>
          </a:p>
          <a:p>
            <a:pPr>
              <a:lnSpc>
                <a:spcPts val="1425"/>
              </a:lnSpc>
              <a:buNone/>
            </a:pP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b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br>
            <a:endPar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a:p>
            <a:pPr>
              <a:lnSpc>
                <a:spcPts val="1425"/>
              </a:lnSpc>
              <a:buNone/>
            </a:pPr>
            <a:r>
              <a:rPr lang="en-SG" sz="105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void</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5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bulk_delete_smoothed</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5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std</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5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vector</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&lt;</a:t>
            </a:r>
            <a:r>
              <a:rPr lang="en-SG" sz="105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Node</a:t>
            </a:r>
            <a:r>
              <a:rPr lang="en-SG" sz="105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&gt;</a:t>
            </a:r>
            <a:r>
              <a:rPr lang="en-SG" sz="105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&amp;</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5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nodes</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50" b="0" err="1">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ReclaimScheduler</a:t>
            </a:r>
            <a:r>
              <a:rPr lang="en-SG" sz="105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&amp;</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5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rs</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p>
          <a:p>
            <a:pPr>
              <a:lnSpc>
                <a:spcPts val="1425"/>
              </a:lnSpc>
              <a:buNone/>
            </a:pP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050" b="0">
                <a:solidFill>
                  <a:srgbClr val="C586C0"/>
                </a:solidFill>
                <a:effectLst/>
                <a:latin typeface="JetBrains Mono" panose="02000009000000000000" pitchFamily="49" charset="0"/>
                <a:ea typeface="JetBrains Mono" panose="02000009000000000000" pitchFamily="49" charset="0"/>
                <a:cs typeface="JetBrains Mono" panose="02000009000000000000" pitchFamily="49" charset="0"/>
              </a:rPr>
              <a:t>for</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(Node</a:t>
            </a:r>
            <a:r>
              <a:rPr lang="en-SG" sz="105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n : nodes) </a:t>
            </a:r>
            <a:r>
              <a:rPr lang="en-SG" sz="105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rs</a:t>
            </a:r>
            <a:r>
              <a:rPr lang="en-SG" sz="105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5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schedule</a:t>
            </a: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(n);</a:t>
            </a:r>
            <a:r>
              <a:rPr lang="en-SG" sz="105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 enqueue only</a:t>
            </a:r>
            <a:endPar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a:p>
            <a:pPr>
              <a:lnSpc>
                <a:spcPts val="1425"/>
              </a:lnSpc>
              <a:buNone/>
            </a:pPr>
            <a:r>
              <a:rPr lang="en-SG" sz="105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 In a background service loop:</a:t>
            </a:r>
            <a:endPar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a:p>
            <a:pPr>
              <a:lnSpc>
                <a:spcPts val="1425"/>
              </a:lnSpc>
              <a:buNone/>
            </a:pPr>
            <a:r>
              <a:rPr lang="en-SG" sz="105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 for (;;) { </a:t>
            </a:r>
            <a:r>
              <a:rPr lang="en-SG" sz="1050" b="0" err="1">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rs.drain_tick</a:t>
            </a:r>
            <a:r>
              <a:rPr lang="en-SG" sz="105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std::</a:t>
            </a:r>
            <a:r>
              <a:rPr lang="en-SG" sz="1050" b="0" err="1">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this_thread</a:t>
            </a:r>
            <a:r>
              <a:rPr lang="en-SG" sz="105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050" b="0" err="1">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sleep_for</a:t>
            </a:r>
            <a:r>
              <a:rPr lang="en-SG" sz="105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(1ms); }</a:t>
            </a:r>
            <a:endPar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a:p>
            <a:pPr>
              <a:lnSpc>
                <a:spcPts val="1425"/>
              </a:lnSpc>
              <a:buNone/>
            </a:pPr>
            <a:r>
              <a:rPr lang="en-SG" sz="105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p>
        </p:txBody>
      </p:sp>
      <p:sp>
        <p:nvSpPr>
          <p:cNvPr id="12" name="TextBox 11">
            <a:extLst>
              <a:ext uri="{FF2B5EF4-FFF2-40B4-BE49-F238E27FC236}">
                <a16:creationId xmlns:a16="http://schemas.microsoft.com/office/drawing/2014/main" id="{78F5367D-0194-BED4-7E93-E3E05E1090D3}"/>
              </a:ext>
            </a:extLst>
          </p:cNvPr>
          <p:cNvSpPr txBox="1"/>
          <p:nvPr/>
        </p:nvSpPr>
        <p:spPr>
          <a:xfrm>
            <a:off x="5194487" y="2770345"/>
            <a:ext cx="6094948" cy="276999"/>
          </a:xfrm>
          <a:prstGeom prst="rect">
            <a:avLst/>
          </a:prstGeom>
          <a:noFill/>
        </p:spPr>
        <p:txBody>
          <a:bodyPr wrap="square">
            <a:spAutoFit/>
          </a:bodyPr>
          <a:lstStyle>
            <a:defPPr>
              <a:defRPr lang="ru-RU"/>
            </a:defPPr>
            <a:lvl1pPr>
              <a:defRPr sz="1200" b="1"/>
            </a:lvl1pPr>
          </a:lstStyle>
          <a:p>
            <a:r>
              <a:rPr lang="en-US"/>
              <a:t>After (quota/tick draining via a simple scheduler):</a:t>
            </a:r>
            <a:endParaRPr lang="en-SG"/>
          </a:p>
        </p:txBody>
      </p:sp>
    </p:spTree>
    <p:extLst>
      <p:ext uri="{BB962C8B-B14F-4D97-AF65-F5344CB8AC3E}">
        <p14:creationId xmlns:p14="http://schemas.microsoft.com/office/powerpoint/2010/main" val="3179418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3D792-32E2-90A6-BC4C-FB4C64BA9CE4}"/>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4617C9FE-E117-E1D8-C6C0-49B825C65A0A}"/>
              </a:ext>
            </a:extLst>
          </p:cNvPr>
          <p:cNvSpPr txBox="1"/>
          <p:nvPr/>
        </p:nvSpPr>
        <p:spPr>
          <a:xfrm>
            <a:off x="233910" y="208621"/>
            <a:ext cx="7073670" cy="461665"/>
          </a:xfrm>
          <a:prstGeom prst="rect">
            <a:avLst/>
          </a:prstGeom>
          <a:solidFill>
            <a:srgbClr val="002060"/>
          </a:solidFill>
        </p:spPr>
        <p:txBody>
          <a:bodyPr wrap="square" rtlCol="0">
            <a:spAutoFit/>
          </a:bodyPr>
          <a:lstStyle/>
          <a:p>
            <a:r>
              <a:rPr lang="en-US" sz="2400">
                <a:solidFill>
                  <a:schemeClr val="bg1"/>
                </a:solidFill>
                <a:latin typeface="Ubuntu Condensed" panose="020B0506030602030204" pitchFamily="34" charset="0"/>
              </a:rPr>
              <a:t>Why Concur dialect can help</a:t>
            </a:r>
            <a:endParaRPr lang="ru-RU" sz="2400">
              <a:solidFill>
                <a:schemeClr val="bg1"/>
              </a:solidFill>
              <a:latin typeface="Ubuntu Condensed" panose="020B0506030602030204" pitchFamily="34" charset="0"/>
            </a:endParaRPr>
          </a:p>
        </p:txBody>
      </p:sp>
      <p:sp>
        <p:nvSpPr>
          <p:cNvPr id="7" name="Номер слайда 7">
            <a:extLst>
              <a:ext uri="{FF2B5EF4-FFF2-40B4-BE49-F238E27FC236}">
                <a16:creationId xmlns:a16="http://schemas.microsoft.com/office/drawing/2014/main" id="{DD10EE26-2A7E-7565-2D02-FF42247B5BD0}"/>
              </a:ext>
            </a:extLst>
          </p:cNvPr>
          <p:cNvSpPr>
            <a:spLocks noGrp="1"/>
          </p:cNvSpPr>
          <p:nvPr>
            <p:ph type="sldNum" sz="quarter" idx="12"/>
          </p:nvPr>
        </p:nvSpPr>
        <p:spPr>
          <a:xfrm>
            <a:off x="11725835" y="6402070"/>
            <a:ext cx="386155" cy="365125"/>
          </a:xfrm>
        </p:spPr>
        <p:txBody>
          <a:bodyPr/>
          <a:lstStyle/>
          <a:p>
            <a:pPr algn="ctr"/>
            <a:fld id="{E757BAED-F255-4CF1-96BA-8D7417A9C3BC}" type="slidenum">
              <a:rPr lang="ru-RU" sz="1800" smtClean="0">
                <a:latin typeface="Ubuntu Condensed" panose="020B0506030602030204" pitchFamily="34" charset="0"/>
              </a:rPr>
              <a:pPr algn="ctr"/>
              <a:t>35</a:t>
            </a:fld>
            <a:endParaRPr lang="ru-RU" sz="1800">
              <a:latin typeface="Ubuntu Condensed" panose="020B0506030602030204" pitchFamily="34" charset="0"/>
            </a:endParaRPr>
          </a:p>
        </p:txBody>
      </p:sp>
      <p:sp>
        <p:nvSpPr>
          <p:cNvPr id="5" name="TextBox 4">
            <a:extLst>
              <a:ext uri="{FF2B5EF4-FFF2-40B4-BE49-F238E27FC236}">
                <a16:creationId xmlns:a16="http://schemas.microsoft.com/office/drawing/2014/main" id="{F736CBA8-C343-C362-99DA-7207402B331F}"/>
              </a:ext>
            </a:extLst>
          </p:cNvPr>
          <p:cNvSpPr txBox="1"/>
          <p:nvPr/>
        </p:nvSpPr>
        <p:spPr>
          <a:xfrm>
            <a:off x="159232" y="719114"/>
            <a:ext cx="11803642" cy="6001643"/>
          </a:xfrm>
          <a:prstGeom prst="rect">
            <a:avLst/>
          </a:prstGeom>
          <a:noFill/>
        </p:spPr>
        <p:txBody>
          <a:bodyPr wrap="square">
            <a:spAutoFit/>
          </a:bodyPr>
          <a:lstStyle/>
          <a:p>
            <a:pPr>
              <a:buNone/>
            </a:pPr>
            <a:r>
              <a:rPr lang="en-SG" sz="1600" b="1">
                <a:solidFill>
                  <a:srgbClr val="6600FF"/>
                </a:solidFill>
              </a:rPr>
              <a:t>Before (LLVM IR)</a:t>
            </a:r>
          </a:p>
          <a:p>
            <a:pPr>
              <a:buFont typeface="Arial" panose="020B0604020202020204" pitchFamily="34" charset="0"/>
              <a:buChar char="•"/>
            </a:pPr>
            <a:r>
              <a:rPr lang="en-SG" sz="1600"/>
              <a:t>SMR logic (Hazard Pointers, EBR, RCU) appears as </a:t>
            </a:r>
            <a:r>
              <a:rPr lang="en-SG" sz="1600" b="1"/>
              <a:t>opaque library calls</a:t>
            </a:r>
            <a:r>
              <a:rPr lang="en-SG" sz="1600"/>
              <a:t>.</a:t>
            </a:r>
          </a:p>
          <a:p>
            <a:pPr>
              <a:buFont typeface="Arial" panose="020B0604020202020204" pitchFamily="34" charset="0"/>
              <a:buChar char="•"/>
            </a:pPr>
            <a:r>
              <a:rPr lang="en-SG" sz="1600"/>
              <a:t>Compiler sees only </a:t>
            </a:r>
            <a:r>
              <a:rPr lang="en-SG" sz="1600">
                <a:latin typeface="Courier New" panose="02070309020205020404" pitchFamily="49" charset="0"/>
              </a:rPr>
              <a:t>call @protect()</a:t>
            </a:r>
            <a:r>
              <a:rPr lang="en-SG" sz="1600"/>
              <a:t>, </a:t>
            </a:r>
            <a:r>
              <a:rPr lang="en-SG" sz="1600">
                <a:latin typeface="Courier New" panose="02070309020205020404" pitchFamily="49" charset="0"/>
              </a:rPr>
              <a:t>call @retire()</a:t>
            </a:r>
            <a:r>
              <a:rPr lang="en-SG" sz="1600"/>
              <a:t>, </a:t>
            </a:r>
            <a:r>
              <a:rPr lang="en-SG" sz="1600">
                <a:latin typeface="Courier New" panose="02070309020205020404" pitchFamily="49" charset="0"/>
              </a:rPr>
              <a:t>call @pin()</a:t>
            </a:r>
            <a:r>
              <a:rPr lang="en-SG" sz="1600"/>
              <a:t>, etc.</a:t>
            </a:r>
          </a:p>
          <a:p>
            <a:pPr>
              <a:buFont typeface="Arial" panose="020B0604020202020204" pitchFamily="34" charset="0"/>
              <a:buChar char="•"/>
            </a:pPr>
            <a:r>
              <a:rPr lang="en-SG" sz="1600"/>
              <a:t>No explicit notion of: </a:t>
            </a:r>
          </a:p>
          <a:p>
            <a:pPr marL="742950" lvl="1" indent="-285750">
              <a:buFont typeface="Arial" panose="020B0604020202020204" pitchFamily="34" charset="0"/>
              <a:buChar char="•"/>
            </a:pPr>
            <a:r>
              <a:rPr lang="en-SG" sz="1600"/>
              <a:t>Which scheme is used (HP vs EBR vs RCU).</a:t>
            </a:r>
          </a:p>
          <a:p>
            <a:pPr marL="742950" lvl="1" indent="-285750">
              <a:buFont typeface="Arial" panose="020B0604020202020204" pitchFamily="34" charset="0"/>
              <a:buChar char="•"/>
            </a:pPr>
            <a:r>
              <a:rPr lang="en-SG" sz="1600"/>
              <a:t>Progress guarantees or safety contracts.</a:t>
            </a:r>
          </a:p>
          <a:p>
            <a:pPr marL="742950" lvl="1" indent="-285750">
              <a:buFont typeface="Arial" panose="020B0604020202020204" pitchFamily="34" charset="0"/>
              <a:buChar char="•"/>
            </a:pPr>
            <a:r>
              <a:rPr lang="en-SG" sz="1600"/>
              <a:t>Linearization points or reclamation lifecycle.</a:t>
            </a:r>
          </a:p>
          <a:p>
            <a:pPr>
              <a:buFont typeface="Arial" panose="020B0604020202020204" pitchFamily="34" charset="0"/>
              <a:buChar char="•"/>
            </a:pPr>
            <a:r>
              <a:rPr lang="en-SG" sz="1600"/>
              <a:t>Analyses like “is retire safe?” or “is grace period complete?” are </a:t>
            </a:r>
            <a:r>
              <a:rPr lang="en-SG" sz="1600" b="1"/>
              <a:t>almost impossible</a:t>
            </a:r>
            <a:r>
              <a:rPr lang="en-SG" sz="1600"/>
              <a:t>.</a:t>
            </a:r>
          </a:p>
          <a:p>
            <a:pPr>
              <a:buFont typeface="Arial" panose="020B0604020202020204" pitchFamily="34" charset="0"/>
              <a:buChar char="•"/>
            </a:pPr>
            <a:r>
              <a:rPr lang="en-SG" sz="1600"/>
              <a:t>Optimizations (batching retire calls, hoisting hazard protection, tuning memory orders) rely on </a:t>
            </a:r>
            <a:r>
              <a:rPr lang="en-SG" sz="1600" b="1"/>
              <a:t>fragile heuristics</a:t>
            </a:r>
            <a:r>
              <a:rPr lang="en-SG" sz="1600"/>
              <a:t>.</a:t>
            </a:r>
          </a:p>
          <a:p>
            <a:pPr>
              <a:buNone/>
            </a:pPr>
            <a:br>
              <a:rPr lang="en-SG" sz="1600"/>
            </a:br>
            <a:endParaRPr lang="en-SG" sz="1600"/>
          </a:p>
          <a:p>
            <a:pPr>
              <a:buNone/>
            </a:pPr>
            <a:r>
              <a:rPr lang="en-SG" sz="1600" b="1">
                <a:solidFill>
                  <a:srgbClr val="6600FF"/>
                </a:solidFill>
              </a:rPr>
              <a:t>After (MLIR Concur Dialect)</a:t>
            </a:r>
          </a:p>
          <a:p>
            <a:pPr>
              <a:buFont typeface="Arial" panose="020B0604020202020204" pitchFamily="34" charset="0"/>
              <a:buChar char="•"/>
            </a:pPr>
            <a:r>
              <a:rPr lang="en-SG" sz="1600" b="1"/>
              <a:t>First-class operations and types</a:t>
            </a:r>
            <a:r>
              <a:rPr lang="en-SG" sz="1600"/>
              <a:t>: </a:t>
            </a:r>
          </a:p>
          <a:p>
            <a:pPr marL="742950" lvl="1" indent="-285750">
              <a:buFont typeface="Arial" panose="020B0604020202020204" pitchFamily="34" charset="0"/>
              <a:buChar char="•"/>
            </a:pPr>
            <a:r>
              <a:rPr lang="en-SG" sz="1600" err="1">
                <a:latin typeface="Courier New" panose="02070309020205020404" pitchFamily="49" charset="0"/>
              </a:rPr>
              <a:t>concur.hp.acquire</a:t>
            </a:r>
            <a:r>
              <a:rPr lang="en-SG" sz="1600">
                <a:latin typeface="Courier New" panose="02070309020205020404" pitchFamily="49" charset="0"/>
              </a:rPr>
              <a:t>/release</a:t>
            </a:r>
            <a:r>
              <a:rPr lang="en-SG" sz="1600"/>
              <a:t>, </a:t>
            </a:r>
            <a:r>
              <a:rPr lang="en-SG" sz="1600" err="1">
                <a:latin typeface="Courier New" panose="02070309020205020404" pitchFamily="49" charset="0"/>
              </a:rPr>
              <a:t>concur.defer.free</a:t>
            </a:r>
            <a:r>
              <a:rPr lang="en-SG" sz="1600">
                <a:latin typeface="Courier New" panose="02070309020205020404" pitchFamily="49" charset="0"/>
              </a:rPr>
              <a:t> {scheme="hp"|"</a:t>
            </a:r>
            <a:r>
              <a:rPr lang="en-SG" sz="1600" err="1">
                <a:latin typeface="Courier New" panose="02070309020205020404" pitchFamily="49" charset="0"/>
              </a:rPr>
              <a:t>ebr</a:t>
            </a:r>
            <a:r>
              <a:rPr lang="en-SG" sz="1600">
                <a:latin typeface="Courier New" panose="02070309020205020404" pitchFamily="49" charset="0"/>
              </a:rPr>
              <a:t>"|"</a:t>
            </a:r>
            <a:r>
              <a:rPr lang="en-SG" sz="1600" err="1">
                <a:latin typeface="Courier New" panose="02070309020205020404" pitchFamily="49" charset="0"/>
              </a:rPr>
              <a:t>rcu</a:t>
            </a:r>
            <a:r>
              <a:rPr lang="en-SG" sz="1600">
                <a:latin typeface="Courier New" panose="02070309020205020404" pitchFamily="49" charset="0"/>
              </a:rPr>
              <a:t>"}</a:t>
            </a:r>
            <a:endParaRPr lang="en-SG" sz="1600"/>
          </a:p>
          <a:p>
            <a:pPr marL="742950" lvl="1" indent="-285750">
              <a:buFont typeface="Arial" panose="020B0604020202020204" pitchFamily="34" charset="0"/>
              <a:buChar char="•"/>
            </a:pPr>
            <a:r>
              <a:rPr lang="en-SG" sz="1600" err="1">
                <a:latin typeface="Courier New" panose="02070309020205020404" pitchFamily="49" charset="0"/>
              </a:rPr>
              <a:t>concur.epoch.enter</a:t>
            </a:r>
            <a:r>
              <a:rPr lang="en-SG" sz="1600">
                <a:latin typeface="Courier New" panose="02070309020205020404" pitchFamily="49" charset="0"/>
              </a:rPr>
              <a:t>/exit</a:t>
            </a:r>
            <a:r>
              <a:rPr lang="en-SG" sz="1600"/>
              <a:t>, </a:t>
            </a:r>
            <a:r>
              <a:rPr lang="en-SG" sz="1600" err="1">
                <a:latin typeface="Courier New" panose="02070309020205020404" pitchFamily="49" charset="0"/>
              </a:rPr>
              <a:t>concur.linearize</a:t>
            </a:r>
            <a:r>
              <a:rPr lang="en-SG" sz="1600"/>
              <a:t>, </a:t>
            </a:r>
            <a:r>
              <a:rPr lang="en-SG" sz="1600" err="1">
                <a:latin typeface="Courier New" panose="02070309020205020404" pitchFamily="49" charset="0"/>
              </a:rPr>
              <a:t>concur.lf.loop</a:t>
            </a:r>
            <a:r>
              <a:rPr lang="en-SG" sz="1600"/>
              <a:t>.</a:t>
            </a:r>
          </a:p>
          <a:p>
            <a:pPr>
              <a:buFont typeface="Arial" panose="020B0604020202020204" pitchFamily="34" charset="0"/>
              <a:buChar char="•"/>
            </a:pPr>
            <a:r>
              <a:rPr lang="en-SG" sz="1600" b="1"/>
              <a:t>Attributes</a:t>
            </a:r>
            <a:r>
              <a:rPr lang="en-SG" sz="1600"/>
              <a:t>: </a:t>
            </a:r>
            <a:r>
              <a:rPr lang="en-SG" sz="1600">
                <a:latin typeface="Courier New" panose="02070309020205020404" pitchFamily="49" charset="0"/>
              </a:rPr>
              <a:t>safety="hazard-pointers"|"</a:t>
            </a:r>
            <a:r>
              <a:rPr lang="en-SG" sz="1600" err="1">
                <a:latin typeface="Courier New" panose="02070309020205020404" pitchFamily="49" charset="0"/>
              </a:rPr>
              <a:t>ebr</a:t>
            </a:r>
            <a:r>
              <a:rPr lang="en-SG" sz="1600">
                <a:latin typeface="Courier New" panose="02070309020205020404" pitchFamily="49" charset="0"/>
              </a:rPr>
              <a:t>"|"</a:t>
            </a:r>
            <a:r>
              <a:rPr lang="en-SG" sz="1600" err="1">
                <a:latin typeface="Courier New" panose="02070309020205020404" pitchFamily="49" charset="0"/>
              </a:rPr>
              <a:t>rcu</a:t>
            </a:r>
            <a:r>
              <a:rPr lang="en-SG" sz="1600">
                <a:latin typeface="Courier New" panose="02070309020205020404" pitchFamily="49" charset="0"/>
              </a:rPr>
              <a:t>"</a:t>
            </a:r>
            <a:r>
              <a:rPr lang="en-SG" sz="1600"/>
              <a:t>, </a:t>
            </a:r>
            <a:r>
              <a:rPr lang="en-SG" sz="1600">
                <a:latin typeface="Courier New" panose="02070309020205020404" pitchFamily="49" charset="0"/>
              </a:rPr>
              <a:t>progress</a:t>
            </a:r>
            <a:r>
              <a:rPr lang="en-SG" sz="1600"/>
              <a:t>, </a:t>
            </a:r>
            <a:r>
              <a:rPr lang="en-SG" sz="1600" err="1">
                <a:latin typeface="Courier New" panose="02070309020205020404" pitchFamily="49" charset="0"/>
              </a:rPr>
              <a:t>memory_order</a:t>
            </a:r>
            <a:r>
              <a:rPr lang="en-SG" sz="1600"/>
              <a:t>.</a:t>
            </a:r>
          </a:p>
          <a:p>
            <a:pPr>
              <a:buFont typeface="Arial" panose="020B0604020202020204" pitchFamily="34" charset="0"/>
              <a:buChar char="•"/>
            </a:pPr>
            <a:r>
              <a:rPr lang="en-SG" sz="1600"/>
              <a:t>Enables: </a:t>
            </a:r>
          </a:p>
          <a:p>
            <a:pPr marL="742950" lvl="1" indent="-285750">
              <a:buFont typeface="Arial" panose="020B0604020202020204" pitchFamily="34" charset="0"/>
              <a:buChar char="•"/>
            </a:pPr>
            <a:r>
              <a:rPr lang="en-SG" sz="1600" b="1"/>
              <a:t>Static verification</a:t>
            </a:r>
            <a:r>
              <a:rPr lang="en-SG" sz="1600"/>
              <a:t>: hazard lifecycle, epoch exit, grace period correctness.</a:t>
            </a:r>
          </a:p>
          <a:p>
            <a:pPr marL="742950" lvl="1" indent="-285750">
              <a:buFont typeface="Arial" panose="020B0604020202020204" pitchFamily="34" charset="0"/>
              <a:buChar char="•"/>
            </a:pPr>
            <a:r>
              <a:rPr lang="en-SG" sz="1600" b="1"/>
              <a:t>Optimizations</a:t>
            </a:r>
            <a:r>
              <a:rPr lang="en-SG" sz="1600"/>
              <a:t>: </a:t>
            </a:r>
          </a:p>
          <a:p>
            <a:pPr marL="1143000" lvl="2" indent="-228600">
              <a:buFont typeface="Arial" panose="020B0604020202020204" pitchFamily="34" charset="0"/>
              <a:buChar char="•"/>
            </a:pPr>
            <a:r>
              <a:rPr lang="en-SG" sz="1600"/>
              <a:t>Hoist/sink hazard protection safely.</a:t>
            </a:r>
          </a:p>
          <a:p>
            <a:pPr marL="1143000" lvl="2" indent="-228600">
              <a:buFont typeface="Arial" panose="020B0604020202020204" pitchFamily="34" charset="0"/>
              <a:buChar char="•"/>
            </a:pPr>
            <a:r>
              <a:rPr lang="en-SG" sz="1600"/>
              <a:t>Batch </a:t>
            </a:r>
            <a:r>
              <a:rPr lang="en-SG" sz="1600" err="1">
                <a:latin typeface="Courier New" panose="02070309020205020404" pitchFamily="49" charset="0"/>
              </a:rPr>
              <a:t>defer.free</a:t>
            </a:r>
            <a:r>
              <a:rPr lang="en-SG" sz="1600"/>
              <a:t> into EBR epochs (reduce burst-free harm).</a:t>
            </a:r>
          </a:p>
          <a:p>
            <a:pPr marL="1143000" lvl="2" indent="-228600">
              <a:buFont typeface="Arial" panose="020B0604020202020204" pitchFamily="34" charset="0"/>
              <a:buChar char="•"/>
            </a:pPr>
            <a:r>
              <a:rPr lang="en-SG" sz="1600"/>
              <a:t>Lower </a:t>
            </a:r>
            <a:r>
              <a:rPr lang="en-SG" sz="1600" err="1">
                <a:latin typeface="Courier New" panose="02070309020205020404" pitchFamily="49" charset="0"/>
              </a:rPr>
              <a:t>seq_cst</a:t>
            </a:r>
            <a:r>
              <a:rPr lang="en-SG" sz="1600">
                <a:latin typeface="Courier New" panose="02070309020205020404" pitchFamily="49" charset="0"/>
              </a:rPr>
              <a:t> → acquire/release</a:t>
            </a:r>
            <a:r>
              <a:rPr lang="en-SG" sz="1600"/>
              <a:t> when semantics allow.</a:t>
            </a:r>
          </a:p>
          <a:p>
            <a:pPr marL="1143000" lvl="2" indent="-228600">
              <a:buFont typeface="Arial" panose="020B0604020202020204" pitchFamily="34" charset="0"/>
              <a:buChar char="•"/>
            </a:pPr>
            <a:r>
              <a:rPr lang="en-SG" sz="1600"/>
              <a:t>Reorder heavy work outside linearization path.</a:t>
            </a:r>
          </a:p>
          <a:p>
            <a:pPr>
              <a:buFont typeface="Arial" panose="020B0604020202020204" pitchFamily="34" charset="0"/>
              <a:buChar char="•"/>
            </a:pPr>
            <a:r>
              <a:rPr lang="en-SG" sz="1600" b="1"/>
              <a:t>Lowering</a:t>
            </a:r>
            <a:r>
              <a:rPr lang="en-SG" sz="1600"/>
              <a:t>: predictable mapping to LLVM atomics (</a:t>
            </a:r>
            <a:r>
              <a:rPr lang="en-SG" sz="1600" err="1">
                <a:latin typeface="Courier New" panose="02070309020205020404" pitchFamily="49" charset="0"/>
              </a:rPr>
              <a:t>cmpxchg</a:t>
            </a:r>
            <a:r>
              <a:rPr lang="en-SG" sz="1600"/>
              <a:t>, </a:t>
            </a:r>
            <a:r>
              <a:rPr lang="en-SG" sz="1600" err="1">
                <a:latin typeface="Courier New" panose="02070309020205020404" pitchFamily="49" charset="0"/>
              </a:rPr>
              <a:t>atomicrmw</a:t>
            </a:r>
            <a:r>
              <a:rPr lang="en-SG" sz="1600"/>
              <a:t>, </a:t>
            </a:r>
            <a:r>
              <a:rPr lang="en-SG" sz="1600">
                <a:latin typeface="Courier New" panose="02070309020205020404" pitchFamily="49" charset="0"/>
              </a:rPr>
              <a:t>fence</a:t>
            </a:r>
            <a:r>
              <a:rPr lang="en-SG" sz="1600"/>
              <a:t>) and runtime calls.</a:t>
            </a:r>
          </a:p>
        </p:txBody>
      </p:sp>
    </p:spTree>
    <p:extLst>
      <p:ext uri="{BB962C8B-B14F-4D97-AF65-F5344CB8AC3E}">
        <p14:creationId xmlns:p14="http://schemas.microsoft.com/office/powerpoint/2010/main" val="3397333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7866BC4-0867-155F-6B25-141D980C71AE}"/>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A786AEC7-DC1A-3CC5-D539-53AD246E8D6B}"/>
              </a:ext>
            </a:extLst>
          </p:cNvPr>
          <p:cNvSpPr txBox="1"/>
          <p:nvPr/>
        </p:nvSpPr>
        <p:spPr>
          <a:xfrm>
            <a:off x="233909" y="208621"/>
            <a:ext cx="10284843" cy="461665"/>
          </a:xfrm>
          <a:prstGeom prst="rect">
            <a:avLst/>
          </a:prstGeom>
          <a:solidFill>
            <a:srgbClr val="002060"/>
          </a:solidFill>
        </p:spPr>
        <p:txBody>
          <a:bodyPr wrap="square" rtlCol="0">
            <a:spAutoFit/>
          </a:bodyPr>
          <a:lstStyle/>
          <a:p>
            <a:r>
              <a:rPr lang="en-US" sz="2400" err="1">
                <a:solidFill>
                  <a:schemeClr val="bg1"/>
                </a:solidFill>
                <a:latin typeface="Ubuntu Condensed" panose="020B0506030602030204" pitchFamily="34" charset="0"/>
              </a:rPr>
              <a:t>Ortogonal</a:t>
            </a:r>
            <a:r>
              <a:rPr lang="en-US" sz="2400">
                <a:solidFill>
                  <a:schemeClr val="bg1"/>
                </a:solidFill>
                <a:latin typeface="Ubuntu Condensed" panose="020B0506030602030204" pitchFamily="34" charset="0"/>
              </a:rPr>
              <a:t> research topic: enabling ABA-detection in thread sanitizers </a:t>
            </a:r>
            <a:endParaRPr lang="ru-RU" sz="2400">
              <a:solidFill>
                <a:schemeClr val="bg1"/>
              </a:solidFill>
              <a:latin typeface="Ubuntu Condensed" panose="020B0506030602030204" pitchFamily="34" charset="0"/>
            </a:endParaRPr>
          </a:p>
        </p:txBody>
      </p:sp>
      <p:sp>
        <p:nvSpPr>
          <p:cNvPr id="7" name="Номер слайда 7">
            <a:extLst>
              <a:ext uri="{FF2B5EF4-FFF2-40B4-BE49-F238E27FC236}">
                <a16:creationId xmlns:a16="http://schemas.microsoft.com/office/drawing/2014/main" id="{A4644876-1B05-1B9E-68F6-B8834AD76DE1}"/>
              </a:ext>
            </a:extLst>
          </p:cNvPr>
          <p:cNvSpPr>
            <a:spLocks noGrp="1"/>
          </p:cNvSpPr>
          <p:nvPr>
            <p:ph type="sldNum" sz="quarter" idx="12"/>
          </p:nvPr>
        </p:nvSpPr>
        <p:spPr>
          <a:xfrm>
            <a:off x="11725835" y="6402070"/>
            <a:ext cx="386155" cy="365125"/>
          </a:xfrm>
        </p:spPr>
        <p:txBody>
          <a:bodyPr/>
          <a:lstStyle/>
          <a:p>
            <a:pPr algn="ctr"/>
            <a:fld id="{E757BAED-F255-4CF1-96BA-8D7417A9C3BC}" type="slidenum">
              <a:rPr lang="ru-RU" sz="1800" smtClean="0">
                <a:latin typeface="Ubuntu Condensed" panose="020B0506030602030204" pitchFamily="34" charset="0"/>
              </a:rPr>
              <a:pPr algn="ctr"/>
              <a:t>36</a:t>
            </a:fld>
            <a:endParaRPr lang="ru-RU" sz="1800">
              <a:latin typeface="Ubuntu Condensed" panose="020B0506030602030204" pitchFamily="34" charset="0"/>
            </a:endParaRPr>
          </a:p>
        </p:txBody>
      </p:sp>
      <p:pic>
        <p:nvPicPr>
          <p:cNvPr id="3" name="Picture 2">
            <a:extLst>
              <a:ext uri="{FF2B5EF4-FFF2-40B4-BE49-F238E27FC236}">
                <a16:creationId xmlns:a16="http://schemas.microsoft.com/office/drawing/2014/main" id="{3A6A6343-DE66-6E57-CC69-6679E577BA58}"/>
              </a:ext>
            </a:extLst>
          </p:cNvPr>
          <p:cNvPicPr>
            <a:picLocks noChangeAspect="1"/>
          </p:cNvPicPr>
          <p:nvPr/>
        </p:nvPicPr>
        <p:blipFill>
          <a:blip r:embed="rId2"/>
          <a:stretch>
            <a:fillRect/>
          </a:stretch>
        </p:blipFill>
        <p:spPr>
          <a:xfrm>
            <a:off x="233909" y="805634"/>
            <a:ext cx="6445306" cy="5843745"/>
          </a:xfrm>
          <a:prstGeom prst="rect">
            <a:avLst/>
          </a:prstGeom>
        </p:spPr>
      </p:pic>
      <p:pic>
        <p:nvPicPr>
          <p:cNvPr id="6" name="Picture 5">
            <a:extLst>
              <a:ext uri="{FF2B5EF4-FFF2-40B4-BE49-F238E27FC236}">
                <a16:creationId xmlns:a16="http://schemas.microsoft.com/office/drawing/2014/main" id="{1FBA8077-39A0-F892-EEE1-FC8BA8CDEF7B}"/>
              </a:ext>
            </a:extLst>
          </p:cNvPr>
          <p:cNvPicPr>
            <a:picLocks noChangeAspect="1"/>
          </p:cNvPicPr>
          <p:nvPr/>
        </p:nvPicPr>
        <p:blipFill>
          <a:blip r:embed="rId3"/>
          <a:srcRect r="3476"/>
          <a:stretch>
            <a:fillRect/>
          </a:stretch>
        </p:blipFill>
        <p:spPr>
          <a:xfrm>
            <a:off x="6494345" y="708122"/>
            <a:ext cx="5617645" cy="2520746"/>
          </a:xfrm>
          <a:prstGeom prst="rect">
            <a:avLst/>
          </a:prstGeom>
        </p:spPr>
      </p:pic>
    </p:spTree>
    <p:extLst>
      <p:ext uri="{BB962C8B-B14F-4D97-AF65-F5344CB8AC3E}">
        <p14:creationId xmlns:p14="http://schemas.microsoft.com/office/powerpoint/2010/main" val="7373739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3BC78902-BA83-2A4C-B685-051B56D0D79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DADA0D7-38A3-2134-DAF0-DA0786CEC05E}"/>
              </a:ext>
            </a:extLst>
          </p:cNvPr>
          <p:cNvSpPr txBox="1"/>
          <p:nvPr/>
        </p:nvSpPr>
        <p:spPr>
          <a:xfrm>
            <a:off x="1008491" y="1236947"/>
            <a:ext cx="8726556" cy="1938992"/>
          </a:xfrm>
          <a:prstGeom prst="rect">
            <a:avLst/>
          </a:prstGeom>
          <a:noFill/>
        </p:spPr>
        <p:txBody>
          <a:bodyPr wrap="square">
            <a:spAutoFit/>
          </a:bodyPr>
          <a:lstStyle/>
          <a:p>
            <a:r>
              <a:rPr lang="en-US" sz="6000">
                <a:solidFill>
                  <a:schemeClr val="bg1"/>
                </a:solidFill>
                <a:latin typeface="Ubuntu Condensed" panose="020B0506030602030204" pitchFamily="34" charset="0"/>
              </a:rPr>
              <a:t>Optimizations and analysis around linearization points</a:t>
            </a:r>
            <a:endParaRPr lang="ru-RU" sz="6000">
              <a:solidFill>
                <a:schemeClr val="bg1"/>
              </a:solidFill>
              <a:latin typeface="Ubuntu Condensed" panose="020B0506030602030204" pitchFamily="34" charset="0"/>
            </a:endParaRPr>
          </a:p>
        </p:txBody>
      </p:sp>
    </p:spTree>
    <p:extLst>
      <p:ext uri="{BB962C8B-B14F-4D97-AF65-F5344CB8AC3E}">
        <p14:creationId xmlns:p14="http://schemas.microsoft.com/office/powerpoint/2010/main" val="31797802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E7ECD-8231-7295-2F75-E8B9F23DDB0C}"/>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E692B0B6-4120-6300-6853-E5C89F41BC26}"/>
              </a:ext>
            </a:extLst>
          </p:cNvPr>
          <p:cNvSpPr txBox="1"/>
          <p:nvPr/>
        </p:nvSpPr>
        <p:spPr>
          <a:xfrm>
            <a:off x="233910" y="208621"/>
            <a:ext cx="7271790" cy="461665"/>
          </a:xfrm>
          <a:prstGeom prst="rect">
            <a:avLst/>
          </a:prstGeom>
          <a:solidFill>
            <a:srgbClr val="002060"/>
          </a:solidFill>
        </p:spPr>
        <p:txBody>
          <a:bodyPr wrap="square" rtlCol="0">
            <a:spAutoFit/>
          </a:bodyPr>
          <a:lstStyle/>
          <a:p>
            <a:r>
              <a:rPr lang="en-US" sz="2400">
                <a:solidFill>
                  <a:schemeClr val="bg1"/>
                </a:solidFill>
                <a:latin typeface="Ubuntu Condensed" panose="020B0506030602030204" pitchFamily="34" charset="0"/>
              </a:rPr>
              <a:t>Optimizations Enabled by Linearization Points – Motivation</a:t>
            </a:r>
            <a:endParaRPr lang="ru-RU" sz="2400">
              <a:solidFill>
                <a:schemeClr val="bg1"/>
              </a:solidFill>
              <a:latin typeface="Ubuntu Condensed" panose="020B0506030602030204" pitchFamily="34" charset="0"/>
            </a:endParaRPr>
          </a:p>
        </p:txBody>
      </p:sp>
      <p:sp>
        <p:nvSpPr>
          <p:cNvPr id="7" name="Номер слайда 7">
            <a:extLst>
              <a:ext uri="{FF2B5EF4-FFF2-40B4-BE49-F238E27FC236}">
                <a16:creationId xmlns:a16="http://schemas.microsoft.com/office/drawing/2014/main" id="{10D0FAC2-8611-A2C3-9E8C-21F83ACF87FE}"/>
              </a:ext>
            </a:extLst>
          </p:cNvPr>
          <p:cNvSpPr>
            <a:spLocks noGrp="1"/>
          </p:cNvSpPr>
          <p:nvPr>
            <p:ph type="sldNum" sz="quarter" idx="12"/>
          </p:nvPr>
        </p:nvSpPr>
        <p:spPr>
          <a:xfrm>
            <a:off x="11725835" y="6402070"/>
            <a:ext cx="386155" cy="365125"/>
          </a:xfrm>
        </p:spPr>
        <p:txBody>
          <a:bodyPr/>
          <a:lstStyle/>
          <a:p>
            <a:pPr algn="ctr"/>
            <a:fld id="{E757BAED-F255-4CF1-96BA-8D7417A9C3BC}" type="slidenum">
              <a:rPr lang="ru-RU" sz="1800" smtClean="0">
                <a:latin typeface="Ubuntu Condensed" panose="020B0506030602030204" pitchFamily="34" charset="0"/>
              </a:rPr>
              <a:pPr algn="ctr"/>
              <a:t>38</a:t>
            </a:fld>
            <a:endParaRPr lang="ru-RU" sz="1800">
              <a:latin typeface="Ubuntu Condensed" panose="020B0506030602030204" pitchFamily="34" charset="0"/>
            </a:endParaRPr>
          </a:p>
        </p:txBody>
      </p:sp>
      <p:sp>
        <p:nvSpPr>
          <p:cNvPr id="8" name="TextBox 7">
            <a:extLst>
              <a:ext uri="{FF2B5EF4-FFF2-40B4-BE49-F238E27FC236}">
                <a16:creationId xmlns:a16="http://schemas.microsoft.com/office/drawing/2014/main" id="{21B498D1-673C-F98E-D7F9-90676E3D0950}"/>
              </a:ext>
            </a:extLst>
          </p:cNvPr>
          <p:cNvSpPr txBox="1"/>
          <p:nvPr/>
        </p:nvSpPr>
        <p:spPr>
          <a:xfrm>
            <a:off x="233910" y="670286"/>
            <a:ext cx="11805690" cy="5979093"/>
          </a:xfrm>
          <a:prstGeom prst="rect">
            <a:avLst/>
          </a:prstGeom>
          <a:noFill/>
        </p:spPr>
        <p:txBody>
          <a:bodyPr wrap="square" numCol="2" spcCol="360000">
            <a:noAutofit/>
          </a:bodyPr>
          <a:lstStyle/>
          <a:p>
            <a:pPr algn="just">
              <a:lnSpc>
                <a:spcPct val="107000"/>
              </a:lnSpc>
              <a:spcAft>
                <a:spcPts val="400"/>
              </a:spcAft>
              <a:buNone/>
            </a:pPr>
            <a:r>
              <a:rPr lang="en-SG" sz="1150" kern="100">
                <a:effectLst/>
                <a:latin typeface="Aptos" panose="020B0004020202020204" pitchFamily="34" charset="0"/>
                <a:ea typeface="Aptos" panose="020B0004020202020204" pitchFamily="34" charset="0"/>
                <a:cs typeface="Times New Roman" panose="02020603050405020304" pitchFamily="18" charset="0"/>
              </a:rPr>
              <a:t>In nonblocking structures, only critical memory accesses—for the most part, the linearizing load and compare-and-swap (CAS) instructions—need to occur atomically, while most pre-linearization memory accesses can safely be executed as they are encountered, and post-linearization accesses can be postponed until after the transaction commits [1].</a:t>
            </a:r>
          </a:p>
          <a:p>
            <a:pPr algn="just">
              <a:lnSpc>
                <a:spcPct val="107000"/>
              </a:lnSpc>
              <a:spcAft>
                <a:spcPts val="400"/>
              </a:spcAft>
              <a:buNone/>
            </a:pPr>
            <a:r>
              <a:rPr lang="en-SG" sz="1150" b="1" kern="100">
                <a:effectLst/>
                <a:latin typeface="Aptos" panose="020B0004020202020204" pitchFamily="34" charset="0"/>
                <a:ea typeface="Aptos" panose="020B0004020202020204" pitchFamily="34" charset="0"/>
                <a:cs typeface="Times New Roman" panose="02020603050405020304" pitchFamily="18" charset="0"/>
              </a:rPr>
              <a:t>1. Heavy Work AFTER the Linearization Point (Post-LP)</a:t>
            </a:r>
            <a:endParaRPr lang="en-SG" sz="1150" kern="10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400"/>
              </a:spcAft>
              <a:buNone/>
            </a:pPr>
            <a:r>
              <a:rPr lang="en-SG" sz="1150" kern="100">
                <a:effectLst/>
                <a:latin typeface="Aptos" panose="020B0004020202020204" pitchFamily="34" charset="0"/>
                <a:ea typeface="Aptos" panose="020B0004020202020204" pitchFamily="34" charset="0"/>
                <a:cs typeface="Times New Roman" panose="02020603050405020304" pitchFamily="18" charset="0"/>
              </a:rPr>
              <a:t>This is the most effective and common technique.</a:t>
            </a:r>
          </a:p>
          <a:p>
            <a:pPr algn="just">
              <a:lnSpc>
                <a:spcPct val="107000"/>
              </a:lnSpc>
              <a:spcAft>
                <a:spcPts val="400"/>
              </a:spcAft>
              <a:buNone/>
            </a:pPr>
            <a:r>
              <a:rPr lang="en-SG" sz="1150" b="1" kern="100">
                <a:effectLst/>
                <a:latin typeface="Aptos" panose="020B0004020202020204" pitchFamily="34" charset="0"/>
                <a:ea typeface="Aptos" panose="020B0004020202020204" pitchFamily="34" charset="0"/>
                <a:cs typeface="Times New Roman" panose="02020603050405020304" pitchFamily="18" charset="0"/>
              </a:rPr>
              <a:t>The Idea:</a:t>
            </a:r>
            <a:r>
              <a:rPr lang="en-SG" sz="1150" kern="100">
                <a:effectLst/>
                <a:latin typeface="Aptos" panose="020B0004020202020204" pitchFamily="34" charset="0"/>
                <a:ea typeface="Aptos" panose="020B0004020202020204" pitchFamily="34" charset="0"/>
                <a:cs typeface="Times New Roman" panose="02020603050405020304" pitchFamily="18" charset="0"/>
              </a:rPr>
              <a:t> The Linearization Point (LP) is the moment when an operation is considered </a:t>
            </a:r>
            <a:r>
              <a:rPr lang="en-SG" sz="1150" i="1" kern="100">
                <a:effectLst/>
                <a:latin typeface="Aptos" panose="020B0004020202020204" pitchFamily="34" charset="0"/>
                <a:ea typeface="Aptos" panose="020B0004020202020204" pitchFamily="34" charset="0"/>
                <a:cs typeface="Times New Roman" panose="02020603050405020304" pitchFamily="18" charset="0"/>
              </a:rPr>
              <a:t>logically</a:t>
            </a:r>
            <a:r>
              <a:rPr lang="en-SG" sz="1150" kern="100">
                <a:effectLst/>
                <a:latin typeface="Aptos" panose="020B0004020202020204" pitchFamily="34" charset="0"/>
                <a:ea typeface="Aptos" panose="020B0004020202020204" pitchFamily="34" charset="0"/>
                <a:cs typeface="Times New Roman" panose="02020603050405020304" pitchFamily="18" charset="0"/>
              </a:rPr>
              <a:t> complete. All physical restructuring of the data structure (tree rotations, removing nodes from memory) required to maintain invariants can be done later.</a:t>
            </a:r>
          </a:p>
          <a:p>
            <a:pPr algn="just">
              <a:lnSpc>
                <a:spcPct val="107000"/>
              </a:lnSpc>
              <a:spcAft>
                <a:spcPts val="400"/>
              </a:spcAft>
              <a:buNone/>
            </a:pPr>
            <a:r>
              <a:rPr lang="en-SG" sz="1150" b="1" kern="100">
                <a:effectLst/>
                <a:latin typeface="Aptos" panose="020B0004020202020204" pitchFamily="34" charset="0"/>
                <a:ea typeface="Aptos" panose="020B0004020202020204" pitchFamily="34" charset="0"/>
                <a:cs typeface="Times New Roman" panose="02020603050405020304" pitchFamily="18" charset="0"/>
              </a:rPr>
              <a:t>How this reduces collisions: </a:t>
            </a:r>
            <a:r>
              <a:rPr lang="en-SG" sz="1150" kern="100">
                <a:effectLst/>
                <a:latin typeface="Aptos" panose="020B0004020202020204" pitchFamily="34" charset="0"/>
                <a:ea typeface="Aptos" panose="020B0004020202020204" pitchFamily="34" charset="0"/>
                <a:cs typeface="Times New Roman" panose="02020603050405020304" pitchFamily="18" charset="0"/>
              </a:rPr>
              <a:t>If we try to do everything at once (insert a node + rotate the tree) in a single atomic transaction, we touch many memory addresses. Any other thread reading or writing to that area will cause a conflict. By splitting the phases, we narrow the "window of vulnerability."</a:t>
            </a:r>
          </a:p>
          <a:p>
            <a:pPr algn="just">
              <a:lnSpc>
                <a:spcPct val="107000"/>
              </a:lnSpc>
              <a:spcAft>
                <a:spcPts val="400"/>
              </a:spcAft>
              <a:buNone/>
            </a:pPr>
            <a:r>
              <a:rPr lang="en-SG" sz="1150" b="1" kern="100">
                <a:effectLst/>
                <a:latin typeface="Aptos" panose="020B0004020202020204" pitchFamily="34" charset="0"/>
                <a:ea typeface="Aptos" panose="020B0004020202020204" pitchFamily="34" charset="0"/>
                <a:cs typeface="Times New Roman" panose="02020603050405020304" pitchFamily="18" charset="0"/>
              </a:rPr>
              <a:t>Examples and Evidence:</a:t>
            </a:r>
            <a:endParaRPr lang="en-SG" sz="115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07000"/>
              </a:lnSpc>
              <a:spcAft>
                <a:spcPts val="400"/>
              </a:spcAft>
              <a:buSzPts val="1000"/>
              <a:buFont typeface="Symbol" panose="05050102010706020507" pitchFamily="18" charset="2"/>
              <a:buChar char=""/>
              <a:tabLst>
                <a:tab pos="457200" algn="l"/>
              </a:tabLst>
            </a:pPr>
            <a:r>
              <a:rPr lang="en-SG" sz="1150" b="1" kern="100">
                <a:effectLst/>
                <a:latin typeface="Aptos" panose="020B0004020202020204" pitchFamily="34" charset="0"/>
                <a:ea typeface="Aptos" panose="020B0004020202020204" pitchFamily="34" charset="0"/>
                <a:cs typeface="Times New Roman" panose="02020603050405020304" pitchFamily="18" charset="0"/>
              </a:rPr>
              <a:t>Harris's Linked List:</a:t>
            </a:r>
            <a:endParaRPr lang="en-SG" sz="1150" kern="100">
              <a:effectLst/>
              <a:latin typeface="Aptos" panose="020B0004020202020204" pitchFamily="34" charset="0"/>
              <a:ea typeface="Aptos" panose="020B0004020202020204" pitchFamily="34" charset="0"/>
              <a:cs typeface="Times New Roman" panose="02020603050405020304" pitchFamily="18" charset="0"/>
            </a:endParaRPr>
          </a:p>
          <a:p>
            <a:pPr marL="285750" indent="-285750" algn="just">
              <a:lnSpc>
                <a:spcPct val="107000"/>
              </a:lnSpc>
              <a:spcAft>
                <a:spcPts val="400"/>
              </a:spcAft>
              <a:buSzPts val="1000"/>
              <a:buFont typeface="Courier New" panose="02070309020205020404" pitchFamily="49" charset="0"/>
              <a:buChar char="o"/>
              <a:tabLst>
                <a:tab pos="914400" algn="l"/>
              </a:tabLst>
            </a:pPr>
            <a:r>
              <a:rPr lang="en-SG" sz="1150" kern="100">
                <a:effectLst/>
                <a:latin typeface="Aptos" panose="020B0004020202020204" pitchFamily="34" charset="0"/>
                <a:ea typeface="Aptos" panose="020B0004020202020204" pitchFamily="34" charset="0"/>
                <a:cs typeface="Times New Roman" panose="02020603050405020304" pitchFamily="18" charset="0"/>
              </a:rPr>
              <a:t>This is a classic example. To remove a node, we first </a:t>
            </a:r>
            <a:r>
              <a:rPr lang="en-SG" sz="1150" i="1" kern="100">
                <a:effectLst/>
                <a:latin typeface="Aptos" panose="020B0004020202020204" pitchFamily="34" charset="0"/>
                <a:ea typeface="Aptos" panose="020B0004020202020204" pitchFamily="34" charset="0"/>
                <a:cs typeface="Times New Roman" panose="02020603050405020304" pitchFamily="18" charset="0"/>
              </a:rPr>
              <a:t>logically</a:t>
            </a:r>
            <a:r>
              <a:rPr lang="en-SG" sz="1150" kern="100">
                <a:effectLst/>
                <a:latin typeface="Aptos" panose="020B0004020202020204" pitchFamily="34" charset="0"/>
                <a:ea typeface="Aptos" panose="020B0004020202020204" pitchFamily="34" charset="0"/>
                <a:cs typeface="Times New Roman" panose="02020603050405020304" pitchFamily="18" charset="0"/>
              </a:rPr>
              <a:t> mark it as deleted (setting a bit in the next pointer—this is the LP, a single fast CAS).</a:t>
            </a:r>
          </a:p>
          <a:p>
            <a:pPr marL="285750" indent="-285750" algn="just">
              <a:lnSpc>
                <a:spcPct val="107000"/>
              </a:lnSpc>
              <a:spcAft>
                <a:spcPts val="400"/>
              </a:spcAft>
              <a:buSzPts val="1000"/>
              <a:buFont typeface="Courier New" panose="02070309020205020404" pitchFamily="49" charset="0"/>
              <a:buChar char="o"/>
              <a:tabLst>
                <a:tab pos="914400" algn="l"/>
              </a:tabLst>
            </a:pPr>
            <a:r>
              <a:rPr lang="en-SG" sz="1150" kern="100">
                <a:effectLst/>
                <a:latin typeface="Aptos" panose="020B0004020202020204" pitchFamily="34" charset="0"/>
                <a:ea typeface="Aptos" panose="020B0004020202020204" pitchFamily="34" charset="0"/>
                <a:cs typeface="Times New Roman" panose="02020603050405020304" pitchFamily="18" charset="0"/>
              </a:rPr>
              <a:t>The </a:t>
            </a:r>
            <a:r>
              <a:rPr lang="en-SG" sz="1150" i="1" kern="100">
                <a:effectLst/>
                <a:latin typeface="Aptos" panose="020B0004020202020204" pitchFamily="34" charset="0"/>
                <a:ea typeface="Aptos" panose="020B0004020202020204" pitchFamily="34" charset="0"/>
                <a:cs typeface="Times New Roman" panose="02020603050405020304" pitchFamily="18" charset="0"/>
              </a:rPr>
              <a:t>physical</a:t>
            </a:r>
            <a:r>
              <a:rPr lang="en-SG" sz="1150" kern="100">
                <a:effectLst/>
                <a:latin typeface="Aptos" panose="020B0004020202020204" pitchFamily="34" charset="0"/>
                <a:ea typeface="Aptos" panose="020B0004020202020204" pitchFamily="34" charset="0"/>
                <a:cs typeface="Times New Roman" panose="02020603050405020304" pitchFamily="18" charset="0"/>
              </a:rPr>
              <a:t> removal (swinging the pointers of the previous node) happens later and can be performed by any other thread.</a:t>
            </a:r>
          </a:p>
          <a:p>
            <a:pPr marL="285750" indent="-285750" algn="just">
              <a:lnSpc>
                <a:spcPct val="107000"/>
              </a:lnSpc>
              <a:spcAft>
                <a:spcPts val="400"/>
              </a:spcAft>
              <a:buSzPts val="1000"/>
              <a:buFont typeface="Courier New" panose="02070309020205020404" pitchFamily="49" charset="0"/>
              <a:buChar char="o"/>
              <a:tabLst>
                <a:tab pos="914400" algn="l"/>
              </a:tabLst>
            </a:pPr>
            <a:r>
              <a:rPr lang="en-SG" sz="1150" b="1" kern="100">
                <a:effectLst/>
                <a:latin typeface="Aptos" panose="020B0004020202020204" pitchFamily="34" charset="0"/>
                <a:ea typeface="Aptos" panose="020B0004020202020204" pitchFamily="34" charset="0"/>
                <a:cs typeface="Times New Roman" panose="02020603050405020304" pitchFamily="18" charset="0"/>
              </a:rPr>
              <a:t>Why this is an optimization:</a:t>
            </a:r>
            <a:r>
              <a:rPr lang="en-SG" sz="1150" kern="100">
                <a:effectLst/>
                <a:latin typeface="Aptos" panose="020B0004020202020204" pitchFamily="34" charset="0"/>
                <a:ea typeface="Aptos" panose="020B0004020202020204" pitchFamily="34" charset="0"/>
                <a:cs typeface="Times New Roman" panose="02020603050405020304" pitchFamily="18" charset="0"/>
              </a:rPr>
              <a:t> If we tried to atomically re-link the pointers immediately, we would need to lock or use a complex DCAS (Double CAS) on two nodes. Decoupling makes the linearization point instantaneous.</a:t>
            </a:r>
          </a:p>
          <a:p>
            <a:pPr marL="342900" lvl="0" indent="-342900" algn="just">
              <a:lnSpc>
                <a:spcPct val="107000"/>
              </a:lnSpc>
              <a:spcAft>
                <a:spcPts val="400"/>
              </a:spcAft>
              <a:buSzPts val="1000"/>
              <a:buFont typeface="Symbol" panose="05050102010706020507" pitchFamily="18" charset="2"/>
              <a:buChar char=""/>
              <a:tabLst>
                <a:tab pos="457200" algn="l"/>
              </a:tabLst>
            </a:pPr>
            <a:r>
              <a:rPr lang="en-SG" sz="1150" b="1" kern="100">
                <a:effectLst/>
                <a:latin typeface="Aptos" panose="020B0004020202020204" pitchFamily="34" charset="0"/>
                <a:ea typeface="Aptos" panose="020B0004020202020204" pitchFamily="34" charset="0"/>
                <a:cs typeface="Times New Roman" panose="02020603050405020304" pitchFamily="18" charset="0"/>
              </a:rPr>
              <a:t>Relaxed Balanced Trees:</a:t>
            </a:r>
            <a:endParaRPr lang="en-SG" sz="1150" kern="100">
              <a:effectLst/>
              <a:latin typeface="Aptos" panose="020B0004020202020204" pitchFamily="34" charset="0"/>
              <a:ea typeface="Aptos" panose="020B0004020202020204" pitchFamily="34" charset="0"/>
              <a:cs typeface="Times New Roman" panose="02020603050405020304" pitchFamily="18" charset="0"/>
            </a:endParaRPr>
          </a:p>
          <a:p>
            <a:pPr marL="285750" indent="-285750" algn="just">
              <a:lnSpc>
                <a:spcPct val="107000"/>
              </a:lnSpc>
              <a:spcAft>
                <a:spcPts val="400"/>
              </a:spcAft>
              <a:buSzPts val="1000"/>
              <a:buFont typeface="Courier New" panose="02070309020205020404" pitchFamily="49" charset="0"/>
              <a:buChar char="o"/>
              <a:tabLst>
                <a:tab pos="914400" algn="l"/>
              </a:tabLst>
            </a:pPr>
            <a:r>
              <a:rPr lang="en-SG" sz="1150" kern="100">
                <a:effectLst/>
                <a:latin typeface="Aptos" panose="020B0004020202020204" pitchFamily="34" charset="0"/>
                <a:ea typeface="Aptos" panose="020B0004020202020204" pitchFamily="34" charset="0"/>
                <a:cs typeface="Times New Roman" panose="02020603050405020304" pitchFamily="18" charset="0"/>
              </a:rPr>
              <a:t>In standard trees (AVL, RB-Tree), insertion requires immediate rebalancing. This is expensive and causes contention at the root.</a:t>
            </a:r>
          </a:p>
          <a:p>
            <a:pPr marL="285750" indent="-285750" algn="just">
              <a:lnSpc>
                <a:spcPct val="107000"/>
              </a:lnSpc>
              <a:spcAft>
                <a:spcPts val="400"/>
              </a:spcAft>
              <a:buSzPts val="1000"/>
              <a:buFont typeface="Courier New" panose="02070309020205020404" pitchFamily="49" charset="0"/>
              <a:buChar char="o"/>
              <a:tabLst>
                <a:tab pos="914400" algn="l"/>
              </a:tabLst>
            </a:pPr>
            <a:r>
              <a:rPr lang="en-SG" sz="1150" kern="100">
                <a:effectLst/>
                <a:latin typeface="Aptos" panose="020B0004020202020204" pitchFamily="34" charset="0"/>
                <a:ea typeface="Aptos" panose="020B0004020202020204" pitchFamily="34" charset="0"/>
                <a:cs typeface="Times New Roman" panose="02020603050405020304" pitchFamily="18" charset="0"/>
              </a:rPr>
              <a:t>In </a:t>
            </a:r>
            <a:r>
              <a:rPr lang="en-SG" sz="1150" b="1" kern="100">
                <a:effectLst/>
                <a:latin typeface="Aptos" panose="020B0004020202020204" pitchFamily="34" charset="0"/>
                <a:ea typeface="Aptos" panose="020B0004020202020204" pitchFamily="34" charset="0"/>
                <a:cs typeface="Times New Roman" panose="02020603050405020304" pitchFamily="18" charset="0"/>
              </a:rPr>
              <a:t>Chromatic Trees</a:t>
            </a:r>
            <a:r>
              <a:rPr lang="en-SG" sz="1150" kern="100">
                <a:effectLst/>
                <a:latin typeface="Aptos" panose="020B0004020202020204" pitchFamily="34" charset="0"/>
                <a:ea typeface="Aptos" panose="020B0004020202020204" pitchFamily="34" charset="0"/>
                <a:cs typeface="Times New Roman" panose="02020603050405020304" pitchFamily="18" charset="0"/>
              </a:rPr>
              <a:t> (by T. Brown et al.) or </a:t>
            </a:r>
            <a:r>
              <a:rPr lang="en-SG" sz="1150" b="1" kern="100">
                <a:effectLst/>
                <a:latin typeface="Aptos" panose="020B0004020202020204" pitchFamily="34" charset="0"/>
                <a:ea typeface="Aptos" panose="020B0004020202020204" pitchFamily="34" charset="0"/>
                <a:cs typeface="Times New Roman" panose="02020603050405020304" pitchFamily="18" charset="0"/>
              </a:rPr>
              <a:t>Relaxed AVL trees</a:t>
            </a:r>
            <a:r>
              <a:rPr lang="en-SG" sz="1150" kern="100">
                <a:effectLst/>
                <a:latin typeface="Aptos" panose="020B0004020202020204" pitchFamily="34" charset="0"/>
                <a:ea typeface="Aptos" panose="020B0004020202020204" pitchFamily="34" charset="0"/>
                <a:cs typeface="Times New Roman" panose="02020603050405020304" pitchFamily="18" charset="0"/>
              </a:rPr>
              <a:t>, rebalancing is decoupled from insertion. You insert the node (LP passed) and leave. The tree is temporarily "unbalanced."</a:t>
            </a:r>
          </a:p>
          <a:p>
            <a:pPr marL="285750" indent="-285750" algn="just">
              <a:lnSpc>
                <a:spcPct val="107000"/>
              </a:lnSpc>
              <a:spcAft>
                <a:spcPts val="400"/>
              </a:spcAft>
              <a:buSzPts val="1000"/>
              <a:buFont typeface="Courier New" panose="02070309020205020404" pitchFamily="49" charset="0"/>
              <a:buChar char="o"/>
              <a:tabLst>
                <a:tab pos="914400" algn="l"/>
              </a:tabLst>
            </a:pPr>
            <a:r>
              <a:rPr lang="en-SG" sz="1150" b="1" kern="100">
                <a:effectLst/>
                <a:latin typeface="Aptos" panose="020B0004020202020204" pitchFamily="34" charset="0"/>
                <a:ea typeface="Aptos" panose="020B0004020202020204" pitchFamily="34" charset="0"/>
                <a:cs typeface="Times New Roman" panose="02020603050405020304" pitchFamily="18" charset="0"/>
              </a:rPr>
              <a:t>Brown, T., Ellen, F., &amp; Ruppert, E. (2014). A general technique for non-blocking trees.</a:t>
            </a:r>
            <a:r>
              <a:rPr lang="en-SG" sz="1150" kern="100">
                <a:effectLst/>
                <a:latin typeface="Aptos" panose="020B0004020202020204" pitchFamily="34" charset="0"/>
                <a:ea typeface="Aptos" panose="020B0004020202020204" pitchFamily="34" charset="0"/>
                <a:cs typeface="Times New Roman" panose="02020603050405020304" pitchFamily="18" charset="0"/>
              </a:rPr>
              <a:t> They demonstrate that moving structural changes outside (after) the LP radically improves scalability.</a:t>
            </a:r>
          </a:p>
          <a:p>
            <a:pPr algn="just">
              <a:lnSpc>
                <a:spcPct val="107000"/>
              </a:lnSpc>
              <a:spcAft>
                <a:spcPts val="400"/>
              </a:spcAft>
              <a:buNone/>
            </a:pPr>
            <a:r>
              <a:rPr lang="en-SG" sz="1150" b="1" kern="100">
                <a:effectLst/>
                <a:latin typeface="Aptos" panose="020B0004020202020204" pitchFamily="34" charset="0"/>
                <a:ea typeface="Aptos" panose="020B0004020202020204" pitchFamily="34" charset="0"/>
                <a:cs typeface="Times New Roman" panose="02020603050405020304" pitchFamily="18" charset="0"/>
              </a:rPr>
              <a:t>2. Heavy Work BEFORE the Linearization Point (Pre-LP)</a:t>
            </a:r>
            <a:endParaRPr lang="en-SG" sz="115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400"/>
              </a:spcAft>
              <a:buNone/>
            </a:pPr>
            <a:r>
              <a:rPr lang="en-SG" sz="1150" b="1" kern="100">
                <a:effectLst/>
                <a:latin typeface="Aptos" panose="020B0004020202020204" pitchFamily="34" charset="0"/>
                <a:ea typeface="Aptos" panose="020B0004020202020204" pitchFamily="34" charset="0"/>
                <a:cs typeface="Times New Roman" panose="02020603050405020304" pitchFamily="18" charset="0"/>
              </a:rPr>
              <a:t>The Problem: </a:t>
            </a:r>
            <a:r>
              <a:rPr lang="en-SG" sz="1150" kern="100">
                <a:effectLst/>
                <a:latin typeface="Aptos" panose="020B0004020202020204" pitchFamily="34" charset="0"/>
                <a:ea typeface="Aptos" panose="020B0004020202020204" pitchFamily="34" charset="0"/>
                <a:cs typeface="Times New Roman" panose="02020603050405020304" pitchFamily="18" charset="0"/>
              </a:rPr>
              <a:t>A lock-free algorithm typically looks like a loop:</a:t>
            </a:r>
          </a:p>
          <a:p>
            <a:pPr marL="342900" lvl="0" indent="-342900" algn="just">
              <a:lnSpc>
                <a:spcPct val="107000"/>
              </a:lnSpc>
              <a:spcAft>
                <a:spcPts val="400"/>
              </a:spcAft>
              <a:buFont typeface="+mj-lt"/>
              <a:buAutoNum type="arabicPeriod"/>
              <a:tabLst>
                <a:tab pos="457200" algn="l"/>
              </a:tabLst>
            </a:pPr>
            <a:r>
              <a:rPr lang="en-SG" sz="1150" kern="100">
                <a:effectLst/>
                <a:latin typeface="Aptos" panose="020B0004020202020204" pitchFamily="34" charset="0"/>
                <a:ea typeface="Aptos" panose="020B0004020202020204" pitchFamily="34" charset="0"/>
                <a:cs typeface="Times New Roman" panose="02020603050405020304" pitchFamily="18" charset="0"/>
              </a:rPr>
              <a:t>Read data (</a:t>
            </a:r>
            <a:r>
              <a:rPr lang="en-SG" sz="1150" kern="100" err="1">
                <a:effectLst/>
                <a:latin typeface="Aptos" panose="020B0004020202020204" pitchFamily="34" charset="0"/>
                <a:ea typeface="Aptos" panose="020B0004020202020204" pitchFamily="34" charset="0"/>
                <a:cs typeface="Times New Roman" panose="02020603050405020304" pitchFamily="18" charset="0"/>
              </a:rPr>
              <a:t>old_state</a:t>
            </a:r>
            <a:r>
              <a:rPr lang="en-SG" sz="1150" kern="100">
                <a:effectLst/>
                <a:latin typeface="Aptos" panose="020B0004020202020204" pitchFamily="34" charset="0"/>
                <a:ea typeface="Aptos" panose="020B0004020202020204" pitchFamily="34" charset="0"/>
                <a:cs typeface="Times New Roman" panose="02020603050405020304" pitchFamily="18" charset="0"/>
              </a:rPr>
              <a:t>).</a:t>
            </a:r>
          </a:p>
          <a:p>
            <a:pPr marL="342900" lvl="0" indent="-342900" algn="just">
              <a:lnSpc>
                <a:spcPct val="107000"/>
              </a:lnSpc>
              <a:spcAft>
                <a:spcPts val="400"/>
              </a:spcAft>
              <a:buFont typeface="+mj-lt"/>
              <a:buAutoNum type="arabicPeriod"/>
              <a:tabLst>
                <a:tab pos="457200" algn="l"/>
              </a:tabLst>
            </a:pPr>
            <a:r>
              <a:rPr lang="en-SG" sz="1150" kern="100">
                <a:effectLst/>
                <a:latin typeface="Aptos" panose="020B0004020202020204" pitchFamily="34" charset="0"/>
                <a:ea typeface="Aptos" panose="020B0004020202020204" pitchFamily="34" charset="0"/>
                <a:cs typeface="Times New Roman" panose="02020603050405020304" pitchFamily="18" charset="0"/>
              </a:rPr>
              <a:t>Perform calculations (</a:t>
            </a:r>
            <a:r>
              <a:rPr lang="en-SG" sz="1150" kern="100" err="1">
                <a:effectLst/>
                <a:latin typeface="Aptos" panose="020B0004020202020204" pitchFamily="34" charset="0"/>
                <a:ea typeface="Aptos" panose="020B0004020202020204" pitchFamily="34" charset="0"/>
                <a:cs typeface="Times New Roman" panose="02020603050405020304" pitchFamily="18" charset="0"/>
              </a:rPr>
              <a:t>new_state</a:t>
            </a:r>
            <a:r>
              <a:rPr lang="en-SG" sz="1150" kern="100">
                <a:effectLst/>
                <a:latin typeface="Aptos" panose="020B0004020202020204" pitchFamily="34" charset="0"/>
                <a:ea typeface="Aptos" panose="020B0004020202020204" pitchFamily="34" charset="0"/>
                <a:cs typeface="Times New Roman" panose="02020603050405020304" pitchFamily="18" charset="0"/>
              </a:rPr>
              <a:t> = </a:t>
            </a:r>
            <a:r>
              <a:rPr lang="en-SG" sz="1150" kern="100" err="1">
                <a:effectLst/>
                <a:latin typeface="Aptos" panose="020B0004020202020204" pitchFamily="34" charset="0"/>
                <a:ea typeface="Aptos" panose="020B0004020202020204" pitchFamily="34" charset="0"/>
                <a:cs typeface="Times New Roman" panose="02020603050405020304" pitchFamily="18" charset="0"/>
              </a:rPr>
              <a:t>heavy_func</a:t>
            </a:r>
            <a:r>
              <a:rPr lang="en-SG" sz="1150" kern="100">
                <a:effectLst/>
                <a:latin typeface="Aptos" panose="020B0004020202020204" pitchFamily="34" charset="0"/>
                <a:ea typeface="Aptos" panose="020B0004020202020204" pitchFamily="34" charset="0"/>
                <a:cs typeface="Times New Roman" panose="02020603050405020304" pitchFamily="18" charset="0"/>
              </a:rPr>
              <a:t>(</a:t>
            </a:r>
            <a:r>
              <a:rPr lang="en-SG" sz="1150" kern="100" err="1">
                <a:effectLst/>
                <a:latin typeface="Aptos" panose="020B0004020202020204" pitchFamily="34" charset="0"/>
                <a:ea typeface="Aptos" panose="020B0004020202020204" pitchFamily="34" charset="0"/>
                <a:cs typeface="Times New Roman" panose="02020603050405020304" pitchFamily="18" charset="0"/>
              </a:rPr>
              <a:t>old_state</a:t>
            </a:r>
            <a:r>
              <a:rPr lang="en-SG" sz="1150" kern="100">
                <a:effectLst/>
                <a:latin typeface="Aptos" panose="020B0004020202020204" pitchFamily="34" charset="0"/>
                <a:ea typeface="Aptos" panose="020B0004020202020204" pitchFamily="34" charset="0"/>
                <a:cs typeface="Times New Roman" panose="02020603050405020304" pitchFamily="18" charset="0"/>
              </a:rPr>
              <a:t>)).</a:t>
            </a:r>
          </a:p>
          <a:p>
            <a:pPr marL="342900" lvl="0" indent="-342900" algn="just">
              <a:lnSpc>
                <a:spcPct val="107000"/>
              </a:lnSpc>
              <a:spcAft>
                <a:spcPts val="400"/>
              </a:spcAft>
              <a:buFont typeface="+mj-lt"/>
              <a:buAutoNum type="arabicPeriod"/>
              <a:tabLst>
                <a:tab pos="457200" algn="l"/>
              </a:tabLst>
            </a:pPr>
            <a:r>
              <a:rPr lang="en-SG" sz="1150" kern="100">
                <a:effectLst/>
                <a:latin typeface="Aptos" panose="020B0004020202020204" pitchFamily="34" charset="0"/>
                <a:ea typeface="Aptos" panose="020B0004020202020204" pitchFamily="34" charset="0"/>
                <a:cs typeface="Times New Roman" panose="02020603050405020304" pitchFamily="18" charset="0"/>
              </a:rPr>
              <a:t>CAS(target, </a:t>
            </a:r>
            <a:r>
              <a:rPr lang="en-SG" sz="1150" kern="100" err="1">
                <a:effectLst/>
                <a:latin typeface="Aptos" panose="020B0004020202020204" pitchFamily="34" charset="0"/>
                <a:ea typeface="Aptos" panose="020B0004020202020204" pitchFamily="34" charset="0"/>
                <a:cs typeface="Times New Roman" panose="02020603050405020304" pitchFamily="18" charset="0"/>
              </a:rPr>
              <a:t>old_state</a:t>
            </a:r>
            <a:r>
              <a:rPr lang="en-SG" sz="1150" kern="100">
                <a:effectLst/>
                <a:latin typeface="Aptos" panose="020B0004020202020204" pitchFamily="34" charset="0"/>
                <a:ea typeface="Aptos" panose="020B0004020202020204" pitchFamily="34" charset="0"/>
                <a:cs typeface="Times New Roman" panose="02020603050405020304" pitchFamily="18" charset="0"/>
              </a:rPr>
              <a:t>, </a:t>
            </a:r>
            <a:r>
              <a:rPr lang="en-SG" sz="1150" kern="100" err="1">
                <a:effectLst/>
                <a:latin typeface="Aptos" panose="020B0004020202020204" pitchFamily="34" charset="0"/>
                <a:ea typeface="Aptos" panose="020B0004020202020204" pitchFamily="34" charset="0"/>
                <a:cs typeface="Times New Roman" panose="02020603050405020304" pitchFamily="18" charset="0"/>
              </a:rPr>
              <a:t>new_state</a:t>
            </a:r>
            <a:r>
              <a:rPr lang="en-SG" sz="1150" kern="100">
                <a:effectLst/>
                <a:latin typeface="Aptos" panose="020B0004020202020204" pitchFamily="34" charset="0"/>
                <a:ea typeface="Aptos" panose="020B0004020202020204" pitchFamily="34" charset="0"/>
                <a:cs typeface="Times New Roman" panose="02020603050405020304" pitchFamily="18" charset="0"/>
              </a:rPr>
              <a:t>).</a:t>
            </a:r>
          </a:p>
          <a:p>
            <a:pPr algn="just">
              <a:lnSpc>
                <a:spcPct val="107000"/>
              </a:lnSpc>
              <a:spcAft>
                <a:spcPts val="400"/>
              </a:spcAft>
              <a:buNone/>
            </a:pPr>
            <a:r>
              <a:rPr lang="en-SG" sz="1150" kern="100">
                <a:effectLst/>
                <a:latin typeface="Aptos" panose="020B0004020202020204" pitchFamily="34" charset="0"/>
                <a:ea typeface="Aptos" panose="020B0004020202020204" pitchFamily="34" charset="0"/>
                <a:cs typeface="Times New Roman" panose="02020603050405020304" pitchFamily="18" charset="0"/>
              </a:rPr>
              <a:t>If step 2 (calculations) takes a long time, another thread will likely change target while you are calculating. Your CAS will fail, and you will have to recalculate everything from scratch.</a:t>
            </a:r>
            <a:br>
              <a:rPr lang="en-SG" sz="1150" kern="100">
                <a:effectLst/>
                <a:latin typeface="Aptos" panose="020B0004020202020204" pitchFamily="34" charset="0"/>
                <a:ea typeface="Aptos" panose="020B0004020202020204" pitchFamily="34" charset="0"/>
                <a:cs typeface="Times New Roman" panose="02020603050405020304" pitchFamily="18" charset="0"/>
              </a:rPr>
            </a:br>
            <a:r>
              <a:rPr lang="en-SG" sz="1150" b="1" kern="100">
                <a:effectLst/>
                <a:latin typeface="Aptos" panose="020B0004020202020204" pitchFamily="34" charset="0"/>
                <a:ea typeface="Aptos" panose="020B0004020202020204" pitchFamily="34" charset="0"/>
                <a:cs typeface="Times New Roman" panose="02020603050405020304" pitchFamily="18" charset="0"/>
              </a:rPr>
              <a:t>Conclusion:</a:t>
            </a:r>
            <a:r>
              <a:rPr lang="en-SG" sz="1150" kern="100">
                <a:effectLst/>
                <a:latin typeface="Aptos" panose="020B0004020202020204" pitchFamily="34" charset="0"/>
                <a:ea typeface="Aptos" panose="020B0004020202020204" pitchFamily="34" charset="0"/>
                <a:cs typeface="Times New Roman" panose="02020603050405020304" pitchFamily="18" charset="0"/>
              </a:rPr>
              <a:t> The </a:t>
            </a:r>
            <a:r>
              <a:rPr lang="en-SG" sz="1150" i="1" kern="100">
                <a:effectLst/>
                <a:latin typeface="Aptos" panose="020B0004020202020204" pitchFamily="34" charset="0"/>
                <a:ea typeface="Aptos" panose="020B0004020202020204" pitchFamily="34" charset="0"/>
                <a:cs typeface="Times New Roman" panose="02020603050405020304" pitchFamily="18" charset="0"/>
              </a:rPr>
              <a:t>heavier</a:t>
            </a:r>
            <a:r>
              <a:rPr lang="en-SG" sz="1150" kern="100">
                <a:effectLst/>
                <a:latin typeface="Aptos" panose="020B0004020202020204" pitchFamily="34" charset="0"/>
                <a:ea typeface="Aptos" panose="020B0004020202020204" pitchFamily="34" charset="0"/>
                <a:cs typeface="Times New Roman" panose="02020603050405020304" pitchFamily="18" charset="0"/>
              </a:rPr>
              <a:t> the computation inside the CAS loop, the </a:t>
            </a:r>
            <a:r>
              <a:rPr lang="en-SG" sz="1150" i="1" kern="100">
                <a:effectLst/>
                <a:latin typeface="Aptos" panose="020B0004020202020204" pitchFamily="34" charset="0"/>
                <a:ea typeface="Aptos" panose="020B0004020202020204" pitchFamily="34" charset="0"/>
                <a:cs typeface="Times New Roman" panose="02020603050405020304" pitchFamily="18" charset="0"/>
              </a:rPr>
              <a:t>higher</a:t>
            </a:r>
            <a:r>
              <a:rPr lang="en-SG" sz="1150" kern="100">
                <a:effectLst/>
                <a:latin typeface="Aptos" panose="020B0004020202020204" pitchFamily="34" charset="0"/>
                <a:ea typeface="Aptos" panose="020B0004020202020204" pitchFamily="34" charset="0"/>
                <a:cs typeface="Times New Roman" panose="02020603050405020304" pitchFamily="18" charset="0"/>
              </a:rPr>
              <a:t> the collision rate and wasted work.</a:t>
            </a:r>
          </a:p>
          <a:p>
            <a:pPr>
              <a:lnSpc>
                <a:spcPct val="107000"/>
              </a:lnSpc>
              <a:spcAft>
                <a:spcPts val="400"/>
              </a:spcAft>
              <a:buNone/>
            </a:pPr>
            <a:r>
              <a:rPr lang="en-SG" sz="1150" b="1" kern="100">
                <a:effectLst/>
                <a:latin typeface="Aptos" panose="020B0004020202020204" pitchFamily="34" charset="0"/>
                <a:ea typeface="Aptos" panose="020B0004020202020204" pitchFamily="34" charset="0"/>
                <a:cs typeface="Times New Roman" panose="02020603050405020304" pitchFamily="18" charset="0"/>
              </a:rPr>
              <a:t>The Optimization (Read-Only Phase): </a:t>
            </a:r>
            <a:r>
              <a:rPr lang="en-SG" sz="1150" kern="100">
                <a:effectLst/>
                <a:latin typeface="Aptos" panose="020B0004020202020204" pitchFamily="34" charset="0"/>
                <a:ea typeface="Aptos" panose="020B0004020202020204" pitchFamily="34" charset="0"/>
                <a:cs typeface="Times New Roman" panose="02020603050405020304" pitchFamily="18" charset="0"/>
              </a:rPr>
              <a:t>However, the optimization lies in moving </a:t>
            </a:r>
            <a:r>
              <a:rPr lang="en-SG" sz="1150" b="1" kern="100">
                <a:effectLst/>
                <a:latin typeface="Aptos" panose="020B0004020202020204" pitchFamily="34" charset="0"/>
                <a:ea typeface="Aptos" panose="020B0004020202020204" pitchFamily="34" charset="0"/>
                <a:cs typeface="Times New Roman" panose="02020603050405020304" pitchFamily="18" charset="0"/>
              </a:rPr>
              <a:t>everything that does not depend on the shared state</a:t>
            </a:r>
            <a:r>
              <a:rPr lang="en-SG" sz="1150" kern="100">
                <a:effectLst/>
                <a:latin typeface="Aptos" panose="020B0004020202020204" pitchFamily="34" charset="0"/>
                <a:ea typeface="Aptos" panose="020B0004020202020204" pitchFamily="34" charset="0"/>
                <a:cs typeface="Times New Roman" panose="02020603050405020304" pitchFamily="18" charset="0"/>
              </a:rPr>
              <a:t> outside of the CAS loop.</a:t>
            </a:r>
          </a:p>
          <a:p>
            <a:pPr marL="342900" lvl="0" indent="-342900" algn="just">
              <a:lnSpc>
                <a:spcPct val="107000"/>
              </a:lnSpc>
              <a:spcAft>
                <a:spcPts val="400"/>
              </a:spcAft>
              <a:buSzPts val="1000"/>
              <a:buFont typeface="Symbol" panose="05050102010706020507" pitchFamily="18" charset="2"/>
              <a:buChar char=""/>
              <a:tabLst>
                <a:tab pos="457200" algn="l"/>
              </a:tabLst>
            </a:pPr>
            <a:r>
              <a:rPr lang="en-SG" sz="1150" kern="100">
                <a:effectLst/>
                <a:latin typeface="Aptos" panose="020B0004020202020204" pitchFamily="34" charset="0"/>
                <a:ea typeface="Aptos" panose="020B0004020202020204" pitchFamily="34" charset="0"/>
                <a:cs typeface="Times New Roman" panose="02020603050405020304" pitchFamily="18" charset="0"/>
              </a:rPr>
              <a:t>For example, memory allocation (new Node()) and its initialization with constants must be done </a:t>
            </a:r>
            <a:r>
              <a:rPr lang="en-SG" sz="1150" i="1" kern="100">
                <a:effectLst/>
                <a:latin typeface="Aptos" panose="020B0004020202020204" pitchFamily="34" charset="0"/>
                <a:ea typeface="Aptos" panose="020B0004020202020204" pitchFamily="34" charset="0"/>
                <a:cs typeface="Times New Roman" panose="02020603050405020304" pitchFamily="18" charset="0"/>
              </a:rPr>
              <a:t>before</a:t>
            </a:r>
            <a:r>
              <a:rPr lang="en-SG" sz="1150" kern="100">
                <a:effectLst/>
                <a:latin typeface="Aptos" panose="020B0004020202020204" pitchFamily="34" charset="0"/>
                <a:ea typeface="Aptos" panose="020B0004020202020204" pitchFamily="34" charset="0"/>
                <a:cs typeface="Times New Roman" panose="02020603050405020304" pitchFamily="18" charset="0"/>
              </a:rPr>
              <a:t> reading the shared variable on which the CAS will be performed.</a:t>
            </a:r>
          </a:p>
          <a:p>
            <a:pPr algn="just">
              <a:lnSpc>
                <a:spcPct val="107000"/>
              </a:lnSpc>
              <a:spcAft>
                <a:spcPts val="400"/>
              </a:spcAft>
              <a:buNone/>
            </a:pPr>
            <a:r>
              <a:rPr lang="en-SG" sz="1150" b="1" kern="100">
                <a:effectLst/>
                <a:latin typeface="Aptos" panose="020B0004020202020204" pitchFamily="34" charset="0"/>
                <a:ea typeface="Aptos" panose="020B0004020202020204" pitchFamily="34" charset="0"/>
                <a:cs typeface="Times New Roman" panose="02020603050405020304" pitchFamily="18" charset="0"/>
              </a:rPr>
              <a:t>3. RCU (Read-Copy-Update) — The Extreme Example</a:t>
            </a:r>
            <a:endParaRPr lang="en-SG" sz="115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400"/>
              </a:spcAft>
              <a:buNone/>
            </a:pPr>
            <a:r>
              <a:rPr lang="en-SG" sz="1150" kern="100">
                <a:effectLst/>
                <a:latin typeface="Aptos" panose="020B0004020202020204" pitchFamily="34" charset="0"/>
                <a:ea typeface="Aptos" panose="020B0004020202020204" pitchFamily="34" charset="0"/>
                <a:cs typeface="Times New Roman" panose="02020603050405020304" pitchFamily="18" charset="0"/>
              </a:rPr>
              <a:t>In RCU (heavily used in the Linux kernel), all the heavy work of creating a new version of a structure is done </a:t>
            </a:r>
            <a:r>
              <a:rPr lang="en-SG" sz="1150" b="1" kern="100">
                <a:effectLst/>
                <a:latin typeface="Aptos" panose="020B0004020202020204" pitchFamily="34" charset="0"/>
                <a:ea typeface="Aptos" panose="020B0004020202020204" pitchFamily="34" charset="0"/>
                <a:cs typeface="Times New Roman" panose="02020603050405020304" pitchFamily="18" charset="0"/>
              </a:rPr>
              <a:t>before</a:t>
            </a:r>
            <a:r>
              <a:rPr lang="en-SG" sz="1150" kern="100">
                <a:effectLst/>
                <a:latin typeface="Aptos" panose="020B0004020202020204" pitchFamily="34" charset="0"/>
                <a:ea typeface="Aptos" panose="020B0004020202020204" pitchFamily="34" charset="0"/>
                <a:cs typeface="Times New Roman" panose="02020603050405020304" pitchFamily="18" charset="0"/>
              </a:rPr>
              <a:t> the publication point (a single pointer store).</a:t>
            </a:r>
            <a:br>
              <a:rPr lang="en-SG" sz="1150" kern="100">
                <a:effectLst/>
                <a:latin typeface="Aptos" panose="020B0004020202020204" pitchFamily="34" charset="0"/>
                <a:ea typeface="Aptos" panose="020B0004020202020204" pitchFamily="34" charset="0"/>
                <a:cs typeface="Times New Roman" panose="02020603050405020304" pitchFamily="18" charset="0"/>
              </a:rPr>
            </a:br>
            <a:r>
              <a:rPr lang="en-SG" sz="1150" kern="100">
                <a:effectLst/>
                <a:latin typeface="Aptos" panose="020B0004020202020204" pitchFamily="34" charset="0"/>
                <a:ea typeface="Aptos" panose="020B0004020202020204" pitchFamily="34" charset="0"/>
                <a:cs typeface="Times New Roman" panose="02020603050405020304" pitchFamily="18" charset="0"/>
              </a:rPr>
              <a:t>And all the heavy work of deleting the old version is done </a:t>
            </a:r>
            <a:r>
              <a:rPr lang="en-SG" sz="1150" b="1" kern="100">
                <a:effectLst/>
                <a:latin typeface="Aptos" panose="020B0004020202020204" pitchFamily="34" charset="0"/>
                <a:ea typeface="Aptos" panose="020B0004020202020204" pitchFamily="34" charset="0"/>
                <a:cs typeface="Times New Roman" panose="02020603050405020304" pitchFamily="18" charset="0"/>
              </a:rPr>
              <a:t>long after</a:t>
            </a:r>
            <a:r>
              <a:rPr lang="en-SG" sz="1150" kern="100">
                <a:effectLst/>
                <a:latin typeface="Aptos" panose="020B0004020202020204" pitchFamily="34" charset="0"/>
                <a:ea typeface="Aptos" panose="020B0004020202020204" pitchFamily="34" charset="0"/>
                <a:cs typeface="Times New Roman" panose="02020603050405020304" pitchFamily="18" charset="0"/>
              </a:rPr>
              <a:t> (when all readers have left).</a:t>
            </a:r>
            <a:endParaRPr lang="en-SG" sz="1150" kern="100">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400"/>
              </a:spcAft>
              <a:buNone/>
            </a:pPr>
            <a:r>
              <a:rPr lang="en-SG" sz="1200" kern="100">
                <a:solidFill>
                  <a:srgbClr val="7F7F7F"/>
                </a:solidFill>
                <a:latin typeface="Aptos" panose="020B0004020202020204" pitchFamily="34" charset="0"/>
                <a:ea typeface="Aptos" panose="020B0004020202020204" pitchFamily="34" charset="0"/>
                <a:cs typeface="Times New Roman" panose="02020603050405020304" pitchFamily="18" charset="0"/>
              </a:rPr>
              <a:t>[1] Wentao Cai, Haosen Wen, and Michael L. Scott. 2023. Transactional Composition of Nonblocking Data Structures. In Proceedings of the 35th ACM Symposium on Parallelism in Algorithms and Architectures (SPAA '23). Association for Computing Machinery, New York, NY, USA, 187–197. </a:t>
            </a:r>
            <a:r>
              <a:rPr lang="en-SG" sz="1200" u="sng" kern="100">
                <a:solidFill>
                  <a:srgbClr val="9ABFCA"/>
                </a:solidFill>
                <a:latin typeface="Aptos" panose="020B0004020202020204" pitchFamily="34" charset="0"/>
                <a:ea typeface="Aptos" panose="020B0004020202020204" pitchFamily="34" charset="0"/>
                <a:cs typeface="Times New Roman" panose="02020603050405020304" pitchFamily="18" charset="0"/>
                <a:hlinkClick r:id="rId2"/>
              </a:rPr>
              <a:t>https://doi.org/10.1145/3558481.3591079</a:t>
            </a:r>
            <a:endParaRPr lang="en-SG" sz="1200" kern="10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0129918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91A76-0AD3-5B64-015E-B3329F8575C3}"/>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D038E668-8EAE-3422-2E89-EA702C81995F}"/>
              </a:ext>
            </a:extLst>
          </p:cNvPr>
          <p:cNvSpPr txBox="1"/>
          <p:nvPr/>
        </p:nvSpPr>
        <p:spPr>
          <a:xfrm>
            <a:off x="233910" y="208621"/>
            <a:ext cx="7073670" cy="461665"/>
          </a:xfrm>
          <a:prstGeom prst="rect">
            <a:avLst/>
          </a:prstGeom>
          <a:solidFill>
            <a:srgbClr val="002060"/>
          </a:solidFill>
        </p:spPr>
        <p:txBody>
          <a:bodyPr wrap="square" rtlCol="0">
            <a:spAutoFit/>
          </a:bodyPr>
          <a:lstStyle/>
          <a:p>
            <a:r>
              <a:rPr lang="en-US" sz="2400">
                <a:solidFill>
                  <a:schemeClr val="bg1"/>
                </a:solidFill>
                <a:latin typeface="Ubuntu Condensed" panose="020B0506030602030204" pitchFamily="34" charset="0"/>
              </a:rPr>
              <a:t>Optimizations Enabled by Linearization Points</a:t>
            </a:r>
            <a:endParaRPr lang="ru-RU" sz="2400">
              <a:solidFill>
                <a:schemeClr val="bg1"/>
              </a:solidFill>
              <a:latin typeface="Ubuntu Condensed" panose="020B0506030602030204" pitchFamily="34" charset="0"/>
            </a:endParaRPr>
          </a:p>
        </p:txBody>
      </p:sp>
      <p:sp>
        <p:nvSpPr>
          <p:cNvPr id="7" name="Номер слайда 7">
            <a:extLst>
              <a:ext uri="{FF2B5EF4-FFF2-40B4-BE49-F238E27FC236}">
                <a16:creationId xmlns:a16="http://schemas.microsoft.com/office/drawing/2014/main" id="{91C071F0-B731-05A3-BA85-EAB80B7AF50D}"/>
              </a:ext>
            </a:extLst>
          </p:cNvPr>
          <p:cNvSpPr>
            <a:spLocks noGrp="1"/>
          </p:cNvSpPr>
          <p:nvPr>
            <p:ph type="sldNum" sz="quarter" idx="12"/>
          </p:nvPr>
        </p:nvSpPr>
        <p:spPr>
          <a:xfrm>
            <a:off x="11725835" y="6402070"/>
            <a:ext cx="386155" cy="365125"/>
          </a:xfrm>
        </p:spPr>
        <p:txBody>
          <a:bodyPr/>
          <a:lstStyle/>
          <a:p>
            <a:pPr algn="ctr"/>
            <a:fld id="{E757BAED-F255-4CF1-96BA-8D7417A9C3BC}" type="slidenum">
              <a:rPr lang="ru-RU" sz="1800" smtClean="0">
                <a:latin typeface="Ubuntu Condensed" panose="020B0506030602030204" pitchFamily="34" charset="0"/>
              </a:rPr>
              <a:pPr algn="ctr"/>
              <a:t>39</a:t>
            </a:fld>
            <a:endParaRPr lang="ru-RU" sz="1800">
              <a:latin typeface="Ubuntu Condensed" panose="020B0506030602030204" pitchFamily="34" charset="0"/>
            </a:endParaRPr>
          </a:p>
        </p:txBody>
      </p:sp>
      <p:sp>
        <p:nvSpPr>
          <p:cNvPr id="2" name="TextBox 1">
            <a:extLst>
              <a:ext uri="{FF2B5EF4-FFF2-40B4-BE49-F238E27FC236}">
                <a16:creationId xmlns:a16="http://schemas.microsoft.com/office/drawing/2014/main" id="{60F03684-CBC1-43C4-4ABC-467F1DA3DA54}"/>
              </a:ext>
            </a:extLst>
          </p:cNvPr>
          <p:cNvSpPr txBox="1"/>
          <p:nvPr/>
        </p:nvSpPr>
        <p:spPr>
          <a:xfrm>
            <a:off x="233910" y="2270724"/>
            <a:ext cx="5138978" cy="276999"/>
          </a:xfrm>
          <a:prstGeom prst="rect">
            <a:avLst/>
          </a:prstGeom>
          <a:noFill/>
        </p:spPr>
        <p:txBody>
          <a:bodyPr wrap="square">
            <a:spAutoFit/>
          </a:bodyPr>
          <a:lstStyle/>
          <a:p>
            <a:r>
              <a:rPr lang="en-US" sz="1200" b="1"/>
              <a:t>Before (heavy work inside CAS loop (hot path))</a:t>
            </a:r>
          </a:p>
        </p:txBody>
      </p:sp>
      <p:sp>
        <p:nvSpPr>
          <p:cNvPr id="3" name="TextBox 2">
            <a:extLst>
              <a:ext uri="{FF2B5EF4-FFF2-40B4-BE49-F238E27FC236}">
                <a16:creationId xmlns:a16="http://schemas.microsoft.com/office/drawing/2014/main" id="{F1653412-322C-767D-ACF3-518750D3C7B5}"/>
              </a:ext>
            </a:extLst>
          </p:cNvPr>
          <p:cNvSpPr txBox="1"/>
          <p:nvPr/>
        </p:nvSpPr>
        <p:spPr>
          <a:xfrm>
            <a:off x="233909" y="2538535"/>
            <a:ext cx="9313954" cy="1881284"/>
          </a:xfrm>
          <a:prstGeom prst="rect">
            <a:avLst/>
          </a:prstGeom>
          <a:solidFill>
            <a:srgbClr val="1F1F1F"/>
          </a:solidFill>
        </p:spPr>
        <p:txBody>
          <a:bodyPr wrap="square">
            <a:spAutoFit/>
          </a:bodyPr>
          <a:lstStyle/>
          <a:p>
            <a:pPr>
              <a:lnSpc>
                <a:spcPts val="1425"/>
              </a:lnSpc>
              <a:buNone/>
            </a:pPr>
            <a:r>
              <a:rPr lang="en-SG" sz="110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bool</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stack_push</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10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Node</a:t>
            </a:r>
            <a:r>
              <a:rPr lang="en-SG" sz="110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node</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p>
          <a:p>
            <a:pPr>
              <a:lnSpc>
                <a:spcPts val="1425"/>
              </a:lnSpc>
              <a:buNone/>
            </a:pP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a:solidFill>
                  <a:srgbClr val="C586C0"/>
                </a:solidFill>
                <a:effectLst/>
                <a:latin typeface="JetBrains Mono" panose="02000009000000000000" pitchFamily="49" charset="0"/>
                <a:ea typeface="JetBrains Mono" panose="02000009000000000000" pitchFamily="49" charset="0"/>
                <a:cs typeface="JetBrains Mono" panose="02000009000000000000" pitchFamily="49" charset="0"/>
              </a:rPr>
              <a:t>while</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true</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p>
          <a:p>
            <a:pPr>
              <a:lnSpc>
                <a:spcPts val="1425"/>
              </a:lnSpc>
              <a:buNone/>
            </a:pP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Node</a:t>
            </a:r>
            <a:r>
              <a:rPr lang="en-SG" sz="11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old </a:t>
            </a:r>
            <a:r>
              <a:rPr lang="en-SG" sz="11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head</a:t>
            </a:r>
            <a:r>
              <a:rPr lang="en-SG" sz="11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10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load</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10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std</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1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memory_order_relaxed</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p>
          <a:p>
            <a:pPr>
              <a:lnSpc>
                <a:spcPts val="1425"/>
              </a:lnSpc>
              <a:buNone/>
            </a:pP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node</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-&gt;</a:t>
            </a:r>
            <a:r>
              <a:rPr lang="en-SG" sz="110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next</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old;</a:t>
            </a:r>
          </a:p>
          <a:p>
            <a:pPr>
              <a:lnSpc>
                <a:spcPts val="1425"/>
              </a:lnSpc>
              <a:buNone/>
            </a:pP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a:solidFill>
                  <a:srgbClr val="C586C0"/>
                </a:solidFill>
                <a:effectLst/>
                <a:latin typeface="JetBrains Mono" panose="02000009000000000000" pitchFamily="49" charset="0"/>
                <a:ea typeface="JetBrains Mono" panose="02000009000000000000" pitchFamily="49" charset="0"/>
                <a:cs typeface="JetBrains Mono" panose="02000009000000000000" pitchFamily="49" charset="0"/>
              </a:rPr>
              <a:t>if</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head</a:t>
            </a:r>
            <a:r>
              <a:rPr lang="en-SG" sz="11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10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compare_exchange_weak</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(old, node, </a:t>
            </a:r>
            <a:r>
              <a:rPr lang="en-SG" sz="110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std</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1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memory_order_acq_rel</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std</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1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memory_order_relaxed</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 LP</a:t>
            </a:r>
            <a:endPar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a:p>
            <a:pPr>
              <a:lnSpc>
                <a:spcPts val="1425"/>
              </a:lnSpc>
              <a:buNone/>
            </a:pP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auto</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h </a:t>
            </a:r>
            <a:r>
              <a:rPr lang="en-SG" sz="11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compute_hash</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10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node</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-&gt;</a:t>
            </a:r>
            <a:r>
              <a:rPr lang="en-SG" sz="110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data</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1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 ❌ expensive inside loop</a:t>
            </a:r>
            <a:endPar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a:p>
            <a:pPr>
              <a:lnSpc>
                <a:spcPts val="1425"/>
              </a:lnSpc>
              <a:buNone/>
            </a:pP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update_statistics</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(h);</a:t>
            </a:r>
          </a:p>
          <a:p>
            <a:pPr>
              <a:lnSpc>
                <a:spcPts val="1425"/>
              </a:lnSpc>
              <a:buNone/>
            </a:pP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a:solidFill>
                  <a:srgbClr val="C586C0"/>
                </a:solidFill>
                <a:effectLst/>
                <a:latin typeface="JetBrains Mono" panose="02000009000000000000" pitchFamily="49" charset="0"/>
                <a:ea typeface="JetBrains Mono" panose="02000009000000000000" pitchFamily="49" charset="0"/>
                <a:cs typeface="JetBrains Mono" panose="02000009000000000000" pitchFamily="49" charset="0"/>
              </a:rPr>
              <a:t>return</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true</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p>
          <a:p>
            <a:pPr>
              <a:lnSpc>
                <a:spcPts val="1425"/>
              </a:lnSpc>
              <a:buNone/>
            </a:pP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p>
          <a:p>
            <a:pPr>
              <a:lnSpc>
                <a:spcPts val="1425"/>
              </a:lnSpc>
              <a:buNone/>
            </a:pP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p>
        </p:txBody>
      </p:sp>
      <p:sp>
        <p:nvSpPr>
          <p:cNvPr id="4" name="TextBox 3">
            <a:extLst>
              <a:ext uri="{FF2B5EF4-FFF2-40B4-BE49-F238E27FC236}">
                <a16:creationId xmlns:a16="http://schemas.microsoft.com/office/drawing/2014/main" id="{EBFDBC27-1ED1-7A1A-C051-81115BCA18F0}"/>
              </a:ext>
            </a:extLst>
          </p:cNvPr>
          <p:cNvSpPr txBox="1"/>
          <p:nvPr/>
        </p:nvSpPr>
        <p:spPr>
          <a:xfrm>
            <a:off x="233906" y="4738175"/>
            <a:ext cx="9313954" cy="1881284"/>
          </a:xfrm>
          <a:prstGeom prst="rect">
            <a:avLst/>
          </a:prstGeom>
          <a:solidFill>
            <a:srgbClr val="1F1F1F"/>
          </a:solidFill>
        </p:spPr>
        <p:txBody>
          <a:bodyPr wrap="square">
            <a:spAutoFit/>
          </a:bodyPr>
          <a:lstStyle/>
          <a:p>
            <a:pPr>
              <a:lnSpc>
                <a:spcPts val="1425"/>
              </a:lnSpc>
              <a:buNone/>
            </a:pPr>
            <a:r>
              <a:rPr lang="en-SG" sz="110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bool</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stack_push</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10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Node</a:t>
            </a:r>
            <a:r>
              <a:rPr lang="en-SG" sz="110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node</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p>
          <a:p>
            <a:pPr>
              <a:lnSpc>
                <a:spcPts val="1425"/>
              </a:lnSpc>
              <a:buNone/>
            </a:pP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auto</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h </a:t>
            </a:r>
            <a:r>
              <a:rPr lang="en-SG" sz="11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compute_hash</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10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node</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-&gt;</a:t>
            </a:r>
            <a:r>
              <a:rPr lang="en-SG" sz="110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data</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1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 outside hot path</a:t>
            </a:r>
            <a:endPar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a:p>
            <a:pPr>
              <a:lnSpc>
                <a:spcPts val="1425"/>
              </a:lnSpc>
              <a:buNone/>
            </a:pP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a:solidFill>
                  <a:srgbClr val="C586C0"/>
                </a:solidFill>
                <a:effectLst/>
                <a:latin typeface="JetBrains Mono" panose="02000009000000000000" pitchFamily="49" charset="0"/>
                <a:ea typeface="JetBrains Mono" panose="02000009000000000000" pitchFamily="49" charset="0"/>
                <a:cs typeface="JetBrains Mono" panose="02000009000000000000" pitchFamily="49" charset="0"/>
              </a:rPr>
              <a:t>while</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true</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p>
          <a:p>
            <a:pPr>
              <a:lnSpc>
                <a:spcPts val="1425"/>
              </a:lnSpc>
              <a:buNone/>
            </a:pP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Node</a:t>
            </a:r>
            <a:r>
              <a:rPr lang="en-SG" sz="11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old </a:t>
            </a:r>
            <a:r>
              <a:rPr lang="en-SG" sz="11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head</a:t>
            </a:r>
            <a:r>
              <a:rPr lang="en-SG" sz="11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10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load</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10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std</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1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memory_order_relaxed</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p>
          <a:p>
            <a:pPr>
              <a:lnSpc>
                <a:spcPts val="1425"/>
              </a:lnSpc>
              <a:buNone/>
            </a:pP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node</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-&gt;</a:t>
            </a:r>
            <a:r>
              <a:rPr lang="en-SG" sz="110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next</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old;</a:t>
            </a:r>
          </a:p>
          <a:p>
            <a:pPr>
              <a:lnSpc>
                <a:spcPts val="1425"/>
              </a:lnSpc>
              <a:buNone/>
            </a:pP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a:solidFill>
                  <a:srgbClr val="C586C0"/>
                </a:solidFill>
                <a:effectLst/>
                <a:latin typeface="JetBrains Mono" panose="02000009000000000000" pitchFamily="49" charset="0"/>
                <a:ea typeface="JetBrains Mono" panose="02000009000000000000" pitchFamily="49" charset="0"/>
                <a:cs typeface="JetBrains Mono" panose="02000009000000000000" pitchFamily="49" charset="0"/>
              </a:rPr>
              <a:t>if</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err="1">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head</a:t>
            </a:r>
            <a:r>
              <a:rPr lang="en-SG" sz="11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10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compare_exchange_weak</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(old, node, </a:t>
            </a:r>
            <a:r>
              <a:rPr lang="en-SG" sz="110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std</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1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memory_order_release</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std</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1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memory_order_relaxed</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1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 LP</a:t>
            </a:r>
            <a:endPar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a:p>
            <a:pPr>
              <a:lnSpc>
                <a:spcPts val="1425"/>
              </a:lnSpc>
              <a:buNone/>
            </a:pP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a:solidFill>
                  <a:srgbClr val="C586C0"/>
                </a:solidFill>
                <a:effectLst/>
                <a:latin typeface="JetBrains Mono" panose="02000009000000000000" pitchFamily="49" charset="0"/>
                <a:ea typeface="JetBrains Mono" panose="02000009000000000000" pitchFamily="49" charset="0"/>
                <a:cs typeface="JetBrains Mono" panose="02000009000000000000" pitchFamily="49" charset="0"/>
              </a:rPr>
              <a:t>break</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p>
          <a:p>
            <a:pPr>
              <a:lnSpc>
                <a:spcPts val="1425"/>
              </a:lnSpc>
              <a:buNone/>
            </a:pP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p>
          <a:p>
            <a:pPr>
              <a:lnSpc>
                <a:spcPts val="1425"/>
              </a:lnSpc>
              <a:buNone/>
            </a:pP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err="1">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update_statistics</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(h);</a:t>
            </a:r>
            <a:r>
              <a:rPr lang="en-SG" sz="11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 after LP</a:t>
            </a:r>
            <a:endPar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a:p>
            <a:pPr>
              <a:lnSpc>
                <a:spcPts val="1425"/>
              </a:lnSpc>
              <a:buNone/>
            </a:pP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a:solidFill>
                  <a:srgbClr val="C586C0"/>
                </a:solidFill>
                <a:effectLst/>
                <a:latin typeface="JetBrains Mono" panose="02000009000000000000" pitchFamily="49" charset="0"/>
                <a:ea typeface="JetBrains Mono" panose="02000009000000000000" pitchFamily="49" charset="0"/>
                <a:cs typeface="JetBrains Mono" panose="02000009000000000000" pitchFamily="49" charset="0"/>
              </a:rPr>
              <a:t>return</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true</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p>
        </p:txBody>
      </p:sp>
      <p:sp>
        <p:nvSpPr>
          <p:cNvPr id="6" name="TextBox 5">
            <a:extLst>
              <a:ext uri="{FF2B5EF4-FFF2-40B4-BE49-F238E27FC236}">
                <a16:creationId xmlns:a16="http://schemas.microsoft.com/office/drawing/2014/main" id="{12E1B039-1AD2-401F-01D3-5910CD2C6DE1}"/>
              </a:ext>
            </a:extLst>
          </p:cNvPr>
          <p:cNvSpPr txBox="1"/>
          <p:nvPr/>
        </p:nvSpPr>
        <p:spPr>
          <a:xfrm>
            <a:off x="233907" y="4470364"/>
            <a:ext cx="6094948" cy="276999"/>
          </a:xfrm>
          <a:prstGeom prst="rect">
            <a:avLst/>
          </a:prstGeom>
          <a:noFill/>
        </p:spPr>
        <p:txBody>
          <a:bodyPr wrap="square">
            <a:spAutoFit/>
          </a:bodyPr>
          <a:lstStyle>
            <a:defPPr>
              <a:defRPr lang="ru-RU"/>
            </a:defPPr>
            <a:lvl1pPr>
              <a:defRPr sz="1200" b="1"/>
            </a:lvl1pPr>
          </a:lstStyle>
          <a:p>
            <a:r>
              <a:rPr lang="en-US"/>
              <a:t>After (expensive work moved out; strong ordering only at LP):</a:t>
            </a:r>
            <a:endParaRPr lang="en-SG"/>
          </a:p>
        </p:txBody>
      </p:sp>
      <p:sp>
        <p:nvSpPr>
          <p:cNvPr id="9" name="TextBox 8">
            <a:extLst>
              <a:ext uri="{FF2B5EF4-FFF2-40B4-BE49-F238E27FC236}">
                <a16:creationId xmlns:a16="http://schemas.microsoft.com/office/drawing/2014/main" id="{DE466462-7D11-08D0-8879-3CCB9085AA03}"/>
              </a:ext>
            </a:extLst>
          </p:cNvPr>
          <p:cNvSpPr txBox="1"/>
          <p:nvPr/>
        </p:nvSpPr>
        <p:spPr>
          <a:xfrm>
            <a:off x="233907" y="670286"/>
            <a:ext cx="11724181" cy="1600438"/>
          </a:xfrm>
          <a:prstGeom prst="rect">
            <a:avLst/>
          </a:prstGeom>
          <a:noFill/>
        </p:spPr>
        <p:txBody>
          <a:bodyPr wrap="square">
            <a:spAutoFit/>
          </a:bodyPr>
          <a:lstStyle/>
          <a:p>
            <a:pPr>
              <a:buNone/>
            </a:pPr>
            <a:r>
              <a:rPr lang="en-US" sz="1400" b="1"/>
              <a:t>1) Slimming Down the Hot Path Around LP</a:t>
            </a:r>
          </a:p>
          <a:p>
            <a:pPr>
              <a:buNone/>
            </a:pPr>
            <a:r>
              <a:rPr lang="en-US" sz="1400" b="1"/>
              <a:t>Why #1:</a:t>
            </a:r>
            <a:r>
              <a:rPr lang="en-US" sz="1400"/>
              <a:t> In most concurrent data structures, the critical cost lies in CAS loops or critical sections. If the compiler knows the LP, it can:</a:t>
            </a:r>
          </a:p>
          <a:p>
            <a:pPr>
              <a:buFont typeface="Arial" panose="020B0604020202020204" pitchFamily="34" charset="0"/>
              <a:buChar char="•"/>
            </a:pPr>
            <a:r>
              <a:rPr lang="en-US" sz="1400" b="1"/>
              <a:t>Move non-essential work out of the retry loop</a:t>
            </a:r>
            <a:r>
              <a:rPr lang="en-US" sz="1400"/>
              <a:t> (hashing, logging, statistics, allocations).</a:t>
            </a:r>
          </a:p>
          <a:p>
            <a:pPr>
              <a:buFont typeface="Arial" panose="020B0604020202020204" pitchFamily="34" charset="0"/>
              <a:buChar char="•"/>
            </a:pPr>
            <a:r>
              <a:rPr lang="en-US" sz="1400" b="1"/>
              <a:t>Relax atomic orders before LP</a:t>
            </a:r>
            <a:r>
              <a:rPr lang="en-US" sz="1400"/>
              <a:t> (e.g., </a:t>
            </a:r>
            <a:r>
              <a:rPr lang="en-US" sz="1400">
                <a:latin typeface="Courier New" panose="02070309020205020404" pitchFamily="49" charset="0"/>
              </a:rPr>
              <a:t>relaxed</a:t>
            </a:r>
            <a:r>
              <a:rPr lang="en-US" sz="1400"/>
              <a:t> or </a:t>
            </a:r>
            <a:r>
              <a:rPr lang="en-US" sz="1400">
                <a:latin typeface="Courier New" panose="02070309020205020404" pitchFamily="49" charset="0"/>
              </a:rPr>
              <a:t>monotonic</a:t>
            </a:r>
            <a:r>
              <a:rPr lang="en-US" sz="1400"/>
              <a:t>) and </a:t>
            </a:r>
            <a:r>
              <a:rPr lang="en-US" sz="1400" b="1"/>
              <a:t>keep strong ordering only at LP</a:t>
            </a:r>
            <a:r>
              <a:rPr lang="en-US" sz="1400"/>
              <a:t> (e.g., </a:t>
            </a:r>
            <a:r>
              <a:rPr lang="en-US" sz="1400">
                <a:latin typeface="Courier New" panose="02070309020205020404" pitchFamily="49" charset="0"/>
              </a:rPr>
              <a:t>release/acquire</a:t>
            </a:r>
            <a:r>
              <a:rPr lang="en-US" sz="1400"/>
              <a:t> or </a:t>
            </a:r>
            <a:r>
              <a:rPr lang="en-US" sz="1400" err="1">
                <a:latin typeface="Courier New" panose="02070309020205020404" pitchFamily="49" charset="0"/>
              </a:rPr>
              <a:t>acq_rel</a:t>
            </a:r>
            <a:r>
              <a:rPr lang="en-US" sz="1400"/>
              <a:t> on the successful CAS).</a:t>
            </a:r>
          </a:p>
          <a:p>
            <a:pPr>
              <a:buNone/>
            </a:pPr>
            <a:r>
              <a:rPr lang="en-US" sz="1400"/>
              <a:t>This gives the biggest performance boost by reducing time spent in the hot path and minimizing CAS retries. Correctness is formally proven for C/C++11 and mainstream architectures (x86/ARM/Power). </a:t>
            </a:r>
            <a:r>
              <a:rPr lang="en-US" sz="1400">
                <a:hlinkClick r:id="rId2"/>
              </a:rPr>
              <a:t>[cl.cam.ac.uk]</a:t>
            </a:r>
            <a:r>
              <a:rPr lang="en-US" sz="1400"/>
              <a:t>, </a:t>
            </a:r>
            <a:r>
              <a:rPr lang="en-US" sz="1400">
                <a:hlinkClick r:id="rId3"/>
              </a:rPr>
              <a:t>[plv.mpi-sws.org]</a:t>
            </a:r>
            <a:r>
              <a:rPr lang="en-US" sz="1400"/>
              <a:t>, </a:t>
            </a:r>
            <a:r>
              <a:rPr lang="en-US" sz="1400">
                <a:hlinkClick r:id="rId4"/>
              </a:rPr>
              <a:t>[conf.researchr.org]</a:t>
            </a:r>
            <a:endParaRPr lang="en-US" sz="1400"/>
          </a:p>
        </p:txBody>
      </p:sp>
    </p:spTree>
    <p:extLst>
      <p:ext uri="{BB962C8B-B14F-4D97-AF65-F5344CB8AC3E}">
        <p14:creationId xmlns:p14="http://schemas.microsoft.com/office/powerpoint/2010/main" val="27379431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605F7-0509-0F70-426B-41DDA82152A2}"/>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AC6A0B36-CFA6-2A21-1AAE-F0818A0C9406}"/>
              </a:ext>
            </a:extLst>
          </p:cNvPr>
          <p:cNvSpPr txBox="1"/>
          <p:nvPr/>
        </p:nvSpPr>
        <p:spPr>
          <a:xfrm>
            <a:off x="233910" y="208621"/>
            <a:ext cx="10952250" cy="461665"/>
          </a:xfrm>
          <a:prstGeom prst="rect">
            <a:avLst/>
          </a:prstGeom>
          <a:solidFill>
            <a:srgbClr val="002060"/>
          </a:solidFill>
        </p:spPr>
        <p:txBody>
          <a:bodyPr wrap="square" rtlCol="0">
            <a:spAutoFit/>
          </a:bodyPr>
          <a:lstStyle/>
          <a:p>
            <a:r>
              <a:rPr lang="en-US" sz="2400">
                <a:solidFill>
                  <a:schemeClr val="bg1"/>
                </a:solidFill>
                <a:latin typeface="Ubuntu Condensed" panose="020B0506030602030204" pitchFamily="34" charset="0"/>
              </a:rPr>
              <a:t>Compiler‑Integrated Linearizability Testing / Model‑Checking Instrumentation</a:t>
            </a:r>
            <a:endParaRPr lang="ru-RU" sz="2400">
              <a:solidFill>
                <a:schemeClr val="bg1"/>
              </a:solidFill>
              <a:latin typeface="Ubuntu Condensed" panose="020B0506030602030204" pitchFamily="34" charset="0"/>
            </a:endParaRPr>
          </a:p>
        </p:txBody>
      </p:sp>
      <p:sp>
        <p:nvSpPr>
          <p:cNvPr id="7" name="Номер слайда 7">
            <a:extLst>
              <a:ext uri="{FF2B5EF4-FFF2-40B4-BE49-F238E27FC236}">
                <a16:creationId xmlns:a16="http://schemas.microsoft.com/office/drawing/2014/main" id="{9A6E40D2-887D-206A-8A0D-30BF091429C0}"/>
              </a:ext>
            </a:extLst>
          </p:cNvPr>
          <p:cNvSpPr>
            <a:spLocks noGrp="1"/>
          </p:cNvSpPr>
          <p:nvPr>
            <p:ph type="sldNum" sz="quarter" idx="12"/>
          </p:nvPr>
        </p:nvSpPr>
        <p:spPr>
          <a:xfrm>
            <a:off x="11725835" y="6402070"/>
            <a:ext cx="386155" cy="365125"/>
          </a:xfrm>
        </p:spPr>
        <p:txBody>
          <a:bodyPr/>
          <a:lstStyle/>
          <a:p>
            <a:pPr algn="ctr"/>
            <a:fld id="{E757BAED-F255-4CF1-96BA-8D7417A9C3BC}" type="slidenum">
              <a:rPr lang="ru-RU" sz="1800" smtClean="0">
                <a:latin typeface="Ubuntu Condensed" panose="020B0506030602030204" pitchFamily="34" charset="0"/>
              </a:rPr>
              <a:pPr algn="ctr"/>
              <a:t>40</a:t>
            </a:fld>
            <a:endParaRPr lang="ru-RU" sz="1800">
              <a:latin typeface="Ubuntu Condensed" panose="020B0506030602030204" pitchFamily="34" charset="0"/>
            </a:endParaRPr>
          </a:p>
        </p:txBody>
      </p:sp>
      <p:sp>
        <p:nvSpPr>
          <p:cNvPr id="9" name="TextBox 8">
            <a:extLst>
              <a:ext uri="{FF2B5EF4-FFF2-40B4-BE49-F238E27FC236}">
                <a16:creationId xmlns:a16="http://schemas.microsoft.com/office/drawing/2014/main" id="{34B65321-8C2D-F973-942E-5974103D6806}"/>
              </a:ext>
            </a:extLst>
          </p:cNvPr>
          <p:cNvSpPr txBox="1"/>
          <p:nvPr/>
        </p:nvSpPr>
        <p:spPr>
          <a:xfrm>
            <a:off x="233907" y="670286"/>
            <a:ext cx="11724181" cy="5016758"/>
          </a:xfrm>
          <a:prstGeom prst="rect">
            <a:avLst/>
          </a:prstGeom>
          <a:noFill/>
        </p:spPr>
        <p:txBody>
          <a:bodyPr wrap="square">
            <a:spAutoFit/>
          </a:bodyPr>
          <a:lstStyle/>
          <a:p>
            <a:r>
              <a:rPr lang="en-SG" sz="1600"/>
              <a:t>A compiler (or build‑system) </a:t>
            </a:r>
            <a:r>
              <a:rPr lang="en-SG" sz="1600" b="1"/>
              <a:t>instruments operation boundaries and candidate LP edges</a:t>
            </a:r>
            <a:r>
              <a:rPr lang="en-SG" sz="1600"/>
              <a:t> to record histories (call, return, and atomic success). These traces are fed to </a:t>
            </a:r>
            <a:r>
              <a:rPr lang="en-SG" sz="1600" b="1"/>
              <a:t>automatic linearizability checkers</a:t>
            </a:r>
            <a:r>
              <a:rPr lang="en-SG" sz="1600"/>
              <a:t> that </a:t>
            </a:r>
            <a:r>
              <a:rPr lang="en-SG" sz="1600" b="1"/>
              <a:t>infer LPs</a:t>
            </a:r>
            <a:r>
              <a:rPr lang="en-SG" sz="1600"/>
              <a:t> by matching concurrent histories to sequential ones—</a:t>
            </a:r>
            <a:r>
              <a:rPr lang="en-SG" sz="1600" b="1"/>
              <a:t>without requiring explicit commit‑point annotation</a:t>
            </a:r>
            <a:r>
              <a:rPr lang="en-SG" sz="1600"/>
              <a:t>. Tools then produce a </a:t>
            </a:r>
            <a:r>
              <a:rPr lang="en-SG" sz="1600" b="1"/>
              <a:t>counterexample or a reproducible failing interleaving</a:t>
            </a:r>
            <a:r>
              <a:rPr lang="en-SG" sz="1600"/>
              <a:t>.</a:t>
            </a:r>
          </a:p>
          <a:p>
            <a:endParaRPr lang="en-SG" sz="1600"/>
          </a:p>
          <a:p>
            <a:r>
              <a:rPr lang="en-SG" sz="1600" b="1"/>
              <a:t>Why it’s production‑worthy.</a:t>
            </a:r>
            <a:endParaRPr lang="en-SG" sz="1600"/>
          </a:p>
          <a:p>
            <a:pPr marL="285750" indent="-285750">
              <a:buFont typeface="Arial" panose="020B0604020202020204" pitchFamily="34" charset="0"/>
              <a:buChar char="•"/>
            </a:pPr>
            <a:r>
              <a:rPr lang="en-SG" sz="1600" b="1"/>
              <a:t>Push‑button in CI</a:t>
            </a:r>
            <a:r>
              <a:rPr lang="en-SG" sz="1600"/>
              <a:t>: instrumentation is like </a:t>
            </a:r>
            <a:r>
              <a:rPr lang="en-SG" sz="1600" err="1"/>
              <a:t>ThreadSanitizer</a:t>
            </a:r>
            <a:r>
              <a:rPr lang="en-SG" sz="1600"/>
              <a:t>; the heavy lifting is in the checker.</a:t>
            </a:r>
          </a:p>
          <a:p>
            <a:pPr marL="285750" indent="-285750">
              <a:buFont typeface="Arial" panose="020B0604020202020204" pitchFamily="34" charset="0"/>
              <a:buChar char="•"/>
            </a:pPr>
            <a:r>
              <a:rPr lang="en-SG" sz="1600"/>
              <a:t>Widely used frameworks: </a:t>
            </a:r>
            <a:r>
              <a:rPr lang="en-SG" sz="1600" b="1"/>
              <a:t>JetBrains </a:t>
            </a:r>
            <a:r>
              <a:rPr lang="en-SG" sz="1600" b="1" err="1"/>
              <a:t>Lincheck</a:t>
            </a:r>
            <a:r>
              <a:rPr lang="en-SG" sz="1600"/>
              <a:t> (CAV’23, ISSTA’24) integrated in Kotlin Coroutines and Java libs; </a:t>
            </a:r>
            <a:r>
              <a:rPr lang="en-SG" sz="1600" b="1"/>
              <a:t>Microsoft Line‑Up</a:t>
            </a:r>
            <a:r>
              <a:rPr lang="en-SG" sz="1600"/>
              <a:t> found real bugs in .NET concurrent classes; </a:t>
            </a:r>
            <a:r>
              <a:rPr lang="en-SG" sz="1600" b="1" err="1"/>
              <a:t>CheckFence</a:t>
            </a:r>
            <a:r>
              <a:rPr lang="en-SG" sz="1600"/>
              <a:t> checks consistency under relaxed memory. </a:t>
            </a:r>
            <a:r>
              <a:rPr lang="en-SG" sz="1600">
                <a:hlinkClick r:id="rId2"/>
              </a:rPr>
              <a:t>[link.springer.com]</a:t>
            </a:r>
            <a:r>
              <a:rPr lang="en-SG" sz="1600"/>
              <a:t>, </a:t>
            </a:r>
            <a:r>
              <a:rPr lang="en-SG" sz="1600">
                <a:hlinkClick r:id="rId3"/>
              </a:rPr>
              <a:t>[eupp.github.io]</a:t>
            </a:r>
            <a:r>
              <a:rPr lang="en-SG" sz="1600"/>
              <a:t>, </a:t>
            </a:r>
            <a:r>
              <a:rPr lang="en-SG" sz="1600">
                <a:hlinkClick r:id="rId4"/>
              </a:rPr>
              <a:t>[microsoft.com]</a:t>
            </a:r>
            <a:r>
              <a:rPr lang="en-SG" sz="1600"/>
              <a:t>, </a:t>
            </a:r>
            <a:r>
              <a:rPr lang="en-SG" sz="1600">
                <a:hlinkClick r:id="rId5"/>
              </a:rPr>
              <a:t>[acg.cis.upenn.edu]</a:t>
            </a:r>
            <a:endParaRPr lang="en-SG" sz="1600"/>
          </a:p>
          <a:p>
            <a:pPr marL="285750" indent="-285750">
              <a:buFont typeface="Arial" panose="020B0604020202020204" pitchFamily="34" charset="0"/>
              <a:buChar char="•"/>
            </a:pPr>
            <a:r>
              <a:rPr lang="en-SG" sz="1600"/>
              <a:t>Gives </a:t>
            </a:r>
            <a:r>
              <a:rPr lang="en-SG" sz="1600" b="1"/>
              <a:t>high confidence</a:t>
            </a:r>
            <a:r>
              <a:rPr lang="en-SG" sz="1600"/>
              <a:t> that your static LP inference matches real </a:t>
            </a:r>
            <a:r>
              <a:rPr lang="en-SG" sz="1600" err="1"/>
              <a:t>behavior</a:t>
            </a:r>
            <a:r>
              <a:rPr lang="en-SG" sz="1600"/>
              <a:t>; also helps pinpoint “moving LP” bugs.</a:t>
            </a:r>
          </a:p>
          <a:p>
            <a:endParaRPr lang="en-SG" sz="1600"/>
          </a:p>
          <a:p>
            <a:r>
              <a:rPr lang="en-SG" sz="1600" b="1"/>
              <a:t>Potential effect.</a:t>
            </a:r>
            <a:endParaRPr lang="en-SG" sz="1600"/>
          </a:p>
          <a:p>
            <a:pPr marL="285750" indent="-285750">
              <a:buFont typeface="Arial" panose="020B0604020202020204" pitchFamily="34" charset="0"/>
              <a:buChar char="•"/>
            </a:pPr>
            <a:r>
              <a:rPr lang="en-SG" sz="1600"/>
              <a:t>Prevents correctness regressions when you do aggressive LP‑based optimizations.</a:t>
            </a:r>
          </a:p>
          <a:p>
            <a:pPr marL="285750" indent="-285750">
              <a:buFont typeface="Arial" panose="020B0604020202020204" pitchFamily="34" charset="0"/>
              <a:buChar char="•"/>
            </a:pPr>
            <a:r>
              <a:rPr lang="en-SG" sz="1600"/>
              <a:t>Saves </a:t>
            </a:r>
            <a:r>
              <a:rPr lang="en-SG" sz="1600" b="1"/>
              <a:t>dev time</a:t>
            </a:r>
            <a:r>
              <a:rPr lang="en-SG" sz="1600"/>
              <a:t> by producing </a:t>
            </a:r>
            <a:r>
              <a:rPr lang="en-SG" sz="1600" b="1" err="1"/>
              <a:t>replayable</a:t>
            </a:r>
            <a:r>
              <a:rPr lang="en-SG" sz="1600" b="1"/>
              <a:t> traces</a:t>
            </a:r>
            <a:r>
              <a:rPr lang="en-SG" sz="1600"/>
              <a:t> for concurrency failures—shown to catch subtle bugs in production libraries. </a:t>
            </a:r>
            <a:r>
              <a:rPr lang="en-SG" sz="1600">
                <a:hlinkClick r:id="rId4"/>
              </a:rPr>
              <a:t>[microsoft.com]</a:t>
            </a:r>
            <a:r>
              <a:rPr lang="en-SG" sz="1600"/>
              <a:t>, </a:t>
            </a:r>
            <a:r>
              <a:rPr lang="en-SG" sz="1600">
                <a:hlinkClick r:id="rId2"/>
              </a:rPr>
              <a:t>[link.springer.com]</a:t>
            </a:r>
            <a:endParaRPr lang="en-SG" sz="1600"/>
          </a:p>
          <a:p>
            <a:endParaRPr lang="en-SG" sz="1600" b="1"/>
          </a:p>
          <a:p>
            <a:r>
              <a:rPr lang="en-SG" sz="1600" b="1"/>
              <a:t>Research coverage.</a:t>
            </a:r>
            <a:endParaRPr lang="en-SG" sz="1600"/>
          </a:p>
          <a:p>
            <a:pPr marL="285750" indent="-285750">
              <a:buFont typeface="Arial" panose="020B0604020202020204" pitchFamily="34" charset="0"/>
              <a:buChar char="•"/>
            </a:pPr>
            <a:r>
              <a:rPr lang="en-SG" sz="1600" b="1"/>
              <a:t>Line‑Up (PLDI’10)</a:t>
            </a:r>
            <a:r>
              <a:rPr lang="en-SG" sz="1600"/>
              <a:t>: complete automatic checker for deterministic linearizability, no manual commit points. </a:t>
            </a:r>
            <a:r>
              <a:rPr lang="en-SG" sz="1600">
                <a:hlinkClick r:id="rId4"/>
              </a:rPr>
              <a:t>[microsoft.com]</a:t>
            </a:r>
            <a:endParaRPr lang="en-SG" sz="1600"/>
          </a:p>
          <a:p>
            <a:pPr marL="285750" indent="-285750">
              <a:buFont typeface="Arial" panose="020B0604020202020204" pitchFamily="34" charset="0"/>
              <a:buChar char="•"/>
            </a:pPr>
            <a:r>
              <a:rPr lang="en-SG" sz="1600" b="1" err="1"/>
              <a:t>CheckFence</a:t>
            </a:r>
            <a:r>
              <a:rPr lang="en-SG" sz="1600" b="1"/>
              <a:t> (PLDI’07)</a:t>
            </a:r>
            <a:r>
              <a:rPr lang="en-SG" sz="1600"/>
              <a:t>: symbolic checking on relaxed memory models. </a:t>
            </a:r>
            <a:r>
              <a:rPr lang="en-SG" sz="1600">
                <a:hlinkClick r:id="rId5"/>
              </a:rPr>
              <a:t>[acg.cis.upenn.edu]</a:t>
            </a:r>
            <a:endParaRPr lang="en-SG" sz="1600"/>
          </a:p>
          <a:p>
            <a:pPr marL="285750" indent="-285750">
              <a:buFont typeface="Arial" panose="020B0604020202020204" pitchFamily="34" charset="0"/>
              <a:buChar char="•"/>
            </a:pPr>
            <a:r>
              <a:rPr lang="en-SG" sz="1600" b="1" err="1"/>
              <a:t>CoLT</a:t>
            </a:r>
            <a:r>
              <a:rPr lang="en-SG" sz="1600" b="1"/>
              <a:t>/CAV’10</a:t>
            </a:r>
            <a:r>
              <a:rPr lang="en-SG" sz="1600"/>
              <a:t>: model‑checking of heap‑based concurrent sets/lists. </a:t>
            </a:r>
            <a:r>
              <a:rPr lang="en-SG" sz="1600">
                <a:hlinkClick r:id="rId6"/>
              </a:rPr>
              <a:t>[link.springer.com]</a:t>
            </a:r>
            <a:endParaRPr lang="en-SG" sz="1600"/>
          </a:p>
        </p:txBody>
      </p:sp>
    </p:spTree>
    <p:extLst>
      <p:ext uri="{BB962C8B-B14F-4D97-AF65-F5344CB8AC3E}">
        <p14:creationId xmlns:p14="http://schemas.microsoft.com/office/powerpoint/2010/main" val="28250768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AA03D-18F6-A645-B75C-729C3945D6CC}"/>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ACB0F210-9EB7-6EAE-829D-23E38C2357F9}"/>
              </a:ext>
            </a:extLst>
          </p:cNvPr>
          <p:cNvSpPr txBox="1"/>
          <p:nvPr/>
        </p:nvSpPr>
        <p:spPr>
          <a:xfrm>
            <a:off x="233910" y="208621"/>
            <a:ext cx="10952250" cy="461665"/>
          </a:xfrm>
          <a:prstGeom prst="rect">
            <a:avLst/>
          </a:prstGeom>
          <a:solidFill>
            <a:srgbClr val="002060"/>
          </a:solidFill>
        </p:spPr>
        <p:txBody>
          <a:bodyPr wrap="square" rtlCol="0">
            <a:spAutoFit/>
          </a:bodyPr>
          <a:lstStyle/>
          <a:p>
            <a:r>
              <a:rPr lang="en-US" sz="2400">
                <a:solidFill>
                  <a:schemeClr val="bg1"/>
                </a:solidFill>
                <a:latin typeface="Ubuntu Condensed" panose="020B0506030602030204" pitchFamily="34" charset="0"/>
              </a:rPr>
              <a:t>Memory model</a:t>
            </a:r>
            <a:endParaRPr lang="ru-RU" sz="2400">
              <a:solidFill>
                <a:schemeClr val="bg1"/>
              </a:solidFill>
              <a:latin typeface="Ubuntu Condensed" panose="020B0506030602030204" pitchFamily="34" charset="0"/>
            </a:endParaRPr>
          </a:p>
        </p:txBody>
      </p:sp>
      <p:sp>
        <p:nvSpPr>
          <p:cNvPr id="7" name="Номер слайда 7">
            <a:extLst>
              <a:ext uri="{FF2B5EF4-FFF2-40B4-BE49-F238E27FC236}">
                <a16:creationId xmlns:a16="http://schemas.microsoft.com/office/drawing/2014/main" id="{430CEB1A-C42B-892C-5AA6-9DADB51EB07B}"/>
              </a:ext>
            </a:extLst>
          </p:cNvPr>
          <p:cNvSpPr>
            <a:spLocks noGrp="1"/>
          </p:cNvSpPr>
          <p:nvPr>
            <p:ph type="sldNum" sz="quarter" idx="12"/>
          </p:nvPr>
        </p:nvSpPr>
        <p:spPr>
          <a:xfrm>
            <a:off x="11725835" y="6402070"/>
            <a:ext cx="386155" cy="365125"/>
          </a:xfrm>
        </p:spPr>
        <p:txBody>
          <a:bodyPr/>
          <a:lstStyle/>
          <a:p>
            <a:pPr algn="ctr"/>
            <a:fld id="{E757BAED-F255-4CF1-96BA-8D7417A9C3BC}" type="slidenum">
              <a:rPr lang="ru-RU" sz="1800" smtClean="0">
                <a:latin typeface="Ubuntu Condensed" panose="020B0506030602030204" pitchFamily="34" charset="0"/>
              </a:rPr>
              <a:pPr algn="ctr"/>
              <a:t>41</a:t>
            </a:fld>
            <a:endParaRPr lang="ru-RU" sz="1800">
              <a:latin typeface="Ubuntu Condensed" panose="020B0506030602030204" pitchFamily="34" charset="0"/>
            </a:endParaRPr>
          </a:p>
        </p:txBody>
      </p:sp>
      <p:sp>
        <p:nvSpPr>
          <p:cNvPr id="3" name="TextBox 2">
            <a:extLst>
              <a:ext uri="{FF2B5EF4-FFF2-40B4-BE49-F238E27FC236}">
                <a16:creationId xmlns:a16="http://schemas.microsoft.com/office/drawing/2014/main" id="{7120F062-EF6F-F663-B2AA-049C8740787F}"/>
              </a:ext>
            </a:extLst>
          </p:cNvPr>
          <p:cNvSpPr txBox="1"/>
          <p:nvPr/>
        </p:nvSpPr>
        <p:spPr>
          <a:xfrm>
            <a:off x="233910" y="892225"/>
            <a:ext cx="9352050" cy="369332"/>
          </a:xfrm>
          <a:prstGeom prst="rect">
            <a:avLst/>
          </a:prstGeom>
          <a:noFill/>
        </p:spPr>
        <p:txBody>
          <a:bodyPr wrap="square">
            <a:spAutoFit/>
          </a:bodyPr>
          <a:lstStyle/>
          <a:p>
            <a:r>
              <a:rPr lang="en-US"/>
              <a:t>Developer adds extra fences for safety — they work but are expensive (especially on ARM/Power).</a:t>
            </a:r>
            <a:endParaRPr lang="en-SG"/>
          </a:p>
        </p:txBody>
      </p:sp>
      <p:pic>
        <p:nvPicPr>
          <p:cNvPr id="5" name="Picture 4">
            <a:extLst>
              <a:ext uri="{FF2B5EF4-FFF2-40B4-BE49-F238E27FC236}">
                <a16:creationId xmlns:a16="http://schemas.microsoft.com/office/drawing/2014/main" id="{9CD0E646-5702-14C5-335A-984A35E411E6}"/>
              </a:ext>
            </a:extLst>
          </p:cNvPr>
          <p:cNvPicPr>
            <a:picLocks noChangeAspect="1"/>
          </p:cNvPicPr>
          <p:nvPr/>
        </p:nvPicPr>
        <p:blipFill>
          <a:blip r:embed="rId2"/>
          <a:stretch>
            <a:fillRect/>
          </a:stretch>
        </p:blipFill>
        <p:spPr>
          <a:xfrm>
            <a:off x="289270" y="1207584"/>
            <a:ext cx="5446757" cy="3492624"/>
          </a:xfrm>
          <a:prstGeom prst="rect">
            <a:avLst/>
          </a:prstGeom>
        </p:spPr>
      </p:pic>
      <p:pic>
        <p:nvPicPr>
          <p:cNvPr id="8" name="Picture 7">
            <a:extLst>
              <a:ext uri="{FF2B5EF4-FFF2-40B4-BE49-F238E27FC236}">
                <a16:creationId xmlns:a16="http://schemas.microsoft.com/office/drawing/2014/main" id="{CF026E9B-B2C8-9330-91A0-9A3D2041AA33}"/>
              </a:ext>
            </a:extLst>
          </p:cNvPr>
          <p:cNvPicPr>
            <a:picLocks noChangeAspect="1"/>
          </p:cNvPicPr>
          <p:nvPr/>
        </p:nvPicPr>
        <p:blipFill>
          <a:blip r:embed="rId3"/>
          <a:stretch>
            <a:fillRect/>
          </a:stretch>
        </p:blipFill>
        <p:spPr>
          <a:xfrm>
            <a:off x="233910" y="4873176"/>
            <a:ext cx="5502117" cy="1722269"/>
          </a:xfrm>
          <a:prstGeom prst="rect">
            <a:avLst/>
          </a:prstGeom>
        </p:spPr>
      </p:pic>
    </p:spTree>
    <p:extLst>
      <p:ext uri="{BB962C8B-B14F-4D97-AF65-F5344CB8AC3E}">
        <p14:creationId xmlns:p14="http://schemas.microsoft.com/office/powerpoint/2010/main" val="10354598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59380-7ABC-CD7F-BE28-4ECC54F3D57F}"/>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61762818-009B-4EDC-1D8D-36D16540121B}"/>
              </a:ext>
            </a:extLst>
          </p:cNvPr>
          <p:cNvSpPr txBox="1"/>
          <p:nvPr/>
        </p:nvSpPr>
        <p:spPr>
          <a:xfrm>
            <a:off x="233910" y="208621"/>
            <a:ext cx="10952250" cy="461665"/>
          </a:xfrm>
          <a:prstGeom prst="rect">
            <a:avLst/>
          </a:prstGeom>
          <a:solidFill>
            <a:srgbClr val="002060"/>
          </a:solidFill>
        </p:spPr>
        <p:txBody>
          <a:bodyPr wrap="square" rtlCol="0">
            <a:spAutoFit/>
          </a:bodyPr>
          <a:lstStyle/>
          <a:p>
            <a:r>
              <a:rPr lang="en-US" sz="2400">
                <a:solidFill>
                  <a:schemeClr val="bg1"/>
                </a:solidFill>
                <a:latin typeface="Ubuntu Condensed" panose="020B0506030602030204" pitchFamily="34" charset="0"/>
              </a:rPr>
              <a:t>Memory model</a:t>
            </a:r>
            <a:endParaRPr lang="ru-RU" sz="2400">
              <a:solidFill>
                <a:schemeClr val="bg1"/>
              </a:solidFill>
              <a:latin typeface="Ubuntu Condensed" panose="020B0506030602030204" pitchFamily="34" charset="0"/>
            </a:endParaRPr>
          </a:p>
        </p:txBody>
      </p:sp>
      <p:sp>
        <p:nvSpPr>
          <p:cNvPr id="7" name="Номер слайда 7">
            <a:extLst>
              <a:ext uri="{FF2B5EF4-FFF2-40B4-BE49-F238E27FC236}">
                <a16:creationId xmlns:a16="http://schemas.microsoft.com/office/drawing/2014/main" id="{3916AEA8-DDDF-C693-4380-91208E3E4522}"/>
              </a:ext>
            </a:extLst>
          </p:cNvPr>
          <p:cNvSpPr>
            <a:spLocks noGrp="1"/>
          </p:cNvSpPr>
          <p:nvPr>
            <p:ph type="sldNum" sz="quarter" idx="12"/>
          </p:nvPr>
        </p:nvSpPr>
        <p:spPr>
          <a:xfrm>
            <a:off x="11725835" y="6402070"/>
            <a:ext cx="386155" cy="365125"/>
          </a:xfrm>
        </p:spPr>
        <p:txBody>
          <a:bodyPr/>
          <a:lstStyle/>
          <a:p>
            <a:pPr algn="ctr"/>
            <a:fld id="{E757BAED-F255-4CF1-96BA-8D7417A9C3BC}" type="slidenum">
              <a:rPr lang="ru-RU" sz="1800" smtClean="0">
                <a:latin typeface="Ubuntu Condensed" panose="020B0506030602030204" pitchFamily="34" charset="0"/>
              </a:rPr>
              <a:pPr algn="ctr"/>
              <a:t>42</a:t>
            </a:fld>
            <a:endParaRPr lang="ru-RU" sz="1800">
              <a:latin typeface="Ubuntu Condensed" panose="020B0506030602030204" pitchFamily="34" charset="0"/>
            </a:endParaRPr>
          </a:p>
        </p:txBody>
      </p:sp>
      <p:sp>
        <p:nvSpPr>
          <p:cNvPr id="4" name="TextBox 3">
            <a:extLst>
              <a:ext uri="{FF2B5EF4-FFF2-40B4-BE49-F238E27FC236}">
                <a16:creationId xmlns:a16="http://schemas.microsoft.com/office/drawing/2014/main" id="{B14AA8A3-D681-7F28-2A16-715F370C9647}"/>
              </a:ext>
            </a:extLst>
          </p:cNvPr>
          <p:cNvSpPr txBox="1"/>
          <p:nvPr/>
        </p:nvSpPr>
        <p:spPr>
          <a:xfrm>
            <a:off x="329500" y="894394"/>
            <a:ext cx="10769424" cy="3857466"/>
          </a:xfrm>
          <a:prstGeom prst="rect">
            <a:avLst/>
          </a:prstGeom>
          <a:noFill/>
        </p:spPr>
        <p:txBody>
          <a:bodyPr wrap="square">
            <a:spAutoFit/>
          </a:bodyPr>
          <a:lstStyle/>
          <a:p>
            <a:pPr algn="l" rtl="0" fontAlgn="base">
              <a:spcBef>
                <a:spcPts val="800"/>
              </a:spcBef>
              <a:spcAft>
                <a:spcPts val="400"/>
              </a:spcAft>
              <a:buNone/>
            </a:pPr>
            <a:r>
              <a:rPr lang="en-US" sz="2000" b="0" i="0">
                <a:solidFill>
                  <a:srgbClr val="0F4761"/>
                </a:solidFill>
                <a:effectLst/>
                <a:latin typeface="Aptos" panose="020B0004020202020204" pitchFamily="34" charset="0"/>
              </a:rPr>
              <a:t>When “everything before LP can be relaxed” is really true </a:t>
            </a:r>
            <a:endParaRPr lang="en-US" sz="1600" b="0" i="0">
              <a:solidFill>
                <a:srgbClr val="0F4761"/>
              </a:solidFill>
              <a:effectLst/>
              <a:latin typeface="Segoe UI" panose="020B0502040204020203" pitchFamily="34" charset="0"/>
            </a:endParaRPr>
          </a:p>
          <a:p>
            <a:pPr algn="l" rtl="0" fontAlgn="base">
              <a:spcAft>
                <a:spcPts val="800"/>
              </a:spcAft>
              <a:buNone/>
            </a:pPr>
            <a:r>
              <a:rPr lang="en-US" sz="1600" b="0" i="0">
                <a:solidFill>
                  <a:srgbClr val="000000"/>
                </a:solidFill>
                <a:effectLst/>
                <a:latin typeface="Aptos" panose="020B0004020202020204" pitchFamily="34" charset="0"/>
              </a:rPr>
              <a:t>This rule works if: </a:t>
            </a:r>
            <a:endParaRPr lang="en-US" sz="1600" b="0" i="0">
              <a:solidFill>
                <a:srgbClr val="000000"/>
              </a:solidFill>
              <a:effectLst/>
              <a:latin typeface="Segoe UI" panose="020B0502040204020203" pitchFamily="34" charset="0"/>
            </a:endParaRPr>
          </a:p>
          <a:p>
            <a:pPr algn="l" rtl="0" fontAlgn="base">
              <a:buFont typeface="+mj-lt"/>
              <a:buAutoNum type="arabicPeriod"/>
            </a:pPr>
            <a:r>
              <a:rPr lang="en-US" sz="1600" b="1" i="0">
                <a:solidFill>
                  <a:srgbClr val="000000"/>
                </a:solidFill>
                <a:effectLst/>
                <a:latin typeface="Aptos" panose="020B0004020202020204" pitchFamily="34" charset="0"/>
              </a:rPr>
              <a:t>Pre-LP state is not observed</a:t>
            </a:r>
            <a:r>
              <a:rPr lang="en-US" sz="1600" b="0" i="0">
                <a:solidFill>
                  <a:srgbClr val="000000"/>
                </a:solidFill>
                <a:effectLst/>
                <a:latin typeface="Aptos" panose="020B0004020202020204" pitchFamily="34" charset="0"/>
              </a:rPr>
              <a:t> by other threads: </a:t>
            </a:r>
            <a:endParaRPr lang="en-US" sz="1600" b="0" i="0">
              <a:solidFill>
                <a:srgbClr val="000000"/>
              </a:solidFill>
              <a:effectLst/>
              <a:latin typeface="Segoe UI" panose="020B0502040204020203" pitchFamily="34" charset="0"/>
            </a:endParaRPr>
          </a:p>
          <a:p>
            <a:pPr algn="l" rtl="0" fontAlgn="base">
              <a:buFont typeface="Arial" panose="020B0604020202020204" pitchFamily="34" charset="0"/>
              <a:buChar char="•"/>
            </a:pPr>
            <a:r>
              <a:rPr lang="en-US" sz="1600" b="0" i="0">
                <a:solidFill>
                  <a:srgbClr val="000000"/>
                </a:solidFill>
                <a:effectLst/>
                <a:latin typeface="Aptos" panose="020B0004020202020204" pitchFamily="34" charset="0"/>
              </a:rPr>
              <a:t>No one reads the node’s fields before it is published (linked into the structure). </a:t>
            </a:r>
            <a:endParaRPr lang="en-US" sz="1600" b="0" i="0">
              <a:solidFill>
                <a:srgbClr val="000000"/>
              </a:solidFill>
              <a:effectLst/>
              <a:latin typeface="Segoe UI" panose="020B0502040204020203" pitchFamily="34" charset="0"/>
            </a:endParaRPr>
          </a:p>
          <a:p>
            <a:pPr algn="l" rtl="0" fontAlgn="base">
              <a:buFont typeface="Arial" panose="020B0604020202020204" pitchFamily="34" charset="0"/>
              <a:buChar char="•"/>
            </a:pPr>
            <a:r>
              <a:rPr lang="en-US" sz="1600" b="0" i="0">
                <a:solidFill>
                  <a:srgbClr val="000000"/>
                </a:solidFill>
                <a:effectLst/>
                <a:latin typeface="Aptos" panose="020B0004020202020204" pitchFamily="34" charset="0"/>
              </a:rPr>
              <a:t>No one relies on intermediate flags/fields updated before LP. </a:t>
            </a:r>
          </a:p>
          <a:p>
            <a:pPr algn="l" rtl="0" fontAlgn="base">
              <a:buFont typeface="Arial" panose="020B0604020202020204" pitchFamily="34" charset="0"/>
              <a:buChar char="•"/>
            </a:pPr>
            <a:endParaRPr lang="en-US" sz="1600" b="0" i="0">
              <a:solidFill>
                <a:srgbClr val="000000"/>
              </a:solidFill>
              <a:effectLst/>
              <a:latin typeface="Segoe UI" panose="020B0502040204020203" pitchFamily="34" charset="0"/>
            </a:endParaRPr>
          </a:p>
          <a:p>
            <a:pPr algn="l" rtl="0" fontAlgn="base">
              <a:buFont typeface="+mj-lt"/>
              <a:buAutoNum type="arabicPeriod" startAt="2"/>
            </a:pPr>
            <a:r>
              <a:rPr lang="en-US" sz="1600" b="1" i="0">
                <a:solidFill>
                  <a:srgbClr val="000000"/>
                </a:solidFill>
                <a:effectLst/>
                <a:latin typeface="Aptos" panose="020B0004020202020204" pitchFamily="34" charset="0"/>
              </a:rPr>
              <a:t>LP is correctly implemented</a:t>
            </a:r>
            <a:r>
              <a:rPr lang="en-US" sz="1600" b="0" i="0">
                <a:solidFill>
                  <a:srgbClr val="000000"/>
                </a:solidFill>
                <a:effectLst/>
                <a:latin typeface="Aptos" panose="020B0004020202020204" pitchFamily="34" charset="0"/>
              </a:rPr>
              <a:t>: </a:t>
            </a:r>
            <a:endParaRPr lang="en-US" sz="1600" b="0" i="0">
              <a:solidFill>
                <a:srgbClr val="000000"/>
              </a:solidFill>
              <a:effectLst/>
              <a:latin typeface="Segoe UI" panose="020B0502040204020203" pitchFamily="34" charset="0"/>
            </a:endParaRPr>
          </a:p>
          <a:p>
            <a:pPr algn="l" rtl="0" fontAlgn="base"/>
            <a:endParaRPr lang="en-US" sz="1600">
              <a:solidFill>
                <a:srgbClr val="000000"/>
              </a:solidFill>
              <a:latin typeface="Aptos" panose="020B0004020202020204" pitchFamily="34" charset="0"/>
            </a:endParaRPr>
          </a:p>
          <a:p>
            <a:pPr algn="l" rtl="0" fontAlgn="base">
              <a:spcAft>
                <a:spcPts val="800"/>
              </a:spcAft>
              <a:buNone/>
            </a:pPr>
            <a:r>
              <a:rPr lang="en-US" sz="1600" b="1" i="0">
                <a:solidFill>
                  <a:srgbClr val="000000"/>
                </a:solidFill>
                <a:effectLst/>
                <a:latin typeface="Aptos" panose="020B0004020202020204" pitchFamily="34" charset="0"/>
              </a:rPr>
              <a:t>Example (Treiber stack, push):</a:t>
            </a:r>
            <a:r>
              <a:rPr lang="en-US" sz="1600" b="0" i="0">
                <a:solidFill>
                  <a:srgbClr val="000000"/>
                </a:solidFill>
                <a:effectLst/>
                <a:latin typeface="Aptos" panose="020B0004020202020204" pitchFamily="34" charset="0"/>
              </a:rPr>
              <a:t> </a:t>
            </a:r>
            <a:endParaRPr lang="en-US" sz="1600" b="0" i="0">
              <a:solidFill>
                <a:srgbClr val="000000"/>
              </a:solidFill>
              <a:effectLst/>
              <a:latin typeface="Segoe UI" panose="020B0502040204020203" pitchFamily="34" charset="0"/>
            </a:endParaRPr>
          </a:p>
          <a:p>
            <a:pPr algn="l" rtl="0" fontAlgn="base">
              <a:buFont typeface="Arial" panose="020B0604020202020204" pitchFamily="34" charset="0"/>
              <a:buChar char="•"/>
            </a:pPr>
            <a:r>
              <a:rPr lang="en-US" sz="1600" b="0" i="0">
                <a:solidFill>
                  <a:srgbClr val="000000"/>
                </a:solidFill>
                <a:effectLst/>
                <a:latin typeface="Aptos" panose="020B0004020202020204" pitchFamily="34" charset="0"/>
              </a:rPr>
              <a:t>Initialize </a:t>
            </a:r>
            <a:r>
              <a:rPr lang="en-US" sz="1600" b="0" i="1">
                <a:solidFill>
                  <a:srgbClr val="404040"/>
                </a:solidFill>
                <a:effectLst/>
                <a:latin typeface="Aptos" panose="020B0004020202020204" pitchFamily="34" charset="0"/>
              </a:rPr>
              <a:t>node-&gt;next = </a:t>
            </a:r>
            <a:r>
              <a:rPr lang="en-US" sz="1600" b="0" i="1" err="1">
                <a:solidFill>
                  <a:srgbClr val="404040"/>
                </a:solidFill>
                <a:effectLst/>
                <a:latin typeface="Aptos" panose="020B0004020202020204" pitchFamily="34" charset="0"/>
              </a:rPr>
              <a:t>old_top</a:t>
            </a:r>
            <a:r>
              <a:rPr lang="en-US" sz="1600" b="0" i="1">
                <a:solidFill>
                  <a:srgbClr val="404040"/>
                </a:solidFill>
                <a:effectLst/>
                <a:latin typeface="Aptos" panose="020B0004020202020204" pitchFamily="34" charset="0"/>
              </a:rPr>
              <a:t>; node-&gt;value = v;</a:t>
            </a:r>
            <a:r>
              <a:rPr lang="en-US" sz="1600" b="0" i="0">
                <a:solidFill>
                  <a:srgbClr val="000000"/>
                </a:solidFill>
                <a:effectLst/>
                <a:latin typeface="Aptos" panose="020B0004020202020204" pitchFamily="34" charset="0"/>
              </a:rPr>
              <a:t> — plain writes (non-atomic). </a:t>
            </a:r>
            <a:endParaRPr lang="en-US" sz="1600" b="0" i="0">
              <a:solidFill>
                <a:srgbClr val="000000"/>
              </a:solidFill>
              <a:effectLst/>
              <a:latin typeface="Segoe UI" panose="020B0502040204020203" pitchFamily="34" charset="0"/>
            </a:endParaRPr>
          </a:p>
          <a:p>
            <a:pPr algn="l" rtl="0" fontAlgn="base">
              <a:buFont typeface="Arial" panose="020B0604020202020204" pitchFamily="34" charset="0"/>
              <a:buChar char="•"/>
            </a:pPr>
            <a:r>
              <a:rPr lang="en-US" sz="1600" b="0" i="0">
                <a:solidFill>
                  <a:srgbClr val="000000"/>
                </a:solidFill>
                <a:effectLst/>
                <a:latin typeface="Aptos" panose="020B0004020202020204" pitchFamily="34" charset="0"/>
              </a:rPr>
              <a:t>Publish: </a:t>
            </a:r>
            <a:r>
              <a:rPr lang="en-US" sz="1600" b="0" i="1" err="1">
                <a:solidFill>
                  <a:srgbClr val="404040"/>
                </a:solidFill>
                <a:effectLst/>
                <a:latin typeface="Aptos" panose="020B0004020202020204" pitchFamily="34" charset="0"/>
              </a:rPr>
              <a:t>top.compare_exchange_weak</a:t>
            </a:r>
            <a:r>
              <a:rPr lang="en-US" sz="1600" b="0" i="1">
                <a:solidFill>
                  <a:srgbClr val="404040"/>
                </a:solidFill>
                <a:effectLst/>
                <a:latin typeface="Aptos" panose="020B0004020202020204" pitchFamily="34" charset="0"/>
              </a:rPr>
              <a:t>(</a:t>
            </a:r>
            <a:r>
              <a:rPr lang="en-US" sz="1600" b="0" i="1" err="1">
                <a:solidFill>
                  <a:srgbClr val="404040"/>
                </a:solidFill>
                <a:effectLst/>
                <a:latin typeface="Aptos" panose="020B0004020202020204" pitchFamily="34" charset="0"/>
              </a:rPr>
              <a:t>old_top</a:t>
            </a:r>
            <a:r>
              <a:rPr lang="en-US" sz="1600" b="0" i="1">
                <a:solidFill>
                  <a:srgbClr val="404040"/>
                </a:solidFill>
                <a:effectLst/>
                <a:latin typeface="Aptos" panose="020B0004020202020204" pitchFamily="34" charset="0"/>
              </a:rPr>
              <a:t>, node, std::</a:t>
            </a:r>
            <a:r>
              <a:rPr lang="en-US" sz="1600" b="0" i="1" err="1">
                <a:solidFill>
                  <a:srgbClr val="404040"/>
                </a:solidFill>
                <a:effectLst/>
                <a:latin typeface="Aptos" panose="020B0004020202020204" pitchFamily="34" charset="0"/>
              </a:rPr>
              <a:t>memory_order_release</a:t>
            </a:r>
            <a:r>
              <a:rPr lang="en-US" sz="1600" b="0" i="1">
                <a:solidFill>
                  <a:srgbClr val="404040"/>
                </a:solidFill>
                <a:effectLst/>
                <a:latin typeface="Aptos" panose="020B0004020202020204" pitchFamily="34" charset="0"/>
              </a:rPr>
              <a:t>, std::</a:t>
            </a:r>
            <a:r>
              <a:rPr lang="en-US" sz="1600" b="0" i="1" err="1">
                <a:solidFill>
                  <a:srgbClr val="404040"/>
                </a:solidFill>
                <a:effectLst/>
                <a:latin typeface="Aptos" panose="020B0004020202020204" pitchFamily="34" charset="0"/>
              </a:rPr>
              <a:t>memory_order_relaxed</a:t>
            </a:r>
            <a:r>
              <a:rPr lang="en-US" sz="1600" b="0" i="1">
                <a:solidFill>
                  <a:srgbClr val="404040"/>
                </a:solidFill>
                <a:effectLst/>
                <a:latin typeface="Aptos" panose="020B0004020202020204" pitchFamily="34" charset="0"/>
              </a:rPr>
              <a:t>);</a:t>
            </a:r>
            <a:r>
              <a:rPr lang="en-US" sz="1600" b="0" i="0">
                <a:solidFill>
                  <a:srgbClr val="404040"/>
                </a:solidFill>
                <a:effectLst/>
                <a:latin typeface="Aptos" panose="020B0004020202020204" pitchFamily="34" charset="0"/>
              </a:rPr>
              <a:t> </a:t>
            </a:r>
            <a:endParaRPr lang="en-US" sz="1600" b="0" i="0">
              <a:solidFill>
                <a:srgbClr val="000000"/>
              </a:solidFill>
              <a:effectLst/>
              <a:latin typeface="Segoe UI" panose="020B0502040204020203" pitchFamily="34" charset="0"/>
            </a:endParaRPr>
          </a:p>
          <a:p>
            <a:pPr algn="l" rtl="0" fontAlgn="base">
              <a:buFont typeface="Arial" panose="020B0604020202020204" pitchFamily="34" charset="0"/>
              <a:buChar char="•"/>
            </a:pPr>
            <a:r>
              <a:rPr lang="en-US" sz="1600" b="0" i="0">
                <a:solidFill>
                  <a:srgbClr val="000000"/>
                </a:solidFill>
                <a:effectLst/>
                <a:latin typeface="Aptos" panose="020B0004020202020204" pitchFamily="34" charset="0"/>
              </a:rPr>
              <a:t>Pop: read </a:t>
            </a:r>
            <a:r>
              <a:rPr lang="en-US" sz="1600" b="0" i="1">
                <a:solidFill>
                  <a:srgbClr val="404040"/>
                </a:solidFill>
                <a:effectLst/>
                <a:latin typeface="Aptos" panose="020B0004020202020204" pitchFamily="34" charset="0"/>
              </a:rPr>
              <a:t>top</a:t>
            </a:r>
            <a:r>
              <a:rPr lang="en-US" sz="1600" b="0" i="0">
                <a:solidFill>
                  <a:srgbClr val="000000"/>
                </a:solidFill>
                <a:effectLst/>
                <a:latin typeface="Aptos" panose="020B0004020202020204" pitchFamily="34" charset="0"/>
              </a:rPr>
              <a:t> with </a:t>
            </a:r>
            <a:r>
              <a:rPr lang="en-US" sz="1600" b="0" i="1">
                <a:solidFill>
                  <a:srgbClr val="404040"/>
                </a:solidFill>
                <a:effectLst/>
                <a:latin typeface="Aptos" panose="020B0004020202020204" pitchFamily="34" charset="0"/>
              </a:rPr>
              <a:t>acquire</a:t>
            </a:r>
            <a:r>
              <a:rPr lang="en-US" sz="1600" b="0" i="0">
                <a:solidFill>
                  <a:srgbClr val="000000"/>
                </a:solidFill>
                <a:effectLst/>
                <a:latin typeface="Aptos" panose="020B0004020202020204" pitchFamily="34" charset="0"/>
              </a:rPr>
              <a:t> to see a fully initialized </a:t>
            </a:r>
            <a:r>
              <a:rPr lang="en-US" sz="1600" b="0" i="1">
                <a:solidFill>
                  <a:srgbClr val="404040"/>
                </a:solidFill>
                <a:effectLst/>
                <a:latin typeface="Aptos" panose="020B0004020202020204" pitchFamily="34" charset="0"/>
              </a:rPr>
              <a:t>node</a:t>
            </a:r>
            <a:r>
              <a:rPr lang="en-US" sz="1600" b="0" i="0">
                <a:solidFill>
                  <a:srgbClr val="000000"/>
                </a:solidFill>
                <a:effectLst/>
                <a:latin typeface="Aptos" panose="020B0004020202020204" pitchFamily="34" charset="0"/>
              </a:rPr>
              <a:t>. </a:t>
            </a:r>
            <a:endParaRPr lang="en-US" sz="1600" b="0" i="0">
              <a:solidFill>
                <a:srgbClr val="000000"/>
              </a:solidFill>
              <a:effectLst/>
              <a:latin typeface="Segoe UI" panose="020B0502040204020203" pitchFamily="34" charset="0"/>
            </a:endParaRPr>
          </a:p>
          <a:p>
            <a:pPr algn="l" rtl="0" fontAlgn="base">
              <a:spcAft>
                <a:spcPts val="800"/>
              </a:spcAft>
              <a:buNone/>
            </a:pPr>
            <a:r>
              <a:rPr lang="en-US" sz="1600" b="0" i="0">
                <a:solidFill>
                  <a:srgbClr val="000000"/>
                </a:solidFill>
                <a:effectLst/>
                <a:latin typeface="Aptos" panose="020B0004020202020204" pitchFamily="34" charset="0"/>
              </a:rPr>
              <a:t>In this scheme, “everything before LP” can indeed be relaxed/non-atomic: </a:t>
            </a:r>
            <a:r>
              <a:rPr lang="en-US" sz="1600" b="1" i="0">
                <a:solidFill>
                  <a:srgbClr val="000000"/>
                </a:solidFill>
                <a:effectLst/>
                <a:latin typeface="Aptos" panose="020B0004020202020204" pitchFamily="34" charset="0"/>
              </a:rPr>
              <a:t>release</a:t>
            </a:r>
            <a:r>
              <a:rPr lang="en-US" sz="1600" b="0" i="0">
                <a:solidFill>
                  <a:srgbClr val="000000"/>
                </a:solidFill>
                <a:effectLst/>
                <a:latin typeface="Aptos" panose="020B0004020202020204" pitchFamily="34" charset="0"/>
              </a:rPr>
              <a:t> on CAS orders prior writes relative to the </a:t>
            </a:r>
            <a:r>
              <a:rPr lang="en-US" sz="1600" b="1" i="0">
                <a:solidFill>
                  <a:srgbClr val="000000"/>
                </a:solidFill>
                <a:effectLst/>
                <a:latin typeface="Aptos" panose="020B0004020202020204" pitchFamily="34" charset="0"/>
              </a:rPr>
              <a:t>acquire</a:t>
            </a:r>
            <a:r>
              <a:rPr lang="en-US" sz="1600" b="0" i="0">
                <a:solidFill>
                  <a:srgbClr val="000000"/>
                </a:solidFill>
                <a:effectLst/>
                <a:latin typeface="Aptos" panose="020B0004020202020204" pitchFamily="34" charset="0"/>
              </a:rPr>
              <a:t> observer. </a:t>
            </a:r>
            <a:endParaRPr lang="en-US" sz="1600" b="0" i="0">
              <a:solidFill>
                <a:srgbClr val="000000"/>
              </a:solidFill>
              <a:effectLst/>
              <a:latin typeface="Segoe UI" panose="020B0502040204020203" pitchFamily="34" charset="0"/>
            </a:endParaRPr>
          </a:p>
        </p:txBody>
      </p:sp>
    </p:spTree>
    <p:extLst>
      <p:ext uri="{BB962C8B-B14F-4D97-AF65-F5344CB8AC3E}">
        <p14:creationId xmlns:p14="http://schemas.microsoft.com/office/powerpoint/2010/main" val="14921476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126BCE54-96A9-9016-368F-567DF70CC0C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9DD581B-5C64-ED1A-E600-19D5C4621B76}"/>
              </a:ext>
            </a:extLst>
          </p:cNvPr>
          <p:cNvSpPr txBox="1"/>
          <p:nvPr/>
        </p:nvSpPr>
        <p:spPr>
          <a:xfrm>
            <a:off x="1008491" y="1236947"/>
            <a:ext cx="8726556" cy="1015663"/>
          </a:xfrm>
          <a:prstGeom prst="rect">
            <a:avLst/>
          </a:prstGeom>
          <a:noFill/>
        </p:spPr>
        <p:txBody>
          <a:bodyPr wrap="square">
            <a:spAutoFit/>
          </a:bodyPr>
          <a:lstStyle/>
          <a:p>
            <a:r>
              <a:rPr lang="en-US" sz="6000">
                <a:solidFill>
                  <a:schemeClr val="bg1"/>
                </a:solidFill>
                <a:latin typeface="Ubuntu Condensed" panose="020B0506030602030204" pitchFamily="34" charset="0"/>
              </a:rPr>
              <a:t>Verification</a:t>
            </a:r>
            <a:endParaRPr lang="ru-RU" sz="6000">
              <a:solidFill>
                <a:schemeClr val="bg1"/>
              </a:solidFill>
              <a:latin typeface="Ubuntu Condensed" panose="020B0506030602030204" pitchFamily="34" charset="0"/>
            </a:endParaRPr>
          </a:p>
        </p:txBody>
      </p:sp>
    </p:spTree>
    <p:extLst>
      <p:ext uri="{BB962C8B-B14F-4D97-AF65-F5344CB8AC3E}">
        <p14:creationId xmlns:p14="http://schemas.microsoft.com/office/powerpoint/2010/main" val="23726999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52891-724D-AFC6-16F0-86AA1E73DC22}"/>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9ADDD3D7-52E3-20FD-610B-58A22CC223E3}"/>
              </a:ext>
            </a:extLst>
          </p:cNvPr>
          <p:cNvSpPr txBox="1"/>
          <p:nvPr/>
        </p:nvSpPr>
        <p:spPr>
          <a:xfrm>
            <a:off x="233910" y="208621"/>
            <a:ext cx="10952250" cy="461665"/>
          </a:xfrm>
          <a:prstGeom prst="rect">
            <a:avLst/>
          </a:prstGeom>
          <a:solidFill>
            <a:srgbClr val="002060"/>
          </a:solidFill>
        </p:spPr>
        <p:txBody>
          <a:bodyPr wrap="square" rtlCol="0">
            <a:spAutoFit/>
          </a:bodyPr>
          <a:lstStyle/>
          <a:p>
            <a:r>
              <a:rPr lang="en-US" sz="2400">
                <a:solidFill>
                  <a:schemeClr val="bg1"/>
                </a:solidFill>
                <a:latin typeface="Ubuntu Condensed" panose="020B0506030602030204" pitchFamily="34" charset="0"/>
              </a:rPr>
              <a:t>Formalization, semantic verification</a:t>
            </a:r>
            <a:endParaRPr lang="ru-RU" sz="2400">
              <a:solidFill>
                <a:schemeClr val="bg1"/>
              </a:solidFill>
              <a:latin typeface="Ubuntu Condensed" panose="020B0506030602030204" pitchFamily="34" charset="0"/>
            </a:endParaRPr>
          </a:p>
        </p:txBody>
      </p:sp>
      <p:sp>
        <p:nvSpPr>
          <p:cNvPr id="7" name="Номер слайда 7">
            <a:extLst>
              <a:ext uri="{FF2B5EF4-FFF2-40B4-BE49-F238E27FC236}">
                <a16:creationId xmlns:a16="http://schemas.microsoft.com/office/drawing/2014/main" id="{3E5FC4F4-6E60-80F1-D9FB-485055F7A204}"/>
              </a:ext>
            </a:extLst>
          </p:cNvPr>
          <p:cNvSpPr>
            <a:spLocks noGrp="1"/>
          </p:cNvSpPr>
          <p:nvPr>
            <p:ph type="sldNum" sz="quarter" idx="12"/>
          </p:nvPr>
        </p:nvSpPr>
        <p:spPr>
          <a:xfrm>
            <a:off x="11725835" y="6402070"/>
            <a:ext cx="386155" cy="365125"/>
          </a:xfrm>
        </p:spPr>
        <p:txBody>
          <a:bodyPr/>
          <a:lstStyle/>
          <a:p>
            <a:pPr algn="ctr"/>
            <a:fld id="{E757BAED-F255-4CF1-96BA-8D7417A9C3BC}" type="slidenum">
              <a:rPr lang="ru-RU" sz="1800" smtClean="0">
                <a:latin typeface="Ubuntu Condensed" panose="020B0506030602030204" pitchFamily="34" charset="0"/>
              </a:rPr>
              <a:pPr algn="ctr"/>
              <a:t>44</a:t>
            </a:fld>
            <a:endParaRPr lang="ru-RU" sz="1800">
              <a:latin typeface="Ubuntu Condensed" panose="020B0506030602030204" pitchFamily="34" charset="0"/>
            </a:endParaRPr>
          </a:p>
        </p:txBody>
      </p:sp>
      <p:sp>
        <p:nvSpPr>
          <p:cNvPr id="4" name="TextBox 3">
            <a:extLst>
              <a:ext uri="{FF2B5EF4-FFF2-40B4-BE49-F238E27FC236}">
                <a16:creationId xmlns:a16="http://schemas.microsoft.com/office/drawing/2014/main" id="{6875AC28-5133-1735-644D-729F76A22286}"/>
              </a:ext>
            </a:extLst>
          </p:cNvPr>
          <p:cNvSpPr txBox="1"/>
          <p:nvPr/>
        </p:nvSpPr>
        <p:spPr>
          <a:xfrm>
            <a:off x="233909" y="670286"/>
            <a:ext cx="11491925" cy="584775"/>
          </a:xfrm>
          <a:prstGeom prst="rect">
            <a:avLst/>
          </a:prstGeom>
          <a:noFill/>
        </p:spPr>
        <p:txBody>
          <a:bodyPr wrap="square">
            <a:spAutoFit/>
          </a:bodyPr>
          <a:lstStyle/>
          <a:p>
            <a:r>
              <a:rPr lang="en-SG" sz="1600">
                <a:solidFill>
                  <a:srgbClr val="6600FF"/>
                </a:solidFill>
              </a:rPr>
              <a:t>Mathieu Fehr, </a:t>
            </a:r>
            <a:r>
              <a:rPr lang="en-SG" sz="1600" err="1">
                <a:solidFill>
                  <a:srgbClr val="6600FF"/>
                </a:solidFill>
              </a:rPr>
              <a:t>Yuyou</a:t>
            </a:r>
            <a:r>
              <a:rPr lang="en-SG" sz="1600">
                <a:solidFill>
                  <a:srgbClr val="6600FF"/>
                </a:solidFill>
              </a:rPr>
              <a:t> Fan, Hugo </a:t>
            </a:r>
            <a:r>
              <a:rPr lang="en-SG" sz="1600" err="1">
                <a:solidFill>
                  <a:srgbClr val="6600FF"/>
                </a:solidFill>
              </a:rPr>
              <a:t>Pompougnac</a:t>
            </a:r>
            <a:r>
              <a:rPr lang="en-SG" sz="1600">
                <a:solidFill>
                  <a:srgbClr val="6600FF"/>
                </a:solidFill>
              </a:rPr>
              <a:t>, John Regehr, and Tobias Grosser. 2025. First-Class Verification Dialects for MLIR. Proc. ACM Program. Lang. 9, PLDI, Article 206 (June 2025), 25 pages. https://doi.org/10.1145/3729309</a:t>
            </a:r>
          </a:p>
        </p:txBody>
      </p:sp>
      <p:sp>
        <p:nvSpPr>
          <p:cNvPr id="11" name="TextBox 10">
            <a:extLst>
              <a:ext uri="{FF2B5EF4-FFF2-40B4-BE49-F238E27FC236}">
                <a16:creationId xmlns:a16="http://schemas.microsoft.com/office/drawing/2014/main" id="{90FA8E45-8915-B10D-695F-68E7F1DBE4A3}"/>
              </a:ext>
            </a:extLst>
          </p:cNvPr>
          <p:cNvSpPr txBox="1"/>
          <p:nvPr/>
        </p:nvSpPr>
        <p:spPr>
          <a:xfrm>
            <a:off x="233907" y="1448523"/>
            <a:ext cx="11724183" cy="5221942"/>
          </a:xfrm>
          <a:prstGeom prst="rect">
            <a:avLst/>
          </a:prstGeom>
          <a:noFill/>
        </p:spPr>
        <p:txBody>
          <a:bodyPr wrap="square">
            <a:spAutoFit/>
          </a:bodyPr>
          <a:lstStyle/>
          <a:p>
            <a:pPr algn="l" rtl="0" fontAlgn="base">
              <a:spcAft>
                <a:spcPts val="800"/>
              </a:spcAft>
              <a:buNone/>
            </a:pPr>
            <a:r>
              <a:rPr lang="en-US" sz="1600" b="0" i="0">
                <a:solidFill>
                  <a:srgbClr val="000000"/>
                </a:solidFill>
                <a:effectLst/>
                <a:latin typeface="Aptos" panose="020B0004020202020204" pitchFamily="34" charset="0"/>
              </a:rPr>
              <a:t>The core idea of the Fehr et al. (PLDI 2025) paper is to make </a:t>
            </a:r>
            <a:r>
              <a:rPr lang="en-US" sz="1600" b="1" i="0">
                <a:solidFill>
                  <a:srgbClr val="000000"/>
                </a:solidFill>
                <a:effectLst/>
                <a:latin typeface="Aptos" panose="020B0004020202020204" pitchFamily="34" charset="0"/>
              </a:rPr>
              <a:t>formal semantics a first-class citizen in the MLIR ecosystem</a:t>
            </a:r>
            <a:r>
              <a:rPr lang="en-US" sz="1600" b="0" i="0">
                <a:solidFill>
                  <a:srgbClr val="000000"/>
                </a:solidFill>
                <a:effectLst/>
                <a:latin typeface="Aptos" panose="020B0004020202020204" pitchFamily="34" charset="0"/>
              </a:rPr>
              <a:t> so that compiler verification tools can be built generically and reused across dialects. </a:t>
            </a:r>
            <a:endParaRPr lang="en-US" sz="1600" b="0" i="0">
              <a:solidFill>
                <a:srgbClr val="000000"/>
              </a:solidFill>
              <a:effectLst/>
              <a:latin typeface="Segoe UI" panose="020B0502040204020203" pitchFamily="34" charset="0"/>
            </a:endParaRPr>
          </a:p>
          <a:p>
            <a:pPr algn="l" rtl="0" fontAlgn="base">
              <a:spcAft>
                <a:spcPts val="800"/>
              </a:spcAft>
              <a:buNone/>
            </a:pPr>
            <a:r>
              <a:rPr lang="en-US" sz="1600" b="0" i="0">
                <a:solidFill>
                  <a:srgbClr val="000000"/>
                </a:solidFill>
                <a:effectLst/>
                <a:latin typeface="Aptos" panose="020B0004020202020204" pitchFamily="34" charset="0"/>
              </a:rPr>
              <a:t>Currently, MLIR dialects mostly define syntax and rely on informal semantics or implicit meaning through lowering. This makes it hard to verify optimizations, detect </a:t>
            </a:r>
            <a:r>
              <a:rPr lang="en-US" sz="1600" b="0" i="0" err="1">
                <a:solidFill>
                  <a:srgbClr val="000000"/>
                </a:solidFill>
                <a:effectLst/>
                <a:latin typeface="Aptos" panose="020B0004020202020204" pitchFamily="34" charset="0"/>
              </a:rPr>
              <a:t>miscompilations</a:t>
            </a:r>
            <a:r>
              <a:rPr lang="en-US" sz="1600" b="0" i="0">
                <a:solidFill>
                  <a:srgbClr val="000000"/>
                </a:solidFill>
                <a:effectLst/>
                <a:latin typeface="Aptos" panose="020B0004020202020204" pitchFamily="34" charset="0"/>
              </a:rPr>
              <a:t>, or reason about correctness. The paper proposes: </a:t>
            </a:r>
            <a:endParaRPr lang="en-US" sz="1600" b="0" i="0">
              <a:solidFill>
                <a:srgbClr val="000000"/>
              </a:solidFill>
              <a:effectLst/>
              <a:latin typeface="Segoe UI" panose="020B0502040204020203" pitchFamily="34" charset="0"/>
            </a:endParaRPr>
          </a:p>
          <a:p>
            <a:pPr algn="l" rtl="0" fontAlgn="base">
              <a:buFont typeface="+mj-lt"/>
              <a:buAutoNum type="arabicPeriod"/>
            </a:pPr>
            <a:r>
              <a:rPr lang="en-US" sz="1600" b="1" i="0">
                <a:solidFill>
                  <a:srgbClr val="000000"/>
                </a:solidFill>
                <a:effectLst/>
                <a:latin typeface="Aptos" panose="020B0004020202020204" pitchFamily="34" charset="0"/>
              </a:rPr>
              <a:t>Semantic Dialects:</a:t>
            </a:r>
            <a:r>
              <a:rPr lang="en-US" sz="1600" b="0" i="0">
                <a:solidFill>
                  <a:srgbClr val="000000"/>
                </a:solidFill>
                <a:effectLst/>
                <a:latin typeface="Aptos" panose="020B0004020202020204" pitchFamily="34" charset="0"/>
              </a:rPr>
              <a:t> A new family of MLIR dialects that encode the semantics of operations explicitly, including memory effects, undefined behavior, and poison values. These dialects can be lowered to SMT-LIB formulas for formal reasoning. </a:t>
            </a:r>
            <a:endParaRPr lang="en-US" sz="1600" b="0" i="0">
              <a:solidFill>
                <a:srgbClr val="000000"/>
              </a:solidFill>
              <a:effectLst/>
              <a:latin typeface="Segoe UI" panose="020B0502040204020203" pitchFamily="34" charset="0"/>
            </a:endParaRPr>
          </a:p>
          <a:p>
            <a:pPr algn="l" rtl="0" fontAlgn="base">
              <a:buFont typeface="+mj-lt"/>
              <a:buAutoNum type="arabicPeriod" startAt="2"/>
            </a:pPr>
            <a:r>
              <a:rPr lang="en-US" sz="1600" b="1" i="0">
                <a:solidFill>
                  <a:srgbClr val="000000"/>
                </a:solidFill>
                <a:effectLst/>
                <a:latin typeface="Aptos" panose="020B0004020202020204" pitchFamily="34" charset="0"/>
              </a:rPr>
              <a:t>Separation of Concerns:</a:t>
            </a:r>
            <a:r>
              <a:rPr lang="en-US" sz="1600" b="0" i="0">
                <a:solidFill>
                  <a:srgbClr val="000000"/>
                </a:solidFill>
                <a:effectLst/>
                <a:latin typeface="Aptos" panose="020B0004020202020204" pitchFamily="34" charset="0"/>
              </a:rPr>
              <a:t> </a:t>
            </a:r>
            <a:endParaRPr lang="en-US" sz="1600" b="0" i="0">
              <a:solidFill>
                <a:srgbClr val="000000"/>
              </a:solidFill>
              <a:effectLst/>
              <a:latin typeface="Segoe UI" panose="020B0502040204020203" pitchFamily="34" charset="0"/>
            </a:endParaRPr>
          </a:p>
          <a:p>
            <a:pPr algn="l" rtl="0" fontAlgn="base">
              <a:buFont typeface="Arial" panose="020B0604020202020204" pitchFamily="34" charset="0"/>
              <a:buChar char="•"/>
            </a:pPr>
            <a:r>
              <a:rPr lang="en-US" sz="1600" b="0" i="0">
                <a:solidFill>
                  <a:srgbClr val="000000"/>
                </a:solidFill>
                <a:effectLst/>
                <a:latin typeface="Aptos" panose="020B0004020202020204" pitchFamily="34" charset="0"/>
              </a:rPr>
              <a:t>Compiler developers define semantics by lowering their dialect to these semantic dialects. </a:t>
            </a:r>
            <a:endParaRPr lang="en-US" sz="1600" b="0" i="0">
              <a:solidFill>
                <a:srgbClr val="000000"/>
              </a:solidFill>
              <a:effectLst/>
              <a:latin typeface="Segoe UI" panose="020B0502040204020203" pitchFamily="34" charset="0"/>
            </a:endParaRPr>
          </a:p>
          <a:p>
            <a:pPr algn="l" rtl="0" fontAlgn="base">
              <a:buFont typeface="Arial" panose="020B0604020202020204" pitchFamily="34" charset="0"/>
              <a:buChar char="•"/>
            </a:pPr>
            <a:r>
              <a:rPr lang="en-US" sz="1600" b="0" i="0">
                <a:solidFill>
                  <a:srgbClr val="000000"/>
                </a:solidFill>
                <a:effectLst/>
                <a:latin typeface="Aptos" panose="020B0004020202020204" pitchFamily="34" charset="0"/>
              </a:rPr>
              <a:t>SMT experts optimize the encoding for solvers. </a:t>
            </a:r>
            <a:endParaRPr lang="en-US" sz="1600" b="0" i="0">
              <a:solidFill>
                <a:srgbClr val="000000"/>
              </a:solidFill>
              <a:effectLst/>
              <a:latin typeface="Segoe UI" panose="020B0502040204020203" pitchFamily="34" charset="0"/>
            </a:endParaRPr>
          </a:p>
          <a:p>
            <a:pPr algn="l" rtl="0" fontAlgn="base">
              <a:buFont typeface="Arial" panose="020B0604020202020204" pitchFamily="34" charset="0"/>
              <a:buChar char="•"/>
            </a:pPr>
            <a:r>
              <a:rPr lang="en-US" sz="1600" b="0" i="0">
                <a:solidFill>
                  <a:srgbClr val="000000"/>
                </a:solidFill>
                <a:effectLst/>
                <a:latin typeface="Aptos" panose="020B0004020202020204" pitchFamily="34" charset="0"/>
              </a:rPr>
              <a:t>Tool builders create dialect-independent verification tools. </a:t>
            </a:r>
            <a:endParaRPr lang="en-US" sz="1600" b="0" i="0">
              <a:solidFill>
                <a:srgbClr val="000000"/>
              </a:solidFill>
              <a:effectLst/>
              <a:latin typeface="Segoe UI" panose="020B0502040204020203" pitchFamily="34" charset="0"/>
            </a:endParaRPr>
          </a:p>
          <a:p>
            <a:pPr algn="l" rtl="0" fontAlgn="base">
              <a:buFont typeface="+mj-lt"/>
              <a:buAutoNum type="arabicPeriod" startAt="3"/>
            </a:pPr>
            <a:r>
              <a:rPr lang="en-US" sz="1600" b="1" i="0">
                <a:solidFill>
                  <a:srgbClr val="000000"/>
                </a:solidFill>
                <a:effectLst/>
                <a:latin typeface="Aptos" panose="020B0004020202020204" pitchFamily="34" charset="0"/>
              </a:rPr>
              <a:t>Reusable Tools:</a:t>
            </a:r>
            <a:r>
              <a:rPr lang="en-US" sz="1600" b="0" i="0">
                <a:solidFill>
                  <a:srgbClr val="000000"/>
                </a:solidFill>
                <a:effectLst/>
                <a:latin typeface="Aptos" panose="020B0004020202020204" pitchFamily="34" charset="0"/>
              </a:rPr>
              <a:t> Using this infrastructure, they implement three generic tools: </a:t>
            </a:r>
            <a:endParaRPr lang="en-US" sz="1600" b="0" i="0">
              <a:solidFill>
                <a:srgbClr val="000000"/>
              </a:solidFill>
              <a:effectLst/>
              <a:latin typeface="Segoe UI" panose="020B0502040204020203" pitchFamily="34" charset="0"/>
            </a:endParaRPr>
          </a:p>
          <a:p>
            <a:pPr algn="l" rtl="0" fontAlgn="base">
              <a:buFont typeface="Arial" panose="020B0604020202020204" pitchFamily="34" charset="0"/>
              <a:buChar char="•"/>
            </a:pPr>
            <a:r>
              <a:rPr lang="en-US" sz="1600" b="1" i="0">
                <a:solidFill>
                  <a:srgbClr val="C00000"/>
                </a:solidFill>
                <a:effectLst/>
                <a:latin typeface="Aptos" panose="020B0004020202020204" pitchFamily="34" charset="0"/>
              </a:rPr>
              <a:t>Translation Validation:</a:t>
            </a:r>
            <a:r>
              <a:rPr lang="en-US" sz="1600" b="0" i="0">
                <a:solidFill>
                  <a:srgbClr val="C00000"/>
                </a:solidFill>
                <a:effectLst/>
                <a:latin typeface="Aptos" panose="020B0004020202020204" pitchFamily="34" charset="0"/>
              </a:rPr>
              <a:t> Checks that a transformation preserves semantics. </a:t>
            </a:r>
            <a:endParaRPr lang="en-US" sz="1600" b="0" i="0">
              <a:solidFill>
                <a:srgbClr val="C00000"/>
              </a:solidFill>
              <a:effectLst/>
              <a:latin typeface="Segoe UI" panose="020B0502040204020203" pitchFamily="34" charset="0"/>
            </a:endParaRPr>
          </a:p>
          <a:p>
            <a:pPr algn="l" rtl="0" fontAlgn="base">
              <a:buFont typeface="Arial" panose="020B0604020202020204" pitchFamily="34" charset="0"/>
              <a:buChar char="•"/>
            </a:pPr>
            <a:r>
              <a:rPr lang="en-US" sz="1600" b="1" i="0">
                <a:solidFill>
                  <a:srgbClr val="000000"/>
                </a:solidFill>
                <a:effectLst/>
                <a:latin typeface="Aptos" panose="020B0004020202020204" pitchFamily="34" charset="0"/>
              </a:rPr>
              <a:t>Peephole Rewrite Verification:</a:t>
            </a:r>
            <a:r>
              <a:rPr lang="en-US" sz="1600" b="0" i="0">
                <a:solidFill>
                  <a:srgbClr val="000000"/>
                </a:solidFill>
                <a:effectLst/>
                <a:latin typeface="Aptos" panose="020B0004020202020204" pitchFamily="34" charset="0"/>
              </a:rPr>
              <a:t> Proves correctness of rewrite rules expressed in MLIR’s PDL dialect. </a:t>
            </a:r>
            <a:endParaRPr lang="en-US" sz="1600" b="0" i="0">
              <a:solidFill>
                <a:srgbClr val="000000"/>
              </a:solidFill>
              <a:effectLst/>
              <a:latin typeface="Segoe UI" panose="020B0502040204020203" pitchFamily="34" charset="0"/>
            </a:endParaRPr>
          </a:p>
          <a:p>
            <a:pPr algn="l" rtl="0" fontAlgn="base">
              <a:buFont typeface="Arial" panose="020B0604020202020204" pitchFamily="34" charset="0"/>
              <a:buChar char="•"/>
            </a:pPr>
            <a:r>
              <a:rPr lang="en-US" sz="1600" b="1" i="0">
                <a:solidFill>
                  <a:srgbClr val="000000"/>
                </a:solidFill>
                <a:effectLst/>
                <a:latin typeface="Aptos" panose="020B0004020202020204" pitchFamily="34" charset="0"/>
              </a:rPr>
              <a:t>Dataflow Analysis Verification:</a:t>
            </a:r>
            <a:r>
              <a:rPr lang="en-US" sz="1600" b="0" i="0">
                <a:solidFill>
                  <a:srgbClr val="000000"/>
                </a:solidFill>
                <a:effectLst/>
                <a:latin typeface="Aptos" panose="020B0004020202020204" pitchFamily="34" charset="0"/>
              </a:rPr>
              <a:t> Formally verifies transfer functions for static analyses like known bits and demanded bits. </a:t>
            </a:r>
            <a:endParaRPr lang="en-US" sz="1600" b="0" i="0">
              <a:solidFill>
                <a:srgbClr val="000000"/>
              </a:solidFill>
              <a:effectLst/>
              <a:latin typeface="Segoe UI" panose="020B0502040204020203" pitchFamily="34" charset="0"/>
            </a:endParaRPr>
          </a:p>
          <a:p>
            <a:pPr algn="l" rtl="0" fontAlgn="base">
              <a:buFont typeface="+mj-lt"/>
              <a:buAutoNum type="arabicPeriod" startAt="4"/>
            </a:pPr>
            <a:r>
              <a:rPr lang="en-US" sz="1600" b="1" i="0">
                <a:solidFill>
                  <a:srgbClr val="000000"/>
                </a:solidFill>
                <a:effectLst/>
                <a:latin typeface="Aptos" panose="020B0004020202020204" pitchFamily="34" charset="0"/>
              </a:rPr>
              <a:t>Benefits:</a:t>
            </a:r>
            <a:r>
              <a:rPr lang="en-US" sz="1600" b="0" i="0">
                <a:solidFill>
                  <a:srgbClr val="000000"/>
                </a:solidFill>
                <a:effectLst/>
                <a:latin typeface="Aptos" panose="020B0004020202020204" pitchFamily="34" charset="0"/>
              </a:rPr>
              <a:t> </a:t>
            </a:r>
            <a:endParaRPr lang="en-US" sz="1600" b="0" i="0">
              <a:solidFill>
                <a:srgbClr val="000000"/>
              </a:solidFill>
              <a:effectLst/>
              <a:latin typeface="Segoe UI" panose="020B0502040204020203" pitchFamily="34" charset="0"/>
            </a:endParaRPr>
          </a:p>
          <a:p>
            <a:pPr algn="l" rtl="0" fontAlgn="base">
              <a:buFont typeface="Arial" panose="020B0604020202020204" pitchFamily="34" charset="0"/>
              <a:buChar char="•"/>
            </a:pPr>
            <a:r>
              <a:rPr lang="en-US" sz="1600" b="0" i="0">
                <a:solidFill>
                  <a:srgbClr val="000000"/>
                </a:solidFill>
                <a:effectLst/>
                <a:latin typeface="Aptos" panose="020B0004020202020204" pitchFamily="34" charset="0"/>
              </a:rPr>
              <a:t>Early formalization of IR semantics reduces bugs and ambiguity. </a:t>
            </a:r>
            <a:endParaRPr lang="en-US" sz="1600" b="0" i="0">
              <a:solidFill>
                <a:srgbClr val="000000"/>
              </a:solidFill>
              <a:effectLst/>
              <a:latin typeface="Segoe UI" panose="020B0502040204020203" pitchFamily="34" charset="0"/>
            </a:endParaRPr>
          </a:p>
          <a:p>
            <a:pPr algn="l" rtl="0" fontAlgn="base">
              <a:buFont typeface="Arial" panose="020B0604020202020204" pitchFamily="34" charset="0"/>
              <a:buChar char="•"/>
            </a:pPr>
            <a:r>
              <a:rPr lang="en-US" sz="1600" b="0" i="0">
                <a:solidFill>
                  <a:srgbClr val="000000"/>
                </a:solidFill>
                <a:effectLst/>
                <a:latin typeface="Aptos" panose="020B0004020202020204" pitchFamily="34" charset="0"/>
              </a:rPr>
              <a:t>Enables automatic correctness proofs for optimizations and analyses. </a:t>
            </a:r>
            <a:endParaRPr lang="en-US" sz="1600" b="0" i="0">
              <a:solidFill>
                <a:srgbClr val="000000"/>
              </a:solidFill>
              <a:effectLst/>
              <a:latin typeface="Segoe UI" panose="020B0502040204020203" pitchFamily="34" charset="0"/>
            </a:endParaRPr>
          </a:p>
          <a:p>
            <a:pPr algn="l" rtl="0" fontAlgn="base">
              <a:buFont typeface="Arial" panose="020B0604020202020204" pitchFamily="34" charset="0"/>
              <a:buChar char="•"/>
            </a:pPr>
            <a:r>
              <a:rPr lang="en-US" sz="1600" b="0" i="0">
                <a:solidFill>
                  <a:srgbClr val="000000"/>
                </a:solidFill>
                <a:effectLst/>
                <a:latin typeface="Aptos" panose="020B0004020202020204" pitchFamily="34" charset="0"/>
              </a:rPr>
              <a:t>Improves solver performance through domain-specific optimizations. </a:t>
            </a:r>
            <a:endParaRPr lang="en-US" sz="1600" b="0" i="0">
              <a:solidFill>
                <a:srgbClr val="000000"/>
              </a:solidFill>
              <a:effectLst/>
              <a:latin typeface="Segoe UI" panose="020B0502040204020203" pitchFamily="34" charset="0"/>
            </a:endParaRPr>
          </a:p>
          <a:p>
            <a:pPr algn="l" rtl="0" fontAlgn="base">
              <a:spcAft>
                <a:spcPts val="800"/>
              </a:spcAft>
              <a:buNone/>
            </a:pPr>
            <a:r>
              <a:rPr lang="en-US" sz="1600" b="0" i="0">
                <a:solidFill>
                  <a:srgbClr val="000000"/>
                </a:solidFill>
                <a:effectLst/>
                <a:latin typeface="Aptos" panose="020B0004020202020204" pitchFamily="34" charset="0"/>
              </a:rPr>
              <a:t>In short: </a:t>
            </a:r>
            <a:r>
              <a:rPr lang="en-US" sz="1600" b="1" i="0">
                <a:solidFill>
                  <a:srgbClr val="000000"/>
                </a:solidFill>
                <a:effectLst/>
                <a:latin typeface="Aptos" panose="020B0004020202020204" pitchFamily="34" charset="0"/>
              </a:rPr>
              <a:t>Instead of bolting verification on later, the paper integrates semantics and verification into MLIR’s core design, enabling correctness guarantees for compiler passes and analyses with relatively low engineering cost.</a:t>
            </a:r>
            <a:r>
              <a:rPr lang="en-US" sz="1600" b="0" i="0">
                <a:solidFill>
                  <a:srgbClr val="000000"/>
                </a:solidFill>
                <a:effectLst/>
                <a:latin typeface="Aptos" panose="020B0004020202020204" pitchFamily="34" charset="0"/>
              </a:rPr>
              <a:t> </a:t>
            </a:r>
            <a:endParaRPr lang="en-US" sz="1600" b="0" i="0">
              <a:solidFill>
                <a:srgbClr val="000000"/>
              </a:solidFill>
              <a:effectLst/>
              <a:latin typeface="Segoe UI" panose="020B0502040204020203" pitchFamily="34" charset="0"/>
            </a:endParaRPr>
          </a:p>
        </p:txBody>
      </p:sp>
    </p:spTree>
    <p:extLst>
      <p:ext uri="{BB962C8B-B14F-4D97-AF65-F5344CB8AC3E}">
        <p14:creationId xmlns:p14="http://schemas.microsoft.com/office/powerpoint/2010/main" val="21857115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180F8-04E1-C9FF-4943-315CB22DB42F}"/>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95C68C00-66C4-3840-DC3A-5709EB90F032}"/>
              </a:ext>
            </a:extLst>
          </p:cNvPr>
          <p:cNvSpPr txBox="1"/>
          <p:nvPr/>
        </p:nvSpPr>
        <p:spPr>
          <a:xfrm>
            <a:off x="233910" y="208621"/>
            <a:ext cx="10952250" cy="461665"/>
          </a:xfrm>
          <a:prstGeom prst="rect">
            <a:avLst/>
          </a:prstGeom>
          <a:solidFill>
            <a:srgbClr val="002060"/>
          </a:solidFill>
        </p:spPr>
        <p:txBody>
          <a:bodyPr wrap="square" rtlCol="0">
            <a:spAutoFit/>
          </a:bodyPr>
          <a:lstStyle/>
          <a:p>
            <a:r>
              <a:rPr lang="en-US" sz="2400">
                <a:solidFill>
                  <a:schemeClr val="bg1"/>
                </a:solidFill>
                <a:latin typeface="Ubuntu Condensed" panose="020B0506030602030204" pitchFamily="34" charset="0"/>
              </a:rPr>
              <a:t>Formalization, semantic verification</a:t>
            </a:r>
            <a:endParaRPr lang="ru-RU" sz="2400">
              <a:solidFill>
                <a:schemeClr val="bg1"/>
              </a:solidFill>
              <a:latin typeface="Ubuntu Condensed" panose="020B0506030602030204" pitchFamily="34" charset="0"/>
            </a:endParaRPr>
          </a:p>
        </p:txBody>
      </p:sp>
      <p:sp>
        <p:nvSpPr>
          <p:cNvPr id="7" name="Номер слайда 7">
            <a:extLst>
              <a:ext uri="{FF2B5EF4-FFF2-40B4-BE49-F238E27FC236}">
                <a16:creationId xmlns:a16="http://schemas.microsoft.com/office/drawing/2014/main" id="{4C07CF48-D22C-C3C4-49A1-529A9526AEB2}"/>
              </a:ext>
            </a:extLst>
          </p:cNvPr>
          <p:cNvSpPr>
            <a:spLocks noGrp="1"/>
          </p:cNvSpPr>
          <p:nvPr>
            <p:ph type="sldNum" sz="quarter" idx="12"/>
          </p:nvPr>
        </p:nvSpPr>
        <p:spPr>
          <a:xfrm>
            <a:off x="11725835" y="6402070"/>
            <a:ext cx="386155" cy="365125"/>
          </a:xfrm>
        </p:spPr>
        <p:txBody>
          <a:bodyPr/>
          <a:lstStyle/>
          <a:p>
            <a:pPr algn="ctr"/>
            <a:fld id="{E757BAED-F255-4CF1-96BA-8D7417A9C3BC}" type="slidenum">
              <a:rPr lang="ru-RU" sz="1800" smtClean="0">
                <a:latin typeface="Ubuntu Condensed" panose="020B0506030602030204" pitchFamily="34" charset="0"/>
              </a:rPr>
              <a:pPr algn="ctr"/>
              <a:t>45</a:t>
            </a:fld>
            <a:endParaRPr lang="ru-RU" sz="1800">
              <a:latin typeface="Ubuntu Condensed" panose="020B0506030602030204" pitchFamily="34" charset="0"/>
            </a:endParaRPr>
          </a:p>
        </p:txBody>
      </p:sp>
      <p:sp>
        <p:nvSpPr>
          <p:cNvPr id="3" name="TextBox 2">
            <a:extLst>
              <a:ext uri="{FF2B5EF4-FFF2-40B4-BE49-F238E27FC236}">
                <a16:creationId xmlns:a16="http://schemas.microsoft.com/office/drawing/2014/main" id="{84FB9D33-A4D4-4A97-18B6-B3AD4CF6D9DC}"/>
              </a:ext>
            </a:extLst>
          </p:cNvPr>
          <p:cNvSpPr txBox="1"/>
          <p:nvPr/>
        </p:nvSpPr>
        <p:spPr>
          <a:xfrm>
            <a:off x="233909" y="778914"/>
            <a:ext cx="11382123" cy="4885953"/>
          </a:xfrm>
          <a:prstGeom prst="rect">
            <a:avLst/>
          </a:prstGeom>
          <a:noFill/>
        </p:spPr>
        <p:txBody>
          <a:bodyPr wrap="square">
            <a:spAutoFit/>
          </a:bodyPr>
          <a:lstStyle/>
          <a:p>
            <a:pPr algn="l" rtl="0" fontAlgn="base">
              <a:spcAft>
                <a:spcPts val="300"/>
              </a:spcAft>
              <a:buNone/>
            </a:pPr>
            <a:r>
              <a:rPr lang="en-US" b="1" i="0">
                <a:solidFill>
                  <a:srgbClr val="0F4761"/>
                </a:solidFill>
                <a:effectLst/>
                <a:latin typeface="Aptos" panose="020B0004020202020204" pitchFamily="34" charset="0"/>
              </a:rPr>
              <a:t>What problems Fehr’25 solves for our idea</a:t>
            </a:r>
            <a:r>
              <a:rPr lang="en-US" b="0" i="0">
                <a:solidFill>
                  <a:srgbClr val="0F4761"/>
                </a:solidFill>
                <a:effectLst/>
                <a:latin typeface="Aptos" panose="020B0004020202020204" pitchFamily="34" charset="0"/>
              </a:rPr>
              <a:t> </a:t>
            </a:r>
            <a:endParaRPr lang="en-US" sz="1600" b="0" i="0">
              <a:solidFill>
                <a:srgbClr val="0F4761"/>
              </a:solidFill>
              <a:effectLst/>
              <a:latin typeface="Segoe UI" panose="020B0502040204020203" pitchFamily="34" charset="0"/>
            </a:endParaRPr>
          </a:p>
          <a:p>
            <a:pPr algn="l" rtl="0" fontAlgn="base">
              <a:spcAft>
                <a:spcPts val="300"/>
              </a:spcAft>
              <a:buFont typeface="+mj-lt"/>
              <a:buAutoNum type="arabicPeriod"/>
            </a:pPr>
            <a:r>
              <a:rPr lang="en-US" sz="1600" b="1" i="0">
                <a:solidFill>
                  <a:srgbClr val="000000"/>
                </a:solidFill>
                <a:effectLst/>
                <a:latin typeface="Aptos" panose="020B0004020202020204" pitchFamily="34" charset="0"/>
              </a:rPr>
              <a:t>Loss of semantic guarantees during lowering</a:t>
            </a:r>
            <a:r>
              <a:rPr lang="en-US" sz="1600" b="0" i="0">
                <a:solidFill>
                  <a:srgbClr val="000000"/>
                </a:solidFill>
                <a:effectLst/>
                <a:latin typeface="Aptos" panose="020B0004020202020204" pitchFamily="34" charset="0"/>
              </a:rPr>
              <a:t> </a:t>
            </a:r>
            <a:endParaRPr lang="en-US" sz="1600" b="0" i="0">
              <a:solidFill>
                <a:srgbClr val="000000"/>
              </a:solidFill>
              <a:effectLst/>
              <a:latin typeface="Segoe UI" panose="020B0502040204020203" pitchFamily="34" charset="0"/>
            </a:endParaRPr>
          </a:p>
          <a:p>
            <a:pPr algn="l" rtl="0" fontAlgn="base">
              <a:spcAft>
                <a:spcPts val="300"/>
              </a:spcAft>
              <a:buFont typeface="Arial" panose="020B0604020202020204" pitchFamily="34" charset="0"/>
              <a:buChar char="•"/>
            </a:pPr>
            <a:r>
              <a:rPr lang="en-US" sz="1600" b="1" i="0">
                <a:solidFill>
                  <a:srgbClr val="000000"/>
                </a:solidFill>
                <a:effectLst/>
                <a:latin typeface="Aptos" panose="020B0004020202020204" pitchFamily="34" charset="0"/>
              </a:rPr>
              <a:t>Progress:</a:t>
            </a:r>
            <a:r>
              <a:rPr lang="en-US" sz="1600" b="0" i="0">
                <a:solidFill>
                  <a:srgbClr val="000000"/>
                </a:solidFill>
                <a:effectLst/>
                <a:latin typeface="Aptos" panose="020B0004020202020204" pitchFamily="34" charset="0"/>
              </a:rPr>
              <a:t> An operation with </a:t>
            </a:r>
            <a:r>
              <a:rPr lang="en-US" sz="1600" b="0" i="1">
                <a:solidFill>
                  <a:srgbClr val="404040"/>
                </a:solidFill>
                <a:effectLst/>
                <a:latin typeface="Aptos" panose="020B0004020202020204" pitchFamily="34" charset="0"/>
              </a:rPr>
              <a:t>progress="wait-free"</a:t>
            </a:r>
            <a:r>
              <a:rPr lang="en-US" sz="1600" b="0" i="0">
                <a:solidFill>
                  <a:srgbClr val="000000"/>
                </a:solidFill>
                <a:effectLst/>
                <a:latin typeface="Aptos" panose="020B0004020202020204" pitchFamily="34" charset="0"/>
              </a:rPr>
              <a:t> can be lowered into an unbounded CAS loop → effectively blocking instead of wait-free. </a:t>
            </a:r>
            <a:endParaRPr lang="en-US" sz="1600" b="0" i="0">
              <a:solidFill>
                <a:srgbClr val="000000"/>
              </a:solidFill>
              <a:effectLst/>
              <a:latin typeface="Segoe UI" panose="020B0502040204020203" pitchFamily="34" charset="0"/>
            </a:endParaRPr>
          </a:p>
          <a:p>
            <a:pPr algn="l" rtl="0" fontAlgn="base">
              <a:spcAft>
                <a:spcPts val="300"/>
              </a:spcAft>
              <a:buFont typeface="Arial" panose="020B0604020202020204" pitchFamily="34" charset="0"/>
              <a:buChar char="•"/>
            </a:pPr>
            <a:r>
              <a:rPr lang="en-US" sz="1600" b="1" i="0">
                <a:solidFill>
                  <a:srgbClr val="000000"/>
                </a:solidFill>
                <a:effectLst/>
                <a:latin typeface="Aptos" panose="020B0004020202020204" pitchFamily="34" charset="0"/>
              </a:rPr>
              <a:t>Linearizability:</a:t>
            </a:r>
            <a:r>
              <a:rPr lang="en-US" sz="1600" b="0" i="0">
                <a:solidFill>
                  <a:srgbClr val="000000"/>
                </a:solidFill>
                <a:effectLst/>
                <a:latin typeface="Aptos" panose="020B0004020202020204" pitchFamily="34" charset="0"/>
              </a:rPr>
              <a:t> LP markers may disappear or be moved incorrectly → atomicity breaks. </a:t>
            </a:r>
            <a:endParaRPr lang="en-US" sz="1600" b="0" i="0">
              <a:solidFill>
                <a:srgbClr val="000000"/>
              </a:solidFill>
              <a:effectLst/>
              <a:latin typeface="Segoe UI" panose="020B0502040204020203" pitchFamily="34" charset="0"/>
            </a:endParaRPr>
          </a:p>
          <a:p>
            <a:pPr algn="l" rtl="0" fontAlgn="base">
              <a:spcAft>
                <a:spcPts val="300"/>
              </a:spcAft>
              <a:buFont typeface="Arial" panose="020B0604020202020204" pitchFamily="34" charset="0"/>
              <a:buChar char="•"/>
            </a:pPr>
            <a:r>
              <a:rPr lang="en-US" sz="1600" b="1" i="0">
                <a:solidFill>
                  <a:srgbClr val="000000"/>
                </a:solidFill>
                <a:effectLst/>
                <a:latin typeface="Aptos" panose="020B0004020202020204" pitchFamily="34" charset="0"/>
              </a:rPr>
              <a:t>Memory order and scope:</a:t>
            </a:r>
            <a:r>
              <a:rPr lang="en-US" sz="1600" b="0" i="0">
                <a:solidFill>
                  <a:srgbClr val="000000"/>
                </a:solidFill>
                <a:effectLst/>
                <a:latin typeface="Aptos" panose="020B0004020202020204" pitchFamily="34" charset="0"/>
              </a:rPr>
              <a:t> Misinterpretation of </a:t>
            </a:r>
            <a:r>
              <a:rPr lang="en-US" sz="1600" b="0" i="1">
                <a:solidFill>
                  <a:srgbClr val="404040"/>
                </a:solidFill>
                <a:effectLst/>
                <a:latin typeface="Aptos" panose="020B0004020202020204" pitchFamily="34" charset="0"/>
              </a:rPr>
              <a:t>acquire/release</a:t>
            </a:r>
            <a:r>
              <a:rPr lang="en-US" sz="1600" b="0" i="0">
                <a:solidFill>
                  <a:srgbClr val="000000"/>
                </a:solidFill>
                <a:effectLst/>
                <a:latin typeface="Aptos" panose="020B0004020202020204" pitchFamily="34" charset="0"/>
              </a:rPr>
              <a:t>, </a:t>
            </a:r>
            <a:r>
              <a:rPr lang="en-US" sz="1600" b="0" i="1" err="1">
                <a:solidFill>
                  <a:srgbClr val="404040"/>
                </a:solidFill>
                <a:effectLst/>
                <a:latin typeface="Aptos" panose="020B0004020202020204" pitchFamily="34" charset="0"/>
              </a:rPr>
              <a:t>seq_cst</a:t>
            </a:r>
            <a:r>
              <a:rPr lang="en-US" sz="1600" b="0" i="0">
                <a:solidFill>
                  <a:srgbClr val="000000"/>
                </a:solidFill>
                <a:effectLst/>
                <a:latin typeface="Aptos" panose="020B0004020202020204" pitchFamily="34" charset="0"/>
              </a:rPr>
              <a:t>, or scope (</a:t>
            </a:r>
            <a:r>
              <a:rPr lang="en-US" sz="1600" b="0" i="1">
                <a:solidFill>
                  <a:srgbClr val="404040"/>
                </a:solidFill>
                <a:effectLst/>
                <a:latin typeface="Aptos" panose="020B0004020202020204" pitchFamily="34" charset="0"/>
              </a:rPr>
              <a:t>thread</a:t>
            </a:r>
            <a:r>
              <a:rPr lang="en-US" sz="1600" b="0" i="0">
                <a:solidFill>
                  <a:srgbClr val="000000"/>
                </a:solidFill>
                <a:effectLst/>
                <a:latin typeface="Aptos" panose="020B0004020202020204" pitchFamily="34" charset="0"/>
              </a:rPr>
              <a:t>, </a:t>
            </a:r>
            <a:r>
              <a:rPr lang="en-US" sz="1600" b="0" i="1">
                <a:solidFill>
                  <a:srgbClr val="404040"/>
                </a:solidFill>
                <a:effectLst/>
                <a:latin typeface="Aptos" panose="020B0004020202020204" pitchFamily="34" charset="0"/>
              </a:rPr>
              <a:t>system</a:t>
            </a:r>
            <a:r>
              <a:rPr lang="en-US" sz="1600" b="0" i="0">
                <a:solidFill>
                  <a:srgbClr val="000000"/>
                </a:solidFill>
                <a:effectLst/>
                <a:latin typeface="Aptos" panose="020B0004020202020204" pitchFamily="34" charset="0"/>
              </a:rPr>
              <a:t>) → data races. </a:t>
            </a:r>
            <a:endParaRPr lang="en-US" sz="1600" b="0" i="0">
              <a:solidFill>
                <a:srgbClr val="000000"/>
              </a:solidFill>
              <a:effectLst/>
              <a:latin typeface="Segoe UI" panose="020B0502040204020203" pitchFamily="34" charset="0"/>
            </a:endParaRPr>
          </a:p>
          <a:p>
            <a:pPr algn="l" rtl="0" fontAlgn="base">
              <a:spcAft>
                <a:spcPts val="300"/>
              </a:spcAft>
              <a:buFont typeface="Arial" panose="020B0604020202020204" pitchFamily="34" charset="0"/>
              <a:buChar char="•"/>
            </a:pPr>
            <a:r>
              <a:rPr lang="en-US" sz="1600" b="1" i="0">
                <a:solidFill>
                  <a:srgbClr val="000000"/>
                </a:solidFill>
                <a:effectLst/>
                <a:latin typeface="Aptos" panose="020B0004020202020204" pitchFamily="34" charset="0"/>
              </a:rPr>
              <a:t>SMR invariants:</a:t>
            </a:r>
            <a:r>
              <a:rPr lang="en-US" sz="1600" b="0" i="0">
                <a:solidFill>
                  <a:srgbClr val="000000"/>
                </a:solidFill>
                <a:effectLst/>
                <a:latin typeface="Aptos" panose="020B0004020202020204" pitchFamily="34" charset="0"/>
              </a:rPr>
              <a:t> Hazard pointers or epoch-based reclamation may lose protection → use-after-free bugs. </a:t>
            </a:r>
            <a:endParaRPr lang="ru-RU" sz="1600" b="0" i="0">
              <a:solidFill>
                <a:srgbClr val="000000"/>
              </a:solidFill>
              <a:effectLst/>
              <a:latin typeface="Aptos" panose="020B0004020202020204" pitchFamily="34" charset="0"/>
            </a:endParaRPr>
          </a:p>
          <a:p>
            <a:pPr algn="l" rtl="0" fontAlgn="base">
              <a:spcAft>
                <a:spcPts val="300"/>
              </a:spcAft>
              <a:buFont typeface="Arial" panose="020B0604020202020204" pitchFamily="34" charset="0"/>
              <a:buChar char="•"/>
            </a:pPr>
            <a:endParaRPr lang="en-US" sz="1600" b="0" i="0">
              <a:solidFill>
                <a:srgbClr val="000000"/>
              </a:solidFill>
              <a:effectLst/>
              <a:latin typeface="Segoe UI" panose="020B0502040204020203" pitchFamily="34" charset="0"/>
            </a:endParaRPr>
          </a:p>
          <a:p>
            <a:pPr algn="l" rtl="0" fontAlgn="base">
              <a:spcAft>
                <a:spcPts val="300"/>
              </a:spcAft>
              <a:buFont typeface="+mj-lt"/>
              <a:buAutoNum type="arabicPeriod" startAt="2"/>
            </a:pPr>
            <a:r>
              <a:rPr lang="en-US" sz="1600" b="1" i="0">
                <a:solidFill>
                  <a:srgbClr val="000000"/>
                </a:solidFill>
                <a:effectLst/>
                <a:latin typeface="Aptos" panose="020B0004020202020204" pitchFamily="34" charset="0"/>
              </a:rPr>
              <a:t>Optimizations without formal validation</a:t>
            </a:r>
            <a:r>
              <a:rPr lang="en-US" sz="1600" b="0" i="0">
                <a:solidFill>
                  <a:srgbClr val="000000"/>
                </a:solidFill>
                <a:effectLst/>
                <a:latin typeface="Aptos" panose="020B0004020202020204" pitchFamily="34" charset="0"/>
              </a:rPr>
              <a:t> </a:t>
            </a:r>
            <a:endParaRPr lang="en-US" sz="1600" b="0" i="0">
              <a:solidFill>
                <a:srgbClr val="000000"/>
              </a:solidFill>
              <a:effectLst/>
              <a:latin typeface="Segoe UI" panose="020B0502040204020203" pitchFamily="34" charset="0"/>
            </a:endParaRPr>
          </a:p>
          <a:p>
            <a:pPr algn="l" rtl="0" fontAlgn="base">
              <a:spcAft>
                <a:spcPts val="300"/>
              </a:spcAft>
              <a:buFont typeface="Arial" panose="020B0604020202020204" pitchFamily="34" charset="0"/>
              <a:buChar char="•"/>
            </a:pPr>
            <a:r>
              <a:rPr lang="en-US" sz="1600" b="1" i="0">
                <a:solidFill>
                  <a:srgbClr val="000000"/>
                </a:solidFill>
                <a:effectLst/>
                <a:latin typeface="Aptos" panose="020B0004020202020204" pitchFamily="34" charset="0"/>
              </a:rPr>
              <a:t>Fence removal:</a:t>
            </a:r>
            <a:r>
              <a:rPr lang="en-US" sz="1600" b="0" i="0">
                <a:solidFill>
                  <a:srgbClr val="000000"/>
                </a:solidFill>
                <a:effectLst/>
                <a:latin typeface="Aptos" panose="020B0004020202020204" pitchFamily="34" charset="0"/>
              </a:rPr>
              <a:t> Compiler removes fences thinking they are redundant → breaks happens-before guarantees. </a:t>
            </a:r>
            <a:endParaRPr lang="en-US" sz="1600" b="0" i="0">
              <a:solidFill>
                <a:srgbClr val="000000"/>
              </a:solidFill>
              <a:effectLst/>
              <a:latin typeface="Segoe UI" panose="020B0502040204020203" pitchFamily="34" charset="0"/>
            </a:endParaRPr>
          </a:p>
          <a:p>
            <a:pPr algn="l" rtl="0" fontAlgn="base">
              <a:spcAft>
                <a:spcPts val="300"/>
              </a:spcAft>
              <a:buFont typeface="Arial" panose="020B0604020202020204" pitchFamily="34" charset="0"/>
              <a:buChar char="•"/>
            </a:pPr>
            <a:r>
              <a:rPr lang="en-US" sz="1600" b="1" i="0">
                <a:solidFill>
                  <a:srgbClr val="000000"/>
                </a:solidFill>
                <a:effectLst/>
                <a:latin typeface="Aptos" panose="020B0004020202020204" pitchFamily="34" charset="0"/>
              </a:rPr>
              <a:t>LP reordering:</a:t>
            </a:r>
            <a:r>
              <a:rPr lang="en-US" sz="1600" b="0" i="0">
                <a:solidFill>
                  <a:srgbClr val="000000"/>
                </a:solidFill>
                <a:effectLst/>
                <a:latin typeface="Aptos" panose="020B0004020202020204" pitchFamily="34" charset="0"/>
              </a:rPr>
              <a:t> Moving heavy work out of CAS loops can break correctness if LP semantics aren’t preserved. </a:t>
            </a:r>
            <a:endParaRPr lang="en-US" sz="1600" b="0" i="0">
              <a:solidFill>
                <a:srgbClr val="000000"/>
              </a:solidFill>
              <a:effectLst/>
              <a:latin typeface="Segoe UI" panose="020B0502040204020203" pitchFamily="34" charset="0"/>
            </a:endParaRPr>
          </a:p>
          <a:p>
            <a:pPr algn="l" rtl="0" fontAlgn="base">
              <a:spcAft>
                <a:spcPts val="300"/>
              </a:spcAft>
              <a:buFont typeface="Arial" panose="020B0604020202020204" pitchFamily="34" charset="0"/>
              <a:buChar char="•"/>
            </a:pPr>
            <a:r>
              <a:rPr lang="en-US" sz="1600" b="1" i="0">
                <a:solidFill>
                  <a:srgbClr val="000000"/>
                </a:solidFill>
                <a:effectLst/>
                <a:latin typeface="Aptos" panose="020B0004020202020204" pitchFamily="34" charset="0"/>
              </a:rPr>
              <a:t>Lock hoisting/</a:t>
            </a:r>
            <a:r>
              <a:rPr lang="en-US" sz="1600" b="1">
                <a:solidFill>
                  <a:srgbClr val="000000"/>
                </a:solidFill>
                <a:latin typeface="Aptos" panose="020B0004020202020204" pitchFamily="34" charset="0"/>
              </a:rPr>
              <a:t>sinking</a:t>
            </a:r>
            <a:r>
              <a:rPr lang="en-US" sz="1600" b="1" i="0">
                <a:solidFill>
                  <a:srgbClr val="000000"/>
                </a:solidFill>
                <a:effectLst/>
                <a:latin typeface="Aptos" panose="020B0004020202020204" pitchFamily="34" charset="0"/>
              </a:rPr>
              <a:t>, transaction merging and etc</a:t>
            </a:r>
            <a:r>
              <a:rPr lang="en-US" sz="1600" b="0" i="0">
                <a:solidFill>
                  <a:srgbClr val="000000"/>
                </a:solidFill>
                <a:effectLst/>
                <a:latin typeface="Aptos" panose="020B0004020202020204" pitchFamily="34" charset="0"/>
              </a:rPr>
              <a:t>. </a:t>
            </a:r>
            <a:endParaRPr lang="ru-RU" sz="1600" b="0" i="0">
              <a:solidFill>
                <a:srgbClr val="000000"/>
              </a:solidFill>
              <a:effectLst/>
              <a:latin typeface="Aptos" panose="020B0004020202020204" pitchFamily="34" charset="0"/>
            </a:endParaRPr>
          </a:p>
          <a:p>
            <a:pPr algn="l" rtl="0" fontAlgn="base">
              <a:spcAft>
                <a:spcPts val="300"/>
              </a:spcAft>
              <a:buFont typeface="Arial" panose="020B0604020202020204" pitchFamily="34" charset="0"/>
              <a:buChar char="•"/>
            </a:pPr>
            <a:endParaRPr lang="en-US" sz="1600" b="0" i="0">
              <a:solidFill>
                <a:srgbClr val="000000"/>
              </a:solidFill>
              <a:effectLst/>
              <a:latin typeface="Segoe UI" panose="020B0502040204020203" pitchFamily="34" charset="0"/>
            </a:endParaRPr>
          </a:p>
          <a:p>
            <a:pPr algn="l" rtl="0" fontAlgn="base">
              <a:spcAft>
                <a:spcPts val="300"/>
              </a:spcAft>
              <a:buFont typeface="+mj-lt"/>
              <a:buAutoNum type="arabicPeriod" startAt="3"/>
            </a:pPr>
            <a:r>
              <a:rPr lang="en-US" sz="1600" b="1" i="0">
                <a:solidFill>
                  <a:srgbClr val="000000"/>
                </a:solidFill>
                <a:effectLst/>
                <a:latin typeface="Aptos" panose="020B0004020202020204" pitchFamily="34" charset="0"/>
              </a:rPr>
              <a:t>Manual correctness checking is hard</a:t>
            </a:r>
            <a:r>
              <a:rPr lang="en-US" sz="1600" b="0" i="0">
                <a:solidFill>
                  <a:srgbClr val="000000"/>
                </a:solidFill>
                <a:effectLst/>
                <a:latin typeface="Aptos" panose="020B0004020202020204" pitchFamily="34" charset="0"/>
              </a:rPr>
              <a:t> </a:t>
            </a:r>
            <a:endParaRPr lang="en-US" sz="1600" b="0" i="0">
              <a:solidFill>
                <a:srgbClr val="000000"/>
              </a:solidFill>
              <a:effectLst/>
              <a:latin typeface="Segoe UI" panose="020B0502040204020203" pitchFamily="34" charset="0"/>
            </a:endParaRPr>
          </a:p>
          <a:p>
            <a:pPr algn="l" rtl="0" fontAlgn="base">
              <a:spcAft>
                <a:spcPts val="300"/>
              </a:spcAft>
              <a:buFont typeface="Arial" panose="020B0604020202020204" pitchFamily="34" charset="0"/>
              <a:buChar char="•"/>
            </a:pPr>
            <a:r>
              <a:rPr lang="en-US" sz="1600" b="0" i="0">
                <a:solidFill>
                  <a:srgbClr val="000000"/>
                </a:solidFill>
                <a:effectLst/>
                <a:latin typeface="Aptos" panose="020B0004020202020204" pitchFamily="34" charset="0"/>
              </a:rPr>
              <a:t>LLVM IR introduces poison and UB, absent in MLIR → easy to make mistakes when mapping semantics. </a:t>
            </a:r>
            <a:endParaRPr lang="en-US" sz="1600" b="0" i="0">
              <a:solidFill>
                <a:srgbClr val="000000"/>
              </a:solidFill>
              <a:effectLst/>
              <a:latin typeface="Segoe UI" panose="020B0502040204020203" pitchFamily="34" charset="0"/>
            </a:endParaRPr>
          </a:p>
          <a:p>
            <a:pPr algn="l" rtl="0" fontAlgn="base">
              <a:spcAft>
                <a:spcPts val="300"/>
              </a:spcAft>
              <a:buFont typeface="Arial" panose="020B0604020202020204" pitchFamily="34" charset="0"/>
              <a:buChar char="•"/>
            </a:pPr>
            <a:r>
              <a:rPr lang="en-US" sz="1600" b="0" i="0">
                <a:solidFill>
                  <a:srgbClr val="000000"/>
                </a:solidFill>
                <a:effectLst/>
                <a:latin typeface="Aptos" panose="020B0004020202020204" pitchFamily="34" charset="0"/>
              </a:rPr>
              <a:t>Peephole rewrites with conditions (e.g., </a:t>
            </a:r>
            <a:r>
              <a:rPr lang="en-US" sz="1600" b="0" i="1">
                <a:solidFill>
                  <a:srgbClr val="404040"/>
                </a:solidFill>
                <a:effectLst/>
                <a:latin typeface="Aptos" panose="020B0004020202020204" pitchFamily="34" charset="0"/>
              </a:rPr>
              <a:t>MUL(</a:t>
            </a:r>
            <a:r>
              <a:rPr lang="en-US" sz="1600" b="0" i="1" err="1">
                <a:solidFill>
                  <a:srgbClr val="404040"/>
                </a:solidFill>
                <a:effectLst/>
                <a:latin typeface="Aptos" panose="020B0004020202020204" pitchFamily="34" charset="0"/>
              </a:rPr>
              <a:t>x,C</a:t>
            </a:r>
            <a:r>
              <a:rPr lang="en-US" sz="1600" b="0" i="1">
                <a:solidFill>
                  <a:srgbClr val="404040"/>
                </a:solidFill>
                <a:effectLst/>
                <a:latin typeface="Aptos" panose="020B0004020202020204" pitchFamily="34" charset="0"/>
              </a:rPr>
              <a:t>)</a:t>
            </a:r>
            <a:r>
              <a:rPr lang="en-US" sz="1600" b="0" i="0">
                <a:solidFill>
                  <a:srgbClr val="000000"/>
                </a:solidFill>
                <a:effectLst/>
                <a:latin typeface="Aptos" panose="020B0004020202020204" pitchFamily="34" charset="0"/>
              </a:rPr>
              <a:t> → </a:t>
            </a:r>
            <a:r>
              <a:rPr lang="en-US" sz="1600" b="0" i="1">
                <a:solidFill>
                  <a:srgbClr val="404040"/>
                </a:solidFill>
                <a:effectLst/>
                <a:latin typeface="Aptos" panose="020B0004020202020204" pitchFamily="34" charset="0"/>
              </a:rPr>
              <a:t>SHL(x,log2(C))</a:t>
            </a:r>
            <a:r>
              <a:rPr lang="en-US" sz="1600" b="0" i="0">
                <a:solidFill>
                  <a:srgbClr val="000000"/>
                </a:solidFill>
                <a:effectLst/>
                <a:latin typeface="Aptos" panose="020B0004020202020204" pitchFamily="34" charset="0"/>
              </a:rPr>
              <a:t>) require verification for all bit-widths and constants. </a:t>
            </a:r>
            <a:endParaRPr lang="en-US" sz="1600" b="0" i="0">
              <a:solidFill>
                <a:srgbClr val="000000"/>
              </a:solidFill>
              <a:effectLst/>
              <a:latin typeface="Segoe UI" panose="020B0502040204020203" pitchFamily="34" charset="0"/>
            </a:endParaRPr>
          </a:p>
          <a:p>
            <a:pPr algn="l" rtl="0" fontAlgn="base">
              <a:spcAft>
                <a:spcPts val="300"/>
              </a:spcAft>
              <a:buFont typeface="Arial" panose="020B0604020202020204" pitchFamily="34" charset="0"/>
              <a:buChar char="•"/>
            </a:pPr>
            <a:r>
              <a:rPr lang="en-US" sz="1600" b="0" i="0">
                <a:solidFill>
                  <a:srgbClr val="000000"/>
                </a:solidFill>
                <a:effectLst/>
                <a:latin typeface="Aptos" panose="020B0004020202020204" pitchFamily="34" charset="0"/>
              </a:rPr>
              <a:t>Progress and memory safety analyses (SMR) are difficult to validate without a formal model. </a:t>
            </a:r>
            <a:endParaRPr lang="en-US" sz="1600" b="0" i="0">
              <a:solidFill>
                <a:srgbClr val="000000"/>
              </a:solidFill>
              <a:effectLst/>
              <a:latin typeface="Segoe UI" panose="020B0502040204020203" pitchFamily="34" charset="0"/>
            </a:endParaRPr>
          </a:p>
        </p:txBody>
      </p:sp>
    </p:spTree>
    <p:extLst>
      <p:ext uri="{BB962C8B-B14F-4D97-AF65-F5344CB8AC3E}">
        <p14:creationId xmlns:p14="http://schemas.microsoft.com/office/powerpoint/2010/main" val="9163408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93D4D509-2EC2-948B-61DF-13E1EB958D5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2123289-2468-C70F-7A10-E4AEFCB2DCC3}"/>
              </a:ext>
            </a:extLst>
          </p:cNvPr>
          <p:cNvSpPr txBox="1"/>
          <p:nvPr/>
        </p:nvSpPr>
        <p:spPr>
          <a:xfrm>
            <a:off x="1008491" y="1236947"/>
            <a:ext cx="8726556" cy="1015663"/>
          </a:xfrm>
          <a:prstGeom prst="rect">
            <a:avLst/>
          </a:prstGeom>
          <a:noFill/>
        </p:spPr>
        <p:txBody>
          <a:bodyPr wrap="square">
            <a:spAutoFit/>
          </a:bodyPr>
          <a:lstStyle/>
          <a:p>
            <a:r>
              <a:rPr lang="en-US" sz="6000">
                <a:solidFill>
                  <a:schemeClr val="bg1"/>
                </a:solidFill>
                <a:latin typeface="Ubuntu Condensed" panose="020B0506030602030204" pitchFamily="34" charset="0"/>
              </a:rPr>
              <a:t>User cases</a:t>
            </a:r>
            <a:endParaRPr lang="ru-RU" sz="6000">
              <a:solidFill>
                <a:schemeClr val="bg1"/>
              </a:solidFill>
              <a:latin typeface="Ubuntu Condensed" panose="020B0506030602030204" pitchFamily="34" charset="0"/>
            </a:endParaRPr>
          </a:p>
        </p:txBody>
      </p:sp>
    </p:spTree>
    <p:extLst>
      <p:ext uri="{BB962C8B-B14F-4D97-AF65-F5344CB8AC3E}">
        <p14:creationId xmlns:p14="http://schemas.microsoft.com/office/powerpoint/2010/main" val="5712232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0713A-99D1-D103-A466-D37269122A10}"/>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35528F20-F6E3-9C11-1905-8B9737F0A1AF}"/>
              </a:ext>
            </a:extLst>
          </p:cNvPr>
          <p:cNvSpPr txBox="1"/>
          <p:nvPr/>
        </p:nvSpPr>
        <p:spPr>
          <a:xfrm>
            <a:off x="233910" y="208621"/>
            <a:ext cx="7271790" cy="461665"/>
          </a:xfrm>
          <a:prstGeom prst="rect">
            <a:avLst/>
          </a:prstGeom>
          <a:solidFill>
            <a:srgbClr val="002060"/>
          </a:solidFill>
        </p:spPr>
        <p:txBody>
          <a:bodyPr wrap="square" rtlCol="0">
            <a:spAutoFit/>
          </a:bodyPr>
          <a:lstStyle/>
          <a:p>
            <a:r>
              <a:rPr lang="en-US" sz="2400">
                <a:solidFill>
                  <a:schemeClr val="bg1"/>
                </a:solidFill>
                <a:latin typeface="Ubuntu Condensed" panose="020B0506030602030204" pitchFamily="34" charset="0"/>
              </a:rPr>
              <a:t>Optimizations Enabled by Linearization Points – Motivation</a:t>
            </a:r>
            <a:endParaRPr lang="ru-RU" sz="2400">
              <a:solidFill>
                <a:schemeClr val="bg1"/>
              </a:solidFill>
              <a:latin typeface="Ubuntu Condensed" panose="020B0506030602030204" pitchFamily="34" charset="0"/>
            </a:endParaRPr>
          </a:p>
        </p:txBody>
      </p:sp>
      <p:sp>
        <p:nvSpPr>
          <p:cNvPr id="7" name="Номер слайда 7">
            <a:extLst>
              <a:ext uri="{FF2B5EF4-FFF2-40B4-BE49-F238E27FC236}">
                <a16:creationId xmlns:a16="http://schemas.microsoft.com/office/drawing/2014/main" id="{3E01DA62-3DF6-6079-A92C-EABF5179F179}"/>
              </a:ext>
            </a:extLst>
          </p:cNvPr>
          <p:cNvSpPr>
            <a:spLocks noGrp="1"/>
          </p:cNvSpPr>
          <p:nvPr>
            <p:ph type="sldNum" sz="quarter" idx="12"/>
          </p:nvPr>
        </p:nvSpPr>
        <p:spPr>
          <a:xfrm>
            <a:off x="11725835" y="6402070"/>
            <a:ext cx="386155" cy="365125"/>
          </a:xfrm>
        </p:spPr>
        <p:txBody>
          <a:bodyPr/>
          <a:lstStyle/>
          <a:p>
            <a:pPr algn="ctr"/>
            <a:fld id="{E757BAED-F255-4CF1-96BA-8D7417A9C3BC}" type="slidenum">
              <a:rPr lang="ru-RU" sz="1800" smtClean="0">
                <a:latin typeface="Ubuntu Condensed" panose="020B0506030602030204" pitchFamily="34" charset="0"/>
              </a:rPr>
              <a:pPr algn="ctr"/>
              <a:t>47</a:t>
            </a:fld>
            <a:endParaRPr lang="ru-RU" sz="1800">
              <a:latin typeface="Ubuntu Condensed" panose="020B0506030602030204" pitchFamily="34" charset="0"/>
            </a:endParaRPr>
          </a:p>
        </p:txBody>
      </p:sp>
      <p:sp>
        <p:nvSpPr>
          <p:cNvPr id="5" name="TextBox 4">
            <a:extLst>
              <a:ext uri="{FF2B5EF4-FFF2-40B4-BE49-F238E27FC236}">
                <a16:creationId xmlns:a16="http://schemas.microsoft.com/office/drawing/2014/main" id="{A0FB87EF-5E6B-A562-A421-6EC9E0961037}"/>
              </a:ext>
            </a:extLst>
          </p:cNvPr>
          <p:cNvSpPr txBox="1"/>
          <p:nvPr/>
        </p:nvSpPr>
        <p:spPr>
          <a:xfrm>
            <a:off x="233910" y="852848"/>
            <a:ext cx="11724180" cy="6005152"/>
          </a:xfrm>
          <a:prstGeom prst="rect">
            <a:avLst/>
          </a:prstGeom>
          <a:noFill/>
        </p:spPr>
        <p:txBody>
          <a:bodyPr wrap="square" numCol="2">
            <a:noAutofit/>
          </a:bodyPr>
          <a:lstStyle/>
          <a:p>
            <a:pPr algn="l">
              <a:spcAft>
                <a:spcPts val="300"/>
              </a:spcAft>
              <a:buNone/>
            </a:pPr>
            <a:r>
              <a:rPr lang="en-US" sz="1200" b="1" i="0">
                <a:solidFill>
                  <a:srgbClr val="3333FF"/>
                </a:solidFill>
                <a:effectLst/>
                <a:latin typeface="Inter"/>
              </a:rPr>
              <a:t>1. Context-Aware Specialization</a:t>
            </a:r>
          </a:p>
          <a:p>
            <a:pPr algn="l">
              <a:spcAft>
                <a:spcPts val="300"/>
              </a:spcAft>
              <a:buNone/>
            </a:pPr>
            <a:r>
              <a:rPr lang="en-US" sz="1200" b="0" i="0">
                <a:effectLst/>
                <a:latin typeface="Inter"/>
              </a:rPr>
              <a:t>A library (TBB, Folly) is written for the </a:t>
            </a:r>
            <a:r>
              <a:rPr lang="en-US" sz="1200" b="1" i="0">
                <a:effectLst/>
                <a:latin typeface="Inter"/>
              </a:rPr>
              <a:t>Generic Case</a:t>
            </a:r>
            <a:r>
              <a:rPr lang="en-US" sz="1200" b="0" i="0">
                <a:effectLst/>
                <a:latin typeface="Inter"/>
              </a:rPr>
              <a:t>. The library developer must assume the worst:</a:t>
            </a:r>
          </a:p>
          <a:p>
            <a:pPr algn="l">
              <a:spcAft>
                <a:spcPts val="300"/>
              </a:spcAft>
              <a:buFont typeface="Arial" panose="020B0604020202020204" pitchFamily="34" charset="0"/>
              <a:buChar char="•"/>
            </a:pPr>
            <a:r>
              <a:rPr lang="en-US" sz="1200" b="0" i="0">
                <a:effectLst/>
                <a:latin typeface="Inter"/>
              </a:rPr>
              <a:t>Thousands of writing threads.</a:t>
            </a:r>
          </a:p>
          <a:p>
            <a:pPr algn="l">
              <a:spcAft>
                <a:spcPts val="300"/>
              </a:spcAft>
              <a:buFont typeface="Arial" panose="020B0604020202020204" pitchFamily="34" charset="0"/>
              <a:buChar char="•"/>
            </a:pPr>
            <a:r>
              <a:rPr lang="en-US" sz="1200" b="0" i="0">
                <a:effectLst/>
                <a:latin typeface="Inter"/>
              </a:rPr>
              <a:t>Thousands of reading threads.</a:t>
            </a:r>
          </a:p>
          <a:p>
            <a:pPr algn="l">
              <a:spcAft>
                <a:spcPts val="300"/>
              </a:spcAft>
              <a:buFont typeface="Arial" panose="020B0604020202020204" pitchFamily="34" charset="0"/>
              <a:buChar char="•"/>
            </a:pPr>
            <a:r>
              <a:rPr lang="en-US" sz="1200" b="0" i="0">
                <a:effectLst/>
                <a:latin typeface="Inter"/>
              </a:rPr>
              <a:t>Different NUMA nodes.</a:t>
            </a:r>
          </a:p>
          <a:p>
            <a:pPr algn="l">
              <a:spcAft>
                <a:spcPts val="300"/>
              </a:spcAft>
              <a:buNone/>
            </a:pPr>
            <a:r>
              <a:rPr lang="en-US" sz="1200" b="1" i="0">
                <a:effectLst/>
                <a:latin typeface="Inter"/>
              </a:rPr>
              <a:t>Application Reality:</a:t>
            </a:r>
            <a:r>
              <a:rPr lang="ru-RU" sz="1200" b="1" i="0">
                <a:effectLst/>
                <a:latin typeface="Inter"/>
              </a:rPr>
              <a:t> </a:t>
            </a:r>
            <a:r>
              <a:rPr lang="en-US" sz="1200" b="0" i="0">
                <a:effectLst/>
                <a:latin typeface="Inter"/>
              </a:rPr>
              <a:t>A programmer takes this powerful </a:t>
            </a:r>
            <a:r>
              <a:rPr lang="en-US" sz="1200" b="0" i="0">
                <a:effectLst/>
                <a:latin typeface="DM Mono" panose="020B0509040201040103" pitchFamily="49" charset="0"/>
              </a:rPr>
              <a:t>folly::</a:t>
            </a:r>
            <a:r>
              <a:rPr lang="en-US" sz="1200" b="0" i="0" err="1">
                <a:effectLst/>
                <a:latin typeface="DM Mono" panose="020B0509040201040103" pitchFamily="49" charset="0"/>
              </a:rPr>
              <a:t>MPMCQueue</a:t>
            </a:r>
            <a:r>
              <a:rPr lang="en-US" sz="1200" b="0" i="0">
                <a:effectLst/>
                <a:latin typeface="Inter"/>
              </a:rPr>
              <a:t> but uses it in a scenario where:</a:t>
            </a:r>
          </a:p>
          <a:p>
            <a:pPr algn="l">
              <a:spcAft>
                <a:spcPts val="300"/>
              </a:spcAft>
              <a:buFont typeface="Arial" panose="020B0604020202020204" pitchFamily="34" charset="0"/>
              <a:buChar char="•"/>
            </a:pPr>
            <a:r>
              <a:rPr lang="en-US" sz="1200" b="0" i="0">
                <a:effectLst/>
                <a:latin typeface="Inter"/>
              </a:rPr>
              <a:t>There is only </a:t>
            </a:r>
            <a:r>
              <a:rPr lang="en-US" sz="1200" b="1" i="0">
                <a:effectLst/>
                <a:latin typeface="Inter"/>
              </a:rPr>
              <a:t>one</a:t>
            </a:r>
            <a:r>
              <a:rPr lang="en-US" sz="1200" b="0" i="0">
                <a:effectLst/>
                <a:latin typeface="Inter"/>
              </a:rPr>
              <a:t> producer and </a:t>
            </a:r>
            <a:r>
              <a:rPr lang="en-US" sz="1200" b="1" i="0">
                <a:effectLst/>
                <a:latin typeface="Inter"/>
              </a:rPr>
              <a:t>one</a:t>
            </a:r>
            <a:r>
              <a:rPr lang="en-US" sz="1200" b="0" i="0">
                <a:effectLst/>
                <a:latin typeface="Inter"/>
              </a:rPr>
              <a:t> consumer.</a:t>
            </a:r>
          </a:p>
          <a:p>
            <a:pPr algn="l">
              <a:spcAft>
                <a:spcPts val="300"/>
              </a:spcAft>
              <a:buFont typeface="Arial" panose="020B0604020202020204" pitchFamily="34" charset="0"/>
              <a:buChar char="•"/>
            </a:pPr>
            <a:r>
              <a:rPr lang="en-US" sz="1200" b="0" i="0">
                <a:effectLst/>
                <a:latin typeface="Inter"/>
              </a:rPr>
              <a:t>Or: the queue is almost always empty.</a:t>
            </a:r>
          </a:p>
          <a:p>
            <a:pPr algn="l">
              <a:spcAft>
                <a:spcPts val="300"/>
              </a:spcAft>
              <a:buFont typeface="Arial" panose="020B0604020202020204" pitchFamily="34" charset="0"/>
              <a:buChar char="•"/>
            </a:pPr>
            <a:r>
              <a:rPr lang="en-US" sz="1200" b="0" i="0">
                <a:effectLst/>
                <a:latin typeface="Inter"/>
              </a:rPr>
              <a:t>Or: the queue is processed in batches.</a:t>
            </a:r>
          </a:p>
          <a:p>
            <a:pPr algn="l">
              <a:spcAft>
                <a:spcPts val="300"/>
              </a:spcAft>
              <a:buNone/>
            </a:pPr>
            <a:r>
              <a:rPr lang="en-US" sz="1200" b="1" i="0">
                <a:effectLst/>
                <a:latin typeface="Inter"/>
              </a:rPr>
              <a:t>The Problem:</a:t>
            </a:r>
            <a:r>
              <a:rPr lang="en-US" sz="1200" b="0" i="0">
                <a:effectLst/>
                <a:latin typeface="Inter"/>
              </a:rPr>
              <a:t> The manual library code contains heavy CAS loops and Memory Fences designed for chaos. Even if </a:t>
            </a:r>
            <a:r>
              <a:rPr lang="en-US" sz="1200" b="0" i="0" err="1">
                <a:effectLst/>
                <a:latin typeface="DM Mono" panose="020B0509040201040103" pitchFamily="49" charset="0"/>
              </a:rPr>
              <a:t>if</a:t>
            </a:r>
            <a:r>
              <a:rPr lang="en-US" sz="1200" b="0" i="0">
                <a:effectLst/>
                <a:latin typeface="DM Mono" panose="020B0509040201040103" pitchFamily="49" charset="0"/>
              </a:rPr>
              <a:t> (</a:t>
            </a:r>
            <a:r>
              <a:rPr lang="en-US" sz="1200" b="0" i="0" err="1">
                <a:effectLst/>
                <a:latin typeface="DM Mono" panose="020B0509040201040103" pitchFamily="49" charset="0"/>
              </a:rPr>
              <a:t>is_single_threaded</a:t>
            </a:r>
            <a:r>
              <a:rPr lang="en-US" sz="1200" b="0" i="0">
                <a:effectLst/>
                <a:latin typeface="DM Mono" panose="020B0509040201040103" pitchFamily="49" charset="0"/>
              </a:rPr>
              <a:t>)</a:t>
            </a:r>
            <a:r>
              <a:rPr lang="en-US" sz="1200" b="0" i="0">
                <a:effectLst/>
                <a:latin typeface="Inter"/>
              </a:rPr>
              <a:t> were added to the library, it would be a runtime check.</a:t>
            </a:r>
          </a:p>
          <a:p>
            <a:pPr algn="l">
              <a:spcAft>
                <a:spcPts val="300"/>
              </a:spcAft>
              <a:buNone/>
            </a:pPr>
            <a:r>
              <a:rPr lang="en-US" sz="1200" b="1" i="0">
                <a:effectLst/>
                <a:latin typeface="Inter"/>
              </a:rPr>
              <a:t>Your Solution (The Compiler):</a:t>
            </a:r>
            <a:r>
              <a:rPr lang="ru-RU" sz="1200" b="1" i="0">
                <a:effectLst/>
                <a:latin typeface="Inter"/>
              </a:rPr>
              <a:t> </a:t>
            </a:r>
            <a:r>
              <a:rPr lang="en-US" sz="1200" b="0" i="0">
                <a:effectLst/>
                <a:latin typeface="Inter"/>
              </a:rPr>
              <a:t>Thanks to MLIR and LTO (Link Time Optimization), your compiler sees the </a:t>
            </a:r>
            <a:r>
              <a:rPr lang="en-US" sz="1200" b="1" i="0">
                <a:effectLst/>
                <a:latin typeface="Inter"/>
              </a:rPr>
              <a:t>Call Graph</a:t>
            </a:r>
            <a:r>
              <a:rPr lang="en-US" sz="1200" b="0" i="0">
                <a:effectLst/>
                <a:latin typeface="Inter"/>
              </a:rPr>
              <a:t> of the entire application.</a:t>
            </a:r>
          </a:p>
          <a:p>
            <a:pPr algn="l">
              <a:spcAft>
                <a:spcPts val="300"/>
              </a:spcAft>
              <a:buFont typeface="Arial" panose="020B0604020202020204" pitchFamily="34" charset="0"/>
              <a:buChar char="•"/>
            </a:pPr>
            <a:r>
              <a:rPr lang="en-US" sz="1200" b="0" i="0">
                <a:effectLst/>
                <a:latin typeface="Inter"/>
              </a:rPr>
              <a:t>It sees: "Aha, only the </a:t>
            </a:r>
            <a:r>
              <a:rPr lang="en-US" sz="1200" b="0" i="0" err="1">
                <a:effectLst/>
                <a:latin typeface="DM Mono" panose="020B0509040201040103" pitchFamily="49" charset="0"/>
              </a:rPr>
              <a:t>main_loop</a:t>
            </a:r>
            <a:r>
              <a:rPr lang="en-US" sz="1200" b="0" i="0">
                <a:effectLst/>
                <a:latin typeface="Inter"/>
              </a:rPr>
              <a:t> function writes to this queue instantiation, and only </a:t>
            </a:r>
            <a:r>
              <a:rPr lang="en-US" sz="1200" b="0" i="0" err="1">
                <a:effectLst/>
                <a:latin typeface="DM Mono" panose="020B0509040201040103" pitchFamily="49" charset="0"/>
              </a:rPr>
              <a:t>worker_thread</a:t>
            </a:r>
            <a:r>
              <a:rPr lang="en-US" sz="1200" b="0" i="0">
                <a:effectLst/>
                <a:latin typeface="Inter"/>
              </a:rPr>
              <a:t> reads from it."</a:t>
            </a:r>
          </a:p>
          <a:p>
            <a:pPr algn="l">
              <a:spcAft>
                <a:spcPts val="300"/>
              </a:spcAft>
              <a:buFont typeface="Arial" panose="020B0604020202020204" pitchFamily="34" charset="0"/>
              <a:buChar char="•"/>
            </a:pPr>
            <a:r>
              <a:rPr lang="en-US" sz="1200" b="0" i="0">
                <a:effectLst/>
                <a:latin typeface="Inter"/>
              </a:rPr>
              <a:t>It automatically </a:t>
            </a:r>
            <a:r>
              <a:rPr lang="en-US" sz="1200" b="1" i="0">
                <a:effectLst/>
                <a:latin typeface="Inter"/>
              </a:rPr>
              <a:t>Lowers</a:t>
            </a:r>
            <a:r>
              <a:rPr lang="en-US" sz="1200" b="0" i="0">
                <a:effectLst/>
                <a:latin typeface="Inter"/>
              </a:rPr>
              <a:t> the implementation from a heavy MPMC to a lightweight </a:t>
            </a:r>
            <a:r>
              <a:rPr lang="en-US" sz="1200" b="1" i="0">
                <a:effectLst/>
                <a:latin typeface="Inter"/>
              </a:rPr>
              <a:t>SPSC (Single-Producer Single-Consumer) Ring Buffer</a:t>
            </a:r>
            <a:r>
              <a:rPr lang="en-US" sz="1200" b="0" i="0">
                <a:effectLst/>
                <a:latin typeface="Inter"/>
              </a:rPr>
              <a:t>, removing expensive </a:t>
            </a:r>
            <a:r>
              <a:rPr lang="en-US" sz="1200" b="0" i="0">
                <a:effectLst/>
                <a:latin typeface="DM Mono" panose="020B0509040201040103" pitchFamily="49" charset="0"/>
              </a:rPr>
              <a:t>LOCK XCHG</a:t>
            </a:r>
            <a:r>
              <a:rPr lang="en-US" sz="1200" b="0" i="0">
                <a:effectLst/>
                <a:latin typeface="Inter"/>
              </a:rPr>
              <a:t> instructions and leaving lightweight </a:t>
            </a:r>
            <a:r>
              <a:rPr lang="en-US" sz="1200" b="0" i="0">
                <a:effectLst/>
                <a:latin typeface="DM Mono" panose="020B0509040201040103" pitchFamily="49" charset="0"/>
              </a:rPr>
              <a:t>store-release</a:t>
            </a:r>
            <a:r>
              <a:rPr lang="en-US" sz="1200" b="0" i="0">
                <a:effectLst/>
                <a:latin typeface="Inter"/>
              </a:rPr>
              <a:t> operations.</a:t>
            </a:r>
          </a:p>
          <a:p>
            <a:pPr algn="l">
              <a:spcAft>
                <a:spcPts val="300"/>
              </a:spcAft>
              <a:buFont typeface="Arial" panose="020B0604020202020204" pitchFamily="34" charset="0"/>
              <a:buChar char="•"/>
            </a:pPr>
            <a:r>
              <a:rPr lang="en-US" sz="1200" b="1" i="0">
                <a:effectLst/>
                <a:latin typeface="Inter"/>
              </a:rPr>
              <a:t>Result:</a:t>
            </a:r>
            <a:r>
              <a:rPr lang="en-US" sz="1200" b="0" i="0">
                <a:effectLst/>
                <a:latin typeface="Inter"/>
              </a:rPr>
              <a:t> The programmer writes safe code (using a standard library) but gets the performance of a custom hack.</a:t>
            </a:r>
          </a:p>
          <a:p>
            <a:pPr algn="l">
              <a:spcBef>
                <a:spcPts val="600"/>
              </a:spcBef>
              <a:spcAft>
                <a:spcPts val="300"/>
              </a:spcAft>
              <a:buNone/>
            </a:pPr>
            <a:r>
              <a:rPr lang="en-US" sz="1200" b="1" i="0">
                <a:solidFill>
                  <a:srgbClr val="3333FF"/>
                </a:solidFill>
                <a:effectLst/>
                <a:latin typeface="Inter"/>
              </a:rPr>
              <a:t>3. SMR (Memory Reclamation) is Dynamic, not Static</a:t>
            </a:r>
          </a:p>
          <a:p>
            <a:pPr algn="l">
              <a:spcAft>
                <a:spcPts val="300"/>
              </a:spcAft>
              <a:buNone/>
            </a:pPr>
            <a:r>
              <a:rPr lang="en-US" sz="1200">
                <a:latin typeface="Inter"/>
              </a:rPr>
              <a:t>E</a:t>
            </a:r>
            <a:r>
              <a:rPr lang="en-US" sz="1200" b="0" i="0">
                <a:effectLst/>
                <a:latin typeface="Inter"/>
              </a:rPr>
              <a:t>xperts know how to place </a:t>
            </a:r>
            <a:r>
              <a:rPr lang="en-US" sz="1200" b="0" i="0" err="1">
                <a:effectLst/>
                <a:latin typeface="DM Mono" panose="020B0509040201040103" pitchFamily="49" charset="0"/>
              </a:rPr>
              <a:t>hp.protect</a:t>
            </a:r>
            <a:r>
              <a:rPr lang="en-US" sz="1200" b="0" i="0">
                <a:effectLst/>
                <a:latin typeface="DM Mono" panose="020B0509040201040103" pitchFamily="49" charset="0"/>
              </a:rPr>
              <a:t>()</a:t>
            </a:r>
            <a:r>
              <a:rPr lang="en-US" sz="1200" b="0" i="0">
                <a:effectLst/>
                <a:latin typeface="Inter"/>
              </a:rPr>
              <a:t>. This is true, but they do not know the </a:t>
            </a:r>
            <a:r>
              <a:rPr lang="en-US" sz="1200" b="1" i="0">
                <a:effectLst/>
                <a:latin typeface="Inter"/>
              </a:rPr>
              <a:t>load parameters</a:t>
            </a:r>
            <a:r>
              <a:rPr lang="en-US" sz="1200" b="0" i="0">
                <a:effectLst/>
                <a:latin typeface="Inter"/>
              </a:rPr>
              <a:t>.</a:t>
            </a:r>
          </a:p>
          <a:p>
            <a:pPr algn="l">
              <a:spcAft>
                <a:spcPts val="300"/>
              </a:spcAft>
              <a:buFont typeface="Arial" panose="020B0604020202020204" pitchFamily="34" charset="0"/>
              <a:buChar char="•"/>
            </a:pPr>
            <a:r>
              <a:rPr lang="en-US" sz="1200" b="0" i="1">
                <a:effectLst/>
                <a:latin typeface="Inter"/>
              </a:rPr>
              <a:t>Scenario:</a:t>
            </a:r>
            <a:r>
              <a:rPr lang="en-US" sz="1200" b="0" i="0">
                <a:effectLst/>
                <a:latin typeface="Inter"/>
              </a:rPr>
              <a:t> The user has "bursty" traffic.</a:t>
            </a:r>
          </a:p>
          <a:p>
            <a:pPr algn="l">
              <a:spcAft>
                <a:spcPts val="300"/>
              </a:spcAft>
              <a:buFont typeface="Arial" panose="020B0604020202020204" pitchFamily="34" charset="0"/>
              <a:buChar char="•"/>
            </a:pPr>
            <a:r>
              <a:rPr lang="en-US" sz="1200" b="0" i="1">
                <a:effectLst/>
                <a:latin typeface="Inter"/>
              </a:rPr>
              <a:t>Library:</a:t>
            </a:r>
            <a:r>
              <a:rPr lang="en-US" sz="1200" b="0" i="0">
                <a:effectLst/>
                <a:latin typeface="Inter"/>
              </a:rPr>
              <a:t> Implements standard Hazard Pointers or EBR with a fixed cleanup threshold (e.g., every 100 deletions).</a:t>
            </a:r>
          </a:p>
          <a:p>
            <a:pPr algn="l">
              <a:spcAft>
                <a:spcPts val="300"/>
              </a:spcAft>
              <a:buFont typeface="Arial" panose="020B0604020202020204" pitchFamily="34" charset="0"/>
              <a:buChar char="•"/>
            </a:pPr>
            <a:r>
              <a:rPr lang="en-US" sz="1200" b="0" i="1">
                <a:effectLst/>
                <a:latin typeface="Inter"/>
              </a:rPr>
              <a:t>Result:</a:t>
            </a:r>
            <a:r>
              <a:rPr lang="en-US" sz="1200" b="0" i="0">
                <a:effectLst/>
                <a:latin typeface="Inter"/>
              </a:rPr>
              <a:t> During peak load, this "standard threshold" causes massive latency spikes because the allocator chokes on </a:t>
            </a:r>
            <a:r>
              <a:rPr lang="en-US" sz="1200" b="0" i="0">
                <a:effectLst/>
                <a:latin typeface="DM Mono" panose="020B0509040201040103" pitchFamily="49" charset="0"/>
              </a:rPr>
              <a:t>free()</a:t>
            </a:r>
            <a:r>
              <a:rPr lang="en-US" sz="1200" b="0" i="0">
                <a:effectLst/>
                <a:latin typeface="Inter"/>
              </a:rPr>
              <a:t> calls.</a:t>
            </a:r>
          </a:p>
          <a:p>
            <a:pPr algn="l">
              <a:spcAft>
                <a:spcPts val="300"/>
              </a:spcAft>
              <a:buNone/>
            </a:pPr>
            <a:r>
              <a:rPr lang="en-US" sz="1200" b="1" i="0">
                <a:effectLst/>
                <a:latin typeface="Inter"/>
              </a:rPr>
              <a:t>Your Solution:</a:t>
            </a:r>
            <a:br>
              <a:rPr lang="en-US" sz="1200" b="0" i="0">
                <a:effectLst/>
                <a:latin typeface="Inter"/>
              </a:rPr>
            </a:br>
            <a:r>
              <a:rPr lang="en-US" sz="1200" b="0" i="0">
                <a:effectLst/>
                <a:latin typeface="Inter"/>
              </a:rPr>
              <a:t>Your compiler can inject code (a scheduler) that "spreads" memory deallocation over time (as in the PPoPP'24 paper), based on the execution profile (PGO - Profile Guided Optimization).</a:t>
            </a:r>
            <a:br>
              <a:rPr lang="en-US" sz="1200" b="0" i="0">
                <a:effectLst/>
                <a:latin typeface="Inter"/>
              </a:rPr>
            </a:br>
            <a:r>
              <a:rPr lang="en-US" sz="1200" b="0" i="0">
                <a:effectLst/>
                <a:latin typeface="Inter"/>
              </a:rPr>
              <a:t>A library is static; a compiler (especially JIT or PGO) can adapt the SMR strategy to the </a:t>
            </a:r>
            <a:r>
              <a:rPr lang="en-US" sz="1200" b="1" i="0">
                <a:effectLst/>
                <a:latin typeface="Inter"/>
              </a:rPr>
              <a:t>specific behavior of the program</a:t>
            </a:r>
            <a:r>
              <a:rPr lang="en-US" sz="1200" b="0" i="0">
                <a:effectLst/>
                <a:latin typeface="Inter"/>
              </a:rPr>
              <a:t>.</a:t>
            </a:r>
            <a:endParaRPr lang="ru-RU" sz="1200" b="0" i="0">
              <a:effectLst/>
              <a:latin typeface="Inter"/>
            </a:endParaRPr>
          </a:p>
          <a:p>
            <a:pPr>
              <a:spcBef>
                <a:spcPts val="600"/>
              </a:spcBef>
            </a:pPr>
            <a:r>
              <a:rPr lang="en-US" sz="1200" b="1">
                <a:solidFill>
                  <a:schemeClr val="accent2">
                    <a:lumMod val="75000"/>
                  </a:schemeClr>
                </a:solidFill>
              </a:rPr>
              <a:t>Who will be the User? (Target Audience)</a:t>
            </a:r>
          </a:p>
          <a:p>
            <a:r>
              <a:rPr lang="en-US" sz="1100"/>
              <a:t>You are absolutely right: the average "Joe Developer" will not write in "Concur MLIR Dialect" manually. Your stack will be used by:</a:t>
            </a:r>
          </a:p>
          <a:p>
            <a:r>
              <a:rPr lang="en-US" sz="1100" b="1"/>
              <a:t>Language and Runtime Creators (Rust, Go, Swift, Java </a:t>
            </a:r>
            <a:r>
              <a:rPr lang="en-US" sz="1100" b="1" err="1"/>
              <a:t>HotSpot</a:t>
            </a:r>
            <a:r>
              <a:rPr lang="en-US" sz="1100" b="1"/>
              <a:t>, .NET CLR).</a:t>
            </a:r>
            <a:endParaRPr lang="en-US" sz="1100"/>
          </a:p>
          <a:p>
            <a:pPr lvl="1"/>
            <a:r>
              <a:rPr lang="en-US" sz="1100"/>
              <a:t>In Rust, for example, there is a huge pain point with Arc (atomic reference counting). The compiler cannot optimize it because it doesn't understand the semantics of "reference counting." If you give the Rust compiler a dialect that knows how to coalesce operations with Arc, Rust becomes 10-20% faster out of the box.</a:t>
            </a:r>
          </a:p>
          <a:p>
            <a:pPr lvl="1"/>
            <a:r>
              <a:rPr lang="en-US" sz="1100" i="1"/>
              <a:t>Your product here:</a:t>
            </a:r>
            <a:r>
              <a:rPr lang="en-US" sz="1100"/>
              <a:t> Backend optimization pass for LLVM/MLIR used by Rust/C++.</a:t>
            </a:r>
          </a:p>
          <a:p>
            <a:r>
              <a:rPr lang="en-US" sz="1100" b="1"/>
              <a:t>Next-Generation Libraries (Header-only C++ libs with Attributes).</a:t>
            </a:r>
            <a:endParaRPr lang="en-US" sz="1100"/>
          </a:p>
          <a:p>
            <a:pPr lvl="1"/>
            <a:r>
              <a:rPr lang="en-US" sz="1100"/>
              <a:t>Imagine a new version of Folly or Abseil annotated with your attributes ([[concur::progress("wait-free")]], [[concur::role("producer")]]).</a:t>
            </a:r>
          </a:p>
          <a:p>
            <a:pPr lvl="1"/>
            <a:r>
              <a:rPr lang="en-US" sz="1100"/>
              <a:t>The programmer writes normal C++ code and connects your plugin to Clang/LLVM.</a:t>
            </a:r>
          </a:p>
          <a:p>
            <a:pPr lvl="1"/>
            <a:r>
              <a:rPr lang="en-US" sz="1100" b="1"/>
              <a:t>The Magic:</a:t>
            </a:r>
            <a:r>
              <a:rPr lang="en-US" sz="1100"/>
              <a:t> If the programmer makes a mistake and creates a deadlock or violates a wait-free guarantee, the compiler throws an error </a:t>
            </a:r>
            <a:r>
              <a:rPr lang="en-US" sz="1100" b="1"/>
              <a:t>at build time</a:t>
            </a:r>
            <a:r>
              <a:rPr lang="en-US" sz="1100"/>
              <a:t>.</a:t>
            </a:r>
          </a:p>
          <a:p>
            <a:pPr lvl="1"/>
            <a:r>
              <a:rPr lang="en-US" sz="1100" i="1"/>
              <a:t>Value:</a:t>
            </a:r>
            <a:r>
              <a:rPr lang="en-US" sz="1100"/>
              <a:t> "Compile-time verification of concurrency properties." No one has this right now.</a:t>
            </a:r>
          </a:p>
          <a:p>
            <a:r>
              <a:rPr lang="en-US" sz="1100" b="1"/>
              <a:t>High-Frequency Trading (HFT) and </a:t>
            </a:r>
            <a:r>
              <a:rPr lang="en-US" sz="1100" b="1" err="1"/>
              <a:t>GameDev</a:t>
            </a:r>
            <a:r>
              <a:rPr lang="en-US" sz="1100" b="1"/>
              <a:t>.</a:t>
            </a:r>
            <a:endParaRPr lang="en-US" sz="1100"/>
          </a:p>
          <a:p>
            <a:pPr lvl="1"/>
            <a:r>
              <a:rPr lang="en-US" sz="1100"/>
              <a:t>These are the people who </a:t>
            </a:r>
            <a:r>
              <a:rPr lang="en-US" sz="1100" i="1"/>
              <a:t>currently</a:t>
            </a:r>
            <a:r>
              <a:rPr lang="en-US" sz="1100"/>
              <a:t> write their own custom wheels because Folly is "too slow/bloated" for them.</a:t>
            </a:r>
          </a:p>
          <a:p>
            <a:pPr lvl="1"/>
            <a:r>
              <a:rPr lang="en-US" sz="1100"/>
              <a:t>They will gladly adopt a tool that allows them to write clean code (like with Folly) but obtain binaries as fast as their handwritten "dirty" hacks.</a:t>
            </a:r>
          </a:p>
          <a:p>
            <a:pPr algn="l">
              <a:spcAft>
                <a:spcPts val="300"/>
              </a:spcAft>
              <a:buNone/>
            </a:pPr>
            <a:endParaRPr lang="en-US" sz="1200" b="0" i="0">
              <a:effectLst/>
              <a:latin typeface="Inter"/>
            </a:endParaRPr>
          </a:p>
        </p:txBody>
      </p:sp>
    </p:spTree>
    <p:extLst>
      <p:ext uri="{BB962C8B-B14F-4D97-AF65-F5344CB8AC3E}">
        <p14:creationId xmlns:p14="http://schemas.microsoft.com/office/powerpoint/2010/main" val="32428898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48FFEA5-8A40-87A7-8A1C-BEA5E65B97AF}"/>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2ABD8A6C-F6B4-BAD8-1642-D7DD5B665422}"/>
              </a:ext>
            </a:extLst>
          </p:cNvPr>
          <p:cNvSpPr txBox="1"/>
          <p:nvPr/>
        </p:nvSpPr>
        <p:spPr>
          <a:xfrm>
            <a:off x="233910" y="208621"/>
            <a:ext cx="10952250" cy="461665"/>
          </a:xfrm>
          <a:prstGeom prst="rect">
            <a:avLst/>
          </a:prstGeom>
          <a:solidFill>
            <a:srgbClr val="002060"/>
          </a:solidFill>
        </p:spPr>
        <p:txBody>
          <a:bodyPr wrap="square" rtlCol="0">
            <a:spAutoFit/>
          </a:bodyPr>
          <a:lstStyle/>
          <a:p>
            <a:r>
              <a:rPr lang="en-US" sz="2400">
                <a:solidFill>
                  <a:schemeClr val="bg1"/>
                </a:solidFill>
                <a:latin typeface="Ubuntu Condensed" panose="020B0506030602030204" pitchFamily="34" charset="0"/>
              </a:rPr>
              <a:t>Workflow</a:t>
            </a:r>
            <a:r>
              <a:rPr lang="ru-RU" sz="2400">
                <a:solidFill>
                  <a:schemeClr val="bg1"/>
                </a:solidFill>
                <a:latin typeface="Ubuntu Condensed" panose="020B0506030602030204" pitchFamily="34" charset="0"/>
              </a:rPr>
              <a:t> </a:t>
            </a:r>
            <a:r>
              <a:rPr lang="en-US" sz="2400">
                <a:solidFill>
                  <a:schemeClr val="bg1"/>
                </a:solidFill>
                <a:latin typeface="Ubuntu Condensed" panose="020B0506030602030204" pitchFamily="34" charset="0"/>
              </a:rPr>
              <a:t>for libraries/tools</a:t>
            </a:r>
            <a:endParaRPr lang="ru-RU" sz="2400">
              <a:solidFill>
                <a:schemeClr val="bg1"/>
              </a:solidFill>
              <a:latin typeface="Ubuntu Condensed" panose="020B0506030602030204" pitchFamily="34" charset="0"/>
            </a:endParaRPr>
          </a:p>
        </p:txBody>
      </p:sp>
      <p:sp>
        <p:nvSpPr>
          <p:cNvPr id="7" name="Номер слайда 7">
            <a:extLst>
              <a:ext uri="{FF2B5EF4-FFF2-40B4-BE49-F238E27FC236}">
                <a16:creationId xmlns:a16="http://schemas.microsoft.com/office/drawing/2014/main" id="{992B9412-9845-97E2-F9BB-C8F1F04E7175}"/>
              </a:ext>
            </a:extLst>
          </p:cNvPr>
          <p:cNvSpPr>
            <a:spLocks noGrp="1"/>
          </p:cNvSpPr>
          <p:nvPr>
            <p:ph type="sldNum" sz="quarter" idx="12"/>
          </p:nvPr>
        </p:nvSpPr>
        <p:spPr>
          <a:xfrm>
            <a:off x="11725835" y="6402070"/>
            <a:ext cx="386155" cy="365125"/>
          </a:xfrm>
        </p:spPr>
        <p:txBody>
          <a:bodyPr/>
          <a:lstStyle/>
          <a:p>
            <a:pPr algn="ctr"/>
            <a:fld id="{E757BAED-F255-4CF1-96BA-8D7417A9C3BC}" type="slidenum">
              <a:rPr lang="ru-RU" sz="1800" smtClean="0">
                <a:latin typeface="Ubuntu Condensed" panose="020B0506030602030204" pitchFamily="34" charset="0"/>
              </a:rPr>
              <a:pPr algn="ctr"/>
              <a:t>48</a:t>
            </a:fld>
            <a:endParaRPr lang="ru-RU" sz="1800">
              <a:latin typeface="Ubuntu Condensed" panose="020B0506030602030204" pitchFamily="34" charset="0"/>
            </a:endParaRPr>
          </a:p>
        </p:txBody>
      </p:sp>
      <p:sp>
        <p:nvSpPr>
          <p:cNvPr id="4" name="TextBox 3">
            <a:extLst>
              <a:ext uri="{FF2B5EF4-FFF2-40B4-BE49-F238E27FC236}">
                <a16:creationId xmlns:a16="http://schemas.microsoft.com/office/drawing/2014/main" id="{3B546B29-54BE-7084-287F-BBDAF6D6DAFF}"/>
              </a:ext>
            </a:extLst>
          </p:cNvPr>
          <p:cNvSpPr txBox="1"/>
          <p:nvPr/>
        </p:nvSpPr>
        <p:spPr>
          <a:xfrm>
            <a:off x="233910" y="775706"/>
            <a:ext cx="4666013" cy="2462213"/>
          </a:xfrm>
          <a:prstGeom prst="rect">
            <a:avLst/>
          </a:prstGeom>
          <a:solidFill>
            <a:srgbClr val="1F1F1F"/>
          </a:solidFill>
        </p:spPr>
        <p:txBody>
          <a:bodyPr wrap="square">
            <a:spAutoFit/>
          </a:bodyPr>
          <a:lstStyle/>
          <a:p>
            <a:pPr>
              <a:buNone/>
            </a:pPr>
            <a:r>
              <a:rPr lang="en-SG" sz="11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folly/</a:t>
            </a:r>
            <a:r>
              <a:rPr lang="en-SG" sz="1100" b="0" err="1">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ProducerConsumerQueue.h</a:t>
            </a:r>
            <a:r>
              <a:rPr lang="en-SG" sz="11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 Real code</a:t>
            </a:r>
            <a:endPar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a:p>
            <a:pPr>
              <a:buNone/>
            </a:pPr>
            <a:r>
              <a:rPr lang="en-SG" sz="110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template</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&lt;</a:t>
            </a:r>
            <a:r>
              <a:rPr lang="en-SG" sz="1100" b="0" err="1">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typename</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T</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&gt;</a:t>
            </a:r>
          </a:p>
          <a:p>
            <a:pPr>
              <a:buNone/>
            </a:pPr>
            <a:r>
              <a:rPr lang="en-SG" sz="110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class</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err="1">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ProducerConsumerQueue</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p>
          <a:p>
            <a:pPr>
              <a:buNone/>
            </a:pP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std</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::atomic</a:t>
            </a:r>
            <a:r>
              <a:rPr lang="en-SG" sz="11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&lt;</a:t>
            </a:r>
            <a:r>
              <a:rPr lang="en-SG" sz="110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unsigned</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int</a:t>
            </a:r>
            <a:r>
              <a:rPr lang="en-SG" sz="11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&gt;</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readIndex</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_;</a:t>
            </a:r>
          </a:p>
          <a:p>
            <a:pPr>
              <a:buNone/>
            </a:pP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std</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::atomic</a:t>
            </a:r>
            <a:r>
              <a:rPr lang="en-SG" sz="11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&lt;</a:t>
            </a:r>
            <a:r>
              <a:rPr lang="en-SG" sz="110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unsigned</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int</a:t>
            </a:r>
            <a:r>
              <a:rPr lang="en-SG" sz="1100" b="0">
                <a:solidFill>
                  <a:srgbClr val="D4D4D4"/>
                </a:solidFill>
                <a:effectLst/>
                <a:latin typeface="JetBrains Mono" panose="02000009000000000000" pitchFamily="49" charset="0"/>
                <a:ea typeface="JetBrains Mono" panose="02000009000000000000" pitchFamily="49" charset="0"/>
                <a:cs typeface="JetBrains Mono" panose="02000009000000000000" pitchFamily="49" charset="0"/>
              </a:rPr>
              <a:t>&gt;</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err="1">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writeIndex</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_;</a:t>
            </a:r>
          </a:p>
          <a:p>
            <a:pPr>
              <a:buNone/>
            </a:pP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p>
          <a:p>
            <a:pPr>
              <a:buNone/>
            </a:pPr>
            <a:r>
              <a:rPr lang="en-SG" sz="110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public:</a:t>
            </a:r>
            <a:endPar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a:p>
            <a:pPr>
              <a:buNone/>
            </a:pP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err="1">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mlir</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10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progress</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100" b="0">
                <a:solidFill>
                  <a:srgbClr val="CE9178"/>
                </a:solidFill>
                <a:effectLst/>
                <a:latin typeface="JetBrains Mono" panose="02000009000000000000" pitchFamily="49" charset="0"/>
                <a:ea typeface="JetBrains Mono" panose="02000009000000000000" pitchFamily="49" charset="0"/>
                <a:cs typeface="JetBrains Mono" panose="02000009000000000000" pitchFamily="49" charset="0"/>
              </a:rPr>
              <a:t>"wait-free"</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1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 New annotation</a:t>
            </a:r>
            <a:endPar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a:p>
            <a:pPr>
              <a:buNone/>
            </a:pP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err="1">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mlir</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10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semantics</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100" b="0">
                <a:solidFill>
                  <a:srgbClr val="CE9178"/>
                </a:solidFill>
                <a:effectLst/>
                <a:latin typeface="JetBrains Mono" panose="02000009000000000000" pitchFamily="49" charset="0"/>
                <a:ea typeface="JetBrains Mono" panose="02000009000000000000" pitchFamily="49" charset="0"/>
                <a:cs typeface="JetBrains Mono" panose="02000009000000000000" pitchFamily="49" charset="0"/>
              </a:rPr>
              <a:t>"linearizable"</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p>
          <a:p>
            <a:pPr>
              <a:buNone/>
            </a:pP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err="1">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mlir</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100" b="0" err="1">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operation_kind</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100" b="0">
                <a:solidFill>
                  <a:srgbClr val="CE9178"/>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100" b="0" err="1">
                <a:solidFill>
                  <a:srgbClr val="CE9178"/>
                </a:solidFill>
                <a:effectLst/>
                <a:latin typeface="JetBrains Mono" panose="02000009000000000000" pitchFamily="49" charset="0"/>
                <a:ea typeface="JetBrains Mono" panose="02000009000000000000" pitchFamily="49" charset="0"/>
                <a:cs typeface="JetBrains Mono" panose="02000009000000000000" pitchFamily="49" charset="0"/>
              </a:rPr>
              <a:t>spsc_queue</a:t>
            </a:r>
            <a:r>
              <a:rPr lang="en-SG" sz="1100" b="0">
                <a:solidFill>
                  <a:srgbClr val="CE9178"/>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p>
          <a:p>
            <a:pPr>
              <a:buNone/>
            </a:pP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bool</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a:solidFill>
                  <a:srgbClr val="DCDCAA"/>
                </a:solidFill>
                <a:effectLst/>
                <a:latin typeface="JetBrains Mono" panose="02000009000000000000" pitchFamily="49" charset="0"/>
                <a:ea typeface="JetBrains Mono" panose="02000009000000000000" pitchFamily="49" charset="0"/>
                <a:cs typeface="JetBrains Mono" panose="02000009000000000000" pitchFamily="49" charset="0"/>
              </a:rPr>
              <a:t>write</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r>
              <a:rPr lang="en-SG" sz="1100" b="0" err="1">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const</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a:solidFill>
                  <a:srgbClr val="4EC9B0"/>
                </a:solidFill>
                <a:effectLst/>
                <a:latin typeface="JetBrains Mono" panose="02000009000000000000" pitchFamily="49" charset="0"/>
                <a:ea typeface="JetBrains Mono" panose="02000009000000000000" pitchFamily="49" charset="0"/>
                <a:cs typeface="JetBrains Mono" panose="02000009000000000000" pitchFamily="49" charset="0"/>
              </a:rPr>
              <a:t>T</a:t>
            </a:r>
            <a:r>
              <a:rPr lang="en-SG" sz="1100" b="0">
                <a:solidFill>
                  <a:srgbClr val="569CD6"/>
                </a:solidFill>
                <a:effectLst/>
                <a:latin typeface="JetBrains Mono" panose="02000009000000000000" pitchFamily="49" charset="0"/>
                <a:ea typeface="JetBrains Mono" panose="02000009000000000000" pitchFamily="49" charset="0"/>
                <a:cs typeface="JetBrains Mono" panose="02000009000000000000" pitchFamily="49" charset="0"/>
              </a:rPr>
              <a:t>&amp;</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r>
              <a:rPr lang="en-SG" sz="1100" b="0">
                <a:solidFill>
                  <a:srgbClr val="9CDCFE"/>
                </a:solidFill>
                <a:effectLst/>
                <a:latin typeface="JetBrains Mono" panose="02000009000000000000" pitchFamily="49" charset="0"/>
                <a:ea typeface="JetBrains Mono" panose="02000009000000000000" pitchFamily="49" charset="0"/>
                <a:cs typeface="JetBrains Mono" panose="02000009000000000000" pitchFamily="49" charset="0"/>
              </a:rPr>
              <a:t>v</a:t>
            </a: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p>
          <a:p>
            <a:pPr>
              <a:buNone/>
            </a:pPr>
            <a:r>
              <a:rPr lang="en-SG" sz="1100" b="0">
                <a:solidFill>
                  <a:srgbClr val="6A9955"/>
                </a:solidFill>
                <a:effectLst/>
                <a:latin typeface="JetBrains Mono" panose="02000009000000000000" pitchFamily="49" charset="0"/>
                <a:ea typeface="JetBrains Mono" panose="02000009000000000000" pitchFamily="49" charset="0"/>
                <a:cs typeface="JetBrains Mono" panose="02000009000000000000" pitchFamily="49" charset="0"/>
              </a:rPr>
              <a:t>    // Implementation...</a:t>
            </a:r>
            <a:endPar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endParaRPr>
          </a:p>
          <a:p>
            <a:pPr>
              <a:buNone/>
            </a:pP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  }</a:t>
            </a:r>
          </a:p>
          <a:p>
            <a:pPr>
              <a:buNone/>
            </a:pPr>
            <a:r>
              <a:rPr lang="en-SG" sz="1100" b="0">
                <a:solidFill>
                  <a:srgbClr val="CCCCCC"/>
                </a:solidFill>
                <a:effectLst/>
                <a:latin typeface="JetBrains Mono" panose="02000009000000000000" pitchFamily="49" charset="0"/>
                <a:ea typeface="JetBrains Mono" panose="02000009000000000000" pitchFamily="49" charset="0"/>
                <a:cs typeface="JetBrains Mono" panose="02000009000000000000" pitchFamily="49" charset="0"/>
              </a:rPr>
              <a:t>};</a:t>
            </a:r>
          </a:p>
        </p:txBody>
      </p:sp>
      <p:sp>
        <p:nvSpPr>
          <p:cNvPr id="5" name="Rectangle 1">
            <a:extLst>
              <a:ext uri="{FF2B5EF4-FFF2-40B4-BE49-F238E27FC236}">
                <a16:creationId xmlns:a16="http://schemas.microsoft.com/office/drawing/2014/main" id="{B7F0E543-850F-E2F3-BC3F-8C60B7EA0800}"/>
              </a:ext>
            </a:extLst>
          </p:cNvPr>
          <p:cNvSpPr>
            <a:spLocks noChangeArrowheads="1"/>
          </p:cNvSpPr>
          <p:nvPr/>
        </p:nvSpPr>
        <p:spPr bwMode="auto">
          <a:xfrm>
            <a:off x="4992778" y="698762"/>
            <a:ext cx="6784952"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chemeClr val="tx1"/>
                </a:solidFill>
                <a:effectLst/>
                <a:latin typeface="Arial" panose="020B0604020202020204" pitchFamily="34" charset="0"/>
              </a:rPr>
              <a:t>What the Library Developer Must Do (Adapter Package)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Arial" panose="020B0604020202020204" pitchFamily="34" charset="0"/>
              </a:rPr>
              <a:t>Goal: Teach MLIR Concur how to lower your operations to runtime calls and unlock analysis/optimization benefits without breaking semantics.</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000" b="1" i="0" u="none" strike="noStrike" cap="none" normalizeH="0" baseline="0">
                <a:ln>
                  <a:noFill/>
                </a:ln>
                <a:solidFill>
                  <a:schemeClr val="tx1"/>
                </a:solidFill>
                <a:effectLst/>
                <a:latin typeface="Arial" panose="020B0604020202020204" pitchFamily="34" charset="0"/>
              </a:rPr>
              <a:t>Semantic Contract</a:t>
            </a:r>
            <a:r>
              <a:rPr kumimoji="0" lang="en-US" altLang="en-US" sz="1000" b="0" i="0" u="none" strike="noStrike" cap="none" normalizeH="0" baseline="0">
                <a:ln>
                  <a:noFill/>
                </a:ln>
                <a:solidFill>
                  <a:schemeClr val="tx1"/>
                </a:solidFill>
                <a:effectLst/>
                <a:latin typeface="Arial" panose="020B0604020202020204" pitchFamily="34" charset="0"/>
              </a:rPr>
              <a:t>: Map your primitives to Concur types/attributes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chemeClr val="tx1"/>
                </a:solidFill>
                <a:effectLst/>
                <a:latin typeface="Arial" panose="020B0604020202020204" pitchFamily="34" charset="0"/>
              </a:rPr>
              <a:t>lock kinds: </a:t>
            </a:r>
            <a:r>
              <a:rPr kumimoji="0" lang="en-US" altLang="en-US" sz="1000" b="0" i="0" u="none" strike="noStrike" cap="none" normalizeH="0" baseline="0" err="1">
                <a:ln>
                  <a:noFill/>
                </a:ln>
                <a:solidFill>
                  <a:schemeClr val="tx1"/>
                </a:solidFill>
                <a:effectLst/>
                <a:latin typeface="Arial Unicode MS"/>
              </a:rPr>
              <a:t>mutex|rwlock|spin|seqlock</a:t>
            </a:r>
            <a:r>
              <a:rPr kumimoji="0" lang="en-US" altLang="en-US" sz="1000" b="0" i="0" u="none" strike="noStrike" cap="none" normalizeH="0" baseline="0">
                <a:ln>
                  <a:noFill/>
                </a:ln>
                <a:solidFill>
                  <a:schemeClr val="tx1"/>
                </a:solidFill>
                <a:effectLst/>
              </a:rPr>
              <a:t> → your types/functions;</a:t>
            </a:r>
            <a:r>
              <a:rPr kumimoji="0" lang="en-US" altLang="en-US" sz="1000" b="0" i="0" u="none" strike="noStrike" cap="none" normalizeH="0" baseline="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chemeClr val="tx1"/>
                </a:solidFill>
                <a:effectLst/>
                <a:latin typeface="Arial" panose="020B0604020202020204" pitchFamily="34" charset="0"/>
              </a:rPr>
              <a:t>progress: </a:t>
            </a:r>
            <a:r>
              <a:rPr kumimoji="0" lang="en-US" altLang="en-US" sz="1000" b="0" i="0" u="none" strike="noStrike" cap="none" normalizeH="0" baseline="0" err="1">
                <a:ln>
                  <a:noFill/>
                </a:ln>
                <a:solidFill>
                  <a:schemeClr val="tx1"/>
                </a:solidFill>
                <a:effectLst/>
                <a:latin typeface="Arial Unicode MS"/>
              </a:rPr>
              <a:t>blocking|lock-free|wait-free</a:t>
            </a:r>
            <a:r>
              <a:rPr kumimoji="0" lang="en-US" altLang="en-US" sz="1000" b="0" i="0" u="none" strike="noStrike" cap="none" normalizeH="0" baseline="0">
                <a:ln>
                  <a:noFill/>
                </a:ln>
                <a:solidFill>
                  <a:schemeClr val="tx1"/>
                </a:solidFill>
                <a:effectLst/>
              </a:rPr>
              <a:t>;</a:t>
            </a:r>
            <a:r>
              <a:rPr kumimoji="0" lang="en-US" altLang="en-US" sz="1000" b="0" i="0" u="none" strike="noStrike" cap="none" normalizeH="0" baseline="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chemeClr val="tx1"/>
                </a:solidFill>
                <a:effectLst/>
                <a:latin typeface="Arial" panose="020B0604020202020204" pitchFamily="34" charset="0"/>
              </a:rPr>
              <a:t>memory order/scope: </a:t>
            </a:r>
            <a:r>
              <a:rPr kumimoji="0" lang="en-US" altLang="en-US" sz="1000" b="0" i="0" u="none" strike="noStrike" cap="none" normalizeH="0" baseline="0">
                <a:ln>
                  <a:noFill/>
                </a:ln>
                <a:solidFill>
                  <a:schemeClr val="tx1"/>
                </a:solidFill>
                <a:effectLst/>
                <a:latin typeface="Arial Unicode MS"/>
              </a:rPr>
              <a:t>acquire/release/...</a:t>
            </a:r>
            <a:r>
              <a:rPr kumimoji="0" lang="en-US" altLang="en-US" sz="1000" b="0" i="0" u="none" strike="noStrike" cap="none" normalizeH="0" baseline="0">
                <a:ln>
                  <a:noFill/>
                </a:ln>
                <a:solidFill>
                  <a:schemeClr val="tx1"/>
                </a:solidFill>
                <a:effectLst/>
              </a:rPr>
              <a:t> and </a:t>
            </a:r>
            <a:r>
              <a:rPr kumimoji="0" lang="en-US" altLang="en-US" sz="1000" b="0" i="0" u="none" strike="noStrike" cap="none" normalizeH="0" baseline="0" err="1">
                <a:ln>
                  <a:noFill/>
                </a:ln>
                <a:solidFill>
                  <a:schemeClr val="tx1"/>
                </a:solidFill>
                <a:effectLst/>
                <a:latin typeface="Arial Unicode MS"/>
              </a:rPr>
              <a:t>thread|device|system</a:t>
            </a:r>
            <a:r>
              <a:rPr kumimoji="0" lang="en-US" altLang="en-US" sz="1000" b="0" i="0" u="none" strike="noStrike" cap="none" normalizeH="0" baseline="0">
                <a:ln>
                  <a:noFill/>
                </a:ln>
                <a:solidFill>
                  <a:schemeClr val="tx1"/>
                </a:solidFill>
                <a:effectLst/>
              </a:rPr>
              <a:t>;</a:t>
            </a:r>
            <a:r>
              <a:rPr kumimoji="0" lang="en-US" altLang="en-US" sz="1000" b="0" i="0" u="none" strike="noStrike" cap="none" normalizeH="0" baseline="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chemeClr val="tx1"/>
                </a:solidFill>
                <a:effectLst/>
                <a:latin typeface="Arial" panose="020B0604020202020204" pitchFamily="34" charset="0"/>
              </a:rPr>
              <a:t>SMR: </a:t>
            </a:r>
            <a:r>
              <a:rPr kumimoji="0" lang="en-US" altLang="en-US" sz="1000" b="0" i="0" u="none" strike="noStrike" cap="none" normalizeH="0" baseline="0" err="1">
                <a:ln>
                  <a:noFill/>
                </a:ln>
                <a:solidFill>
                  <a:schemeClr val="tx1"/>
                </a:solidFill>
                <a:effectLst/>
                <a:latin typeface="Arial Unicode MS"/>
              </a:rPr>
              <a:t>hazard-pointers|ebr|rcu</a:t>
            </a:r>
            <a:r>
              <a:rPr kumimoji="0" lang="en-US" altLang="en-US" sz="1000" b="0" i="0" u="none" strike="noStrike" cap="none" normalizeH="0" baseline="0">
                <a:ln>
                  <a:noFill/>
                </a:ln>
                <a:solidFill>
                  <a:schemeClr val="tx1"/>
                </a:solidFill>
                <a:effectLst/>
              </a:rPr>
              <a:t> (operations acquire/release, </a:t>
            </a:r>
            <a:r>
              <a:rPr kumimoji="0" lang="en-US" altLang="en-US" sz="1000" b="0" i="0" u="none" strike="noStrike" cap="none" normalizeH="0" baseline="0" err="1">
                <a:ln>
                  <a:noFill/>
                </a:ln>
                <a:solidFill>
                  <a:schemeClr val="tx1"/>
                </a:solidFill>
                <a:effectLst/>
              </a:rPr>
              <a:t>epoch.enter</a:t>
            </a:r>
            <a:r>
              <a:rPr kumimoji="0" lang="en-US" altLang="en-US" sz="1000" b="0" i="0" u="none" strike="noStrike" cap="none" normalizeH="0" baseline="0">
                <a:ln>
                  <a:noFill/>
                </a:ln>
                <a:solidFill>
                  <a:schemeClr val="tx1"/>
                </a:solidFill>
                <a:effectLst/>
              </a:rPr>
              <a:t>/exit, </a:t>
            </a:r>
            <a:r>
              <a:rPr kumimoji="0" lang="en-US" altLang="en-US" sz="1000" b="0" i="0" u="none" strike="noStrike" cap="none" normalizeH="0" baseline="0" err="1">
                <a:ln>
                  <a:noFill/>
                </a:ln>
                <a:solidFill>
                  <a:schemeClr val="tx1"/>
                </a:solidFill>
                <a:effectLst/>
              </a:rPr>
              <a:t>defer.free</a:t>
            </a:r>
            <a:r>
              <a:rPr kumimoji="0" lang="en-US" altLang="en-US" sz="1000" b="0" i="0" u="none" strike="noStrike" cap="none" normalizeH="0" baseline="0">
                <a:ln>
                  <a:noFill/>
                </a:ln>
                <a:solidFill>
                  <a:schemeClr val="tx1"/>
                </a:solidFill>
                <a:effectLst/>
              </a:rPr>
              <a:t>).</a:t>
            </a:r>
            <a:br>
              <a:rPr kumimoji="0" lang="en-US" altLang="en-US" sz="1000" b="0" i="0" u="none" strike="noStrike" cap="none" normalizeH="0" baseline="0">
                <a:ln>
                  <a:noFill/>
                </a:ln>
                <a:solidFill>
                  <a:schemeClr val="tx1"/>
                </a:solidFill>
                <a:effectLst/>
              </a:rPr>
            </a:br>
            <a:r>
              <a:rPr kumimoji="0" lang="en-US" altLang="en-US" sz="10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000" b="1" i="0" u="none" strike="noStrike" cap="none" normalizeH="0" baseline="0">
                <a:ln>
                  <a:noFill/>
                </a:ln>
                <a:solidFill>
                  <a:schemeClr val="tx1"/>
                </a:solidFill>
                <a:effectLst/>
                <a:latin typeface="Arial" panose="020B0604020202020204" pitchFamily="34" charset="0"/>
              </a:rPr>
              <a:t>MLIR Lowering Pass (</a:t>
            </a:r>
            <a:r>
              <a:rPr kumimoji="0" lang="en-US" altLang="en-US" sz="1000" b="1" i="0" u="none" strike="noStrike" cap="none" normalizeH="0" baseline="0" err="1">
                <a:ln>
                  <a:noFill/>
                </a:ln>
                <a:solidFill>
                  <a:schemeClr val="tx1"/>
                </a:solidFill>
                <a:effectLst/>
                <a:latin typeface="Arial" panose="020B0604020202020204" pitchFamily="34" charset="0"/>
              </a:rPr>
              <a:t>ConversionTarget</a:t>
            </a:r>
            <a:r>
              <a:rPr kumimoji="0" lang="en-US" altLang="en-US" sz="1000" b="1" i="0" u="none" strike="noStrike" cap="none" normalizeH="0" baseline="0">
                <a:ln>
                  <a:noFill/>
                </a:ln>
                <a:solidFill>
                  <a:schemeClr val="tx1"/>
                </a:solidFill>
                <a:effectLst/>
                <a:latin typeface="Arial" panose="020B0604020202020204" pitchFamily="34" charset="0"/>
              </a:rPr>
              <a:t> + </a:t>
            </a:r>
            <a:r>
              <a:rPr kumimoji="0" lang="en-US" altLang="en-US" sz="1000" b="1" i="0" u="none" strike="noStrike" cap="none" normalizeH="0" baseline="0" err="1">
                <a:ln>
                  <a:noFill/>
                </a:ln>
                <a:solidFill>
                  <a:schemeClr val="tx1"/>
                </a:solidFill>
                <a:effectLst/>
                <a:latin typeface="Arial" panose="020B0604020202020204" pitchFamily="34" charset="0"/>
              </a:rPr>
              <a:t>RewritePatterns</a:t>
            </a:r>
            <a:r>
              <a:rPr kumimoji="0" lang="en-US" altLang="en-US" sz="1000" b="1" i="0" u="none" strike="noStrike" cap="none" normalizeH="0" baseline="0">
                <a:ln>
                  <a:noFill/>
                </a:ln>
                <a:solidFill>
                  <a:schemeClr val="tx1"/>
                </a:solidFill>
                <a:effectLst/>
                <a:latin typeface="Arial" panose="020B0604020202020204" pitchFamily="34" charset="0"/>
              </a:rPr>
              <a:t>)</a:t>
            </a:r>
            <a:br>
              <a:rPr kumimoji="0" lang="en-US" altLang="en-US" sz="1000" b="0" i="0" u="none" strike="noStrike" cap="none" normalizeH="0" baseline="0">
                <a:ln>
                  <a:noFill/>
                </a:ln>
                <a:solidFill>
                  <a:schemeClr val="tx1"/>
                </a:solidFill>
                <a:effectLst/>
                <a:latin typeface="Arial" panose="020B0604020202020204" pitchFamily="34" charset="0"/>
              </a:rPr>
            </a:br>
            <a:br>
              <a:rPr kumimoji="0" lang="en-US" altLang="en-US" sz="1000" b="0" i="0" u="none" strike="noStrike" cap="none" normalizeH="0" baseline="0">
                <a:ln>
                  <a:noFill/>
                </a:ln>
                <a:solidFill>
                  <a:schemeClr val="tx1"/>
                </a:solidFill>
                <a:effectLst/>
                <a:latin typeface="Arial" panose="020B0604020202020204" pitchFamily="34" charset="0"/>
              </a:rPr>
            </a:br>
            <a:endParaRPr kumimoji="0" lang="ru-RU"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kumimoji="0" lang="ru-RU"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lang="ru-RU" altLang="en-US" sz="100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kumimoji="0" lang="ru-RU"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lang="ru-RU" altLang="en-US" sz="100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kumimoji="0" lang="ru-RU"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lang="ru-RU" altLang="en-US" sz="100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kumimoji="0" lang="ru-RU"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ru-RU" altLang="en-US" sz="10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lang="ru-RU" altLang="en-US" sz="1000" b="1">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ru-RU" altLang="en-US" sz="10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000" b="1" i="0" u="none" strike="noStrike" cap="none" normalizeH="0" baseline="0">
                <a:ln>
                  <a:noFill/>
                </a:ln>
                <a:solidFill>
                  <a:schemeClr val="tx1"/>
                </a:solidFill>
                <a:effectLst/>
                <a:latin typeface="Arial" panose="020B0604020202020204" pitchFamily="34" charset="0"/>
              </a:rPr>
              <a:t>Headers with Annotations for Source Code</a:t>
            </a:r>
            <a:r>
              <a:rPr kumimoji="0" lang="en-US" altLang="en-US" sz="1000" b="0" i="0" u="none" strike="noStrike" cap="none" normalizeH="0" baseline="0">
                <a:ln>
                  <a:noFill/>
                </a:ln>
                <a:solidFill>
                  <a:schemeClr val="tx1"/>
                </a:solidFill>
                <a:effectLst/>
                <a:latin typeface="Arial" panose="020B0604020202020204" pitchFamily="34" charset="0"/>
              </a:rPr>
              <a:t> (so the frontend emits correct IR)</a:t>
            </a:r>
            <a:br>
              <a:rPr kumimoji="0" lang="en-US" altLang="en-US" sz="1000" b="0" i="0" u="none" strike="noStrike" cap="none" normalizeH="0" baseline="0">
                <a:ln>
                  <a:noFill/>
                </a:ln>
                <a:solidFill>
                  <a:schemeClr val="tx1"/>
                </a:solidFill>
                <a:effectLst/>
                <a:latin typeface="Arial" panose="020B0604020202020204" pitchFamily="34" charset="0"/>
              </a:rPr>
            </a:br>
            <a:endParaRPr kumimoji="0" lang="ru-RU"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lang="ru-RU" altLang="en-US" sz="100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ru-RU"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lang="ru-RU" altLang="en-US" sz="100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ru-RU"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altLang="en-US" sz="1000" b="0" i="0" u="none" strike="noStrike" cap="none" normalizeH="0" baseline="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C54AFFCB-6AD7-9B0D-01B7-8DDD777AA35B}"/>
              </a:ext>
            </a:extLst>
          </p:cNvPr>
          <p:cNvPicPr>
            <a:picLocks noChangeAspect="1"/>
          </p:cNvPicPr>
          <p:nvPr/>
        </p:nvPicPr>
        <p:blipFill>
          <a:blip r:embed="rId2"/>
          <a:stretch>
            <a:fillRect/>
          </a:stretch>
        </p:blipFill>
        <p:spPr>
          <a:xfrm>
            <a:off x="5096050" y="2510146"/>
            <a:ext cx="5258256" cy="1455546"/>
          </a:xfrm>
          <a:prstGeom prst="rect">
            <a:avLst/>
          </a:prstGeom>
        </p:spPr>
      </p:pic>
      <p:pic>
        <p:nvPicPr>
          <p:cNvPr id="10" name="Picture 9">
            <a:extLst>
              <a:ext uri="{FF2B5EF4-FFF2-40B4-BE49-F238E27FC236}">
                <a16:creationId xmlns:a16="http://schemas.microsoft.com/office/drawing/2014/main" id="{8E64894C-9A42-0C49-1CDB-54AE22FEF2BA}"/>
              </a:ext>
            </a:extLst>
          </p:cNvPr>
          <p:cNvPicPr>
            <a:picLocks noChangeAspect="1"/>
          </p:cNvPicPr>
          <p:nvPr/>
        </p:nvPicPr>
        <p:blipFill>
          <a:blip r:embed="rId3"/>
          <a:stretch>
            <a:fillRect/>
          </a:stretch>
        </p:blipFill>
        <p:spPr>
          <a:xfrm>
            <a:off x="4992778" y="4651272"/>
            <a:ext cx="3330229" cy="929721"/>
          </a:xfrm>
          <a:prstGeom prst="rect">
            <a:avLst/>
          </a:prstGeom>
        </p:spPr>
      </p:pic>
    </p:spTree>
    <p:extLst>
      <p:ext uri="{BB962C8B-B14F-4D97-AF65-F5344CB8AC3E}">
        <p14:creationId xmlns:p14="http://schemas.microsoft.com/office/powerpoint/2010/main" val="33062062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BE3DBF6-BBE4-BE46-1ED2-FA4A767708FB}"/>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1E9CFBD2-BDBE-3F9E-D40F-C95646A98A8A}"/>
              </a:ext>
            </a:extLst>
          </p:cNvPr>
          <p:cNvSpPr txBox="1"/>
          <p:nvPr/>
        </p:nvSpPr>
        <p:spPr>
          <a:xfrm>
            <a:off x="233910" y="208621"/>
            <a:ext cx="7073670" cy="461665"/>
          </a:xfrm>
          <a:prstGeom prst="rect">
            <a:avLst/>
          </a:prstGeom>
          <a:solidFill>
            <a:srgbClr val="002060"/>
          </a:solidFill>
        </p:spPr>
        <p:txBody>
          <a:bodyPr wrap="square" rtlCol="0">
            <a:spAutoFit/>
          </a:bodyPr>
          <a:lstStyle/>
          <a:p>
            <a:r>
              <a:rPr lang="en-US" sz="2400">
                <a:solidFill>
                  <a:schemeClr val="bg1"/>
                </a:solidFill>
                <a:latin typeface="Ubuntu Condensed" panose="020B0506030602030204" pitchFamily="34" charset="0"/>
              </a:rPr>
              <a:t>References</a:t>
            </a:r>
            <a:endParaRPr lang="ru-RU" sz="2400">
              <a:solidFill>
                <a:schemeClr val="bg1"/>
              </a:solidFill>
              <a:latin typeface="Ubuntu Condensed" panose="020B0506030602030204" pitchFamily="34" charset="0"/>
            </a:endParaRPr>
          </a:p>
        </p:txBody>
      </p:sp>
      <p:sp>
        <p:nvSpPr>
          <p:cNvPr id="7" name="Номер слайда 7">
            <a:extLst>
              <a:ext uri="{FF2B5EF4-FFF2-40B4-BE49-F238E27FC236}">
                <a16:creationId xmlns:a16="http://schemas.microsoft.com/office/drawing/2014/main" id="{64C94205-4BD5-909E-5B35-19F1F24FF6E5}"/>
              </a:ext>
            </a:extLst>
          </p:cNvPr>
          <p:cNvSpPr>
            <a:spLocks noGrp="1"/>
          </p:cNvSpPr>
          <p:nvPr>
            <p:ph type="sldNum" sz="quarter" idx="12"/>
          </p:nvPr>
        </p:nvSpPr>
        <p:spPr>
          <a:xfrm>
            <a:off x="11725835" y="6402070"/>
            <a:ext cx="386155" cy="365125"/>
          </a:xfrm>
        </p:spPr>
        <p:txBody>
          <a:bodyPr/>
          <a:lstStyle/>
          <a:p>
            <a:pPr algn="ctr"/>
            <a:fld id="{E757BAED-F255-4CF1-96BA-8D7417A9C3BC}" type="slidenum">
              <a:rPr lang="ru-RU" sz="1800" smtClean="0">
                <a:latin typeface="Ubuntu Condensed" panose="020B0506030602030204" pitchFamily="34" charset="0"/>
              </a:rPr>
              <a:pPr algn="ctr"/>
              <a:t>49</a:t>
            </a:fld>
            <a:endParaRPr lang="ru-RU" sz="1800">
              <a:latin typeface="Ubuntu Condensed" panose="020B0506030602030204" pitchFamily="34" charset="0"/>
            </a:endParaRPr>
          </a:p>
        </p:txBody>
      </p:sp>
      <p:sp>
        <p:nvSpPr>
          <p:cNvPr id="5" name="TextBox 4">
            <a:extLst>
              <a:ext uri="{FF2B5EF4-FFF2-40B4-BE49-F238E27FC236}">
                <a16:creationId xmlns:a16="http://schemas.microsoft.com/office/drawing/2014/main" id="{B031C2B9-6FB7-38E1-1136-F0C65C777504}"/>
              </a:ext>
            </a:extLst>
          </p:cNvPr>
          <p:cNvSpPr txBox="1"/>
          <p:nvPr/>
        </p:nvSpPr>
        <p:spPr>
          <a:xfrm>
            <a:off x="159232" y="719114"/>
            <a:ext cx="11803642" cy="830997"/>
          </a:xfrm>
          <a:prstGeom prst="rect">
            <a:avLst/>
          </a:prstGeom>
          <a:noFill/>
        </p:spPr>
        <p:txBody>
          <a:bodyPr wrap="square">
            <a:spAutoFit/>
          </a:bodyPr>
          <a:lstStyle/>
          <a:p>
            <a:pPr>
              <a:buNone/>
            </a:pPr>
            <a:r>
              <a:rPr lang="en-SG" sz="1600">
                <a:hlinkClick r:id="rId2"/>
              </a:rPr>
              <a:t>https://iris-project.org/</a:t>
            </a:r>
            <a:endParaRPr lang="en-SG" sz="1600"/>
          </a:p>
          <a:p>
            <a:pPr>
              <a:buNone/>
            </a:pPr>
            <a:endParaRPr lang="en-SG" sz="1600"/>
          </a:p>
          <a:p>
            <a:pPr>
              <a:buNone/>
            </a:pPr>
            <a:r>
              <a:rPr lang="en-SG" sz="1600">
                <a:hlinkClick r:id="rId3"/>
              </a:rPr>
              <a:t>https://www.open-std.org/jtc1/sc22/wg21/docs/papers/2025/p0260r19.html</a:t>
            </a:r>
            <a:r>
              <a:rPr lang="en-SG" sz="1600"/>
              <a:t> -- proposal for Concurrent Queue for C++ standard</a:t>
            </a:r>
          </a:p>
        </p:txBody>
      </p:sp>
    </p:spTree>
    <p:extLst>
      <p:ext uri="{BB962C8B-B14F-4D97-AF65-F5344CB8AC3E}">
        <p14:creationId xmlns:p14="http://schemas.microsoft.com/office/powerpoint/2010/main" val="305900317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0DB990E8-B42F-B5F4-5732-545CA8D0B337}"/>
              </a:ext>
            </a:extLst>
          </p:cNvPr>
          <p:cNvSpPr txBox="1"/>
          <p:nvPr/>
        </p:nvSpPr>
        <p:spPr>
          <a:xfrm>
            <a:off x="2867382" y="1891117"/>
            <a:ext cx="6197370" cy="646331"/>
          </a:xfrm>
          <a:prstGeom prst="rect">
            <a:avLst/>
          </a:prstGeom>
          <a:solidFill>
            <a:srgbClr val="FF3970"/>
          </a:solidFill>
        </p:spPr>
        <p:txBody>
          <a:bodyPr wrap="square" rtlCol="0">
            <a:spAutoFit/>
          </a:bodyPr>
          <a:lstStyle/>
          <a:p>
            <a:r>
              <a:rPr lang="en-US" sz="3600">
                <a:solidFill>
                  <a:schemeClr val="bg1"/>
                </a:solidFill>
                <a:latin typeface="Ubuntu Condensed" panose="020B0506030602030204" pitchFamily="34" charset="0"/>
              </a:rPr>
              <a:t>End of slides. Thanks for attention</a:t>
            </a:r>
            <a:endParaRPr lang="ru-RU" sz="3600">
              <a:solidFill>
                <a:schemeClr val="bg1"/>
              </a:solidFill>
              <a:latin typeface="Ubuntu Condensed" panose="020B0506030602030204" pitchFamily="34" charset="0"/>
            </a:endParaRPr>
          </a:p>
        </p:txBody>
      </p:sp>
      <p:sp>
        <p:nvSpPr>
          <p:cNvPr id="7" name="Номер слайда 7">
            <a:extLst>
              <a:ext uri="{FF2B5EF4-FFF2-40B4-BE49-F238E27FC236}">
                <a16:creationId xmlns:a16="http://schemas.microsoft.com/office/drawing/2014/main" id="{3EAEB40F-7C68-21DC-3E37-F055F5A74F13}"/>
              </a:ext>
            </a:extLst>
          </p:cNvPr>
          <p:cNvSpPr>
            <a:spLocks noGrp="1"/>
          </p:cNvSpPr>
          <p:nvPr>
            <p:ph type="sldNum" sz="quarter" idx="12"/>
          </p:nvPr>
        </p:nvSpPr>
        <p:spPr>
          <a:xfrm>
            <a:off x="11725835" y="6402070"/>
            <a:ext cx="386155" cy="365125"/>
          </a:xfrm>
        </p:spPr>
        <p:txBody>
          <a:bodyPr/>
          <a:lstStyle/>
          <a:p>
            <a:pPr algn="ctr"/>
            <a:fld id="{E757BAED-F255-4CF1-96BA-8D7417A9C3BC}" type="slidenum">
              <a:rPr lang="ru-RU" sz="1800" smtClean="0">
                <a:latin typeface="Ubuntu Condensed" panose="020B0506030602030204" pitchFamily="34" charset="0"/>
              </a:rPr>
              <a:pPr algn="ctr"/>
              <a:t>50</a:t>
            </a:fld>
            <a:endParaRPr lang="ru-RU" sz="1800">
              <a:latin typeface="Ubuntu Condensed" panose="020B0506030602030204" pitchFamily="34" charset="0"/>
            </a:endParaRPr>
          </a:p>
        </p:txBody>
      </p:sp>
    </p:spTree>
    <p:extLst>
      <p:ext uri="{BB962C8B-B14F-4D97-AF65-F5344CB8AC3E}">
        <p14:creationId xmlns:p14="http://schemas.microsoft.com/office/powerpoint/2010/main" val="66589204"/>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14365</Words>
  <Application>Microsoft Macintosh PowerPoint</Application>
  <PresentationFormat>Широкоэкранный</PresentationFormat>
  <Paragraphs>1153</Paragraphs>
  <Slides>50</Slides>
  <Notes>3</Notes>
  <HiddenSlides>5</HiddenSlides>
  <MMClips>0</MMClips>
  <ScaleCrop>false</ScaleCrop>
  <HeadingPairs>
    <vt:vector size="6" baseType="variant">
      <vt:variant>
        <vt:lpstr>Использованные шрифты</vt:lpstr>
      </vt:variant>
      <vt:variant>
        <vt:i4>15</vt:i4>
      </vt:variant>
      <vt:variant>
        <vt:lpstr>Тема</vt:lpstr>
      </vt:variant>
      <vt:variant>
        <vt:i4>1</vt:i4>
      </vt:variant>
      <vt:variant>
        <vt:lpstr>Заголовки слайдов</vt:lpstr>
      </vt:variant>
      <vt:variant>
        <vt:i4>50</vt:i4>
      </vt:variant>
    </vt:vector>
  </HeadingPairs>
  <TitlesOfParts>
    <vt:vector size="66" baseType="lpstr">
      <vt:lpstr>Arial Unicode MS</vt:lpstr>
      <vt:lpstr>Aptos</vt:lpstr>
      <vt:lpstr>Aptos Display</vt:lpstr>
      <vt:lpstr>Arial</vt:lpstr>
      <vt:lpstr>Calibri</vt:lpstr>
      <vt:lpstr>Calibri Light</vt:lpstr>
      <vt:lpstr>Cambria Math</vt:lpstr>
      <vt:lpstr>Consolas</vt:lpstr>
      <vt:lpstr>Courier New</vt:lpstr>
      <vt:lpstr>DM Mono</vt:lpstr>
      <vt:lpstr>Inter</vt:lpstr>
      <vt:lpstr>JetBrains Mono</vt:lpstr>
      <vt:lpstr>Segoe UI</vt:lpstr>
      <vt:lpstr>Symbol</vt:lpstr>
      <vt:lpstr>Ubuntu Condensed</vt: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Alexey Paznikov</dc:creator>
  <cp:lastModifiedBy>Alexey Paznikov</cp:lastModifiedBy>
  <cp:revision>1</cp:revision>
  <dcterms:created xsi:type="dcterms:W3CDTF">2024-07-24T03:53:06Z</dcterms:created>
  <dcterms:modified xsi:type="dcterms:W3CDTF">2025-12-10T04:05:26Z</dcterms:modified>
</cp:coreProperties>
</file>